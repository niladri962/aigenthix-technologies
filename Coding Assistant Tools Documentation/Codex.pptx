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charts/chart1.xml" ContentType="application/vnd.openxmlformats-officedocument.drawingml.chart+xml"/>
  <Override PartName="/ppt/slideMasters/slideMaster13.xml" ContentType="application/vnd.openxmlformats-officedocument.presentationml.slideMaster+xml"/>
  <Override PartName="/ppt/slides/slide13.xml" ContentType="application/vnd.openxmlformats-officedocument.presentationml.slide+xml"/>
  <Override PartName="/ppt/charts/chart2.xml" ContentType="application/vnd.openxmlformats-officedocument.drawingml.chart+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Lst>
  <p:notesMasterIdLst>
    <p:notesMasterId r:id="rId27"/>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ac78bcd9-711e-2724-5691-a92946471c69}">
          <p14:sldIdLst>
            <p14:sldId id="256"/>
            <p14:sldId id="257"/>
            <p14:sldId id="258"/>
          </p14:sldIdLst>
        </p14:section>
        <p14:section name="1 Background" id="{74b12455-1d14-c403-b449-4a1292a087ca}">
          <p14:sldIdLst>
            <p14:sldId id="259"/>
            <p14:sldId id="260"/>
          </p14:sldIdLst>
        </p14:section>
        <p14:section name="2 Technology" id="{c8659cf7-0037-926e-27ad-26022242cd7c}">
          <p14:sldIdLst>
            <p14:sldId id="261"/>
            <p14:sldId id="262"/>
            <p14:sldId id="263"/>
            <p14:sldId id="264"/>
            <p14:sldId id="265"/>
          </p14:sldIdLst>
        </p14:section>
        <p14:section name="3 Capabilities" id="{530b400b-1b5f-c9eb-9158-16eba2f1c117}">
          <p14:sldIdLst>
            <p14:sldId id="266"/>
            <p14:sldId id="267"/>
            <p14:sldId id="268"/>
          </p14:sldIdLst>
        </p14:section>
        <p14:section name="4 Market" id="{530448c5-3c5a-7dba-1337-e8cb2416b10c}">
          <p14:sldIdLst>
            <p14:sldId id="269"/>
            <p14:sldId id="270"/>
            <p14:sldId id="271"/>
          </p14:sldIdLst>
        </p14:section>
        <p14:section name="5 Critique" id="{80ab9f95-6412-73e1-9df9-f54d2238d900}">
          <p14:sldIdLst>
            <p14:sldId id="272"/>
            <p14:sldId id="273"/>
            <p14:sldId id="274"/>
            <p14:sldId id="275"/>
          </p14:sldIdLst>
        </p14:section>
        <p14:section name="6 Research" id="{11cda6f5-8b96-d07b-f839-d77082c504e7}">
          <p14:sldIdLst>
            <p14:sldId id="276"/>
            <p14:sldId id="277"/>
            <p14:sldId id="278"/>
            <p14:sldId id="279"/>
            <p14:sldId id="280"/>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notesMaster" Target="notesMasters/notesMaster1.xml"/><Relationship Id="rId28" Type="http://schemas.openxmlformats.org/officeDocument/2006/relationships/presProps" Target="presProps.xml"/><Relationship Id="rId29" Type="http://schemas.openxmlformats.org/officeDocument/2006/relationships/viewProps" Target="viewProps.xml"/><Relationship Id="rId30" Type="http://schemas.openxmlformats.org/officeDocument/2006/relationships/theme" Target="theme/theme1.xml"/><Relationship Id="rId31" Type="http://schemas.openxmlformats.org/officeDocument/2006/relationships/tableStyles" Target="tableStyles.xml"/></Relationships>
</file>

<file path=ppt/charts/_rels/chart1.xml.rels><?xml version="1.0" encoding="UTF-8" standalone="yes"?><Relationships xmlns="http://schemas.openxmlformats.org/package/2006/relationships"><Relationship Id="rId1" Type="http://schemas.openxmlformats.org/officeDocument/2006/relationships/package" Target="../embeddings/Microsoft_Excel_Worksheet1.xlsx"/></Relationships>
</file>

<file path=ppt/charts/_rels/chart2.xml.rels><?xml version="1.0" encoding="UTF-8" standalone="yes"?><Relationships xmlns="http://schemas.openxmlformats.org/package/2006/relationships"><Relationship Id="rId1" Type="http://schemas.openxmlformats.org/officeDocument/2006/relationships/package" Target="../embeddings/Microsoft_Excel_Work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A16"/>
                </a:solidFill>
                <a:latin typeface="+mn-lt"/>
              </a:defRPr>
            </a:pPr>
            <a:r>
              <a:rPr sz="1400" b="0" i="0" u="none" strike="noStrike">
                <a:solidFill>
                  <a:srgbClr val="0F1A16"/>
                </a:solidFill>
                <a:latin typeface="+mn-lt"/>
              </a:rPr>
              <a:t>Terminal-Bench score by Codex model (%)</a:t>
            </a:r>
          </a:p>
        </c:rich>
      </c:tx>
      <c:layout/>
      <c:overlay val="0"/>
    </c:title>
    <c:autoTitleDeleted val="0"/>
    <c:plotArea>
      <c:layout/>
      <c:barChart>
        <c:barDir val="col"/>
        <c:grouping val="clustered"/>
        <c:varyColors val="0"/>
        <c:ser>
          <c:idx val="0"/>
          <c:order val="0"/>
          <c:tx>
            <c:strRef>
              <c:f>Sheet1!$B$1</c:f>
              <c:strCache>
                <c:ptCount val="1"/>
                <c:pt idx="0">
                  <c:v>Terminal-Bench score (%)</c:v>
                </c:pt>
              </c:strCache>
            </c:strRef>
          </c:tx>
          <c:spPr>
            <a:solidFill>
              <a:srgbClr val="0B7A5E"/>
            </a:solidFill>
            <a:effectLst/>
          </c:spPr>
          <c:invertIfNegative val="0"/>
          <c:dLbls>
            <c:numFmt formatCode="0.0" sourceLinked="0"/>
            <c:txPr>
              <a:bodyPr/>
              <a:lstStyle/>
              <a:p>
                <a:pPr>
                  <a:defRPr b="0" i="0" strike="noStrike" sz="1200" u="none">
                    <a:solidFill>
                      <a:srgbClr val="0F1A16"/>
                    </a:solidFill>
                    <a:latin typeface="+mn-lt"/>
                  </a:defRPr>
                </a:pPr>
              </a:p>
            </c:txPr>
            <c:showLegendKey val="0"/>
            <c:showVal val="1"/>
            <c:showCatName val="0"/>
            <c:showSerName val="0"/>
            <c:showPercent val="0"/>
            <c:showBubbleSize val="0"/>
            <c:showLeaderLines val="0"/>
          </c:dLbls>
          <c:cat>
            <c:multiLvlStrRef>
              <c:f>Sheet1!$A$2:$A$6</c:f>
              <c:multiLvlStrCache>
                <c:ptCount val="5"/>
                <c:lvl>
                  <c:pt idx="0">
                    <c:v>GPT-5.2-Codex</c:v>
                  </c:pt>
                  <c:pt idx="1">
                    <c:v>GPT-5.3-Codex</c:v>
                  </c:pt>
                  <c:pt idx="2">
                    <c:v>GPT-5.4</c:v>
                  </c:pt>
                  <c:pt idx="3">
                    <c:v>GPT-5.5</c:v>
                  </c:pt>
                  <c:pt idx="4">
                    <c:v>GPT-5.6 Sol</c:v>
                  </c:pt>
                </c:lvl>
              </c:multiLvlStrCache>
            </c:multiLvlStrRef>
          </c:cat>
          <c:val>
            <c:numRef>
              <c:f>Sheet1!$B$2:$B$6</c:f>
              <c:numCache>
                <c:formatCode>General</c:formatCode>
                <c:ptCount val="5"/>
                <c:pt idx="0">
                  <c:v>64</c:v>
                </c:pt>
                <c:pt idx="1">
                  <c:v>77.3</c:v>
                </c:pt>
                <c:pt idx="2">
                  <c:v>75.1</c:v>
                </c:pt>
                <c:pt idx="3">
                  <c:v>82.7</c:v>
                </c:pt>
                <c:pt idx="4">
                  <c:v>88.8</c:v>
                </c:pt>
              </c:numCache>
            </c:numRef>
          </c:val>
        </c:ser>
        <c:dLbls>
          <c:numFmt formatCode="0.0" sourceLinked="0"/>
          <c:txPr>
            <a:bodyPr/>
            <a:lstStyle/>
            <a:p>
              <a:pPr>
                <a:defRPr b="0" i="0" strike="noStrike" sz="1200" u="none">
                  <a:solidFill>
                    <a:srgbClr val="0F1A16"/>
                  </a:solidFill>
                  <a:latin typeface="+mn-lt"/>
                </a:defRPr>
              </a:pPr>
            </a:p>
          </c:txPr>
          <c:showLegendKey val="0"/>
          <c:showVal val="1"/>
          <c:showCatName val="0"/>
          <c:showSerName val="0"/>
          <c:showPercent val="0"/>
          <c:showBubbleSize val="0"/>
          <c:showLeaderLines val="0"/>
        </c:dLbls>
        <c:gapWidth val="6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4"/>
                </a:solidFill>
                <a:latin typeface="+mn-lt"/>
              </a:defRPr>
            </a:pPr>
            <a:endParaRPr lang="en-US"/>
          </a:p>
        </c:txPr>
        <c:crossAx val="2094734552"/>
        <c:crosses val="autoZero"/>
        <c:auto val="1"/>
        <c:lblAlgn val="ctr"/>
        <c:noMultiLvlLbl val="1"/>
      </c:catAx>
      <c:valAx>
        <c:axId val="2094734552"/>
        <c:scaling>
          <c:orientation val="minMax"/>
          <c:max val="100"/>
          <c:min val="0"/>
        </c:scaling>
        <c:delete val="0"/>
        <c:axPos val="l"/>
        <c:majorGridlines>
          <c:spPr>
            <a:ln w="12700" cap="flat">
              <a:solidFill>
                <a:srgbClr val="EEF5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4"/>
                </a:solidFill>
                <a:latin typeface="+mn-lt"/>
              </a:defRPr>
            </a:pPr>
            <a:endParaRPr lang="en-US"/>
          </a:p>
        </c:txPr>
        <c:crossAx val="2094734554"/>
        <c:crosses val="autoZero"/>
        <c:crossBetween val="between"/>
        <c:majorUnit val="20"/>
      </c:valAx>
      <c:spPr>
        <a:noFill/>
        <a:ln>
          <a:noFill/>
        </a:ln>
        <a:effectLst/>
      </c:spPr>
    </c:plotArea>
    <c:plotVisOnly val="1"/>
    <c:dispBlanksAs val="span"/>
  </c:chart>
  <c:spPr>
    <a:noFill/>
    <a:ln>
      <a:noFill/>
    </a:ln>
    <a:effectLst/>
  </c:sp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roundedCorners val="1"/>
  <c:chart>
    <c:title>
      <c:tx>
        <c:rich>
          <a:bodyPr/>
          <a:lstStyle/>
          <a:p>
            <a:pPr>
              <a:defRPr sz="1400" b="0" i="0" u="none" strike="noStrike">
                <a:solidFill>
                  <a:srgbClr val="0F1A16"/>
                </a:solidFill>
                <a:latin typeface="+mn-lt"/>
              </a:defRPr>
            </a:pPr>
            <a:r>
              <a:rPr sz="1400" b="0" i="0" u="none" strike="noStrike">
                <a:solidFill>
                  <a:srgbClr val="0F1A16"/>
                </a:solidFill>
                <a:latin typeface="+mn-lt"/>
              </a:rPr>
              <a:t>Weekly Codex users reported, millions</a:t>
            </a:r>
          </a:p>
        </c:rich>
      </c:tx>
      <c:layout/>
      <c:overlay val="0"/>
    </c:title>
    <c:autoTitleDeleted val="0"/>
    <c:plotArea>
      <c:layout/>
      <c:barChart>
        <c:barDir val="col"/>
        <c:grouping val="clustered"/>
        <c:varyColors val="0"/>
        <c:ser>
          <c:idx val="0"/>
          <c:order val="0"/>
          <c:tx>
            <c:strRef>
              <c:f>Sheet1!$B$1</c:f>
              <c:strCache>
                <c:ptCount val="1"/>
                <c:pt idx="0">
                  <c:v>Weekly users (millions)</c:v>
                </c:pt>
              </c:strCache>
            </c:strRef>
          </c:tx>
          <c:spPr>
            <a:solidFill>
              <a:srgbClr val="0B7A5E"/>
            </a:solidFill>
            <a:effectLst/>
          </c:spPr>
          <c:invertIfNegative val="0"/>
          <c:dLbls>
            <c:numFmt formatCode="0.0" sourceLinked="0"/>
            <c:txPr>
              <a:bodyPr/>
              <a:lstStyle/>
              <a:p>
                <a:pPr>
                  <a:defRPr b="0" i="0" strike="noStrike" sz="1200" u="none">
                    <a:solidFill>
                      <a:srgbClr val="0F1A16"/>
                    </a:solidFill>
                    <a:latin typeface="+mn-lt"/>
                  </a:defRPr>
                </a:pPr>
              </a:p>
            </c:txPr>
            <c:showLegendKey val="0"/>
            <c:showVal val="1"/>
            <c:showCatName val="0"/>
            <c:showSerName val="0"/>
            <c:showPercent val="0"/>
            <c:showBubbleSize val="0"/>
            <c:showLeaderLines val="0"/>
          </c:dLbls>
          <c:cat>
            <c:multiLvlStrRef>
              <c:f>Sheet1!$A$2:$A$5</c:f>
              <c:multiLvlStrCache>
                <c:ptCount val="4"/>
                <c:lvl>
                  <c:pt idx="0">
                    <c:v>Early Mar 2026</c:v>
                  </c:pt>
                  <c:pt idx="1">
                    <c:v>Mid-Mar 2026</c:v>
                  </c:pt>
                  <c:pt idx="2">
                    <c:v>Apr 2026</c:v>
                  </c:pt>
                  <c:pt idx="3">
                    <c:v>Jun 2026</c:v>
                  </c:pt>
                </c:lvl>
              </c:multiLvlStrCache>
            </c:multiLvlStrRef>
          </c:cat>
          <c:val>
            <c:numRef>
              <c:f>Sheet1!$B$2:$B$5</c:f>
              <c:numCache>
                <c:formatCode>General</c:formatCode>
                <c:ptCount val="4"/>
                <c:pt idx="0">
                  <c:v>1.6</c:v>
                </c:pt>
                <c:pt idx="1">
                  <c:v>2</c:v>
                </c:pt>
                <c:pt idx="2">
                  <c:v>3</c:v>
                </c:pt>
                <c:pt idx="3">
                  <c:v>5</c:v>
                </c:pt>
              </c:numCache>
            </c:numRef>
          </c:val>
        </c:ser>
        <c:dLbls>
          <c:numFmt formatCode="0.0" sourceLinked="0"/>
          <c:txPr>
            <a:bodyPr/>
            <a:lstStyle/>
            <a:p>
              <a:pPr>
                <a:defRPr b="0" i="0" strike="noStrike" sz="1200" u="none">
                  <a:solidFill>
                    <a:srgbClr val="0F1A16"/>
                  </a:solidFill>
                  <a:latin typeface="+mn-lt"/>
                </a:defRPr>
              </a:pPr>
            </a:p>
          </c:txPr>
          <c:showLegendKey val="0"/>
          <c:showVal val="1"/>
          <c:showCatName val="0"/>
          <c:showSerName val="0"/>
          <c:showPercent val="0"/>
          <c:showBubbleSize val="0"/>
          <c:showLeaderLines val="0"/>
        </c:dLbls>
        <c:gapWidth val="70"/>
        <c:overlap val="0"/>
        <c:axId val="2094734554"/>
        <c:axId val="2094734552"/>
        <c:axId val="2094734556"/>
      </c:barChart>
      <c:catAx>
        <c:axId val="2094734554"/>
        <c:scaling>
          <c:orientation val="minMax"/>
        </c:scaling>
        <c:delete val="0"/>
        <c:axPos val="b"/>
        <c:numFmt formatCode="General" sourceLinked="1"/>
        <c:majorTickMark val="out"/>
        <c:minorTickMark val="none"/>
        <c:tickLblPos val="low"/>
        <c:spPr>
          <a:ln w="12700" cap="flat">
            <a:solidFill>
              <a:srgbClr val="888888"/>
            </a:solidFill>
            <a:prstDash val="solid"/>
            <a:round/>
          </a:ln>
        </c:spPr>
        <c:txPr>
          <a:bodyPr/>
          <a:lstStyle/>
          <a:p>
            <a:pPr>
              <a:defRPr sz="1200" b="0" i="0" u="none" strike="noStrike">
                <a:solidFill>
                  <a:srgbClr val="5B6B64"/>
                </a:solidFill>
                <a:latin typeface="+mn-lt"/>
              </a:defRPr>
            </a:pPr>
            <a:endParaRPr lang="en-US"/>
          </a:p>
        </c:txPr>
        <c:crossAx val="2094734552"/>
        <c:crosses val="autoZero"/>
        <c:auto val="1"/>
        <c:lblAlgn val="ctr"/>
        <c:noMultiLvlLbl val="1"/>
      </c:catAx>
      <c:valAx>
        <c:axId val="2094734552"/>
        <c:scaling>
          <c:orientation val="minMax"/>
          <c:max val="6"/>
          <c:min val="0"/>
        </c:scaling>
        <c:delete val="0"/>
        <c:axPos val="l"/>
        <c:majorGridlines>
          <c:spPr>
            <a:ln w="12700" cap="flat">
              <a:solidFill>
                <a:srgbClr val="EEF5F1"/>
              </a:solidFill>
              <a:prstDash val="solid"/>
              <a:round/>
            </a:ln>
          </c:spPr>
        </c:majorGridlines>
        <c:numFmt formatCode="General" sourceLinked="0"/>
        <c:majorTickMark val="out"/>
        <c:minorTickMark val="none"/>
        <c:tickLblPos val="nextTo"/>
        <c:spPr>
          <a:ln w="12700" cap="flat">
            <a:solidFill>
              <a:srgbClr val="888888"/>
            </a:solidFill>
            <a:prstDash val="solid"/>
            <a:round/>
          </a:ln>
        </c:spPr>
        <c:txPr>
          <a:bodyPr/>
          <a:lstStyle/>
          <a:p>
            <a:pPr>
              <a:defRPr sz="1200" b="0" i="0" u="none" strike="noStrike">
                <a:solidFill>
                  <a:srgbClr val="5B6B64"/>
                </a:solidFill>
                <a:latin typeface="+mn-lt"/>
              </a:defRPr>
            </a:pPr>
            <a:endParaRPr lang="en-US"/>
          </a:p>
        </c:txPr>
        <c:crossAx val="2094734554"/>
        <c:crosses val="autoZero"/>
        <c:crossBetween val="between"/>
        <c:majorUnit val="1"/>
      </c:valAx>
      <c:spPr>
        <a:noFill/>
        <a:ln>
          <a:noFill/>
        </a:ln>
        <a:effectLst/>
      </c:spPr>
    </c:plotArea>
    <c:plotVisOnly val="1"/>
    <c:dispBlanksAs val="span"/>
  </c:chart>
  <c:spPr>
    <a:noFill/>
    <a:ln>
      <a:noFill/>
    </a:ln>
    <a:effectLst/>
  </c:spPr>
  <c:externalData r:id="rId1">
    <c:autoUpdate val="0"/>
  </c:externalData>
</c:chartSpace>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Introduce yourself, your guide and department (replace the bracketed line on this slide). State the topic: OpenAI Codex, studied from every angle: history, technology, capabilities, market, risks and research directions. The terminal on the right is an illustration of what delegating a task to Codex looks like, not a real session.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One-slide summary. The key message: Codex has changed category, from a code-completion model (2021) to an autonomous agent (2025 onward). Each number is expanded later: the 2021 origin, the 5 million weekly users OpenAI reported on 2 June 2026, about 126,000 GitHub stars for the open-source CLI, and the 88.8% Terminal-Bench 2.1 score reported for GPT-5.6 Sol.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Walk through the six parts briefly so examiners know the structure: background, technology, capabilities and evaluation, market, critical analysis, and finally research directions with the conclusion.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Clarify terminology early, because the literature uses 'Codex' for both. The 2021 Codex was a language model: GPT-3 fine-tuned on public code, which powered GitHub Copilot and whose API was retired in March 2023. The 2025 Codex is a product: an agent that takes a task, works in a sandbox, runs tests and returns a change for review. Most of this presentation is about the agent, but the model is its intellectual origin.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Grey dots are the model era, green dots the agent era. Key dates: Codex model in August 2021; original API retired March 2023; open-source CLI on 16 April 2025; cloud agent research preview on 16 May 2025 using codex-1; desktop app and GPT-5.3-Codex in February 2026; GPT-5.4, Codex Security, Windows support and plugins in March 2026; merger with the ChatGPT desktop app on 9 July 2026; GPT-6 family and Codex Cloud environments around DevDay on 29 September 2026.</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stages. Stage 1: Chen et al. (2021) fine-tuned GPT-3 on 159 GB of Python from 54 million repositories; the 12-billion-parameter model solved 28.8% of HumanEval with a single sample. Stage 2: codex-1, a version of o3 tuned for software engineering, powered the 2025 cloud agent. Stage 3: from GPT-5.4 (March 2026) general-purpose frontier models with about a one-million-token context and native computer use drive Codex; GPT-6.1 Sol became the default at DevDay 2026. Stress that the three percentages are from different benchmarks and are not a single trend line.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the core mechanism. The task, repository context and any AGENTS.md instructions go to the model. The model decides the next action, usually a shell command or file edit, which runs inside a sandbox. The result is fed back, and the loop repeats (the highlighted middle three steps) until tests pass or Codex needs human approval. The deliverable is a diff with logs and often a pull request. OpenAI states most cloud tasks take between 1 and 30 minutes.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Architecturally, the same agent is exposed through five surfaces: the open-source CLI (rewritten in Rust in 2025), IDE integrations including VS Code, JetBrains and Xcode, the desktop app (merged into the ChatGPT app in July 2026), cloud tasks that each run in their own container, and programmatic use through the SDK, CI and integrations such as Slack. In February 2026 OpenAI described a single App Server that keeps sessions and approval requests consistent across these clients. Underneath sit the model and the execution environment.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has two independent safety knobs. Sandbox mode limits what the agent can read, write and reach: read-only, workspace-write, or danger-full-access. Approval policy decides when it must stop and ask: on-request, never, or granular rules, optionally reviewed by a reviewer subagent. The sandbox is enforced by OS mechanisms, not by the model's good behaviour: Seatbelt on macOS, Landlock and seccomp on Linux, restricted tokens and filesystem ACLs on Windows. OpenAI's own guidance is to keep both tight by default and loosen only for trusted repositories.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ways organisations adapt Codex. AGENTS.md is an open-format instruction file, described by OpenAI as a README for agents, that is loaded automatically; the example on the right is illustrative. Skills are reusable instruction packages in a SKILL.md format. Subagents are specialised agents that can run in parallel and inherit the parent's sandbox policy. MCP, the Model Context Protocol, connects external tools and data; Codex can act as both client and server. Plugins, added in March 2026, bundle skills, app integrations and MCP configurations, and administrators can allow or block them through policy and private marketplaces.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Six capability areas. The first five are the classic software lifecycle: feature development, debugging, code review, refactoring and migration, and testing or CI automation through non-interactive runs. The sixth, highlighted, is the newest direction: since GPT-5.4 Codex has native computer use, and in June 2026 OpenAI said about 20% of its weekly users were knowledge workers rather than developers.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Terminal-Bench tests an agent on end-to-end terminal tasks. Reported scores rose from 64.0% for GPT-5.2-Codex to 88.8% for GPT-5.6 Sol, with a small dip at GPT-5.4, which traded some score for a much larger context window. Be critical here: these are vendor-reported, the benchmark version changed, the newest GPT-6 Astra model is reported only on the much harder Terminal-Bench 4.0 (57.9%), and SWE-bench Verified (72.1% for codex-1) is not comparable with SWE-bench Pro (64.6% for GPT-5.6 Sol). Benchmark validity is itself a legitimate discussion point for the dissertation.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Adoption figures for weekly users: 1.6 million reported by Fortune in early March 2026, over 2 million by mid-March, 3 million in April, and more than 5 million on 2 June 2026. On the right: about 126,600 GitHub stars and 83 million npm downloads in the 30 days to 24 September 2026. The 20 million 'active users' figure from August 2026 had no stated time window, so it cannot be compared directly with the weekly numbers. Note that npm downloads count package requests, not people.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Reuters describes coding agents as a key battleground between AI companies and reported that pressure from Anthropic's Claude Code pushed OpenAI to redirect resources toward Codex. The table compares the two on public measures as of late September 2026: Codex leads on recent npm downloads, Claude Code leads on GitHub stars and VS Code installs. These are proxies, not user counts, and neither captures use through the ChatGPT or Claude apps. Other rivals include GitHub Copilot, Cursor, Amazon Kiro and Google's Antigravity CLI. Present this neutrally and update the numbers before the viva.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is not sold separately: it comes with ChatGPT subscriptions. Plus is 20 dollars a month, Pro is 100 dollars with roughly five times the Plus allowance, and Business is 25 dollars per user per month. For API use, GPT-6.1 Sol, the default coding model since DevDay 2026, costs 2 dollars per million input tokens and 10 dollars per million output tokens, one-fifth of GPT-6 Astra. In April 2026 OpenAI moved Codex to token-based billing. All prices are a snapshot from late September 2026 and should be re-checked.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Codex Security launched in March 2026 after a private beta, growing out of an internal project called Aardvark. It first builds a threat model of a repository, then searches for vulnerabilities, validates suspected issues in a sandbox to reduce false positives, and proposes patches. OpenAI reported scanning 1.2 million commits in 30 days, finding nearly 800 critical and over 10,000 high-severity issues; CSO Online reported 14 CVEs in open-source projects. These are vendor figures. As a counterpoint, Dark Reading in August 2026 quoted a security researcher who found many AI-generated patches misclassified, incomplete or introducing new vulnerabilities.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Three well-known studies, pointing in different directions. Peng et al. (2023): in a controlled experiment, developers with GitHub Copilot finished a JavaScript HTTP-server task 55.8% faster. Becker et al. at METR (2025): 16 experienced open-source developers working on their own repositories took 19% longer with AI tools, although they believed they had been about 20% faster. Pearce et al. (2022): about 40% of 1,689 Copilot-generated programs in security-relevant scenarios were vulnerable. The lesson is that results depend on the task, the developer's experience and the codebase, and that perceived and measured productivity can diverge. None of these tested the current Codex agent, which is the gap this dissertation can address.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Five risk areas. Security: agents read untrusted text, so prompt injection matters; in March 2026 SecurityWeek reported a now-patched flaw where malicious GitHub branch names could inject commands during task setup and expose GitHub tokens. Correctness: output can be plausible but wrong, and AI-generated patches have been criticised. Over-reliance: review fatigue, loss of skill, and the METR finding that developers misjudge their own speed. Legal and IP: unresolved questions about training on public code, as raised in the Doe v. GitHub class action. Dependence: lock-in to one vendor, a model line-up that changes every few months, and sending proprietary code to a third party. The bottom line shows the standard mitigations.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slide raises questions rather than settled facts; use it to show critical thinking. Accountability: today a human approves each change, so responsibility remains with the developer and organisation, but this gets harder as agents run longer with less supervision. Workforce: the job moves toward specification and review, and junior roles, which traditionally learned by writing simple code, may be most affected. Education: assessment and curricula need rethinking. Open source: maintainers face more machine-generated pull requests and vulnerability reports. Environment: an agent that runs for minutes or hours uses far more compute than a single completion. Support each point with literature from your own review.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SWOT synthesis of the earlier sections. Strengths: distribution through ChatGPT, an open-source CLI with OS-level sandboxing, and strong reported benchmarks. Weaknesses: the model changes every few months, which makes research hard to reproduce; its VS Code extension rating was 3.1 versus 3.7 for Claude Code in September 2026; and token billing can be hard to forecast. Opportunities: knowledge work, enterprise security, and education and open-source programmes. Threats: strong competitors, security incidents, and legal or regulatory change. This is my own synthesis, so be ready to defend each item.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These four questions follow from the gaps identified in the critique section. Replace or narrow them to match your actual dissertation. RQ1 addresses the productivity debate for agents rather than autocomplete. RQ2 is a human-factors question about oversight. RQ3 tests the safety architecture empirically. RQ4 looks at organisational adoption. A single dissertation would normally pick one or two.</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possible research design, to be replaced by your actual methodology. Step 1 builds the conceptual framework from the literature. Step 2 is a controlled experiment comparing matched tasks with and without the agent, measuring completion time, test pass rate and defects. Step 3 adds surveys and interviews on trust and review behaviour. Step 4 triangulates the quantitative and qualitative strands and states threats to validity, especially the fact that the model under study changes every few months, so record the exact model and version used.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Four directions of change. Location: from a local session to Codex Cloud, announced at DevDay 2026, with reusable environments so a task can move between devices. Structure: from one agent to parallel subagents; an Ultra mode with four parallel subagents has been reported for Pro and Enterprise plans. Scope: from code and shell to operating desktop applications by seeing, clicking and typing. Audience: from developers to knowledge workers. In addition, costs are falling: GPT-6.1 Sol is positioned near flagship quality at one-fifth of the price. Fortune reported that OpenAI positions Codex as a broader enterprise agent platform.</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with three takeaways. First, Codex's capability comes from combining a reasoning model with an agent loop and enforced sandboxing. Second, adoption and reported benchmark scores have grown very quickly, yet independent evidence on real productivity and security is mixed. Third, the most valuable research questions concern human oversight, security and accountability. Then invite questions.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Reference list in approximate APA style. Reformat to your university's required style. Several 2026 figures come from secondary compilations (gradually.ai, Wikipedia); trace them to the primary source, such as OpenAI's own posts, before citing them in the written dissertation.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NTEN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OpenAI Codex  |  Dissertation presentation</a:t>
            </a:r>
            <a:endParaRPr lang="en-US" sz="1000" dirty="0"/>
          </a:p>
        </p:txBody>
      </p:sp>
      <p:sp>
        <p:nvSpPr>
          <p:cNvPr id="3" name="Text 1"/>
          <p:cNvSpPr/>
          <p:nvPr>
            <p:ph idx="101" type="body" hasCustomPrompt="1"/>
          </p:nvPr>
        </p:nvSpPr>
        <p:spPr>
          <a:xfrm>
            <a:off x="548640" y="457200"/>
            <a:ext cx="11094415" cy="274320"/>
          </a:xfrm>
          <a:prstGeom prst="rect">
            <a:avLst/>
          </a:prstGeom>
          <a:noFill/>
          <a:ln/>
        </p:spPr>
        <p:txBody>
          <a:bodyPr wrap="square" rtlCol="0"/>
          <a:lstStyle>
            <a:lvl1pP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1002</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HART">
    <p:bg>
      <p:bgPr>
        <a:solidFill>
          <a:srgbClr val="FFFFFF"/>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4"/>
                </a:solidFill>
              </a:rPr>
              <a:t>OpenAI Codex  |  Dissertation presentation</a:t>
            </a:r>
            <a:endParaRPr lang="en-US" sz="1000" dirty="0"/>
          </a:p>
        </p:txBody>
      </p:sp>
      <p:sp>
        <p:nvSpPr>
          <p:cNvPr id="3" name="Text 1"/>
          <p:cNvSpPr/>
          <p:nvPr>
            <p:ph idx="101" type="body" hasCustomPrompt="1"/>
          </p:nvPr>
        </p:nvSpPr>
        <p:spPr>
          <a:xfrm>
            <a:off x="548640" y="457200"/>
            <a:ext cx="11094415" cy="274320"/>
          </a:xfrm>
          <a:prstGeom prst="rect">
            <a:avLst/>
          </a:prstGeom>
          <a:noFill/>
          <a:ln/>
        </p:spPr>
        <p:txBody>
          <a:bodyPr wrap="square" rtlCol="0"/>
          <a:lstStyle>
            <a:lvl1pPr indent="0" marL="0">
              <a:buNone/>
              <a:defRPr lang="en-US" sz="1200" b="1" dirty="0">
                <a:solidFill>
                  <a:schemeClr val="accent1"/>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200" b="1" dirty="0">
                <a:solidFill>
                  <a:schemeClr val="tx1"/>
                </a:solidFill>
              </a:defRPr>
            </a:lvl1pPr>
          </a:lstStyle>
          <a:p>
            <a:pPr algn="l" indent="0" marL="0">
              <a:buNone/>
            </a:pPr>
            <a:endParaRPr lang="en-US" sz="3200" dirty="0"/>
          </a:p>
        </p:txBody>
      </p:sp>
      <p:sp>
        <p:nvSpPr>
          <p:cNvPr id="5" name="Text 1"/>
          <p:cNvSpPr/>
          <p:nvPr>
            <p:ph idx="103" type="chart" hasCustomPrompt="1"/>
          </p:nvPr>
        </p:nvSpPr>
        <p:spPr>
          <a:xfrm>
            <a:off x="548640" y="1920240"/>
            <a:ext cx="6949440" cy="3931920"/>
          </a:xfrm>
          <a:prstGeom prst="rect">
            <a:avLst/>
          </a:prstGeom>
          <a:noFill/>
          <a:ln/>
        </p:spPr>
        <p:txBody>
          <a:bodyPr wrap="square" rtlCol="0"/>
          <a:lstStyle>
            <a:lvl1pPr indent="0" marL="0">
              <a:buNone/>
              <a:defRPr lang="en-US" dirty="0">
                <a:solidFill>
                  <a:schemeClr val="tx1"/>
                </a:solidFill>
              </a:defRPr>
            </a:lvl1pPr>
          </a:lstStyle>
          <a:p>
            <a:pPr indent="0" marL="0">
              <a:buNone/>
            </a:pPr>
            <a:endParaRPr lang="en-US"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1003</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TITLE_DARK">
    <p:bg>
      <p:bgPr>
        <a:solidFill>
          <a:srgbClr val="0F1A16"/>
        </a:solidFill>
      </p:bgPr>
    </p:bg>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126480"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3" name="Text 0"/>
          <p:cNvSpPr/>
          <p:nvPr>
            <p:ph idx="101" type="title" hasCustomPrompt="1"/>
          </p:nvPr>
        </p:nvSpPr>
        <p:spPr>
          <a:xfrm>
            <a:off x="548640" y="1600200"/>
            <a:ext cx="6126480" cy="2103120"/>
          </a:xfrm>
          <a:prstGeom prst="rect">
            <a:avLst/>
          </a:prstGeom>
          <a:noFill/>
          <a:ln/>
        </p:spPr>
        <p:txBody>
          <a:bodyPr wrap="square" rtlCol="0"/>
          <a:lstStyle>
            <a:lvl1pPr algn="l" indent="0" marL="0">
              <a:buNone/>
              <a:defRPr lang="en-US" sz="3800" b="1" dirty="0">
                <a:solidFill>
                  <a:schemeClr val="bg1"/>
                </a:solidFill>
              </a:defRPr>
            </a:lvl1pPr>
          </a:lstStyle>
          <a:p>
            <a:pPr algn="l" indent="0" marL="0">
              <a:buNone/>
            </a:pPr>
            <a:endParaRPr lang="en-US" sz="3800" dirty="0"/>
          </a:p>
        </p:txBody>
      </p:sp>
      <p:sp>
        <p:nvSpPr>
          <p:cNvPr id="4" name="Text 0"/>
          <p:cNvSpPr/>
          <p:nvPr>
            <p:ph idx="102" type="body" hasCustomPrompt="1"/>
          </p:nvPr>
        </p:nvSpPr>
        <p:spPr>
          <a:xfrm>
            <a:off x="548640" y="3840480"/>
            <a:ext cx="6126480" cy="822960"/>
          </a:xfrm>
          <a:prstGeom prst="rect">
            <a:avLst/>
          </a:prstGeom>
          <a:noFill/>
          <a:ln/>
        </p:spPr>
        <p:txBody>
          <a:bodyPr wrap="square" rtlCol="0"/>
          <a:lstStyle>
            <a:lvl1pPr indent="0" marL="0">
              <a:buNone/>
              <a:defRPr lang="en-US" sz="1600" dirty="0">
                <a:solidFill>
                  <a:schemeClr val="accent5"/>
                </a:solidFill>
              </a:defRPr>
            </a:lvl1pPr>
          </a:lstStyle>
          <a:p>
            <a:pPr indent="0" marL="0">
              <a:buNone/>
            </a:pPr>
            <a:endParaRPr lang="en-US" sz="16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LOSING_DARK">
    <p:bg>
      <p:bgPr>
        <a:solidFill>
          <a:srgbClr val="0F1A16"/>
        </a:solidFill>
      </p:bgPr>
    </p:bg>
    <p:spTree>
      <p:nvGrpSpPr>
        <p:cNvPr id="1" name=""/>
        <p:cNvGrpSpPr/>
        <p:nvPr/>
      </p:nvGrpSpPr>
      <p:grpSpPr>
        <a:xfrm>
          <a:off x="0" y="0"/>
          <a:ext cx="0" cy="0"/>
          <a:chOff x="0" y="0"/>
          <a:chExt cx="0" cy="0"/>
        </a:xfrm>
      </p:grpSpPr>
      <p:sp>
        <p:nvSpPr>
          <p:cNvPr id="2" name="Text 0"/>
          <p:cNvSpPr/>
          <p:nvPr/>
        </p:nvSpPr>
        <p:spPr>
          <a:xfrm>
            <a:off x="548640" y="6382512"/>
            <a:ext cx="7315200" cy="274320"/>
          </a:xfrm>
          <a:prstGeom prst="rect">
            <a:avLst/>
          </a:prstGeom>
          <a:noFill/>
          <a:ln/>
        </p:spPr>
        <p:txBody>
          <a:bodyPr wrap="square" lIns="0" tIns="0" rIns="0" bIns="0" rtlCol="0" anchor="ctr"/>
          <a:lstStyle/>
          <a:p>
            <a:pPr indent="0" marL="0">
              <a:buNone/>
            </a:pPr>
            <a:r>
              <a:rPr lang="en-US" sz="1000" dirty="0">
                <a:solidFill>
                  <a:schemeClr val="accent5"/>
                </a:solidFill>
              </a:rPr>
              <a:t>OpenAI Codex  |  Dissertation presentation</a:t>
            </a:r>
            <a:endParaRPr lang="en-US" sz="1000" dirty="0"/>
          </a:p>
        </p:txBody>
      </p:sp>
      <p:sp>
        <p:nvSpPr>
          <p:cNvPr id="3" name="Text 1"/>
          <p:cNvSpPr/>
          <p:nvPr>
            <p:ph idx="101" type="body" hasCustomPrompt="1"/>
          </p:nvPr>
        </p:nvSpPr>
        <p:spPr>
          <a:xfrm>
            <a:off x="548640" y="457200"/>
            <a:ext cx="11094415" cy="274320"/>
          </a:xfrm>
          <a:prstGeom prst="rect">
            <a:avLst/>
          </a:prstGeom>
          <a:noFill/>
          <a:ln/>
        </p:spPr>
        <p:txBody>
          <a:bodyPr wrap="square" rtlCol="0"/>
          <a:lstStyle>
            <a:lvl1pPr indent="0" marL="0">
              <a:buNone/>
              <a:defRPr lang="en-US" sz="1200" b="1" dirty="0">
                <a:solidFill>
                  <a:schemeClr val="accent5"/>
                </a:solidFill>
                <a:latin typeface="Courier New" pitchFamily="34" charset="0"/>
                <a:ea typeface="Courier New" pitchFamily="34" charset="-122"/>
                <a:cs typeface="Courier New" pitchFamily="34" charset="-120"/>
              </a:defRPr>
            </a:lvl1pPr>
          </a:lstStyle>
          <a:p>
            <a:pPr indent="0" marL="0">
              <a:buNone/>
            </a:pPr>
            <a:endParaRPr lang="en-US" sz="1200" dirty="0"/>
          </a:p>
        </p:txBody>
      </p:sp>
      <p:sp>
        <p:nvSpPr>
          <p:cNvPr id="4" name="Text 1"/>
          <p:cNvSpPr/>
          <p:nvPr>
            <p:ph idx="102" type="title" hasCustomPrompt="1"/>
          </p:nvPr>
        </p:nvSpPr>
        <p:spPr>
          <a:xfrm>
            <a:off x="548640" y="749808"/>
            <a:ext cx="11094415" cy="1005840"/>
          </a:xfrm>
          <a:prstGeom prst="rect">
            <a:avLst/>
          </a:prstGeom>
          <a:noFill/>
          <a:ln/>
        </p:spPr>
        <p:txBody>
          <a:bodyPr wrap="square" rtlCol="0"/>
          <a:lstStyle>
            <a:lvl1pPr algn="l" indent="0" marL="0">
              <a:buNone/>
              <a:defRPr lang="en-US" sz="3200" b="1" dirty="0">
                <a:solidFill>
                  <a:schemeClr val="bg1"/>
                </a:solidFill>
              </a:defRPr>
            </a:lvl1pPr>
          </a:lstStyle>
          <a:p>
            <a:pPr algn="l" indent="0" marL="0">
              <a:buNone/>
            </a:pPr>
            <a:endParaRPr lang="en-US" sz="3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1005</a:t>
            </a:fld>
            <a:endParaRPr lang="en-US"/>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null</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png"/><Relationship Id="rId2" Type="http://schemas.openxmlformats.org/officeDocument/2006/relationships/image" Target="../media/image-4-2.png"/><Relationship Id="rId3" Type="http://schemas.openxmlformats.org/officeDocument/2006/relationships/image" Target="../media/image-4-3.png"/><Relationship Id="rId4" Type="http://schemas.openxmlformats.org/officeDocument/2006/relationships/slideLayout" Target="../slideLayouts/slideLayout2.xml"/><Relationship Id="rId5"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image" Target="../media/image-6-1.png"/><Relationship Id="rId2" Type="http://schemas.openxmlformats.org/officeDocument/2006/relationships/image" Target="../media/image-6-2.png"/><Relationship Id="rId3" Type="http://schemas.openxmlformats.org/officeDocument/2006/relationships/slideLayout" Target="../slideLayouts/slideLayout2.xml"/><Relationship Id="rId4"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image" Target="../media/image-7-1.png"/><Relationship Id="rId2" Type="http://schemas.openxmlformats.org/officeDocument/2006/relationships/image" Target="../media/image-7-2.png"/><Relationship Id="rId3" Type="http://schemas.openxmlformats.org/officeDocument/2006/relationships/image" Target="../media/image-7-3.png"/><Relationship Id="rId4" Type="http://schemas.openxmlformats.org/officeDocument/2006/relationships/image" Target="../media/image-7-4.png"/><Relationship Id="rId5" Type="http://schemas.openxmlformats.org/officeDocument/2006/relationships/image" Target="../media/image-7-5.png"/><Relationship Id="rId6" Type="http://schemas.openxmlformats.org/officeDocument/2006/relationships/slideLayout" Target="../slideLayouts/slideLayout2.xml"/><Relationship Id="rId7"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image" Target="../media/image-8-1.png"/><Relationship Id="rId2" Type="http://schemas.openxmlformats.org/officeDocument/2006/relationships/image" Target="../media/image-8-2.png"/><Relationship Id="rId3" Type="http://schemas.openxmlformats.org/officeDocument/2006/relationships/image" Target="../media/image-8-3.png"/><Relationship Id="rId4" Type="http://schemas.openxmlformats.org/officeDocument/2006/relationships/image" Target="../media/image-8-4.png"/><Relationship Id="rId5" Type="http://schemas.openxmlformats.org/officeDocument/2006/relationships/image" Target="../media/image-8-5.png"/><Relationship Id="rId6" Type="http://schemas.openxmlformats.org/officeDocument/2006/relationships/slideLayout" Target="../slideLayouts/slideLayout2.xml"/><Relationship Id="rId7"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image" Target="../media/image-10-1.png"/><Relationship Id="rId2" Type="http://schemas.openxmlformats.org/officeDocument/2006/relationships/image" Target="../media/image-10-2.png"/><Relationship Id="rId3" Type="http://schemas.openxmlformats.org/officeDocument/2006/relationships/image" Target="../media/image-10-3.png"/><Relationship Id="rId4" Type="http://schemas.openxmlformats.org/officeDocument/2006/relationships/image" Target="../media/image-10-4.png"/><Relationship Id="rId5" Type="http://schemas.openxmlformats.org/officeDocument/2006/relationships/image" Target="../media/image-10-5.png"/><Relationship Id="rId6" Type="http://schemas.openxmlformats.org/officeDocument/2006/relationships/slideLayout" Target="../slideLayouts/slideLayout2.xml"/><Relationship Id="rId7"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image" Target="../media/image-11-2.png"/><Relationship Id="rId3" Type="http://schemas.openxmlformats.org/officeDocument/2006/relationships/image" Target="../media/image-11-3.png"/><Relationship Id="rId4" Type="http://schemas.openxmlformats.org/officeDocument/2006/relationships/image" Target="../media/image-11-4.png"/><Relationship Id="rId5" Type="http://schemas.openxmlformats.org/officeDocument/2006/relationships/image" Target="../media/image-11-5.png"/><Relationship Id="rId6" Type="http://schemas.openxmlformats.org/officeDocument/2006/relationships/image" Target="../media/image-11-6.png"/><Relationship Id="rId7" Type="http://schemas.openxmlformats.org/officeDocument/2006/relationships/slideLayout" Target="../slideLayouts/slideLayout2.xml"/><Relationship Id="rId8"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chart" Target="/ppt/charts/chart1.xml"/><Relationship Id="rId2" Type="http://schemas.openxmlformats.org/officeDocument/2006/relationships/slideLayout" Target="../slideLayouts/slideLayout3.xml"/><Relationship Id="rId3"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chart" Target="/ppt/charts/chart2.xml"/><Relationship Id="rId2" Type="http://schemas.openxmlformats.org/officeDocument/2006/relationships/slideLayout" Target="../slideLayouts/slideLayout3.xml"/><Relationship Id="rId3"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png"/><Relationship Id="rId2" Type="http://schemas.openxmlformats.org/officeDocument/2006/relationships/slideLayout" Target="../slideLayouts/slideLayout2.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2.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2.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slideLayout" Target="../slideLayouts/slideLayout2.xml"/><Relationship Id="rId6"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image" Target="../media/image-23-2.png"/><Relationship Id="rId3" Type="http://schemas.openxmlformats.org/officeDocument/2006/relationships/image" Target="../media/image-23-3.png"/><Relationship Id="rId4" Type="http://schemas.openxmlformats.org/officeDocument/2006/relationships/image" Target="../media/image-23-4.png"/><Relationship Id="rId5" Type="http://schemas.openxmlformats.org/officeDocument/2006/relationships/slideLayout" Target="../slideLayouts/slideLayout2.xml"/><Relationship Id="rId6"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5.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5.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sp>
        <p:nvSpPr>
          <p:cNvPr id="2" name="Text 0"/>
          <p:cNvSpPr/>
          <p:nvPr>
            <p:ph idx="100" type="body" hasCustomPrompt="1"/>
          </p:nvPr>
        </p:nvSpPr>
        <p:spPr>
          <a:xfrm>
            <a:off x="548640" y="1188720"/>
            <a:ext cx="6126480"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&gt; dissertation --topic codex</a:t>
            </a:r>
            <a:endParaRPr lang="en-US" sz="1200" dirty="0"/>
          </a:p>
        </p:txBody>
      </p:sp>
      <p:sp>
        <p:nvSpPr>
          <p:cNvPr id="3" name="Text 0"/>
          <p:cNvSpPr/>
          <p:nvPr>
            <p:ph idx="101" type="title" hasCustomPrompt="1"/>
          </p:nvPr>
        </p:nvSpPr>
        <p:spPr>
          <a:xfrm>
            <a:off x="548640" y="1600200"/>
            <a:ext cx="6126480" cy="2103120"/>
          </a:xfrm>
          <a:prstGeom prst="rect">
            <a:avLst/>
          </a:prstGeom>
          <a:noFill/>
          <a:ln/>
        </p:spPr>
        <p:txBody>
          <a:bodyPr wrap="square" lIns="0" tIns="0" rIns="0" bIns="0" rtlCol="0" anchor="t"/>
          <a:lstStyle/>
          <a:p>
            <a:pPr algn="l" indent="0" marL="0">
              <a:buNone/>
            </a:pPr>
            <a:r>
              <a:rPr lang="en-US" sz="3800" b="1" dirty="0">
                <a:solidFill>
                  <a:schemeClr val="bg1"/>
                </a:solidFill>
              </a:rPr>
              <a:t>OpenAI Codex: from code completion to autonomous software agent</a:t>
            </a:r>
            <a:endParaRPr lang="en-US" sz="3800" dirty="0"/>
          </a:p>
        </p:txBody>
      </p:sp>
      <p:sp>
        <p:nvSpPr>
          <p:cNvPr id="4" name="Text 0"/>
          <p:cNvSpPr/>
          <p:nvPr>
            <p:ph idx="102" type="body" hasCustomPrompt="1"/>
          </p:nvPr>
        </p:nvSpPr>
        <p:spPr>
          <a:xfrm>
            <a:off x="548640" y="3840480"/>
            <a:ext cx="6126480" cy="822960"/>
          </a:xfrm>
          <a:prstGeom prst="rect">
            <a:avLst/>
          </a:prstGeom>
          <a:noFill/>
          <a:ln/>
        </p:spPr>
        <p:txBody>
          <a:bodyPr wrap="square" lIns="0" tIns="0" rIns="0" bIns="0" rtlCol="0" anchor="t"/>
          <a:lstStyle/>
          <a:p>
            <a:pPr indent="0" marL="0">
              <a:buNone/>
            </a:pPr>
            <a:r>
              <a:rPr lang="en-US" sz="1600" dirty="0">
                <a:solidFill>
                  <a:schemeClr val="accent5"/>
                </a:solidFill>
              </a:rPr>
              <a:t>A dissertation presentation on its history, architecture, capabilities, evidence, risks and future</a:t>
            </a:r>
            <a:endParaRPr lang="en-US" sz="1600" dirty="0"/>
          </a:p>
        </p:txBody>
      </p:sp>
      <p:sp>
        <p:nvSpPr>
          <p:cNvPr id="5" name="text-1"/>
          <p:cNvSpPr txBox="1"/>
          <p:nvPr/>
        </p:nvSpPr>
        <p:spPr>
          <a:xfrm>
            <a:off x="548640" y="5074920"/>
            <a:ext cx="6126480" cy="274320"/>
          </a:xfrm>
          <a:prstGeom prst="rect">
            <a:avLst/>
          </a:prstGeom>
          <a:noFill/>
          <a:ln/>
        </p:spPr>
        <p:txBody>
          <a:bodyPr wrap="square" lIns="0" tIns="0" rIns="0" bIns="0" rtlCol="0" anchor="t"/>
          <a:lstStyle/>
          <a:p>
            <a:pPr indent="0" marL="0">
              <a:buNone/>
            </a:pPr>
            <a:r>
              <a:rPr lang="en-US" sz="1400" dirty="0">
                <a:solidFill>
                  <a:schemeClr val="bg1"/>
                </a:solidFill>
              </a:rPr>
              <a:t>[Your name]  |  [Guide's name]  |  [Department, University]</a:t>
            </a:r>
            <a:endParaRPr lang="en-US" sz="1400" dirty="0"/>
          </a:p>
        </p:txBody>
      </p:sp>
      <p:sp>
        <p:nvSpPr>
          <p:cNvPr id="6" name="text-2"/>
          <p:cNvSpPr txBox="1"/>
          <p:nvPr/>
        </p:nvSpPr>
        <p:spPr>
          <a:xfrm>
            <a:off x="548640" y="5440680"/>
            <a:ext cx="6126480" cy="274320"/>
          </a:xfrm>
          <a:prstGeom prst="rect">
            <a:avLst/>
          </a:prstGeom>
          <a:noFill/>
          <a:ln/>
        </p:spPr>
        <p:txBody>
          <a:bodyPr wrap="square" lIns="0" tIns="0" rIns="0" bIns="0" rtlCol="0" anchor="t"/>
          <a:lstStyle/>
          <a:p>
            <a:pPr indent="0" marL="0">
              <a:buNone/>
            </a:pPr>
            <a:r>
              <a:rPr lang="en-US" sz="1200" dirty="0">
                <a:solidFill>
                  <a:schemeClr val="accent5"/>
                </a:solidFill>
                <a:latin typeface="Courier New" pitchFamily="34" charset="0"/>
                <a:ea typeface="Courier New" pitchFamily="34" charset="-122"/>
                <a:cs typeface="Courier New" pitchFamily="34" charset="-120"/>
              </a:rPr>
              <a:t>October 2026</a:t>
            </a:r>
            <a:endParaRPr lang="en-US" sz="1200" dirty="0"/>
          </a:p>
        </p:txBody>
      </p:sp>
      <p:sp>
        <p:nvSpPr>
          <p:cNvPr id="7" name="card-3"/>
          <p:cNvSpPr/>
          <p:nvPr/>
        </p:nvSpPr>
        <p:spPr>
          <a:xfrm>
            <a:off x="7223760" y="1325880"/>
            <a:ext cx="4416552" cy="4114800"/>
          </a:xfrm>
          <a:prstGeom prst="roundRect">
            <a:avLst>
              <a:gd name="adj" fmla="val 1778"/>
            </a:avLst>
          </a:prstGeom>
          <a:solidFill>
            <a:schemeClr val="tx2"/>
          </a:solidFill>
          <a:ln/>
        </p:spPr>
      </p:sp>
      <p:sp>
        <p:nvSpPr>
          <p:cNvPr id="8" name="dot-4"/>
          <p:cNvSpPr/>
          <p:nvPr/>
        </p:nvSpPr>
        <p:spPr>
          <a:xfrm>
            <a:off x="7498080" y="1581912"/>
            <a:ext cx="137160" cy="137160"/>
          </a:xfrm>
          <a:prstGeom prst="ellipse">
            <a:avLst/>
          </a:prstGeom>
          <a:solidFill>
            <a:schemeClr val="accent6"/>
          </a:solidFill>
          <a:ln/>
        </p:spPr>
      </p:sp>
      <p:sp>
        <p:nvSpPr>
          <p:cNvPr id="9" name="dot-5"/>
          <p:cNvSpPr/>
          <p:nvPr/>
        </p:nvSpPr>
        <p:spPr>
          <a:xfrm>
            <a:off x="7735824" y="1581912"/>
            <a:ext cx="137160" cy="137160"/>
          </a:xfrm>
          <a:prstGeom prst="ellipse">
            <a:avLst/>
          </a:prstGeom>
          <a:solidFill>
            <a:schemeClr val="accent2"/>
          </a:solidFill>
          <a:ln/>
        </p:spPr>
      </p:sp>
      <p:sp>
        <p:nvSpPr>
          <p:cNvPr id="10" name="dot-6"/>
          <p:cNvSpPr/>
          <p:nvPr/>
        </p:nvSpPr>
        <p:spPr>
          <a:xfrm>
            <a:off x="7973568" y="1581912"/>
            <a:ext cx="137160" cy="137160"/>
          </a:xfrm>
          <a:prstGeom prst="ellipse">
            <a:avLst/>
          </a:prstGeom>
          <a:solidFill>
            <a:schemeClr val="accent1"/>
          </a:solidFill>
          <a:ln/>
        </p:spPr>
      </p:sp>
      <p:sp>
        <p:nvSpPr>
          <p:cNvPr id="11" name="text-7"/>
          <p:cNvSpPr txBox="1"/>
          <p:nvPr/>
        </p:nvSpPr>
        <p:spPr>
          <a:xfrm>
            <a:off x="7498080" y="2057400"/>
            <a:ext cx="3959352" cy="3108960"/>
          </a:xfrm>
          <a:prstGeom prst="rect">
            <a:avLst/>
          </a:prstGeom>
          <a:noFill/>
          <a:ln/>
        </p:spPr>
        <p:txBody>
          <a:bodyPr wrap="square" lIns="0" tIns="0" rIns="0" bIns="0" rtlCol="0" anchor="t"/>
          <a:lstStyle/>
          <a:p>
            <a:pPr indent="0" marL="0">
              <a:spcAft>
                <a:spcPts val="500"/>
              </a:spcAft>
              <a:buNone/>
            </a:pPr>
            <a:r>
              <a:rPr lang="en-US" sz="1400" dirty="0">
                <a:solidFill>
                  <a:schemeClr val="bg1"/>
                </a:solidFill>
                <a:latin typeface="Courier New" pitchFamily="34" charset="0"/>
                <a:ea typeface="Courier New" pitchFamily="34" charset="-122"/>
                <a:cs typeface="Courier New" pitchFamily="34" charset="-120"/>
              </a:rPr>
              <a:t>$ codex "fix the checkout test"</a:t>
            </a:r>
            <a:endParaRPr lang="en-US" sz="1400" dirty="0"/>
          </a:p>
          <a:p>
            <a:pPr indent="0" marL="0">
              <a:spcAft>
                <a:spcPts val="500"/>
              </a:spcAft>
              <a:buNone/>
            </a:pPr>
            <a:r>
              <a:rPr lang="en-US" sz="1400" dirty="0">
                <a:solidFill>
                  <a:schemeClr val="accent5"/>
                </a:solidFill>
                <a:latin typeface="Courier New" pitchFamily="34" charset="0"/>
                <a:ea typeface="Courier New" pitchFamily="34" charset="-122"/>
                <a:cs typeface="Courier New" pitchFamily="34" charset="-120"/>
              </a:rPr>
              <a:t>&gt; reading repository...</a:t>
            </a:r>
            <a:endParaRPr lang="en-US" sz="1400" dirty="0"/>
          </a:p>
          <a:p>
            <a:pPr indent="0" marL="0">
              <a:spcAft>
                <a:spcPts val="500"/>
              </a:spcAft>
              <a:buNone/>
            </a:pPr>
            <a:r>
              <a:rPr lang="en-US" sz="1400" dirty="0">
                <a:solidFill>
                  <a:schemeClr val="accent5"/>
                </a:solidFill>
                <a:latin typeface="Courier New" pitchFamily="34" charset="0"/>
                <a:ea typeface="Courier New" pitchFamily="34" charset="-122"/>
                <a:cs typeface="Courier New" pitchFamily="34" charset="-120"/>
              </a:rPr>
              <a:t>&gt; plan: patch cart.ts, add test</a:t>
            </a:r>
            <a:endParaRPr lang="en-US" sz="1400" dirty="0"/>
          </a:p>
          <a:p>
            <a:pPr indent="0" marL="0">
              <a:spcAft>
                <a:spcPts val="500"/>
              </a:spcAft>
              <a:buNone/>
            </a:pPr>
            <a:r>
              <a:rPr lang="en-US" sz="1400" dirty="0">
                <a:solidFill>
                  <a:schemeClr val="accent5"/>
                </a:solidFill>
                <a:latin typeface="Courier New" pitchFamily="34" charset="0"/>
                <a:ea typeface="Courier New" pitchFamily="34" charset="-122"/>
                <a:cs typeface="Courier New" pitchFamily="34" charset="-120"/>
              </a:rPr>
              <a:t>&gt; running npm test</a:t>
            </a:r>
            <a:endParaRPr lang="en-US" sz="1400" dirty="0"/>
          </a:p>
          <a:p>
            <a:pPr indent="0" marL="0">
              <a:spcAft>
                <a:spcPts val="500"/>
              </a:spcAft>
              <a:buNone/>
            </a:pPr>
            <a:r>
              <a:rPr lang="en-US" sz="1400" dirty="0">
                <a:solidFill>
                  <a:schemeClr val="accent5"/>
                </a:solidFill>
                <a:latin typeface="Courier New" pitchFamily="34" charset="0"/>
                <a:ea typeface="Courier New" pitchFamily="34" charset="-122"/>
                <a:cs typeface="Courier New" pitchFamily="34" charset="-120"/>
              </a:rPr>
              <a:t>  48 passed, 0 failed</a:t>
            </a:r>
            <a:endParaRPr lang="en-US" sz="1400" dirty="0"/>
          </a:p>
          <a:p>
            <a:pPr indent="0" marL="0">
              <a:spcAft>
                <a:spcPts val="500"/>
              </a:spcAft>
              <a:buNone/>
            </a:pPr>
            <a:r>
              <a:rPr lang="en-US" sz="1400" dirty="0">
                <a:solidFill>
                  <a:schemeClr val="accent5"/>
                </a:solidFill>
                <a:latin typeface="Courier New" pitchFamily="34" charset="0"/>
                <a:ea typeface="Courier New" pitchFamily="34" charset="-122"/>
                <a:cs typeface="Courier New" pitchFamily="34" charset="-120"/>
              </a:rPr>
              <a:t>&gt; diff ready: +32 -7</a:t>
            </a:r>
            <a:endParaRPr lang="en-US" sz="1400" dirty="0"/>
          </a:p>
          <a:p>
            <a:pPr indent="0" marL="0">
              <a:spcAft>
                <a:spcPts val="500"/>
              </a:spcAft>
              <a:buNone/>
            </a:pPr>
            <a:endParaRPr lang="en-US" sz="1400" dirty="0"/>
          </a:p>
          <a:p>
            <a:pPr indent="0" marL="0">
              <a:spcAft>
                <a:spcPts val="500"/>
              </a:spcAft>
              <a:buNone/>
            </a:pPr>
            <a:r>
              <a:rPr lang="en-US" sz="1400" dirty="0">
                <a:solidFill>
                  <a:schemeClr val="bg1"/>
                </a:solidFill>
                <a:latin typeface="Courier New" pitchFamily="34" charset="0"/>
                <a:ea typeface="Courier New" pitchFamily="34" charset="-122"/>
                <a:cs typeface="Courier New" pitchFamily="34" charset="-120"/>
              </a:rPr>
              <a:t>awaiting your review _</a:t>
            </a:r>
            <a:endParaRPr lang="en-US" sz="14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overview</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Codex grew from an autocomplete model into a mainstream coding agent</a:t>
            </a:r>
            <a:endParaRPr lang="en-US" sz="3200" dirty="0"/>
          </a:p>
        </p:txBody>
      </p:sp>
      <p:sp>
        <p:nvSpPr>
          <p:cNvPr id="4" name="text-8"/>
          <p:cNvSpPr txBox="1"/>
          <p:nvPr/>
        </p:nvSpPr>
        <p:spPr>
          <a:xfrm>
            <a:off x="548640" y="1920240"/>
            <a:ext cx="11094415" cy="822960"/>
          </a:xfrm>
          <a:prstGeom prst="rect">
            <a:avLst/>
          </a:prstGeom>
          <a:noFill/>
          <a:ln/>
        </p:spPr>
        <p:txBody>
          <a:bodyPr wrap="square" lIns="0" tIns="0" rIns="0" bIns="0" rtlCol="0" anchor="t"/>
          <a:lstStyle/>
          <a:p>
            <a:pPr indent="0" marL="0">
              <a:buNone/>
            </a:pPr>
            <a:r>
              <a:rPr lang="en-US" sz="1800" dirty="0">
                <a:solidFill>
                  <a:schemeClr val="tx2"/>
                </a:solidFill>
              </a:rPr>
              <a:t>Codex no longer just suggests the next line. It carries out whole engineering tasks, so the questions worth studying shift from accuracy to trust, oversight and security.</a:t>
            </a:r>
            <a:endParaRPr lang="en-US" sz="1800" dirty="0"/>
          </a:p>
        </p:txBody>
      </p:sp>
      <p:sp>
        <p:nvSpPr>
          <p:cNvPr id="5" name="card-9"/>
          <p:cNvSpPr/>
          <p:nvPr/>
        </p:nvSpPr>
        <p:spPr>
          <a:xfrm>
            <a:off x="548640" y="3017520"/>
            <a:ext cx="2567864" cy="2651760"/>
          </a:xfrm>
          <a:prstGeom prst="roundRect">
            <a:avLst>
              <a:gd name="adj" fmla="val 2849"/>
            </a:avLst>
          </a:prstGeom>
          <a:solidFill>
            <a:schemeClr val="bg2"/>
          </a:solidFill>
          <a:ln/>
        </p:spPr>
      </p:sp>
      <p:sp>
        <p:nvSpPr>
          <p:cNvPr id="6" name="text-10"/>
          <p:cNvSpPr txBox="1"/>
          <p:nvPr/>
        </p:nvSpPr>
        <p:spPr>
          <a:xfrm>
            <a:off x="777240" y="3291840"/>
            <a:ext cx="2202104" cy="822960"/>
          </a:xfrm>
          <a:prstGeom prst="rect">
            <a:avLst/>
          </a:prstGeom>
          <a:noFill/>
          <a:ln/>
        </p:spPr>
        <p:txBody>
          <a:bodyPr wrap="square" lIns="0" tIns="0" rIns="0" bIns="0" rtlCol="0" anchor="t"/>
          <a:lstStyle/>
          <a:p>
            <a:pPr indent="0" marL="0">
              <a:buNone/>
            </a:pPr>
            <a:r>
              <a:rPr lang="en-US" sz="4600" b="1" dirty="0">
                <a:solidFill>
                  <a:schemeClr val="accent1"/>
                </a:solidFill>
                <a:latin typeface="Courier New" pitchFamily="34" charset="0"/>
                <a:ea typeface="Courier New" pitchFamily="34" charset="-122"/>
                <a:cs typeface="Courier New" pitchFamily="34" charset="-120"/>
              </a:rPr>
              <a:t>2021</a:t>
            </a:r>
            <a:endParaRPr lang="en-US" sz="4600" dirty="0"/>
          </a:p>
        </p:txBody>
      </p:sp>
      <p:sp>
        <p:nvSpPr>
          <p:cNvPr id="7" name="text-11"/>
          <p:cNvSpPr txBox="1"/>
          <p:nvPr/>
        </p:nvSpPr>
        <p:spPr>
          <a:xfrm>
            <a:off x="777240" y="4343400"/>
            <a:ext cx="2110664" cy="1097280"/>
          </a:xfrm>
          <a:prstGeom prst="rect">
            <a:avLst/>
          </a:prstGeom>
          <a:noFill/>
          <a:ln/>
        </p:spPr>
        <p:txBody>
          <a:bodyPr wrap="square" lIns="0" tIns="0" rIns="0" bIns="0" rtlCol="0" anchor="t"/>
          <a:lstStyle/>
          <a:p>
            <a:pPr indent="0" marL="0">
              <a:buNone/>
            </a:pPr>
            <a:r>
              <a:rPr lang="en-US" sz="1400" dirty="0">
                <a:solidFill>
                  <a:schemeClr val="tx1"/>
                </a:solidFill>
              </a:rPr>
              <a:t>First Codex model released; it powered GitHub Copilot</a:t>
            </a:r>
            <a:endParaRPr lang="en-US" sz="1400" dirty="0"/>
          </a:p>
        </p:txBody>
      </p:sp>
      <p:sp>
        <p:nvSpPr>
          <p:cNvPr id="8" name="card-12"/>
          <p:cNvSpPr/>
          <p:nvPr/>
        </p:nvSpPr>
        <p:spPr>
          <a:xfrm>
            <a:off x="3390824" y="3017520"/>
            <a:ext cx="2567864" cy="2651760"/>
          </a:xfrm>
          <a:prstGeom prst="roundRect">
            <a:avLst>
              <a:gd name="adj" fmla="val 2849"/>
            </a:avLst>
          </a:prstGeom>
          <a:solidFill>
            <a:schemeClr val="bg2"/>
          </a:solidFill>
          <a:ln/>
        </p:spPr>
      </p:sp>
      <p:sp>
        <p:nvSpPr>
          <p:cNvPr id="9" name="text-13"/>
          <p:cNvSpPr txBox="1"/>
          <p:nvPr/>
        </p:nvSpPr>
        <p:spPr>
          <a:xfrm>
            <a:off x="3619424" y="3291840"/>
            <a:ext cx="2202104" cy="822960"/>
          </a:xfrm>
          <a:prstGeom prst="rect">
            <a:avLst/>
          </a:prstGeom>
          <a:noFill/>
          <a:ln/>
        </p:spPr>
        <p:txBody>
          <a:bodyPr wrap="square" lIns="0" tIns="0" rIns="0" bIns="0" rtlCol="0" anchor="t"/>
          <a:lstStyle/>
          <a:p>
            <a:pPr indent="0" marL="0">
              <a:buNone/>
            </a:pPr>
            <a:r>
              <a:rPr lang="en-US" sz="4600" b="1" dirty="0">
                <a:solidFill>
                  <a:schemeClr val="accent1"/>
                </a:solidFill>
                <a:latin typeface="Courier New" pitchFamily="34" charset="0"/>
                <a:ea typeface="Courier New" pitchFamily="34" charset="-122"/>
                <a:cs typeface="Courier New" pitchFamily="34" charset="-120"/>
              </a:rPr>
              <a:t>5M+</a:t>
            </a:r>
            <a:endParaRPr lang="en-US" sz="4600" dirty="0"/>
          </a:p>
        </p:txBody>
      </p:sp>
      <p:sp>
        <p:nvSpPr>
          <p:cNvPr id="10" name="text-14"/>
          <p:cNvSpPr txBox="1"/>
          <p:nvPr/>
        </p:nvSpPr>
        <p:spPr>
          <a:xfrm>
            <a:off x="3619424" y="4343400"/>
            <a:ext cx="2110664" cy="1097280"/>
          </a:xfrm>
          <a:prstGeom prst="rect">
            <a:avLst/>
          </a:prstGeom>
          <a:noFill/>
          <a:ln/>
        </p:spPr>
        <p:txBody>
          <a:bodyPr wrap="square" lIns="0" tIns="0" rIns="0" bIns="0" rtlCol="0" anchor="t"/>
          <a:lstStyle/>
          <a:p>
            <a:pPr indent="0" marL="0">
              <a:buNone/>
            </a:pPr>
            <a:r>
              <a:rPr lang="en-US" sz="1400" dirty="0">
                <a:solidFill>
                  <a:schemeClr val="tx1"/>
                </a:solidFill>
              </a:rPr>
              <a:t>weekly users reported by OpenAI in June 2026</a:t>
            </a:r>
            <a:endParaRPr lang="en-US" sz="1400" dirty="0"/>
          </a:p>
        </p:txBody>
      </p:sp>
      <p:sp>
        <p:nvSpPr>
          <p:cNvPr id="11" name="card-15"/>
          <p:cNvSpPr/>
          <p:nvPr/>
        </p:nvSpPr>
        <p:spPr>
          <a:xfrm>
            <a:off x="6233008" y="3017520"/>
            <a:ext cx="2567864" cy="2651760"/>
          </a:xfrm>
          <a:prstGeom prst="roundRect">
            <a:avLst>
              <a:gd name="adj" fmla="val 2849"/>
            </a:avLst>
          </a:prstGeom>
          <a:solidFill>
            <a:schemeClr val="bg2"/>
          </a:solidFill>
          <a:ln/>
        </p:spPr>
      </p:sp>
      <p:sp>
        <p:nvSpPr>
          <p:cNvPr id="12" name="text-16"/>
          <p:cNvSpPr txBox="1"/>
          <p:nvPr/>
        </p:nvSpPr>
        <p:spPr>
          <a:xfrm>
            <a:off x="6461608" y="3291840"/>
            <a:ext cx="2202104" cy="822960"/>
          </a:xfrm>
          <a:prstGeom prst="rect">
            <a:avLst/>
          </a:prstGeom>
          <a:noFill/>
          <a:ln/>
        </p:spPr>
        <p:txBody>
          <a:bodyPr wrap="square" lIns="0" tIns="0" rIns="0" bIns="0" rtlCol="0" anchor="t"/>
          <a:lstStyle/>
          <a:p>
            <a:pPr indent="0" marL="0">
              <a:buNone/>
            </a:pPr>
            <a:r>
              <a:rPr lang="en-US" sz="4600" b="1" dirty="0">
                <a:solidFill>
                  <a:schemeClr val="accent1"/>
                </a:solidFill>
                <a:latin typeface="Courier New" pitchFamily="34" charset="0"/>
                <a:ea typeface="Courier New" pitchFamily="34" charset="-122"/>
                <a:cs typeface="Courier New" pitchFamily="34" charset="-120"/>
              </a:rPr>
              <a:t>126K</a:t>
            </a:r>
            <a:endParaRPr lang="en-US" sz="4600" dirty="0"/>
          </a:p>
        </p:txBody>
      </p:sp>
      <p:sp>
        <p:nvSpPr>
          <p:cNvPr id="13" name="text-17"/>
          <p:cNvSpPr txBox="1"/>
          <p:nvPr/>
        </p:nvSpPr>
        <p:spPr>
          <a:xfrm>
            <a:off x="6461608" y="4343400"/>
            <a:ext cx="2110664" cy="1097280"/>
          </a:xfrm>
          <a:prstGeom prst="rect">
            <a:avLst/>
          </a:prstGeom>
          <a:noFill/>
          <a:ln/>
        </p:spPr>
        <p:txBody>
          <a:bodyPr wrap="square" lIns="0" tIns="0" rIns="0" bIns="0" rtlCol="0" anchor="t"/>
          <a:lstStyle/>
          <a:p>
            <a:pPr indent="0" marL="0">
              <a:buNone/>
            </a:pPr>
            <a:r>
              <a:rPr lang="en-US" sz="1400" dirty="0">
                <a:solidFill>
                  <a:schemeClr val="tx1"/>
                </a:solidFill>
              </a:rPr>
              <a:t>GitHub stars on the open-source CLI, September 2026</a:t>
            </a:r>
            <a:endParaRPr lang="en-US" sz="1400" dirty="0"/>
          </a:p>
        </p:txBody>
      </p:sp>
      <p:sp>
        <p:nvSpPr>
          <p:cNvPr id="14" name="card-18"/>
          <p:cNvSpPr/>
          <p:nvPr/>
        </p:nvSpPr>
        <p:spPr>
          <a:xfrm>
            <a:off x="9075191" y="3017520"/>
            <a:ext cx="2567864" cy="2651760"/>
          </a:xfrm>
          <a:prstGeom prst="roundRect">
            <a:avLst>
              <a:gd name="adj" fmla="val 2849"/>
            </a:avLst>
          </a:prstGeom>
          <a:solidFill>
            <a:schemeClr val="bg2"/>
          </a:solidFill>
          <a:ln/>
        </p:spPr>
      </p:sp>
      <p:sp>
        <p:nvSpPr>
          <p:cNvPr id="15" name="text-19"/>
          <p:cNvSpPr txBox="1"/>
          <p:nvPr/>
        </p:nvSpPr>
        <p:spPr>
          <a:xfrm>
            <a:off x="9303791" y="3291840"/>
            <a:ext cx="2202104" cy="822960"/>
          </a:xfrm>
          <a:prstGeom prst="rect">
            <a:avLst/>
          </a:prstGeom>
          <a:noFill/>
          <a:ln/>
        </p:spPr>
        <p:txBody>
          <a:bodyPr wrap="square" lIns="0" tIns="0" rIns="0" bIns="0" rtlCol="0" anchor="t"/>
          <a:lstStyle/>
          <a:p>
            <a:pPr indent="0" marL="0">
              <a:buNone/>
            </a:pPr>
            <a:r>
              <a:rPr lang="en-US" sz="4600" b="1" dirty="0">
                <a:solidFill>
                  <a:schemeClr val="accent1"/>
                </a:solidFill>
                <a:latin typeface="Courier New" pitchFamily="34" charset="0"/>
                <a:ea typeface="Courier New" pitchFamily="34" charset="-122"/>
                <a:cs typeface="Courier New" pitchFamily="34" charset="-120"/>
              </a:rPr>
              <a:t>88.8%</a:t>
            </a:r>
            <a:endParaRPr lang="en-US" sz="4600" dirty="0"/>
          </a:p>
        </p:txBody>
      </p:sp>
      <p:sp>
        <p:nvSpPr>
          <p:cNvPr id="16" name="text-20"/>
          <p:cNvSpPr txBox="1"/>
          <p:nvPr/>
        </p:nvSpPr>
        <p:spPr>
          <a:xfrm>
            <a:off x="9303791" y="4343400"/>
            <a:ext cx="2110664" cy="1097280"/>
          </a:xfrm>
          <a:prstGeom prst="rect">
            <a:avLst/>
          </a:prstGeom>
          <a:noFill/>
          <a:ln/>
        </p:spPr>
        <p:txBody>
          <a:bodyPr wrap="square" lIns="0" tIns="0" rIns="0" bIns="0" rtlCol="0" anchor="t"/>
          <a:lstStyle/>
          <a:p>
            <a:pPr indent="0" marL="0">
              <a:buNone/>
            </a:pPr>
            <a:r>
              <a:rPr lang="en-US" sz="1400" dirty="0">
                <a:solidFill>
                  <a:schemeClr val="tx1"/>
                </a:solidFill>
              </a:rPr>
              <a:t>Terminal-Bench 2.1 score reported for GPT-5.6 Sol</a:t>
            </a:r>
            <a:endParaRPr lang="en-US" sz="1400" dirty="0"/>
          </a:p>
        </p:txBody>
      </p:sp>
      <p:sp>
        <p:nvSpPr>
          <p:cNvPr id="17" name="text-2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Chen et al. (2021); OpenAI (June 2026); GitHub and Terminal-Bench figures as compiled by gradually.ai (26 Sept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a:t>
            </a:fld>
            <a:endParaRPr lang="en-US"/>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roadmap</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This presentation covers Codex in six parts</a:t>
            </a:r>
            <a:endParaRPr lang="en-US" sz="3200" dirty="0"/>
          </a:p>
        </p:txBody>
      </p:sp>
      <p:sp>
        <p:nvSpPr>
          <p:cNvPr id="4" name="card-22"/>
          <p:cNvSpPr/>
          <p:nvPr/>
        </p:nvSpPr>
        <p:spPr>
          <a:xfrm>
            <a:off x="548640" y="1920240"/>
            <a:ext cx="3515258" cy="1783080"/>
          </a:xfrm>
          <a:prstGeom prst="roundRect">
            <a:avLst>
              <a:gd name="adj" fmla="val 4103"/>
            </a:avLst>
          </a:prstGeom>
          <a:solidFill>
            <a:schemeClr val="bg2"/>
          </a:solidFill>
          <a:ln/>
        </p:spPr>
      </p:sp>
      <p:sp>
        <p:nvSpPr>
          <p:cNvPr id="5" name="text-23"/>
          <p:cNvSpPr txBox="1"/>
          <p:nvPr/>
        </p:nvSpPr>
        <p:spPr>
          <a:xfrm>
            <a:off x="822960" y="2148840"/>
            <a:ext cx="914400" cy="41148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01</a:t>
            </a:r>
            <a:endParaRPr lang="en-US" sz="2600" dirty="0"/>
          </a:p>
        </p:txBody>
      </p:sp>
      <p:sp>
        <p:nvSpPr>
          <p:cNvPr id="6" name="text-24"/>
          <p:cNvSpPr txBox="1"/>
          <p:nvPr/>
        </p:nvSpPr>
        <p:spPr>
          <a:xfrm>
            <a:off x="822960" y="2651760"/>
            <a:ext cx="2966618" cy="320040"/>
          </a:xfrm>
          <a:prstGeom prst="rect">
            <a:avLst/>
          </a:prstGeom>
          <a:noFill/>
          <a:ln/>
        </p:spPr>
        <p:txBody>
          <a:bodyPr wrap="square" lIns="0" tIns="0" rIns="0" bIns="0" rtlCol="0" anchor="t"/>
          <a:lstStyle/>
          <a:p>
            <a:pPr indent="0" marL="0">
              <a:buNone/>
            </a:pPr>
            <a:r>
              <a:rPr lang="en-US" sz="1800" b="1" dirty="0">
                <a:solidFill>
                  <a:schemeClr val="tx1"/>
                </a:solidFill>
              </a:rPr>
              <a:t>Background</a:t>
            </a:r>
            <a:endParaRPr lang="en-US" sz="1800" dirty="0"/>
          </a:p>
        </p:txBody>
      </p:sp>
      <p:sp>
        <p:nvSpPr>
          <p:cNvPr id="7" name="text-25"/>
          <p:cNvSpPr txBox="1"/>
          <p:nvPr/>
        </p:nvSpPr>
        <p:spPr>
          <a:xfrm>
            <a:off x="822960" y="3017520"/>
            <a:ext cx="2966618" cy="548640"/>
          </a:xfrm>
          <a:prstGeom prst="rect">
            <a:avLst/>
          </a:prstGeom>
          <a:noFill/>
          <a:ln/>
        </p:spPr>
        <p:txBody>
          <a:bodyPr wrap="square" lIns="0" tIns="0" rIns="0" bIns="0" rtlCol="0" anchor="t"/>
          <a:lstStyle/>
          <a:p>
            <a:pPr indent="0" marL="0">
              <a:buNone/>
            </a:pPr>
            <a:r>
              <a:rPr lang="en-US" sz="1400" dirty="0">
                <a:solidFill>
                  <a:schemeClr val="tx2"/>
                </a:solidFill>
              </a:rPr>
              <a:t>Two meanings of Codex and a five-year timeline</a:t>
            </a:r>
            <a:endParaRPr lang="en-US" sz="1400" dirty="0"/>
          </a:p>
        </p:txBody>
      </p:sp>
      <p:sp>
        <p:nvSpPr>
          <p:cNvPr id="8" name="card-26"/>
          <p:cNvSpPr/>
          <p:nvPr/>
        </p:nvSpPr>
        <p:spPr>
          <a:xfrm>
            <a:off x="4338218" y="1920240"/>
            <a:ext cx="3515258" cy="1783080"/>
          </a:xfrm>
          <a:prstGeom prst="roundRect">
            <a:avLst>
              <a:gd name="adj" fmla="val 4103"/>
            </a:avLst>
          </a:prstGeom>
          <a:solidFill>
            <a:schemeClr val="bg2"/>
          </a:solidFill>
          <a:ln/>
        </p:spPr>
      </p:sp>
      <p:sp>
        <p:nvSpPr>
          <p:cNvPr id="9" name="text-27"/>
          <p:cNvSpPr txBox="1"/>
          <p:nvPr/>
        </p:nvSpPr>
        <p:spPr>
          <a:xfrm>
            <a:off x="4612538" y="2148840"/>
            <a:ext cx="914400" cy="41148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02</a:t>
            </a:r>
            <a:endParaRPr lang="en-US" sz="2600" dirty="0"/>
          </a:p>
        </p:txBody>
      </p:sp>
      <p:sp>
        <p:nvSpPr>
          <p:cNvPr id="10" name="text-28"/>
          <p:cNvSpPr txBox="1"/>
          <p:nvPr/>
        </p:nvSpPr>
        <p:spPr>
          <a:xfrm>
            <a:off x="4612538" y="2651760"/>
            <a:ext cx="2966618" cy="320040"/>
          </a:xfrm>
          <a:prstGeom prst="rect">
            <a:avLst/>
          </a:prstGeom>
          <a:noFill/>
          <a:ln/>
        </p:spPr>
        <p:txBody>
          <a:bodyPr wrap="square" lIns="0" tIns="0" rIns="0" bIns="0" rtlCol="0" anchor="t"/>
          <a:lstStyle/>
          <a:p>
            <a:pPr indent="0" marL="0">
              <a:buNone/>
            </a:pPr>
            <a:r>
              <a:rPr lang="en-US" sz="1800" b="1" dirty="0">
                <a:solidFill>
                  <a:schemeClr val="tx1"/>
                </a:solidFill>
              </a:rPr>
              <a:t>Technology</a:t>
            </a:r>
            <a:endParaRPr lang="en-US" sz="1800" dirty="0"/>
          </a:p>
        </p:txBody>
      </p:sp>
      <p:sp>
        <p:nvSpPr>
          <p:cNvPr id="11" name="text-29"/>
          <p:cNvSpPr txBox="1"/>
          <p:nvPr/>
        </p:nvSpPr>
        <p:spPr>
          <a:xfrm>
            <a:off x="4612538" y="3017520"/>
            <a:ext cx="2966618" cy="548640"/>
          </a:xfrm>
          <a:prstGeom prst="rect">
            <a:avLst/>
          </a:prstGeom>
          <a:noFill/>
          <a:ln/>
        </p:spPr>
        <p:txBody>
          <a:bodyPr wrap="square" lIns="0" tIns="0" rIns="0" bIns="0" rtlCol="0" anchor="t"/>
          <a:lstStyle/>
          <a:p>
            <a:pPr indent="0" marL="0">
              <a:buNone/>
            </a:pPr>
            <a:r>
              <a:rPr lang="en-US" sz="1400" dirty="0">
                <a:solidFill>
                  <a:schemeClr val="tx2"/>
                </a:solidFill>
              </a:rPr>
              <a:t>Models, the agent loop, architecture and safety</a:t>
            </a:r>
            <a:endParaRPr lang="en-US" sz="1400" dirty="0"/>
          </a:p>
        </p:txBody>
      </p:sp>
      <p:sp>
        <p:nvSpPr>
          <p:cNvPr id="12" name="card-30"/>
          <p:cNvSpPr/>
          <p:nvPr/>
        </p:nvSpPr>
        <p:spPr>
          <a:xfrm>
            <a:off x="8127797" y="1920240"/>
            <a:ext cx="3515258" cy="1783080"/>
          </a:xfrm>
          <a:prstGeom prst="roundRect">
            <a:avLst>
              <a:gd name="adj" fmla="val 4103"/>
            </a:avLst>
          </a:prstGeom>
          <a:solidFill>
            <a:schemeClr val="bg2"/>
          </a:solidFill>
          <a:ln/>
        </p:spPr>
      </p:sp>
      <p:sp>
        <p:nvSpPr>
          <p:cNvPr id="13" name="text-31"/>
          <p:cNvSpPr txBox="1"/>
          <p:nvPr/>
        </p:nvSpPr>
        <p:spPr>
          <a:xfrm>
            <a:off x="8402117" y="2148840"/>
            <a:ext cx="914400" cy="41148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03</a:t>
            </a:r>
            <a:endParaRPr lang="en-US" sz="2600" dirty="0"/>
          </a:p>
        </p:txBody>
      </p:sp>
      <p:sp>
        <p:nvSpPr>
          <p:cNvPr id="14" name="text-32"/>
          <p:cNvSpPr txBox="1"/>
          <p:nvPr/>
        </p:nvSpPr>
        <p:spPr>
          <a:xfrm>
            <a:off x="8402117" y="2651760"/>
            <a:ext cx="2966618" cy="320040"/>
          </a:xfrm>
          <a:prstGeom prst="rect">
            <a:avLst/>
          </a:prstGeom>
          <a:noFill/>
          <a:ln/>
        </p:spPr>
        <p:txBody>
          <a:bodyPr wrap="square" lIns="0" tIns="0" rIns="0" bIns="0" rtlCol="0" anchor="t"/>
          <a:lstStyle/>
          <a:p>
            <a:pPr indent="0" marL="0">
              <a:buNone/>
            </a:pPr>
            <a:r>
              <a:rPr lang="en-US" sz="1800" b="1" dirty="0">
                <a:solidFill>
                  <a:schemeClr val="tx1"/>
                </a:solidFill>
              </a:rPr>
              <a:t>Capabilities</a:t>
            </a:r>
            <a:endParaRPr lang="en-US" sz="1800" dirty="0"/>
          </a:p>
        </p:txBody>
      </p:sp>
      <p:sp>
        <p:nvSpPr>
          <p:cNvPr id="15" name="text-33"/>
          <p:cNvSpPr txBox="1"/>
          <p:nvPr/>
        </p:nvSpPr>
        <p:spPr>
          <a:xfrm>
            <a:off x="8402117" y="3017520"/>
            <a:ext cx="2966618" cy="548640"/>
          </a:xfrm>
          <a:prstGeom prst="rect">
            <a:avLst/>
          </a:prstGeom>
          <a:noFill/>
          <a:ln/>
        </p:spPr>
        <p:txBody>
          <a:bodyPr wrap="square" lIns="0" tIns="0" rIns="0" bIns="0" rtlCol="0" anchor="t"/>
          <a:lstStyle/>
          <a:p>
            <a:pPr indent="0" marL="0">
              <a:buNone/>
            </a:pPr>
            <a:r>
              <a:rPr lang="en-US" sz="1400" dirty="0">
                <a:solidFill>
                  <a:schemeClr val="tx2"/>
                </a:solidFill>
              </a:rPr>
              <a:t>What it does, benchmark results and adoption</a:t>
            </a:r>
            <a:endParaRPr lang="en-US" sz="1400" dirty="0"/>
          </a:p>
        </p:txBody>
      </p:sp>
      <p:sp>
        <p:nvSpPr>
          <p:cNvPr id="16" name="card-34"/>
          <p:cNvSpPr/>
          <p:nvPr/>
        </p:nvSpPr>
        <p:spPr>
          <a:xfrm>
            <a:off x="548640" y="3977640"/>
            <a:ext cx="3515258" cy="1783080"/>
          </a:xfrm>
          <a:prstGeom prst="roundRect">
            <a:avLst>
              <a:gd name="adj" fmla="val 4103"/>
            </a:avLst>
          </a:prstGeom>
          <a:solidFill>
            <a:schemeClr val="bg2"/>
          </a:solidFill>
          <a:ln/>
        </p:spPr>
      </p:sp>
      <p:sp>
        <p:nvSpPr>
          <p:cNvPr id="17" name="text-35"/>
          <p:cNvSpPr txBox="1"/>
          <p:nvPr/>
        </p:nvSpPr>
        <p:spPr>
          <a:xfrm>
            <a:off x="822960" y="4206240"/>
            <a:ext cx="914400" cy="41148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04</a:t>
            </a:r>
            <a:endParaRPr lang="en-US" sz="2600" dirty="0"/>
          </a:p>
        </p:txBody>
      </p:sp>
      <p:sp>
        <p:nvSpPr>
          <p:cNvPr id="18" name="text-36"/>
          <p:cNvSpPr txBox="1"/>
          <p:nvPr/>
        </p:nvSpPr>
        <p:spPr>
          <a:xfrm>
            <a:off x="822960" y="4709160"/>
            <a:ext cx="2966618" cy="320040"/>
          </a:xfrm>
          <a:prstGeom prst="rect">
            <a:avLst/>
          </a:prstGeom>
          <a:noFill/>
          <a:ln/>
        </p:spPr>
        <p:txBody>
          <a:bodyPr wrap="square" lIns="0" tIns="0" rIns="0" bIns="0" rtlCol="0" anchor="t"/>
          <a:lstStyle/>
          <a:p>
            <a:pPr indent="0" marL="0">
              <a:buNone/>
            </a:pPr>
            <a:r>
              <a:rPr lang="en-US" sz="1800" b="1" dirty="0">
                <a:solidFill>
                  <a:schemeClr val="tx1"/>
                </a:solidFill>
              </a:rPr>
              <a:t>Market</a:t>
            </a:r>
            <a:endParaRPr lang="en-US" sz="1800" dirty="0"/>
          </a:p>
        </p:txBody>
      </p:sp>
      <p:sp>
        <p:nvSpPr>
          <p:cNvPr id="19" name="text-37"/>
          <p:cNvSpPr txBox="1"/>
          <p:nvPr/>
        </p:nvSpPr>
        <p:spPr>
          <a:xfrm>
            <a:off x="822960" y="5074920"/>
            <a:ext cx="2966618" cy="548640"/>
          </a:xfrm>
          <a:prstGeom prst="rect">
            <a:avLst/>
          </a:prstGeom>
          <a:noFill/>
          <a:ln/>
        </p:spPr>
        <p:txBody>
          <a:bodyPr wrap="square" lIns="0" tIns="0" rIns="0" bIns="0" rtlCol="0" anchor="t"/>
          <a:lstStyle/>
          <a:p>
            <a:pPr indent="0" marL="0">
              <a:buNone/>
            </a:pPr>
            <a:r>
              <a:rPr lang="en-US" sz="1400" dirty="0">
                <a:solidFill>
                  <a:schemeClr val="tx2"/>
                </a:solidFill>
              </a:rPr>
              <a:t>Rivals, pricing and enterprise security</a:t>
            </a:r>
            <a:endParaRPr lang="en-US" sz="1400" dirty="0"/>
          </a:p>
        </p:txBody>
      </p:sp>
      <p:sp>
        <p:nvSpPr>
          <p:cNvPr id="20" name="card-38"/>
          <p:cNvSpPr/>
          <p:nvPr/>
        </p:nvSpPr>
        <p:spPr>
          <a:xfrm>
            <a:off x="4338218" y="3977640"/>
            <a:ext cx="3515258" cy="1783080"/>
          </a:xfrm>
          <a:prstGeom prst="roundRect">
            <a:avLst>
              <a:gd name="adj" fmla="val 4103"/>
            </a:avLst>
          </a:prstGeom>
          <a:solidFill>
            <a:schemeClr val="bg2"/>
          </a:solidFill>
          <a:ln/>
        </p:spPr>
      </p:sp>
      <p:sp>
        <p:nvSpPr>
          <p:cNvPr id="21" name="text-39"/>
          <p:cNvSpPr txBox="1"/>
          <p:nvPr/>
        </p:nvSpPr>
        <p:spPr>
          <a:xfrm>
            <a:off x="4612538" y="4206240"/>
            <a:ext cx="914400" cy="41148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05</a:t>
            </a:r>
            <a:endParaRPr lang="en-US" sz="2600" dirty="0"/>
          </a:p>
        </p:txBody>
      </p:sp>
      <p:sp>
        <p:nvSpPr>
          <p:cNvPr id="22" name="text-40"/>
          <p:cNvSpPr txBox="1"/>
          <p:nvPr/>
        </p:nvSpPr>
        <p:spPr>
          <a:xfrm>
            <a:off x="4612538" y="4709160"/>
            <a:ext cx="2966618" cy="320040"/>
          </a:xfrm>
          <a:prstGeom prst="rect">
            <a:avLst/>
          </a:prstGeom>
          <a:noFill/>
          <a:ln/>
        </p:spPr>
        <p:txBody>
          <a:bodyPr wrap="square" lIns="0" tIns="0" rIns="0" bIns="0" rtlCol="0" anchor="t"/>
          <a:lstStyle/>
          <a:p>
            <a:pPr indent="0" marL="0">
              <a:buNone/>
            </a:pPr>
            <a:r>
              <a:rPr lang="en-US" sz="1800" b="1" dirty="0">
                <a:solidFill>
                  <a:schemeClr val="tx1"/>
                </a:solidFill>
              </a:rPr>
              <a:t>Critique</a:t>
            </a:r>
            <a:endParaRPr lang="en-US" sz="1800" dirty="0"/>
          </a:p>
        </p:txBody>
      </p:sp>
      <p:sp>
        <p:nvSpPr>
          <p:cNvPr id="23" name="text-41"/>
          <p:cNvSpPr txBox="1"/>
          <p:nvPr/>
        </p:nvSpPr>
        <p:spPr>
          <a:xfrm>
            <a:off x="4612538" y="5074920"/>
            <a:ext cx="2966618" cy="548640"/>
          </a:xfrm>
          <a:prstGeom prst="rect">
            <a:avLst/>
          </a:prstGeom>
          <a:noFill/>
          <a:ln/>
        </p:spPr>
        <p:txBody>
          <a:bodyPr wrap="square" lIns="0" tIns="0" rIns="0" bIns="0" rtlCol="0" anchor="t"/>
          <a:lstStyle/>
          <a:p>
            <a:pPr indent="0" marL="0">
              <a:buNone/>
            </a:pPr>
            <a:r>
              <a:rPr lang="en-US" sz="1400" dirty="0">
                <a:solidFill>
                  <a:schemeClr val="tx2"/>
                </a:solidFill>
              </a:rPr>
              <a:t>Evidence, risks, ethics and a SWOT analysis</a:t>
            </a:r>
            <a:endParaRPr lang="en-US" sz="1400" dirty="0"/>
          </a:p>
        </p:txBody>
      </p:sp>
      <p:sp>
        <p:nvSpPr>
          <p:cNvPr id="24" name="card-42"/>
          <p:cNvSpPr/>
          <p:nvPr/>
        </p:nvSpPr>
        <p:spPr>
          <a:xfrm>
            <a:off x="8127797" y="3977640"/>
            <a:ext cx="3515258" cy="1783080"/>
          </a:xfrm>
          <a:prstGeom prst="roundRect">
            <a:avLst>
              <a:gd name="adj" fmla="val 4103"/>
            </a:avLst>
          </a:prstGeom>
          <a:solidFill>
            <a:schemeClr val="bg2"/>
          </a:solidFill>
          <a:ln/>
        </p:spPr>
      </p:sp>
      <p:sp>
        <p:nvSpPr>
          <p:cNvPr id="25" name="text-43"/>
          <p:cNvSpPr txBox="1"/>
          <p:nvPr/>
        </p:nvSpPr>
        <p:spPr>
          <a:xfrm>
            <a:off x="8402117" y="4206240"/>
            <a:ext cx="914400" cy="411480"/>
          </a:xfrm>
          <a:prstGeom prst="rect">
            <a:avLst/>
          </a:prstGeom>
          <a:noFill/>
          <a:ln/>
        </p:spPr>
        <p:txBody>
          <a:bodyPr wrap="square" lIns="0" tIns="0" rIns="0" bIns="0" rtlCol="0" anchor="t"/>
          <a:lstStyle/>
          <a:p>
            <a:pPr indent="0" marL="0">
              <a:buNone/>
            </a:pPr>
            <a:r>
              <a:rPr lang="en-US" sz="2600" b="1" dirty="0">
                <a:solidFill>
                  <a:schemeClr val="accent1"/>
                </a:solidFill>
                <a:latin typeface="Courier New" pitchFamily="34" charset="0"/>
                <a:ea typeface="Courier New" pitchFamily="34" charset="-122"/>
                <a:cs typeface="Courier New" pitchFamily="34" charset="-120"/>
              </a:rPr>
              <a:t>06</a:t>
            </a:r>
            <a:endParaRPr lang="en-US" sz="2600" dirty="0"/>
          </a:p>
        </p:txBody>
      </p:sp>
      <p:sp>
        <p:nvSpPr>
          <p:cNvPr id="26" name="text-44"/>
          <p:cNvSpPr txBox="1"/>
          <p:nvPr/>
        </p:nvSpPr>
        <p:spPr>
          <a:xfrm>
            <a:off x="8402117" y="4709160"/>
            <a:ext cx="2966618" cy="320040"/>
          </a:xfrm>
          <a:prstGeom prst="rect">
            <a:avLst/>
          </a:prstGeom>
          <a:noFill/>
          <a:ln/>
        </p:spPr>
        <p:txBody>
          <a:bodyPr wrap="square" lIns="0" tIns="0" rIns="0" bIns="0" rtlCol="0" anchor="t"/>
          <a:lstStyle/>
          <a:p>
            <a:pPr indent="0" marL="0">
              <a:buNone/>
            </a:pPr>
            <a:r>
              <a:rPr lang="en-US" sz="1800" b="1" dirty="0">
                <a:solidFill>
                  <a:schemeClr val="tx1"/>
                </a:solidFill>
              </a:rPr>
              <a:t>Research</a:t>
            </a:r>
            <a:endParaRPr lang="en-US" sz="1800" dirty="0"/>
          </a:p>
        </p:txBody>
      </p:sp>
      <p:sp>
        <p:nvSpPr>
          <p:cNvPr id="27" name="text-45"/>
          <p:cNvSpPr txBox="1"/>
          <p:nvPr/>
        </p:nvSpPr>
        <p:spPr>
          <a:xfrm>
            <a:off x="8402117" y="5074920"/>
            <a:ext cx="2966618" cy="548640"/>
          </a:xfrm>
          <a:prstGeom prst="rect">
            <a:avLst/>
          </a:prstGeom>
          <a:noFill/>
          <a:ln/>
        </p:spPr>
        <p:txBody>
          <a:bodyPr wrap="square" lIns="0" tIns="0" rIns="0" bIns="0" rtlCol="0" anchor="t"/>
          <a:lstStyle/>
          <a:p>
            <a:pPr indent="0" marL="0">
              <a:buNone/>
            </a:pPr>
            <a:r>
              <a:rPr lang="en-US" sz="1400" dirty="0">
                <a:solidFill>
                  <a:schemeClr val="tx2"/>
                </a:solidFill>
              </a:rPr>
              <a:t>Open questions, method, outlook and conclusion</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3</a:t>
            </a:fld>
            <a:endParaRPr lang="en-US"/>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01 / background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name Codex refers to two different things</a:t>
            </a:r>
            <a:endParaRPr lang="en-US" sz="3200" dirty="0"/>
          </a:p>
        </p:txBody>
      </p:sp>
      <p:sp>
        <p:nvSpPr>
          <p:cNvPr id="4" name="card-46"/>
          <p:cNvSpPr/>
          <p:nvPr/>
        </p:nvSpPr>
        <p:spPr>
          <a:xfrm>
            <a:off x="548640" y="1920240"/>
            <a:ext cx="5212080" cy="3931920"/>
          </a:xfrm>
          <a:prstGeom prst="roundRect">
            <a:avLst>
              <a:gd name="adj" fmla="val 1860"/>
            </a:avLst>
          </a:prstGeom>
          <a:solidFill>
            <a:schemeClr val="bg2"/>
          </a:solidFill>
          <a:ln/>
        </p:spPr>
      </p:sp>
      <p:sp>
        <p:nvSpPr>
          <p:cNvPr id="5" name="icon-tile-47"/>
          <p:cNvSpPr/>
          <p:nvPr/>
        </p:nvSpPr>
        <p:spPr>
          <a:xfrm>
            <a:off x="822960" y="2194560"/>
            <a:ext cx="548640" cy="548640"/>
          </a:xfrm>
          <a:prstGeom prst="roundRect">
            <a:avLst>
              <a:gd name="adj" fmla="val 13333"/>
            </a:avLst>
          </a:prstGeom>
          <a:solidFill>
            <a:schemeClr val="accent4"/>
          </a:solidFill>
          <a:ln/>
        </p:spPr>
      </p:sp>
      <p:pic>
        <p:nvPicPr>
          <p:cNvPr id="6" name="icon-48" descr="preencoded.png">    </p:cNvPr>
          <p:cNvPicPr>
            <a:picLocks noChangeAspect="1"/>
          </p:cNvPicPr>
          <p:nvPr/>
        </p:nvPicPr>
        <p:blipFill>
          <a:blip r:embed="rId1"/>
          <a:stretch>
            <a:fillRect/>
          </a:stretch>
        </p:blipFill>
        <p:spPr>
          <a:xfrm>
            <a:off x="954634" y="2326234"/>
            <a:ext cx="285293" cy="285293"/>
          </a:xfrm>
          <a:prstGeom prst="rect">
            <a:avLst/>
          </a:prstGeom>
        </p:spPr>
      </p:pic>
      <p:sp>
        <p:nvSpPr>
          <p:cNvPr id="7" name="text-49"/>
          <p:cNvSpPr txBox="1"/>
          <p:nvPr/>
        </p:nvSpPr>
        <p:spPr>
          <a:xfrm>
            <a:off x="1554480" y="2176272"/>
            <a:ext cx="3931920" cy="320040"/>
          </a:xfrm>
          <a:prstGeom prst="rect">
            <a:avLst/>
          </a:prstGeom>
          <a:noFill/>
          <a:ln/>
        </p:spPr>
        <p:txBody>
          <a:bodyPr wrap="square" lIns="0" tIns="0" rIns="0" bIns="0" rtlCol="0" anchor="t"/>
          <a:lstStyle/>
          <a:p>
            <a:pPr indent="0" marL="0">
              <a:buNone/>
            </a:pPr>
            <a:r>
              <a:rPr lang="en-US" sz="2000" b="1" dirty="0">
                <a:solidFill>
                  <a:schemeClr val="tx1"/>
                </a:solidFill>
              </a:rPr>
              <a:t>Codex, the model</a:t>
            </a:r>
            <a:endParaRPr lang="en-US" sz="2000" dirty="0"/>
          </a:p>
        </p:txBody>
      </p:sp>
      <p:sp>
        <p:nvSpPr>
          <p:cNvPr id="8" name="text-50"/>
          <p:cNvSpPr txBox="1"/>
          <p:nvPr/>
        </p:nvSpPr>
        <p:spPr>
          <a:xfrm>
            <a:off x="1554480" y="2514600"/>
            <a:ext cx="3931920" cy="27432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2021 to 2023</a:t>
            </a:r>
            <a:endParaRPr lang="en-US" sz="1200" dirty="0"/>
          </a:p>
        </p:txBody>
      </p:sp>
      <p:sp>
        <p:nvSpPr>
          <p:cNvPr id="9" name="text-51"/>
          <p:cNvSpPr txBox="1"/>
          <p:nvPr/>
        </p:nvSpPr>
        <p:spPr>
          <a:xfrm>
            <a:off x="822960" y="3017520"/>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WHAT IT IS</a:t>
            </a:r>
            <a:endParaRPr lang="en-US" sz="1100" dirty="0"/>
          </a:p>
        </p:txBody>
      </p:sp>
      <p:sp>
        <p:nvSpPr>
          <p:cNvPr id="10" name="text-52"/>
          <p:cNvSpPr txBox="1"/>
          <p:nvPr/>
        </p:nvSpPr>
        <p:spPr>
          <a:xfrm>
            <a:off x="2423160" y="2990088"/>
            <a:ext cx="3063240" cy="548640"/>
          </a:xfrm>
          <a:prstGeom prst="rect">
            <a:avLst/>
          </a:prstGeom>
          <a:noFill/>
          <a:ln/>
        </p:spPr>
        <p:txBody>
          <a:bodyPr wrap="square" lIns="0" tIns="0" rIns="0" bIns="0" rtlCol="0" anchor="t"/>
          <a:lstStyle/>
          <a:p>
            <a:pPr indent="0" marL="0">
              <a:buNone/>
            </a:pPr>
            <a:r>
              <a:rPr lang="en-US" sz="1400" dirty="0">
                <a:solidFill>
                  <a:schemeClr val="tx1"/>
                </a:solidFill>
              </a:rPr>
              <a:t>A GPT-3 descendant fine-tuned on public GitHub code</a:t>
            </a:r>
            <a:endParaRPr lang="en-US" sz="1400" dirty="0"/>
          </a:p>
        </p:txBody>
      </p:sp>
      <p:sp>
        <p:nvSpPr>
          <p:cNvPr id="11" name="text-53"/>
          <p:cNvSpPr txBox="1"/>
          <p:nvPr/>
        </p:nvSpPr>
        <p:spPr>
          <a:xfrm>
            <a:off x="822960" y="3712464"/>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HOW YOU USE IT</a:t>
            </a:r>
            <a:endParaRPr lang="en-US" sz="1100" dirty="0"/>
          </a:p>
        </p:txBody>
      </p:sp>
      <p:sp>
        <p:nvSpPr>
          <p:cNvPr id="12" name="text-54"/>
          <p:cNvSpPr txBox="1"/>
          <p:nvPr/>
        </p:nvSpPr>
        <p:spPr>
          <a:xfrm>
            <a:off x="2423160" y="3685032"/>
            <a:ext cx="3063240" cy="548640"/>
          </a:xfrm>
          <a:prstGeom prst="rect">
            <a:avLst/>
          </a:prstGeom>
          <a:noFill/>
          <a:ln/>
        </p:spPr>
        <p:txBody>
          <a:bodyPr wrap="square" lIns="0" tIns="0" rIns="0" bIns="0" rtlCol="0" anchor="t"/>
          <a:lstStyle/>
          <a:p>
            <a:pPr indent="0" marL="0">
              <a:buNone/>
            </a:pPr>
            <a:r>
              <a:rPr lang="en-US" sz="1400" dirty="0">
                <a:solidFill>
                  <a:schemeClr val="tx1"/>
                </a:solidFill>
              </a:rPr>
              <a:t>Type code or a comment; it predicts the next lines</a:t>
            </a:r>
            <a:endParaRPr lang="en-US" sz="1400" dirty="0"/>
          </a:p>
        </p:txBody>
      </p:sp>
      <p:sp>
        <p:nvSpPr>
          <p:cNvPr id="13" name="text-55"/>
          <p:cNvSpPr txBox="1"/>
          <p:nvPr/>
        </p:nvSpPr>
        <p:spPr>
          <a:xfrm>
            <a:off x="822960" y="4407408"/>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WHERE IT RAN</a:t>
            </a:r>
            <a:endParaRPr lang="en-US" sz="1100" dirty="0"/>
          </a:p>
        </p:txBody>
      </p:sp>
      <p:sp>
        <p:nvSpPr>
          <p:cNvPr id="14" name="text-56"/>
          <p:cNvSpPr txBox="1"/>
          <p:nvPr/>
        </p:nvSpPr>
        <p:spPr>
          <a:xfrm>
            <a:off x="2423160" y="4379976"/>
            <a:ext cx="3063240" cy="548640"/>
          </a:xfrm>
          <a:prstGeom prst="rect">
            <a:avLst/>
          </a:prstGeom>
          <a:noFill/>
          <a:ln/>
        </p:spPr>
        <p:txBody>
          <a:bodyPr wrap="square" lIns="0" tIns="0" rIns="0" bIns="0" rtlCol="0" anchor="t"/>
          <a:lstStyle/>
          <a:p>
            <a:pPr indent="0" marL="0">
              <a:buNone/>
            </a:pPr>
            <a:r>
              <a:rPr lang="en-US" sz="1400" dirty="0">
                <a:solidFill>
                  <a:schemeClr val="tx1"/>
                </a:solidFill>
              </a:rPr>
              <a:t>GitHub Copilot and the OpenAI API</a:t>
            </a:r>
            <a:endParaRPr lang="en-US" sz="1400" dirty="0"/>
          </a:p>
        </p:txBody>
      </p:sp>
      <p:sp>
        <p:nvSpPr>
          <p:cNvPr id="15" name="text-57"/>
          <p:cNvSpPr txBox="1"/>
          <p:nvPr/>
        </p:nvSpPr>
        <p:spPr>
          <a:xfrm>
            <a:off x="822960" y="5102352"/>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STATUS</a:t>
            </a:r>
            <a:endParaRPr lang="en-US" sz="1100" dirty="0"/>
          </a:p>
        </p:txBody>
      </p:sp>
      <p:sp>
        <p:nvSpPr>
          <p:cNvPr id="16" name="text-58"/>
          <p:cNvSpPr txBox="1"/>
          <p:nvPr/>
        </p:nvSpPr>
        <p:spPr>
          <a:xfrm>
            <a:off x="2423160" y="5074920"/>
            <a:ext cx="3063240" cy="548640"/>
          </a:xfrm>
          <a:prstGeom prst="rect">
            <a:avLst/>
          </a:prstGeom>
          <a:noFill/>
          <a:ln/>
        </p:spPr>
        <p:txBody>
          <a:bodyPr wrap="square" lIns="0" tIns="0" rIns="0" bIns="0" rtlCol="0" anchor="t"/>
          <a:lstStyle/>
          <a:p>
            <a:pPr indent="0" marL="0">
              <a:buNone/>
            </a:pPr>
            <a:r>
              <a:rPr lang="en-US" sz="1400" dirty="0">
                <a:solidFill>
                  <a:schemeClr val="tx1"/>
                </a:solidFill>
              </a:rPr>
              <a:t>API retired in March 2023</a:t>
            </a:r>
            <a:endParaRPr lang="en-US" sz="1400" dirty="0"/>
          </a:p>
        </p:txBody>
      </p:sp>
      <p:sp>
        <p:nvSpPr>
          <p:cNvPr id="17" name="card-59"/>
          <p:cNvSpPr/>
          <p:nvPr/>
        </p:nvSpPr>
        <p:spPr>
          <a:xfrm>
            <a:off x="6430975" y="1920240"/>
            <a:ext cx="5212080" cy="3931920"/>
          </a:xfrm>
          <a:prstGeom prst="roundRect">
            <a:avLst>
              <a:gd name="adj" fmla="val 1860"/>
            </a:avLst>
          </a:prstGeom>
          <a:solidFill>
            <a:schemeClr val="bg2"/>
          </a:solidFill>
          <a:ln/>
        </p:spPr>
      </p:sp>
      <p:sp>
        <p:nvSpPr>
          <p:cNvPr id="18" name="icon-tile-60"/>
          <p:cNvSpPr/>
          <p:nvPr/>
        </p:nvSpPr>
        <p:spPr>
          <a:xfrm>
            <a:off x="6705295" y="2194560"/>
            <a:ext cx="548640" cy="548640"/>
          </a:xfrm>
          <a:prstGeom prst="roundRect">
            <a:avLst>
              <a:gd name="adj" fmla="val 13333"/>
            </a:avLst>
          </a:prstGeom>
          <a:solidFill>
            <a:schemeClr val="accent1"/>
          </a:solidFill>
          <a:ln/>
        </p:spPr>
      </p:sp>
      <p:pic>
        <p:nvPicPr>
          <p:cNvPr id="19" name="icon-61" descr="preencoded.png">    </p:cNvPr>
          <p:cNvPicPr>
            <a:picLocks noChangeAspect="1"/>
          </p:cNvPicPr>
          <p:nvPr/>
        </p:nvPicPr>
        <p:blipFill>
          <a:blip r:embed="rId2"/>
          <a:stretch>
            <a:fillRect/>
          </a:stretch>
        </p:blipFill>
        <p:spPr>
          <a:xfrm>
            <a:off x="6836969" y="2326234"/>
            <a:ext cx="285293" cy="285293"/>
          </a:xfrm>
          <a:prstGeom prst="rect">
            <a:avLst/>
          </a:prstGeom>
        </p:spPr>
      </p:pic>
      <p:sp>
        <p:nvSpPr>
          <p:cNvPr id="20" name="text-62"/>
          <p:cNvSpPr txBox="1"/>
          <p:nvPr/>
        </p:nvSpPr>
        <p:spPr>
          <a:xfrm>
            <a:off x="7436815" y="2176272"/>
            <a:ext cx="3931920" cy="320040"/>
          </a:xfrm>
          <a:prstGeom prst="rect">
            <a:avLst/>
          </a:prstGeom>
          <a:noFill/>
          <a:ln/>
        </p:spPr>
        <p:txBody>
          <a:bodyPr wrap="square" lIns="0" tIns="0" rIns="0" bIns="0" rtlCol="0" anchor="t"/>
          <a:lstStyle/>
          <a:p>
            <a:pPr indent="0" marL="0">
              <a:buNone/>
            </a:pPr>
            <a:r>
              <a:rPr lang="en-US" sz="2000" b="1" dirty="0">
                <a:solidFill>
                  <a:schemeClr val="tx1"/>
                </a:solidFill>
              </a:rPr>
              <a:t>Codex, the agent</a:t>
            </a:r>
            <a:endParaRPr lang="en-US" sz="2000" dirty="0"/>
          </a:p>
        </p:txBody>
      </p:sp>
      <p:sp>
        <p:nvSpPr>
          <p:cNvPr id="21" name="text-63"/>
          <p:cNvSpPr txBox="1"/>
          <p:nvPr/>
        </p:nvSpPr>
        <p:spPr>
          <a:xfrm>
            <a:off x="7436815" y="2514600"/>
            <a:ext cx="3931920" cy="274320"/>
          </a:xfrm>
          <a:prstGeom prst="rect">
            <a:avLst/>
          </a:prstGeom>
          <a:noFill/>
          <a:ln/>
        </p:spPr>
        <p:txBody>
          <a:bodyPr wrap="square" lIns="0" tIns="0" rIns="0" bIns="0" rtlCol="0" anchor="t"/>
          <a:lstStyle/>
          <a:p>
            <a:pPr indent="0" marL="0">
              <a:buNone/>
            </a:pPr>
            <a:r>
              <a:rPr lang="en-US" sz="1200" dirty="0">
                <a:solidFill>
                  <a:schemeClr val="accent4"/>
                </a:solidFill>
                <a:latin typeface="Courier New" pitchFamily="34" charset="0"/>
                <a:ea typeface="Courier New" pitchFamily="34" charset="-122"/>
                <a:cs typeface="Courier New" pitchFamily="34" charset="-120"/>
              </a:rPr>
              <a:t>2025 onward</a:t>
            </a:r>
            <a:endParaRPr lang="en-US" sz="1200" dirty="0"/>
          </a:p>
        </p:txBody>
      </p:sp>
      <p:sp>
        <p:nvSpPr>
          <p:cNvPr id="22" name="text-64"/>
          <p:cNvSpPr txBox="1"/>
          <p:nvPr/>
        </p:nvSpPr>
        <p:spPr>
          <a:xfrm>
            <a:off x="6705295" y="3017520"/>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WHAT IT IS</a:t>
            </a:r>
            <a:endParaRPr lang="en-US" sz="1100" dirty="0"/>
          </a:p>
        </p:txBody>
      </p:sp>
      <p:sp>
        <p:nvSpPr>
          <p:cNvPr id="23" name="text-65"/>
          <p:cNvSpPr txBox="1"/>
          <p:nvPr/>
        </p:nvSpPr>
        <p:spPr>
          <a:xfrm>
            <a:off x="8305495" y="2990088"/>
            <a:ext cx="3063240" cy="548640"/>
          </a:xfrm>
          <a:prstGeom prst="rect">
            <a:avLst/>
          </a:prstGeom>
          <a:noFill/>
          <a:ln/>
        </p:spPr>
        <p:txBody>
          <a:bodyPr wrap="square" lIns="0" tIns="0" rIns="0" bIns="0" rtlCol="0" anchor="t"/>
          <a:lstStyle/>
          <a:p>
            <a:pPr indent="0" marL="0">
              <a:buNone/>
            </a:pPr>
            <a:r>
              <a:rPr lang="en-US" sz="1400" dirty="0">
                <a:solidFill>
                  <a:schemeClr val="tx1"/>
                </a:solidFill>
              </a:rPr>
              <a:t>A software-engineering agent built on reasoning models</a:t>
            </a:r>
            <a:endParaRPr lang="en-US" sz="1400" dirty="0"/>
          </a:p>
        </p:txBody>
      </p:sp>
      <p:sp>
        <p:nvSpPr>
          <p:cNvPr id="24" name="text-66"/>
          <p:cNvSpPr txBox="1"/>
          <p:nvPr/>
        </p:nvSpPr>
        <p:spPr>
          <a:xfrm>
            <a:off x="6705295" y="3712464"/>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HOW YOU USE IT</a:t>
            </a:r>
            <a:endParaRPr lang="en-US" sz="1100" dirty="0"/>
          </a:p>
        </p:txBody>
      </p:sp>
      <p:sp>
        <p:nvSpPr>
          <p:cNvPr id="25" name="text-67"/>
          <p:cNvSpPr txBox="1"/>
          <p:nvPr/>
        </p:nvSpPr>
        <p:spPr>
          <a:xfrm>
            <a:off x="8305495" y="3685032"/>
            <a:ext cx="3063240" cy="548640"/>
          </a:xfrm>
          <a:prstGeom prst="rect">
            <a:avLst/>
          </a:prstGeom>
          <a:noFill/>
          <a:ln/>
        </p:spPr>
        <p:txBody>
          <a:bodyPr wrap="square" lIns="0" tIns="0" rIns="0" bIns="0" rtlCol="0" anchor="t"/>
          <a:lstStyle/>
          <a:p>
            <a:pPr indent="0" marL="0">
              <a:buNone/>
            </a:pPr>
            <a:r>
              <a:rPr lang="en-US" sz="1400" dirty="0">
                <a:solidFill>
                  <a:schemeClr val="tx1"/>
                </a:solidFill>
              </a:rPr>
              <a:t>Delegate a task; it plans, edits, runs tests and proposes changes</a:t>
            </a:r>
            <a:endParaRPr lang="en-US" sz="1400" dirty="0"/>
          </a:p>
        </p:txBody>
      </p:sp>
      <p:sp>
        <p:nvSpPr>
          <p:cNvPr id="26" name="text-68"/>
          <p:cNvSpPr txBox="1"/>
          <p:nvPr/>
        </p:nvSpPr>
        <p:spPr>
          <a:xfrm>
            <a:off x="6705295" y="4407408"/>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WHERE IT RUNS</a:t>
            </a:r>
            <a:endParaRPr lang="en-US" sz="1100" dirty="0"/>
          </a:p>
        </p:txBody>
      </p:sp>
      <p:sp>
        <p:nvSpPr>
          <p:cNvPr id="27" name="text-69"/>
          <p:cNvSpPr txBox="1"/>
          <p:nvPr/>
        </p:nvSpPr>
        <p:spPr>
          <a:xfrm>
            <a:off x="8305495" y="4379976"/>
            <a:ext cx="3063240" cy="548640"/>
          </a:xfrm>
          <a:prstGeom prst="rect">
            <a:avLst/>
          </a:prstGeom>
          <a:noFill/>
          <a:ln/>
        </p:spPr>
        <p:txBody>
          <a:bodyPr wrap="square" lIns="0" tIns="0" rIns="0" bIns="0" rtlCol="0" anchor="t"/>
          <a:lstStyle/>
          <a:p>
            <a:pPr indent="0" marL="0">
              <a:buNone/>
            </a:pPr>
            <a:r>
              <a:rPr lang="en-US" sz="1400" dirty="0">
                <a:solidFill>
                  <a:schemeClr val="tx1"/>
                </a:solidFill>
              </a:rPr>
              <a:t>Terminal, IDE, ChatGPT desktop app and cloud</a:t>
            </a:r>
            <a:endParaRPr lang="en-US" sz="1400" dirty="0"/>
          </a:p>
        </p:txBody>
      </p:sp>
      <p:sp>
        <p:nvSpPr>
          <p:cNvPr id="28" name="text-70"/>
          <p:cNvSpPr txBox="1"/>
          <p:nvPr/>
        </p:nvSpPr>
        <p:spPr>
          <a:xfrm>
            <a:off x="6705295" y="5102352"/>
            <a:ext cx="1600200" cy="27432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STATUS</a:t>
            </a:r>
            <a:endParaRPr lang="en-US" sz="1100" dirty="0"/>
          </a:p>
        </p:txBody>
      </p:sp>
      <p:sp>
        <p:nvSpPr>
          <p:cNvPr id="29" name="text-71"/>
          <p:cNvSpPr txBox="1"/>
          <p:nvPr/>
        </p:nvSpPr>
        <p:spPr>
          <a:xfrm>
            <a:off x="8305495" y="5074920"/>
            <a:ext cx="3063240" cy="548640"/>
          </a:xfrm>
          <a:prstGeom prst="rect">
            <a:avLst/>
          </a:prstGeom>
          <a:noFill/>
          <a:ln/>
        </p:spPr>
        <p:txBody>
          <a:bodyPr wrap="square" lIns="0" tIns="0" rIns="0" bIns="0" rtlCol="0" anchor="t"/>
          <a:lstStyle/>
          <a:p>
            <a:pPr indent="0" marL="0">
              <a:buNone/>
            </a:pPr>
            <a:r>
              <a:rPr lang="en-US" sz="1400" dirty="0">
                <a:solidFill>
                  <a:schemeClr val="tx1"/>
                </a:solidFill>
              </a:rPr>
              <a:t>Active; 5M+ weekly users reported in June 2026</a:t>
            </a:r>
            <a:endParaRPr lang="en-US" sz="1400" dirty="0"/>
          </a:p>
        </p:txBody>
      </p:sp>
      <p:pic>
        <p:nvPicPr>
          <p:cNvPr id="30" name="arrow-72" descr="preencoded.png">    </p:cNvPr>
          <p:cNvPicPr>
            <a:picLocks noChangeAspect="1"/>
          </p:cNvPicPr>
          <p:nvPr/>
        </p:nvPicPr>
        <p:blipFill>
          <a:blip r:embed="rId3"/>
          <a:stretch>
            <a:fillRect/>
          </a:stretch>
        </p:blipFill>
        <p:spPr>
          <a:xfrm>
            <a:off x="5912968" y="3703320"/>
            <a:ext cx="365760" cy="365760"/>
          </a:xfrm>
          <a:prstGeom prst="rect">
            <a:avLst/>
          </a:prstGeom>
        </p:spPr>
      </p:pic>
      <p:sp>
        <p:nvSpPr>
          <p:cNvPr id="31" name="text-7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Chen et al. (2021); OpenAI, Introducing Codex (May 2025); OpenAI (June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4</a:t>
            </a:fld>
            <a:endParaRPr lang="en-US"/>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01 / background</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Five years from research model to product platform</a:t>
            </a:r>
            <a:endParaRPr lang="en-US" sz="3200" dirty="0"/>
          </a:p>
        </p:txBody>
      </p:sp>
      <p:sp>
        <p:nvSpPr>
          <p:cNvPr id="4" name="axis-74"/>
          <p:cNvSpPr/>
          <p:nvPr/>
        </p:nvSpPr>
        <p:spPr>
          <a:xfrm>
            <a:off x="548640" y="3657600"/>
            <a:ext cx="11094415" cy="0"/>
          </a:xfrm>
          <a:prstGeom prst="line">
            <a:avLst/>
          </a:prstGeom>
          <a:noFill/>
          <a:ln w="38100">
            <a:solidFill>
              <a:schemeClr val="accent5"/>
            </a:solidFill>
            <a:prstDash val="solid"/>
          </a:ln>
        </p:spPr>
      </p:sp>
      <p:sp>
        <p:nvSpPr>
          <p:cNvPr id="5" name="dot-75"/>
          <p:cNvSpPr/>
          <p:nvPr/>
        </p:nvSpPr>
        <p:spPr>
          <a:xfrm>
            <a:off x="539496" y="3557016"/>
            <a:ext cx="201168" cy="201168"/>
          </a:xfrm>
          <a:prstGeom prst="ellipse">
            <a:avLst/>
          </a:prstGeom>
          <a:solidFill>
            <a:schemeClr val="accent4"/>
          </a:solidFill>
          <a:ln/>
        </p:spPr>
      </p:sp>
      <p:sp>
        <p:nvSpPr>
          <p:cNvPr id="6" name="text-76"/>
          <p:cNvSpPr txBox="1"/>
          <p:nvPr/>
        </p:nvSpPr>
        <p:spPr>
          <a:xfrm>
            <a:off x="539496" y="2057400"/>
            <a:ext cx="2377440" cy="1325880"/>
          </a:xfrm>
          <a:prstGeom prst="rect">
            <a:avLst/>
          </a:prstGeom>
          <a:noFill/>
          <a:ln/>
        </p:spPr>
        <p:txBody>
          <a:bodyPr wrap="square" lIns="0" tIns="0" rIns="0" bIns="0" rtlCol="0" anchor="b"/>
          <a:lstStyle/>
          <a:p>
            <a:pPr indent="0" marL="0">
              <a:buNone/>
            </a:pPr>
            <a:r>
              <a:rPr lang="en-US" sz="1400" b="1" dirty="0">
                <a:solidFill>
                  <a:schemeClr val="accent4"/>
                </a:solidFill>
                <a:latin typeface="Courier New" pitchFamily="34" charset="0"/>
                <a:ea typeface="Courier New" pitchFamily="34" charset="-122"/>
                <a:cs typeface="Courier New" pitchFamily="34" charset="-120"/>
              </a:rPr>
              <a:t>Aug 2021</a:t>
            </a:r>
            <a:endParaRPr lang="en-US" sz="1400" dirty="0"/>
          </a:p>
          <a:p>
            <a:pPr indent="0" marL="0">
              <a:buNone/>
            </a:pPr>
            <a:r>
              <a:rPr lang="en-US" sz="1400" dirty="0">
                <a:solidFill>
                  <a:schemeClr val="tx1"/>
                </a:solidFill>
              </a:rPr>
              <a:t>Codex model launches and powers GitHub Copilot</a:t>
            </a:r>
            <a:endParaRPr lang="en-US" sz="1400" dirty="0"/>
          </a:p>
        </p:txBody>
      </p:sp>
      <p:sp>
        <p:nvSpPr>
          <p:cNvPr id="7" name="dot-77"/>
          <p:cNvSpPr/>
          <p:nvPr/>
        </p:nvSpPr>
        <p:spPr>
          <a:xfrm>
            <a:off x="1883664" y="3557016"/>
            <a:ext cx="201168" cy="201168"/>
          </a:xfrm>
          <a:prstGeom prst="ellipse">
            <a:avLst/>
          </a:prstGeom>
          <a:solidFill>
            <a:schemeClr val="accent4"/>
          </a:solidFill>
          <a:ln/>
        </p:spPr>
      </p:sp>
      <p:sp>
        <p:nvSpPr>
          <p:cNvPr id="8" name="text-78"/>
          <p:cNvSpPr txBox="1"/>
          <p:nvPr/>
        </p:nvSpPr>
        <p:spPr>
          <a:xfrm>
            <a:off x="1883664" y="3931920"/>
            <a:ext cx="2377440" cy="1325880"/>
          </a:xfrm>
          <a:prstGeom prst="rect">
            <a:avLst/>
          </a:prstGeom>
          <a:noFill/>
          <a:ln/>
        </p:spPr>
        <p:txBody>
          <a:bodyPr wrap="square" lIns="0" tIns="0" rIns="0" bIns="0" rtlCol="0" anchor="t"/>
          <a:lstStyle/>
          <a:p>
            <a:pPr indent="0" marL="0">
              <a:buNone/>
            </a:pPr>
            <a:r>
              <a:rPr lang="en-US" sz="1400" b="1" dirty="0">
                <a:solidFill>
                  <a:schemeClr val="accent4"/>
                </a:solidFill>
                <a:latin typeface="Courier New" pitchFamily="34" charset="0"/>
                <a:ea typeface="Courier New" pitchFamily="34" charset="-122"/>
                <a:cs typeface="Courier New" pitchFamily="34" charset="-120"/>
              </a:rPr>
              <a:t>Mar 2023</a:t>
            </a:r>
            <a:endParaRPr lang="en-US" sz="1400" dirty="0"/>
          </a:p>
          <a:p>
            <a:pPr indent="0" marL="0">
              <a:buNone/>
            </a:pPr>
            <a:r>
              <a:rPr lang="en-US" sz="1400" dirty="0">
                <a:solidFill>
                  <a:schemeClr val="tx1"/>
                </a:solidFill>
              </a:rPr>
              <a:t>Original Codex API is retired</a:t>
            </a:r>
            <a:endParaRPr lang="en-US" sz="1400" dirty="0"/>
          </a:p>
        </p:txBody>
      </p:sp>
      <p:sp>
        <p:nvSpPr>
          <p:cNvPr id="9" name="dot-79"/>
          <p:cNvSpPr/>
          <p:nvPr/>
        </p:nvSpPr>
        <p:spPr>
          <a:xfrm>
            <a:off x="3227832" y="3557016"/>
            <a:ext cx="201168" cy="201168"/>
          </a:xfrm>
          <a:prstGeom prst="ellipse">
            <a:avLst/>
          </a:prstGeom>
          <a:solidFill>
            <a:schemeClr val="accent1"/>
          </a:solidFill>
          <a:ln/>
        </p:spPr>
      </p:sp>
      <p:sp>
        <p:nvSpPr>
          <p:cNvPr id="10" name="text-80"/>
          <p:cNvSpPr txBox="1"/>
          <p:nvPr/>
        </p:nvSpPr>
        <p:spPr>
          <a:xfrm>
            <a:off x="3227832" y="2057400"/>
            <a:ext cx="2377440" cy="1325880"/>
          </a:xfrm>
          <a:prstGeom prst="rect">
            <a:avLst/>
          </a:prstGeom>
          <a:noFill/>
          <a:ln/>
        </p:spPr>
        <p:txBody>
          <a:bodyPr wrap="square" lIns="0" tIns="0" rIns="0" bIns="0" rtlCol="0" anchor="b"/>
          <a:lstStyle/>
          <a:p>
            <a:pPr indent="0" marL="0">
              <a:buNone/>
            </a:pPr>
            <a:r>
              <a:rPr lang="en-US" sz="1400" b="1" dirty="0">
                <a:solidFill>
                  <a:schemeClr val="accent1"/>
                </a:solidFill>
                <a:latin typeface="Courier New" pitchFamily="34" charset="0"/>
                <a:ea typeface="Courier New" pitchFamily="34" charset="-122"/>
                <a:cs typeface="Courier New" pitchFamily="34" charset="-120"/>
              </a:rPr>
              <a:t>Apr 2025</a:t>
            </a:r>
            <a:endParaRPr lang="en-US" sz="1400" dirty="0"/>
          </a:p>
          <a:p>
            <a:pPr indent="0" marL="0">
              <a:buNone/>
            </a:pPr>
            <a:r>
              <a:rPr lang="en-US" sz="1400" dirty="0">
                <a:solidFill>
                  <a:schemeClr val="tx1"/>
                </a:solidFill>
              </a:rPr>
              <a:t>Codex CLI released as open source</a:t>
            </a:r>
            <a:endParaRPr lang="en-US" sz="1400" dirty="0"/>
          </a:p>
        </p:txBody>
      </p:sp>
      <p:sp>
        <p:nvSpPr>
          <p:cNvPr id="11" name="dot-81"/>
          <p:cNvSpPr/>
          <p:nvPr/>
        </p:nvSpPr>
        <p:spPr>
          <a:xfrm>
            <a:off x="4572000" y="3557016"/>
            <a:ext cx="201168" cy="201168"/>
          </a:xfrm>
          <a:prstGeom prst="ellipse">
            <a:avLst/>
          </a:prstGeom>
          <a:solidFill>
            <a:schemeClr val="accent1"/>
          </a:solidFill>
          <a:ln/>
        </p:spPr>
      </p:sp>
      <p:sp>
        <p:nvSpPr>
          <p:cNvPr id="12" name="text-82"/>
          <p:cNvSpPr txBox="1"/>
          <p:nvPr/>
        </p:nvSpPr>
        <p:spPr>
          <a:xfrm>
            <a:off x="4572000" y="3931920"/>
            <a:ext cx="2377440" cy="13258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May 2025</a:t>
            </a:r>
            <a:endParaRPr lang="en-US" sz="1400" dirty="0"/>
          </a:p>
          <a:p>
            <a:pPr indent="0" marL="0">
              <a:buNone/>
            </a:pPr>
            <a:r>
              <a:rPr lang="en-US" sz="1400" dirty="0">
                <a:solidFill>
                  <a:schemeClr val="tx1"/>
                </a:solidFill>
              </a:rPr>
              <a:t>Cloud agent preview launches on codex-1</a:t>
            </a:r>
            <a:endParaRPr lang="en-US" sz="1400" dirty="0"/>
          </a:p>
        </p:txBody>
      </p:sp>
      <p:sp>
        <p:nvSpPr>
          <p:cNvPr id="13" name="dot-83"/>
          <p:cNvSpPr/>
          <p:nvPr/>
        </p:nvSpPr>
        <p:spPr>
          <a:xfrm>
            <a:off x="5916168" y="3557016"/>
            <a:ext cx="201168" cy="201168"/>
          </a:xfrm>
          <a:prstGeom prst="ellipse">
            <a:avLst/>
          </a:prstGeom>
          <a:solidFill>
            <a:schemeClr val="accent1"/>
          </a:solidFill>
          <a:ln/>
        </p:spPr>
      </p:sp>
      <p:sp>
        <p:nvSpPr>
          <p:cNvPr id="14" name="text-84"/>
          <p:cNvSpPr txBox="1"/>
          <p:nvPr/>
        </p:nvSpPr>
        <p:spPr>
          <a:xfrm>
            <a:off x="5916168" y="2057400"/>
            <a:ext cx="2377440" cy="1325880"/>
          </a:xfrm>
          <a:prstGeom prst="rect">
            <a:avLst/>
          </a:prstGeom>
          <a:noFill/>
          <a:ln/>
        </p:spPr>
        <p:txBody>
          <a:bodyPr wrap="square" lIns="0" tIns="0" rIns="0" bIns="0" rtlCol="0" anchor="b"/>
          <a:lstStyle/>
          <a:p>
            <a:pPr indent="0" marL="0">
              <a:buNone/>
            </a:pPr>
            <a:r>
              <a:rPr lang="en-US" sz="1400" b="1" dirty="0">
                <a:solidFill>
                  <a:schemeClr val="accent1"/>
                </a:solidFill>
                <a:latin typeface="Courier New" pitchFamily="34" charset="0"/>
                <a:ea typeface="Courier New" pitchFamily="34" charset="-122"/>
                <a:cs typeface="Courier New" pitchFamily="34" charset="-120"/>
              </a:rPr>
              <a:t>Feb 2026</a:t>
            </a:r>
            <a:endParaRPr lang="en-US" sz="1400" dirty="0"/>
          </a:p>
          <a:p>
            <a:pPr indent="0" marL="0">
              <a:buNone/>
            </a:pPr>
            <a:r>
              <a:rPr lang="en-US" sz="1400" dirty="0">
                <a:solidFill>
                  <a:schemeClr val="tx1"/>
                </a:solidFill>
              </a:rPr>
              <a:t>Desktop app and GPT-5.3-Codex arrive</a:t>
            </a:r>
            <a:endParaRPr lang="en-US" sz="1400" dirty="0"/>
          </a:p>
        </p:txBody>
      </p:sp>
      <p:sp>
        <p:nvSpPr>
          <p:cNvPr id="15" name="dot-85"/>
          <p:cNvSpPr/>
          <p:nvPr/>
        </p:nvSpPr>
        <p:spPr>
          <a:xfrm>
            <a:off x="7260336" y="3557016"/>
            <a:ext cx="201168" cy="201168"/>
          </a:xfrm>
          <a:prstGeom prst="ellipse">
            <a:avLst/>
          </a:prstGeom>
          <a:solidFill>
            <a:schemeClr val="accent1"/>
          </a:solidFill>
          <a:ln/>
        </p:spPr>
      </p:sp>
      <p:sp>
        <p:nvSpPr>
          <p:cNvPr id="16" name="text-86"/>
          <p:cNvSpPr txBox="1"/>
          <p:nvPr/>
        </p:nvSpPr>
        <p:spPr>
          <a:xfrm>
            <a:off x="7260336" y="3931920"/>
            <a:ext cx="2377440" cy="13258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Mar 2026</a:t>
            </a:r>
            <a:endParaRPr lang="en-US" sz="1400" dirty="0"/>
          </a:p>
          <a:p>
            <a:pPr indent="0" marL="0">
              <a:buNone/>
            </a:pPr>
            <a:r>
              <a:rPr lang="en-US" sz="1400" dirty="0">
                <a:solidFill>
                  <a:schemeClr val="tx1"/>
                </a:solidFill>
              </a:rPr>
              <a:t>GPT-5.4, Codex Security and plugins</a:t>
            </a:r>
            <a:endParaRPr lang="en-US" sz="1400" dirty="0"/>
          </a:p>
        </p:txBody>
      </p:sp>
      <p:sp>
        <p:nvSpPr>
          <p:cNvPr id="17" name="dot-87"/>
          <p:cNvSpPr/>
          <p:nvPr/>
        </p:nvSpPr>
        <p:spPr>
          <a:xfrm>
            <a:off x="8604504" y="3557016"/>
            <a:ext cx="201168" cy="201168"/>
          </a:xfrm>
          <a:prstGeom prst="ellipse">
            <a:avLst/>
          </a:prstGeom>
          <a:solidFill>
            <a:schemeClr val="accent1"/>
          </a:solidFill>
          <a:ln/>
        </p:spPr>
      </p:sp>
      <p:sp>
        <p:nvSpPr>
          <p:cNvPr id="18" name="text-88"/>
          <p:cNvSpPr txBox="1"/>
          <p:nvPr/>
        </p:nvSpPr>
        <p:spPr>
          <a:xfrm>
            <a:off x="8604504" y="2057400"/>
            <a:ext cx="2377440" cy="1325880"/>
          </a:xfrm>
          <a:prstGeom prst="rect">
            <a:avLst/>
          </a:prstGeom>
          <a:noFill/>
          <a:ln/>
        </p:spPr>
        <p:txBody>
          <a:bodyPr wrap="square" lIns="0" tIns="0" rIns="0" bIns="0" rtlCol="0" anchor="b"/>
          <a:lstStyle/>
          <a:p>
            <a:pPr indent="0" marL="0">
              <a:buNone/>
            </a:pPr>
            <a:r>
              <a:rPr lang="en-US" sz="1400" b="1" dirty="0">
                <a:solidFill>
                  <a:schemeClr val="accent1"/>
                </a:solidFill>
                <a:latin typeface="Courier New" pitchFamily="34" charset="0"/>
                <a:ea typeface="Courier New" pitchFamily="34" charset="-122"/>
                <a:cs typeface="Courier New" pitchFamily="34" charset="-120"/>
              </a:rPr>
              <a:t>Jul 2026</a:t>
            </a:r>
            <a:endParaRPr lang="en-US" sz="1400" dirty="0"/>
          </a:p>
          <a:p>
            <a:pPr indent="0" marL="0">
              <a:buNone/>
            </a:pPr>
            <a:r>
              <a:rPr lang="en-US" sz="1400" dirty="0">
                <a:solidFill>
                  <a:schemeClr val="tx1"/>
                </a:solidFill>
              </a:rPr>
              <a:t>Codex merges into the ChatGPT desktop app</a:t>
            </a:r>
            <a:endParaRPr lang="en-US" sz="1400" dirty="0"/>
          </a:p>
        </p:txBody>
      </p:sp>
      <p:sp>
        <p:nvSpPr>
          <p:cNvPr id="19" name="dot-89"/>
          <p:cNvSpPr/>
          <p:nvPr/>
        </p:nvSpPr>
        <p:spPr>
          <a:xfrm>
            <a:off x="9948672" y="3557016"/>
            <a:ext cx="201168" cy="201168"/>
          </a:xfrm>
          <a:prstGeom prst="ellipse">
            <a:avLst/>
          </a:prstGeom>
          <a:solidFill>
            <a:schemeClr val="accent1"/>
          </a:solidFill>
          <a:ln/>
        </p:spPr>
      </p:sp>
      <p:sp>
        <p:nvSpPr>
          <p:cNvPr id="20" name="text-90"/>
          <p:cNvSpPr txBox="1"/>
          <p:nvPr/>
        </p:nvSpPr>
        <p:spPr>
          <a:xfrm>
            <a:off x="9948672" y="3931920"/>
            <a:ext cx="1694383" cy="132588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Sep 2026</a:t>
            </a:r>
            <a:endParaRPr lang="en-US" sz="1400" dirty="0"/>
          </a:p>
          <a:p>
            <a:pPr indent="0" marL="0">
              <a:buNone/>
            </a:pPr>
            <a:r>
              <a:rPr lang="en-US" sz="1400" dirty="0">
                <a:solidFill>
                  <a:schemeClr val="tx1"/>
                </a:solidFill>
              </a:rPr>
              <a:t>GPT-6 models and Codex Cloud at DevDay</a:t>
            </a:r>
            <a:endParaRPr lang="en-US" sz="1400" dirty="0"/>
          </a:p>
        </p:txBody>
      </p:sp>
      <p:sp>
        <p:nvSpPr>
          <p:cNvPr id="21" name="card-91"/>
          <p:cNvSpPr/>
          <p:nvPr/>
        </p:nvSpPr>
        <p:spPr>
          <a:xfrm>
            <a:off x="548640" y="5349240"/>
            <a:ext cx="11094415" cy="548640"/>
          </a:xfrm>
          <a:prstGeom prst="roundRect">
            <a:avLst>
              <a:gd name="adj" fmla="val 13333"/>
            </a:avLst>
          </a:prstGeom>
          <a:solidFill>
            <a:schemeClr val="bg2"/>
          </a:solidFill>
          <a:ln/>
        </p:spPr>
      </p:sp>
      <p:sp>
        <p:nvSpPr>
          <p:cNvPr id="22" name="text-92"/>
          <p:cNvSpPr txBox="1"/>
          <p:nvPr/>
        </p:nvSpPr>
        <p:spPr>
          <a:xfrm>
            <a:off x="822960" y="5349240"/>
            <a:ext cx="10545775" cy="548640"/>
          </a:xfrm>
          <a:prstGeom prst="rect">
            <a:avLst/>
          </a:prstGeom>
          <a:noFill/>
          <a:ln/>
        </p:spPr>
        <p:txBody>
          <a:bodyPr wrap="square" lIns="0" tIns="0" rIns="0" bIns="0" rtlCol="0" anchor="ctr"/>
          <a:lstStyle/>
          <a:p>
            <a:pPr indent="0" marL="0">
              <a:buNone/>
            </a:pPr>
            <a:r>
              <a:rPr lang="en-US" sz="1400" b="1" dirty="0">
                <a:solidFill>
                  <a:schemeClr val="tx1"/>
                </a:solidFill>
              </a:rPr>
              <a:t>Two eras: </a:t>
            </a:r>
            <a:pPr indent="0" marL="0">
              <a:buNone/>
            </a:pPr>
            <a:r>
              <a:rPr lang="en-US" sz="1400" dirty="0">
                <a:solidFill>
                  <a:schemeClr val="tx1"/>
                </a:solidFill>
              </a:rPr>
              <a:t>a completion model from 2021 to 2023, then an autonomous agent from 2025 onward.</a:t>
            </a:r>
            <a:endParaRPr lang="en-US" sz="1400" dirty="0"/>
          </a:p>
        </p:txBody>
      </p:sp>
      <p:sp>
        <p:nvSpPr>
          <p:cNvPr id="23" name="text-93"/>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OpenAI announcements; Reuters; Wikipedia, OpenAI Codex (AI agent); OpenAI DevDay recap (Sept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5</a:t>
            </a:fld>
            <a:endParaRPr lang="en-US"/>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02 / technology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The models behind Codex became reasoning agents, not just code predictors</a:t>
            </a:r>
            <a:endParaRPr lang="en-US" sz="3200" dirty="0"/>
          </a:p>
        </p:txBody>
      </p:sp>
      <p:sp>
        <p:nvSpPr>
          <p:cNvPr id="4" name="card-94"/>
          <p:cNvSpPr/>
          <p:nvPr/>
        </p:nvSpPr>
        <p:spPr>
          <a:xfrm>
            <a:off x="548640" y="1920240"/>
            <a:ext cx="3383280" cy="3840480"/>
          </a:xfrm>
          <a:prstGeom prst="roundRect">
            <a:avLst>
              <a:gd name="adj" fmla="val 2162"/>
            </a:avLst>
          </a:prstGeom>
          <a:solidFill>
            <a:schemeClr val="bg2"/>
          </a:solidFill>
          <a:ln/>
        </p:spPr>
      </p:sp>
      <p:sp>
        <p:nvSpPr>
          <p:cNvPr id="5" name="text-95"/>
          <p:cNvSpPr txBox="1"/>
          <p:nvPr/>
        </p:nvSpPr>
        <p:spPr>
          <a:xfrm>
            <a:off x="777240" y="2148840"/>
            <a:ext cx="29260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STAGE 1 / 2021</a:t>
            </a:r>
            <a:endParaRPr lang="en-US" sz="1200" dirty="0"/>
          </a:p>
        </p:txBody>
      </p:sp>
      <p:sp>
        <p:nvSpPr>
          <p:cNvPr id="6" name="text-96"/>
          <p:cNvSpPr txBox="1"/>
          <p:nvPr/>
        </p:nvSpPr>
        <p:spPr>
          <a:xfrm>
            <a:off x="777240" y="2468880"/>
            <a:ext cx="2926080" cy="640080"/>
          </a:xfrm>
          <a:prstGeom prst="rect">
            <a:avLst/>
          </a:prstGeom>
          <a:noFill/>
          <a:ln/>
        </p:spPr>
        <p:txBody>
          <a:bodyPr wrap="square" lIns="0" tIns="0" rIns="0" bIns="0" rtlCol="0" anchor="t"/>
          <a:lstStyle/>
          <a:p>
            <a:pPr indent="0" marL="0">
              <a:buNone/>
            </a:pPr>
            <a:r>
              <a:rPr lang="en-US" sz="1800" b="1" dirty="0">
                <a:solidFill>
                  <a:schemeClr val="tx1"/>
                </a:solidFill>
              </a:rPr>
              <a:t>Code language model</a:t>
            </a:r>
            <a:endParaRPr lang="en-US" sz="1800" dirty="0"/>
          </a:p>
        </p:txBody>
      </p:sp>
      <p:sp>
        <p:nvSpPr>
          <p:cNvPr id="7" name="text-97"/>
          <p:cNvSpPr txBox="1"/>
          <p:nvPr/>
        </p:nvSpPr>
        <p:spPr>
          <a:xfrm>
            <a:off x="777240" y="3154680"/>
            <a:ext cx="2926080" cy="1325880"/>
          </a:xfrm>
          <a:prstGeom prst="rect">
            <a:avLst/>
          </a:prstGeom>
          <a:noFill/>
          <a:ln/>
        </p:spPr>
        <p:txBody>
          <a:bodyPr wrap="square" lIns="0" tIns="0" rIns="0" bIns="0" rtlCol="0" anchor="t"/>
          <a:lstStyle/>
          <a:p>
            <a:pPr indent="0" marL="0">
              <a:buNone/>
            </a:pPr>
            <a:r>
              <a:rPr lang="en-US" sz="1400" dirty="0">
                <a:solidFill>
                  <a:schemeClr val="tx1"/>
                </a:solidFill>
              </a:rPr>
              <a:t>Codex was GPT-3 fine-tuned on 159 GB of Python from 54 million public GitHub repositories. It predicted code from a prompt.</a:t>
            </a:r>
            <a:endParaRPr lang="en-US" sz="1400" dirty="0"/>
          </a:p>
        </p:txBody>
      </p:sp>
      <p:sp>
        <p:nvSpPr>
          <p:cNvPr id="8" name="text-98"/>
          <p:cNvSpPr txBox="1"/>
          <p:nvPr/>
        </p:nvSpPr>
        <p:spPr>
          <a:xfrm>
            <a:off x="777240" y="4617720"/>
            <a:ext cx="2926080"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28.8%</a:t>
            </a:r>
            <a:endParaRPr lang="en-US" sz="3000" dirty="0"/>
          </a:p>
        </p:txBody>
      </p:sp>
      <p:sp>
        <p:nvSpPr>
          <p:cNvPr id="9" name="text-99"/>
          <p:cNvSpPr txBox="1"/>
          <p:nvPr/>
        </p:nvSpPr>
        <p:spPr>
          <a:xfrm>
            <a:off x="777240" y="5166360"/>
            <a:ext cx="2926080" cy="411480"/>
          </a:xfrm>
          <a:prstGeom prst="rect">
            <a:avLst/>
          </a:prstGeom>
          <a:noFill/>
          <a:ln/>
        </p:spPr>
        <p:txBody>
          <a:bodyPr wrap="square" lIns="0" tIns="0" rIns="0" bIns="0" rtlCol="0" anchor="t"/>
          <a:lstStyle/>
          <a:p>
            <a:pPr indent="0" marL="0">
              <a:buNone/>
            </a:pPr>
            <a:r>
              <a:rPr lang="en-US" sz="1200" dirty="0">
                <a:solidFill>
                  <a:schemeClr val="accent4"/>
                </a:solidFill>
              </a:rPr>
              <a:t>HumanEval problems solved with one sample</a:t>
            </a:r>
            <a:endParaRPr lang="en-US" sz="1200" dirty="0"/>
          </a:p>
        </p:txBody>
      </p:sp>
      <p:pic>
        <p:nvPicPr>
          <p:cNvPr id="10" name="chevron-100" descr="preencoded.png">    </p:cNvPr>
          <p:cNvPicPr>
            <a:picLocks noChangeAspect="1"/>
          </p:cNvPicPr>
          <p:nvPr/>
        </p:nvPicPr>
        <p:blipFill>
          <a:blip r:embed="rId1"/>
          <a:stretch>
            <a:fillRect/>
          </a:stretch>
        </p:blipFill>
        <p:spPr>
          <a:xfrm>
            <a:off x="4040048" y="3712464"/>
            <a:ext cx="256032" cy="256032"/>
          </a:xfrm>
          <a:prstGeom prst="rect">
            <a:avLst/>
          </a:prstGeom>
        </p:spPr>
      </p:pic>
      <p:sp>
        <p:nvSpPr>
          <p:cNvPr id="11" name="card-101"/>
          <p:cNvSpPr/>
          <p:nvPr/>
        </p:nvSpPr>
        <p:spPr>
          <a:xfrm>
            <a:off x="4404208" y="1920240"/>
            <a:ext cx="3383280" cy="3840480"/>
          </a:xfrm>
          <a:prstGeom prst="roundRect">
            <a:avLst>
              <a:gd name="adj" fmla="val 2162"/>
            </a:avLst>
          </a:prstGeom>
          <a:solidFill>
            <a:schemeClr val="bg2"/>
          </a:solidFill>
          <a:ln/>
        </p:spPr>
      </p:sp>
      <p:sp>
        <p:nvSpPr>
          <p:cNvPr id="12" name="text-102"/>
          <p:cNvSpPr txBox="1"/>
          <p:nvPr/>
        </p:nvSpPr>
        <p:spPr>
          <a:xfrm>
            <a:off x="4632808" y="2148840"/>
            <a:ext cx="29260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STAGE 2 / 2025</a:t>
            </a:r>
            <a:endParaRPr lang="en-US" sz="1200" dirty="0"/>
          </a:p>
        </p:txBody>
      </p:sp>
      <p:sp>
        <p:nvSpPr>
          <p:cNvPr id="13" name="text-103"/>
          <p:cNvSpPr txBox="1"/>
          <p:nvPr/>
        </p:nvSpPr>
        <p:spPr>
          <a:xfrm>
            <a:off x="4632808" y="2468880"/>
            <a:ext cx="2926080" cy="640080"/>
          </a:xfrm>
          <a:prstGeom prst="rect">
            <a:avLst/>
          </a:prstGeom>
          <a:noFill/>
          <a:ln/>
        </p:spPr>
        <p:txBody>
          <a:bodyPr wrap="square" lIns="0" tIns="0" rIns="0" bIns="0" rtlCol="0" anchor="t"/>
          <a:lstStyle/>
          <a:p>
            <a:pPr indent="0" marL="0">
              <a:buNone/>
            </a:pPr>
            <a:r>
              <a:rPr lang="en-US" sz="1800" b="1" dirty="0">
                <a:solidFill>
                  <a:schemeClr val="tx1"/>
                </a:solidFill>
              </a:rPr>
              <a:t>Reasoning model for engineering</a:t>
            </a:r>
            <a:endParaRPr lang="en-US" sz="1800" dirty="0"/>
          </a:p>
        </p:txBody>
      </p:sp>
      <p:sp>
        <p:nvSpPr>
          <p:cNvPr id="14" name="text-104"/>
          <p:cNvSpPr txBox="1"/>
          <p:nvPr/>
        </p:nvSpPr>
        <p:spPr>
          <a:xfrm>
            <a:off x="4632808" y="3154680"/>
            <a:ext cx="2926080" cy="1325880"/>
          </a:xfrm>
          <a:prstGeom prst="rect">
            <a:avLst/>
          </a:prstGeom>
          <a:noFill/>
          <a:ln/>
        </p:spPr>
        <p:txBody>
          <a:bodyPr wrap="square" lIns="0" tIns="0" rIns="0" bIns="0" rtlCol="0" anchor="t"/>
          <a:lstStyle/>
          <a:p>
            <a:pPr indent="0" marL="0">
              <a:buNone/>
            </a:pPr>
            <a:r>
              <a:rPr lang="en-US" sz="1400" dirty="0">
                <a:solidFill>
                  <a:schemeClr val="tx1"/>
                </a:solidFill>
              </a:rPr>
              <a:t>codex-1 adapted the o3 reasoning model for software engineering, so it could run tests, read logs and iterate on its own output.</a:t>
            </a:r>
            <a:endParaRPr lang="en-US" sz="1400" dirty="0"/>
          </a:p>
        </p:txBody>
      </p:sp>
      <p:sp>
        <p:nvSpPr>
          <p:cNvPr id="15" name="text-105"/>
          <p:cNvSpPr txBox="1"/>
          <p:nvPr/>
        </p:nvSpPr>
        <p:spPr>
          <a:xfrm>
            <a:off x="4632808" y="4617720"/>
            <a:ext cx="2926080"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72.1%</a:t>
            </a:r>
            <a:endParaRPr lang="en-US" sz="3000" dirty="0"/>
          </a:p>
        </p:txBody>
      </p:sp>
      <p:sp>
        <p:nvSpPr>
          <p:cNvPr id="16" name="text-106"/>
          <p:cNvSpPr txBox="1"/>
          <p:nvPr/>
        </p:nvSpPr>
        <p:spPr>
          <a:xfrm>
            <a:off x="4632808" y="5166360"/>
            <a:ext cx="2926080" cy="411480"/>
          </a:xfrm>
          <a:prstGeom prst="rect">
            <a:avLst/>
          </a:prstGeom>
          <a:noFill/>
          <a:ln/>
        </p:spPr>
        <p:txBody>
          <a:bodyPr wrap="square" lIns="0" tIns="0" rIns="0" bIns="0" rtlCol="0" anchor="t"/>
          <a:lstStyle/>
          <a:p>
            <a:pPr indent="0" marL="0">
              <a:buNone/>
            </a:pPr>
            <a:r>
              <a:rPr lang="en-US" sz="1200" dirty="0">
                <a:solidFill>
                  <a:schemeClr val="accent4"/>
                </a:solidFill>
              </a:rPr>
              <a:t>SWE-bench Verified, reported for codex-1</a:t>
            </a:r>
            <a:endParaRPr lang="en-US" sz="1200" dirty="0"/>
          </a:p>
        </p:txBody>
      </p:sp>
      <p:pic>
        <p:nvPicPr>
          <p:cNvPr id="17" name="chevron-107" descr="preencoded.png">    </p:cNvPr>
          <p:cNvPicPr>
            <a:picLocks noChangeAspect="1"/>
          </p:cNvPicPr>
          <p:nvPr/>
        </p:nvPicPr>
        <p:blipFill>
          <a:blip r:embed="rId2"/>
          <a:stretch>
            <a:fillRect/>
          </a:stretch>
        </p:blipFill>
        <p:spPr>
          <a:xfrm>
            <a:off x="7895615" y="3712464"/>
            <a:ext cx="256032" cy="256032"/>
          </a:xfrm>
          <a:prstGeom prst="rect">
            <a:avLst/>
          </a:prstGeom>
        </p:spPr>
      </p:pic>
      <p:sp>
        <p:nvSpPr>
          <p:cNvPr id="18" name="card-108"/>
          <p:cNvSpPr/>
          <p:nvPr/>
        </p:nvSpPr>
        <p:spPr>
          <a:xfrm>
            <a:off x="8259775" y="1920240"/>
            <a:ext cx="3383280" cy="3840480"/>
          </a:xfrm>
          <a:prstGeom prst="roundRect">
            <a:avLst>
              <a:gd name="adj" fmla="val 2162"/>
            </a:avLst>
          </a:prstGeom>
          <a:solidFill>
            <a:schemeClr val="bg2"/>
          </a:solidFill>
          <a:ln/>
        </p:spPr>
      </p:sp>
      <p:sp>
        <p:nvSpPr>
          <p:cNvPr id="19" name="text-109"/>
          <p:cNvSpPr txBox="1"/>
          <p:nvPr/>
        </p:nvSpPr>
        <p:spPr>
          <a:xfrm>
            <a:off x="8488375" y="2148840"/>
            <a:ext cx="2926080"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STAGE 3 / 2026</a:t>
            </a:r>
            <a:endParaRPr lang="en-US" sz="1200" dirty="0"/>
          </a:p>
        </p:txBody>
      </p:sp>
      <p:sp>
        <p:nvSpPr>
          <p:cNvPr id="20" name="text-110"/>
          <p:cNvSpPr txBox="1"/>
          <p:nvPr/>
        </p:nvSpPr>
        <p:spPr>
          <a:xfrm>
            <a:off x="8488375" y="2468880"/>
            <a:ext cx="2926080" cy="640080"/>
          </a:xfrm>
          <a:prstGeom prst="rect">
            <a:avLst/>
          </a:prstGeom>
          <a:noFill/>
          <a:ln/>
        </p:spPr>
        <p:txBody>
          <a:bodyPr wrap="square" lIns="0" tIns="0" rIns="0" bIns="0" rtlCol="0" anchor="t"/>
          <a:lstStyle/>
          <a:p>
            <a:pPr indent="0" marL="0">
              <a:buNone/>
            </a:pPr>
            <a:r>
              <a:rPr lang="en-US" sz="1800" b="1" dirty="0">
                <a:solidFill>
                  <a:schemeClr val="tx1"/>
                </a:solidFill>
              </a:rPr>
              <a:t>General frontier agent</a:t>
            </a:r>
            <a:endParaRPr lang="en-US" sz="1800" dirty="0"/>
          </a:p>
        </p:txBody>
      </p:sp>
      <p:sp>
        <p:nvSpPr>
          <p:cNvPr id="21" name="text-111"/>
          <p:cNvSpPr txBox="1"/>
          <p:nvPr/>
        </p:nvSpPr>
        <p:spPr>
          <a:xfrm>
            <a:off x="8488375" y="3154680"/>
            <a:ext cx="2926080" cy="1325880"/>
          </a:xfrm>
          <a:prstGeom prst="rect">
            <a:avLst/>
          </a:prstGeom>
          <a:noFill/>
          <a:ln/>
        </p:spPr>
        <p:txBody>
          <a:bodyPr wrap="square" lIns="0" tIns="0" rIns="0" bIns="0" rtlCol="0" anchor="t"/>
          <a:lstStyle/>
          <a:p>
            <a:pPr indent="0" marL="0">
              <a:buNone/>
            </a:pPr>
            <a:r>
              <a:rPr lang="en-US" sz="1400" dirty="0">
                <a:solidFill>
                  <a:schemeClr val="tx1"/>
                </a:solidFill>
              </a:rPr>
              <a:t>From GPT-5.4, general frontier models drive Codex with native computer use. GPT-6.1 Sol became the default in September 2026.</a:t>
            </a:r>
            <a:endParaRPr lang="en-US" sz="1400" dirty="0"/>
          </a:p>
        </p:txBody>
      </p:sp>
      <p:sp>
        <p:nvSpPr>
          <p:cNvPr id="22" name="text-112"/>
          <p:cNvSpPr txBox="1"/>
          <p:nvPr/>
        </p:nvSpPr>
        <p:spPr>
          <a:xfrm>
            <a:off x="8488375" y="4617720"/>
            <a:ext cx="2926080"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~1M</a:t>
            </a:r>
            <a:endParaRPr lang="en-US" sz="3000" dirty="0"/>
          </a:p>
        </p:txBody>
      </p:sp>
      <p:sp>
        <p:nvSpPr>
          <p:cNvPr id="23" name="text-113"/>
          <p:cNvSpPr txBox="1"/>
          <p:nvPr/>
        </p:nvSpPr>
        <p:spPr>
          <a:xfrm>
            <a:off x="8488375" y="5166360"/>
            <a:ext cx="2926080" cy="411480"/>
          </a:xfrm>
          <a:prstGeom prst="rect">
            <a:avLst/>
          </a:prstGeom>
          <a:noFill/>
          <a:ln/>
        </p:spPr>
        <p:txBody>
          <a:bodyPr wrap="square" lIns="0" tIns="0" rIns="0" bIns="0" rtlCol="0" anchor="t"/>
          <a:lstStyle/>
          <a:p>
            <a:pPr indent="0" marL="0">
              <a:buNone/>
            </a:pPr>
            <a:r>
              <a:rPr lang="en-US" sz="1200" dirty="0">
                <a:solidFill>
                  <a:schemeClr val="accent4"/>
                </a:solidFill>
              </a:rPr>
              <a:t>token context window from GPT-5.4 onward</a:t>
            </a:r>
            <a:endParaRPr lang="en-US" sz="1200" dirty="0"/>
          </a:p>
        </p:txBody>
      </p:sp>
      <p:sp>
        <p:nvSpPr>
          <p:cNvPr id="24" name="text-11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Chen et al. (2021); OpenAI (2025, 2026); benchmark figures as reported by OpenAI and compiled by gradually.ai. Scores come from different benchmarks.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6</a:t>
            </a:fld>
            <a:endParaRPr lang="en-US"/>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02 / technology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Codex works through a loop: plan, act, observe and verify</a:t>
            </a:r>
            <a:endParaRPr lang="en-US" sz="3200" dirty="0"/>
          </a:p>
        </p:txBody>
      </p:sp>
      <p:sp>
        <p:nvSpPr>
          <p:cNvPr id="4" name="card-115"/>
          <p:cNvSpPr/>
          <p:nvPr/>
        </p:nvSpPr>
        <p:spPr>
          <a:xfrm>
            <a:off x="548640" y="1965960"/>
            <a:ext cx="1920240" cy="2057400"/>
          </a:xfrm>
          <a:prstGeom prst="roundRect">
            <a:avLst>
              <a:gd name="adj" fmla="val 3810"/>
            </a:avLst>
          </a:prstGeom>
          <a:solidFill>
            <a:schemeClr val="bg2"/>
          </a:solidFill>
          <a:ln/>
        </p:spPr>
      </p:sp>
      <p:sp>
        <p:nvSpPr>
          <p:cNvPr id="5" name="text-116"/>
          <p:cNvSpPr txBox="1"/>
          <p:nvPr/>
        </p:nvSpPr>
        <p:spPr>
          <a:xfrm>
            <a:off x="731520" y="214884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01</a:t>
            </a:r>
            <a:endParaRPr lang="en-US" sz="1400" dirty="0"/>
          </a:p>
        </p:txBody>
      </p:sp>
      <p:sp>
        <p:nvSpPr>
          <p:cNvPr id="6" name="text-117"/>
          <p:cNvSpPr txBox="1"/>
          <p:nvPr/>
        </p:nvSpPr>
        <p:spPr>
          <a:xfrm>
            <a:off x="731520" y="2441448"/>
            <a:ext cx="1554480" cy="320040"/>
          </a:xfrm>
          <a:prstGeom prst="rect">
            <a:avLst/>
          </a:prstGeom>
          <a:noFill/>
          <a:ln/>
        </p:spPr>
        <p:txBody>
          <a:bodyPr wrap="square" lIns="0" tIns="0" rIns="0" bIns="0" rtlCol="0" anchor="t"/>
          <a:lstStyle/>
          <a:p>
            <a:pPr indent="0" marL="0">
              <a:buNone/>
            </a:pPr>
            <a:r>
              <a:rPr lang="en-US" sz="1800" b="1" dirty="0">
                <a:solidFill>
                  <a:schemeClr val="tx1"/>
                </a:solidFill>
              </a:rPr>
              <a:t>Task</a:t>
            </a:r>
            <a:endParaRPr lang="en-US" sz="1800" dirty="0"/>
          </a:p>
        </p:txBody>
      </p:sp>
      <p:sp>
        <p:nvSpPr>
          <p:cNvPr id="7" name="text-118"/>
          <p:cNvSpPr txBox="1"/>
          <p:nvPr/>
        </p:nvSpPr>
        <p:spPr>
          <a:xfrm>
            <a:off x="731520" y="2862072"/>
            <a:ext cx="1554480" cy="1051560"/>
          </a:xfrm>
          <a:prstGeom prst="rect">
            <a:avLst/>
          </a:prstGeom>
          <a:noFill/>
          <a:ln/>
        </p:spPr>
        <p:txBody>
          <a:bodyPr wrap="square" lIns="0" tIns="0" rIns="0" bIns="0" rtlCol="0" anchor="t"/>
          <a:lstStyle/>
          <a:p>
            <a:pPr indent="0" marL="0">
              <a:buNone/>
            </a:pPr>
            <a:r>
              <a:rPr lang="en-US" sz="1400" dirty="0">
                <a:solidFill>
                  <a:schemeClr val="tx1"/>
                </a:solidFill>
              </a:rPr>
              <a:t>Prompt, repository and AGENTS.md rules</a:t>
            </a:r>
            <a:endParaRPr lang="en-US" sz="1400" dirty="0"/>
          </a:p>
        </p:txBody>
      </p:sp>
      <p:pic>
        <p:nvPicPr>
          <p:cNvPr id="8" name="chevron-119" descr="preencoded.png">    </p:cNvPr>
          <p:cNvPicPr>
            <a:picLocks noChangeAspect="1"/>
          </p:cNvPicPr>
          <p:nvPr/>
        </p:nvPicPr>
        <p:blipFill>
          <a:blip r:embed="rId1"/>
          <a:stretch>
            <a:fillRect/>
          </a:stretch>
        </p:blipFill>
        <p:spPr>
          <a:xfrm>
            <a:off x="2545804" y="2884932"/>
            <a:ext cx="219456" cy="219456"/>
          </a:xfrm>
          <a:prstGeom prst="rect">
            <a:avLst/>
          </a:prstGeom>
        </p:spPr>
      </p:pic>
      <p:sp>
        <p:nvSpPr>
          <p:cNvPr id="9" name="card-120"/>
          <p:cNvSpPr/>
          <p:nvPr/>
        </p:nvSpPr>
        <p:spPr>
          <a:xfrm>
            <a:off x="2842184" y="1965960"/>
            <a:ext cx="1920240" cy="2057400"/>
          </a:xfrm>
          <a:prstGeom prst="roundRect">
            <a:avLst>
              <a:gd name="adj" fmla="val 3810"/>
            </a:avLst>
          </a:prstGeom>
          <a:solidFill>
            <a:schemeClr val="accent5"/>
          </a:solidFill>
          <a:ln/>
        </p:spPr>
      </p:sp>
      <p:sp>
        <p:nvSpPr>
          <p:cNvPr id="10" name="text-121"/>
          <p:cNvSpPr txBox="1"/>
          <p:nvPr/>
        </p:nvSpPr>
        <p:spPr>
          <a:xfrm>
            <a:off x="3025064" y="214884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02</a:t>
            </a:r>
            <a:endParaRPr lang="en-US" sz="1400" dirty="0"/>
          </a:p>
        </p:txBody>
      </p:sp>
      <p:sp>
        <p:nvSpPr>
          <p:cNvPr id="11" name="text-122"/>
          <p:cNvSpPr txBox="1"/>
          <p:nvPr/>
        </p:nvSpPr>
        <p:spPr>
          <a:xfrm>
            <a:off x="3025064" y="2441448"/>
            <a:ext cx="1554480" cy="320040"/>
          </a:xfrm>
          <a:prstGeom prst="rect">
            <a:avLst/>
          </a:prstGeom>
          <a:noFill/>
          <a:ln/>
        </p:spPr>
        <p:txBody>
          <a:bodyPr wrap="square" lIns="0" tIns="0" rIns="0" bIns="0" rtlCol="0" anchor="t"/>
          <a:lstStyle/>
          <a:p>
            <a:pPr indent="0" marL="0">
              <a:buNone/>
            </a:pPr>
            <a:r>
              <a:rPr lang="en-US" sz="1800" b="1" dirty="0">
                <a:solidFill>
                  <a:schemeClr val="tx1"/>
                </a:solidFill>
              </a:rPr>
              <a:t>Plan</a:t>
            </a:r>
            <a:endParaRPr lang="en-US" sz="1800" dirty="0"/>
          </a:p>
        </p:txBody>
      </p:sp>
      <p:sp>
        <p:nvSpPr>
          <p:cNvPr id="12" name="text-123"/>
          <p:cNvSpPr txBox="1"/>
          <p:nvPr/>
        </p:nvSpPr>
        <p:spPr>
          <a:xfrm>
            <a:off x="3025064" y="2862072"/>
            <a:ext cx="1554480" cy="1051560"/>
          </a:xfrm>
          <a:prstGeom prst="rect">
            <a:avLst/>
          </a:prstGeom>
          <a:noFill/>
          <a:ln/>
        </p:spPr>
        <p:txBody>
          <a:bodyPr wrap="square" lIns="0" tIns="0" rIns="0" bIns="0" rtlCol="0" anchor="t"/>
          <a:lstStyle/>
          <a:p>
            <a:pPr indent="0" marL="0">
              <a:buNone/>
            </a:pPr>
            <a:r>
              <a:rPr lang="en-US" sz="1400" dirty="0">
                <a:solidFill>
                  <a:schemeClr val="tx1"/>
                </a:solidFill>
              </a:rPr>
              <a:t>The model reasons and chooses a tool</a:t>
            </a:r>
            <a:endParaRPr lang="en-US" sz="1400" dirty="0"/>
          </a:p>
        </p:txBody>
      </p:sp>
      <p:pic>
        <p:nvPicPr>
          <p:cNvPr id="13" name="chevron-124" descr="preencoded.png">    </p:cNvPr>
          <p:cNvPicPr>
            <a:picLocks noChangeAspect="1"/>
          </p:cNvPicPr>
          <p:nvPr/>
        </p:nvPicPr>
        <p:blipFill>
          <a:blip r:embed="rId2"/>
          <a:stretch>
            <a:fillRect/>
          </a:stretch>
        </p:blipFill>
        <p:spPr>
          <a:xfrm>
            <a:off x="4839348" y="2884932"/>
            <a:ext cx="219456" cy="219456"/>
          </a:xfrm>
          <a:prstGeom prst="rect">
            <a:avLst/>
          </a:prstGeom>
        </p:spPr>
      </p:pic>
      <p:sp>
        <p:nvSpPr>
          <p:cNvPr id="14" name="card-125"/>
          <p:cNvSpPr/>
          <p:nvPr/>
        </p:nvSpPr>
        <p:spPr>
          <a:xfrm>
            <a:off x="5135728" y="1965960"/>
            <a:ext cx="1920240" cy="2057400"/>
          </a:xfrm>
          <a:prstGeom prst="roundRect">
            <a:avLst>
              <a:gd name="adj" fmla="val 3810"/>
            </a:avLst>
          </a:prstGeom>
          <a:solidFill>
            <a:schemeClr val="accent5"/>
          </a:solidFill>
          <a:ln/>
        </p:spPr>
      </p:sp>
      <p:sp>
        <p:nvSpPr>
          <p:cNvPr id="15" name="text-126"/>
          <p:cNvSpPr txBox="1"/>
          <p:nvPr/>
        </p:nvSpPr>
        <p:spPr>
          <a:xfrm>
            <a:off x="5318608" y="214884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03</a:t>
            </a:r>
            <a:endParaRPr lang="en-US" sz="1400" dirty="0"/>
          </a:p>
        </p:txBody>
      </p:sp>
      <p:sp>
        <p:nvSpPr>
          <p:cNvPr id="16" name="text-127"/>
          <p:cNvSpPr txBox="1"/>
          <p:nvPr/>
        </p:nvSpPr>
        <p:spPr>
          <a:xfrm>
            <a:off x="5318608" y="2441448"/>
            <a:ext cx="1554480" cy="320040"/>
          </a:xfrm>
          <a:prstGeom prst="rect">
            <a:avLst/>
          </a:prstGeom>
          <a:noFill/>
          <a:ln/>
        </p:spPr>
        <p:txBody>
          <a:bodyPr wrap="square" lIns="0" tIns="0" rIns="0" bIns="0" rtlCol="0" anchor="t"/>
          <a:lstStyle/>
          <a:p>
            <a:pPr indent="0" marL="0">
              <a:buNone/>
            </a:pPr>
            <a:r>
              <a:rPr lang="en-US" sz="1800" b="1" dirty="0">
                <a:solidFill>
                  <a:schemeClr val="tx1"/>
                </a:solidFill>
              </a:rPr>
              <a:t>Act</a:t>
            </a:r>
            <a:endParaRPr lang="en-US" sz="1800" dirty="0"/>
          </a:p>
        </p:txBody>
      </p:sp>
      <p:sp>
        <p:nvSpPr>
          <p:cNvPr id="17" name="text-128"/>
          <p:cNvSpPr txBox="1"/>
          <p:nvPr/>
        </p:nvSpPr>
        <p:spPr>
          <a:xfrm>
            <a:off x="5318608" y="2862072"/>
            <a:ext cx="1554480" cy="1051560"/>
          </a:xfrm>
          <a:prstGeom prst="rect">
            <a:avLst/>
          </a:prstGeom>
          <a:noFill/>
          <a:ln/>
        </p:spPr>
        <p:txBody>
          <a:bodyPr wrap="square" lIns="0" tIns="0" rIns="0" bIns="0" rtlCol="0" anchor="t"/>
          <a:lstStyle/>
          <a:p>
            <a:pPr indent="0" marL="0">
              <a:buNone/>
            </a:pPr>
            <a:r>
              <a:rPr lang="en-US" sz="1400" dirty="0">
                <a:solidFill>
                  <a:schemeClr val="tx1"/>
                </a:solidFill>
              </a:rPr>
              <a:t>Runs commands and edits files in a sandbox</a:t>
            </a:r>
            <a:endParaRPr lang="en-US" sz="1400" dirty="0"/>
          </a:p>
        </p:txBody>
      </p:sp>
      <p:pic>
        <p:nvPicPr>
          <p:cNvPr id="18" name="chevron-129" descr="preencoded.png">    </p:cNvPr>
          <p:cNvPicPr>
            <a:picLocks noChangeAspect="1"/>
          </p:cNvPicPr>
          <p:nvPr/>
        </p:nvPicPr>
        <p:blipFill>
          <a:blip r:embed="rId3"/>
          <a:stretch>
            <a:fillRect/>
          </a:stretch>
        </p:blipFill>
        <p:spPr>
          <a:xfrm>
            <a:off x="7132892" y="2884932"/>
            <a:ext cx="219456" cy="219456"/>
          </a:xfrm>
          <a:prstGeom prst="rect">
            <a:avLst/>
          </a:prstGeom>
        </p:spPr>
      </p:pic>
      <p:sp>
        <p:nvSpPr>
          <p:cNvPr id="19" name="card-130"/>
          <p:cNvSpPr/>
          <p:nvPr/>
        </p:nvSpPr>
        <p:spPr>
          <a:xfrm>
            <a:off x="7429271" y="1965960"/>
            <a:ext cx="1920240" cy="2057400"/>
          </a:xfrm>
          <a:prstGeom prst="roundRect">
            <a:avLst>
              <a:gd name="adj" fmla="val 3810"/>
            </a:avLst>
          </a:prstGeom>
          <a:solidFill>
            <a:schemeClr val="accent5"/>
          </a:solidFill>
          <a:ln/>
        </p:spPr>
      </p:sp>
      <p:sp>
        <p:nvSpPr>
          <p:cNvPr id="20" name="text-131"/>
          <p:cNvSpPr txBox="1"/>
          <p:nvPr/>
        </p:nvSpPr>
        <p:spPr>
          <a:xfrm>
            <a:off x="7612151" y="214884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04</a:t>
            </a:r>
            <a:endParaRPr lang="en-US" sz="1400" dirty="0"/>
          </a:p>
        </p:txBody>
      </p:sp>
      <p:sp>
        <p:nvSpPr>
          <p:cNvPr id="21" name="text-132"/>
          <p:cNvSpPr txBox="1"/>
          <p:nvPr/>
        </p:nvSpPr>
        <p:spPr>
          <a:xfrm>
            <a:off x="7612151" y="2441448"/>
            <a:ext cx="1554480" cy="320040"/>
          </a:xfrm>
          <a:prstGeom prst="rect">
            <a:avLst/>
          </a:prstGeom>
          <a:noFill/>
          <a:ln/>
        </p:spPr>
        <p:txBody>
          <a:bodyPr wrap="square" lIns="0" tIns="0" rIns="0" bIns="0" rtlCol="0" anchor="t"/>
          <a:lstStyle/>
          <a:p>
            <a:pPr indent="0" marL="0">
              <a:buNone/>
            </a:pPr>
            <a:r>
              <a:rPr lang="en-US" sz="1800" b="1" dirty="0">
                <a:solidFill>
                  <a:schemeClr val="tx1"/>
                </a:solidFill>
              </a:rPr>
              <a:t>Observe</a:t>
            </a:r>
            <a:endParaRPr lang="en-US" sz="1800" dirty="0"/>
          </a:p>
        </p:txBody>
      </p:sp>
      <p:sp>
        <p:nvSpPr>
          <p:cNvPr id="22" name="text-133"/>
          <p:cNvSpPr txBox="1"/>
          <p:nvPr/>
        </p:nvSpPr>
        <p:spPr>
          <a:xfrm>
            <a:off x="7612151" y="2862072"/>
            <a:ext cx="1554480" cy="1051560"/>
          </a:xfrm>
          <a:prstGeom prst="rect">
            <a:avLst/>
          </a:prstGeom>
          <a:noFill/>
          <a:ln/>
        </p:spPr>
        <p:txBody>
          <a:bodyPr wrap="square" lIns="0" tIns="0" rIns="0" bIns="0" rtlCol="0" anchor="t"/>
          <a:lstStyle/>
          <a:p>
            <a:pPr indent="0" marL="0">
              <a:buNone/>
            </a:pPr>
            <a:r>
              <a:rPr lang="en-US" sz="1400" dirty="0">
                <a:solidFill>
                  <a:schemeClr val="tx1"/>
                </a:solidFill>
              </a:rPr>
              <a:t>Reads output, errors and test results</a:t>
            </a:r>
            <a:endParaRPr lang="en-US" sz="1400" dirty="0"/>
          </a:p>
        </p:txBody>
      </p:sp>
      <p:pic>
        <p:nvPicPr>
          <p:cNvPr id="23" name="chevron-134" descr="preencoded.png">    </p:cNvPr>
          <p:cNvPicPr>
            <a:picLocks noChangeAspect="1"/>
          </p:cNvPicPr>
          <p:nvPr/>
        </p:nvPicPr>
        <p:blipFill>
          <a:blip r:embed="rId4"/>
          <a:stretch>
            <a:fillRect/>
          </a:stretch>
        </p:blipFill>
        <p:spPr>
          <a:xfrm>
            <a:off x="9426435" y="2884932"/>
            <a:ext cx="219456" cy="219456"/>
          </a:xfrm>
          <a:prstGeom prst="rect">
            <a:avLst/>
          </a:prstGeom>
        </p:spPr>
      </p:pic>
      <p:sp>
        <p:nvSpPr>
          <p:cNvPr id="24" name="card-135"/>
          <p:cNvSpPr/>
          <p:nvPr/>
        </p:nvSpPr>
        <p:spPr>
          <a:xfrm>
            <a:off x="9722815" y="1965960"/>
            <a:ext cx="1920240" cy="2057400"/>
          </a:xfrm>
          <a:prstGeom prst="roundRect">
            <a:avLst>
              <a:gd name="adj" fmla="val 3810"/>
            </a:avLst>
          </a:prstGeom>
          <a:solidFill>
            <a:schemeClr val="bg2"/>
          </a:solidFill>
          <a:ln/>
        </p:spPr>
      </p:sp>
      <p:sp>
        <p:nvSpPr>
          <p:cNvPr id="25" name="text-136"/>
          <p:cNvSpPr txBox="1"/>
          <p:nvPr/>
        </p:nvSpPr>
        <p:spPr>
          <a:xfrm>
            <a:off x="9905695" y="2148840"/>
            <a:ext cx="914400" cy="274320"/>
          </a:xfrm>
          <a:prstGeom prst="rect">
            <a:avLst/>
          </a:prstGeom>
          <a:noFill/>
          <a:ln/>
        </p:spPr>
        <p:txBody>
          <a:bodyPr wrap="square" lIns="0" tIns="0" rIns="0" bIns="0" rtlCol="0" anchor="t"/>
          <a:lstStyle/>
          <a:p>
            <a:pPr indent="0" marL="0">
              <a:buNone/>
            </a:pPr>
            <a:r>
              <a:rPr lang="en-US" sz="1400" b="1" dirty="0">
                <a:solidFill>
                  <a:schemeClr val="accent1"/>
                </a:solidFill>
                <a:latin typeface="Courier New" pitchFamily="34" charset="0"/>
                <a:ea typeface="Courier New" pitchFamily="34" charset="-122"/>
                <a:cs typeface="Courier New" pitchFamily="34" charset="-120"/>
              </a:rPr>
              <a:t>05</a:t>
            </a:r>
            <a:endParaRPr lang="en-US" sz="1400" dirty="0"/>
          </a:p>
        </p:txBody>
      </p:sp>
      <p:sp>
        <p:nvSpPr>
          <p:cNvPr id="26" name="text-137"/>
          <p:cNvSpPr txBox="1"/>
          <p:nvPr/>
        </p:nvSpPr>
        <p:spPr>
          <a:xfrm>
            <a:off x="9905695" y="2441448"/>
            <a:ext cx="1554480" cy="320040"/>
          </a:xfrm>
          <a:prstGeom prst="rect">
            <a:avLst/>
          </a:prstGeom>
          <a:noFill/>
          <a:ln/>
        </p:spPr>
        <p:txBody>
          <a:bodyPr wrap="square" lIns="0" tIns="0" rIns="0" bIns="0" rtlCol="0" anchor="t"/>
          <a:lstStyle/>
          <a:p>
            <a:pPr indent="0" marL="0">
              <a:buNone/>
            </a:pPr>
            <a:r>
              <a:rPr lang="en-US" sz="1800" b="1" dirty="0">
                <a:solidFill>
                  <a:schemeClr val="tx1"/>
                </a:solidFill>
              </a:rPr>
              <a:t>Deliver</a:t>
            </a:r>
            <a:endParaRPr lang="en-US" sz="1800" dirty="0"/>
          </a:p>
        </p:txBody>
      </p:sp>
      <p:sp>
        <p:nvSpPr>
          <p:cNvPr id="27" name="text-138"/>
          <p:cNvSpPr txBox="1"/>
          <p:nvPr/>
        </p:nvSpPr>
        <p:spPr>
          <a:xfrm>
            <a:off x="9905695" y="2862072"/>
            <a:ext cx="1554480" cy="1051560"/>
          </a:xfrm>
          <a:prstGeom prst="rect">
            <a:avLst/>
          </a:prstGeom>
          <a:noFill/>
          <a:ln/>
        </p:spPr>
        <p:txBody>
          <a:bodyPr wrap="square" lIns="0" tIns="0" rIns="0" bIns="0" rtlCol="0" anchor="t"/>
          <a:lstStyle/>
          <a:p>
            <a:pPr indent="0" marL="0">
              <a:buNone/>
            </a:pPr>
            <a:r>
              <a:rPr lang="en-US" sz="1400" dirty="0">
                <a:solidFill>
                  <a:schemeClr val="tx1"/>
                </a:solidFill>
              </a:rPr>
              <a:t>Returns a diff, logs and a pull request</a:t>
            </a:r>
            <a:endParaRPr lang="en-US" sz="1400" dirty="0"/>
          </a:p>
        </p:txBody>
      </p:sp>
      <p:sp>
        <p:nvSpPr>
          <p:cNvPr id="28" name="loop-139"/>
          <p:cNvSpPr/>
          <p:nvPr/>
        </p:nvSpPr>
        <p:spPr>
          <a:xfrm>
            <a:off x="8389391" y="4023360"/>
            <a:ext cx="0" cy="411480"/>
          </a:xfrm>
          <a:prstGeom prst="line">
            <a:avLst/>
          </a:prstGeom>
          <a:noFill/>
          <a:ln w="25400">
            <a:solidFill>
              <a:schemeClr val="accent1"/>
            </a:solidFill>
            <a:prstDash val="solid"/>
          </a:ln>
        </p:spPr>
      </p:sp>
      <p:sp>
        <p:nvSpPr>
          <p:cNvPr id="29" name="loop-140"/>
          <p:cNvSpPr/>
          <p:nvPr/>
        </p:nvSpPr>
        <p:spPr>
          <a:xfrm>
            <a:off x="3802304" y="4434840"/>
            <a:ext cx="4587088" cy="0"/>
          </a:xfrm>
          <a:prstGeom prst="line">
            <a:avLst/>
          </a:prstGeom>
          <a:noFill/>
          <a:ln w="25400">
            <a:solidFill>
              <a:schemeClr val="accent1"/>
            </a:solidFill>
            <a:prstDash val="solid"/>
          </a:ln>
        </p:spPr>
      </p:sp>
      <p:sp>
        <p:nvSpPr>
          <p:cNvPr id="30" name="loop-141"/>
          <p:cNvSpPr/>
          <p:nvPr/>
        </p:nvSpPr>
        <p:spPr>
          <a:xfrm>
            <a:off x="3802304" y="4059936"/>
            <a:ext cx="0" cy="374904"/>
          </a:xfrm>
          <a:prstGeom prst="line">
            <a:avLst/>
          </a:prstGeom>
          <a:noFill/>
          <a:ln w="25400">
            <a:solidFill>
              <a:schemeClr val="accent1"/>
            </a:solidFill>
            <a:prstDash val="solid"/>
            <a:headEnd type="triangle"/>
          </a:ln>
        </p:spPr>
      </p:sp>
      <p:sp>
        <p:nvSpPr>
          <p:cNvPr id="31" name="text-142"/>
          <p:cNvSpPr txBox="1"/>
          <p:nvPr/>
        </p:nvSpPr>
        <p:spPr>
          <a:xfrm>
            <a:off x="3802304" y="4526280"/>
            <a:ext cx="4587088" cy="274320"/>
          </a:xfrm>
          <a:prstGeom prst="rect">
            <a:avLst/>
          </a:prstGeom>
          <a:noFill/>
          <a:ln/>
        </p:spPr>
        <p:txBody>
          <a:bodyPr wrap="square" lIns="0" tIns="0" rIns="0" bIns="0" rtlCol="0" anchor="t"/>
          <a:lstStyle/>
          <a:p>
            <a:pPr algn="ctr" indent="0" marL="0">
              <a:buNone/>
            </a:pPr>
            <a:r>
              <a:rPr lang="en-US" sz="1400" i="1" dirty="0">
                <a:solidFill>
                  <a:schemeClr val="accent3"/>
                </a:solidFill>
              </a:rPr>
              <a:t>repeats until the checks pass or approval is needed</a:t>
            </a:r>
            <a:endParaRPr lang="en-US" sz="1400" dirty="0"/>
          </a:p>
        </p:txBody>
      </p:sp>
      <p:sp>
        <p:nvSpPr>
          <p:cNvPr id="32" name="card-143"/>
          <p:cNvSpPr/>
          <p:nvPr/>
        </p:nvSpPr>
        <p:spPr>
          <a:xfrm>
            <a:off x="548640" y="5212080"/>
            <a:ext cx="11094415" cy="640080"/>
          </a:xfrm>
          <a:prstGeom prst="roundRect">
            <a:avLst>
              <a:gd name="adj" fmla="val 11429"/>
            </a:avLst>
          </a:prstGeom>
          <a:solidFill>
            <a:schemeClr val="bg2"/>
          </a:solidFill>
          <a:ln/>
        </p:spPr>
      </p:sp>
      <p:sp>
        <p:nvSpPr>
          <p:cNvPr id="33" name="icon-tile-144"/>
          <p:cNvSpPr/>
          <p:nvPr/>
        </p:nvSpPr>
        <p:spPr>
          <a:xfrm>
            <a:off x="685800" y="5340096"/>
            <a:ext cx="384048" cy="384048"/>
          </a:xfrm>
          <a:prstGeom prst="roundRect">
            <a:avLst>
              <a:gd name="adj" fmla="val 19048"/>
            </a:avLst>
          </a:prstGeom>
          <a:solidFill>
            <a:schemeClr val="accent1"/>
          </a:solidFill>
          <a:ln/>
        </p:spPr>
      </p:sp>
      <p:pic>
        <p:nvPicPr>
          <p:cNvPr id="34" name="icon-145" descr="preencoded.png">    </p:cNvPr>
          <p:cNvPicPr>
            <a:picLocks noChangeAspect="1"/>
          </p:cNvPicPr>
          <p:nvPr/>
        </p:nvPicPr>
        <p:blipFill>
          <a:blip r:embed="rId5"/>
          <a:stretch>
            <a:fillRect/>
          </a:stretch>
        </p:blipFill>
        <p:spPr>
          <a:xfrm>
            <a:off x="777972" y="5432268"/>
            <a:ext cx="199705" cy="199705"/>
          </a:xfrm>
          <a:prstGeom prst="rect">
            <a:avLst/>
          </a:prstGeom>
        </p:spPr>
      </p:pic>
      <p:sp>
        <p:nvSpPr>
          <p:cNvPr id="35" name="text-146"/>
          <p:cNvSpPr txBox="1"/>
          <p:nvPr/>
        </p:nvSpPr>
        <p:spPr>
          <a:xfrm>
            <a:off x="1234440" y="5212080"/>
            <a:ext cx="10225735" cy="640080"/>
          </a:xfrm>
          <a:prstGeom prst="rect">
            <a:avLst/>
          </a:prstGeom>
          <a:noFill/>
          <a:ln/>
        </p:spPr>
        <p:txBody>
          <a:bodyPr wrap="square" lIns="0" tIns="0" rIns="0" bIns="0" rtlCol="0" anchor="ctr"/>
          <a:lstStyle/>
          <a:p>
            <a:pPr indent="0" marL="0">
              <a:buNone/>
            </a:pPr>
            <a:r>
              <a:rPr lang="en-US" sz="1400" dirty="0">
                <a:solidFill>
                  <a:schemeClr val="tx1"/>
                </a:solidFill>
              </a:rPr>
              <a:t>A typical cloud task takes 1 to 30 minutes and returns command logs and test results so a person can inspect the work.</a:t>
            </a:r>
            <a:endParaRPr lang="en-US" sz="1400" dirty="0"/>
          </a:p>
        </p:txBody>
      </p:sp>
      <p:sp>
        <p:nvSpPr>
          <p:cNvPr id="36" name="text-147"/>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OpenAI, Introducing Codex (2025); OpenAI Codex documentation.</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7</a:t>
            </a:fld>
            <a:endParaRPr lang="en-US"/>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02 / technology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One agent core is delivered through five surfaces</a:t>
            </a:r>
            <a:endParaRPr lang="en-US" sz="3200" dirty="0"/>
          </a:p>
        </p:txBody>
      </p:sp>
      <p:sp>
        <p:nvSpPr>
          <p:cNvPr id="4" name="text-148"/>
          <p:cNvSpPr txBox="1"/>
          <p:nvPr/>
        </p:nvSpPr>
        <p:spPr>
          <a:xfrm>
            <a:off x="548640" y="1920240"/>
            <a:ext cx="2743200" cy="228600"/>
          </a:xfrm>
          <a:prstGeom prst="rect">
            <a:avLst/>
          </a:prstGeom>
          <a:noFill/>
          <a:ln/>
        </p:spPr>
        <p:txBody>
          <a:bodyPr wrap="square" lIns="0" tIns="0" rIns="0" bIns="0" rtlCol="0" anchor="t"/>
          <a:lstStyle/>
          <a:p>
            <a:pPr indent="0" marL="0">
              <a:buNone/>
            </a:pPr>
            <a:r>
              <a:rPr lang="en-US" sz="1100" b="1" dirty="0">
                <a:solidFill>
                  <a:schemeClr val="accent4"/>
                </a:solidFill>
                <a:latin typeface="Courier New" pitchFamily="34" charset="0"/>
                <a:ea typeface="Courier New" pitchFamily="34" charset="-122"/>
                <a:cs typeface="Courier New" pitchFamily="34" charset="-120"/>
              </a:rPr>
              <a:t>SURFACES</a:t>
            </a:r>
            <a:endParaRPr lang="en-US" sz="1100" dirty="0"/>
          </a:p>
        </p:txBody>
      </p:sp>
      <p:sp>
        <p:nvSpPr>
          <p:cNvPr id="5" name="card-149"/>
          <p:cNvSpPr/>
          <p:nvPr/>
        </p:nvSpPr>
        <p:spPr>
          <a:xfrm>
            <a:off x="548640" y="2240280"/>
            <a:ext cx="2036003" cy="1325880"/>
          </a:xfrm>
          <a:prstGeom prst="roundRect">
            <a:avLst>
              <a:gd name="adj" fmla="val 5517"/>
            </a:avLst>
          </a:prstGeom>
          <a:solidFill>
            <a:schemeClr val="bg2"/>
          </a:solidFill>
          <a:ln/>
        </p:spPr>
      </p:sp>
      <p:sp>
        <p:nvSpPr>
          <p:cNvPr id="6" name="icon-tile-150"/>
          <p:cNvSpPr/>
          <p:nvPr/>
        </p:nvSpPr>
        <p:spPr>
          <a:xfrm>
            <a:off x="731520" y="2423160"/>
            <a:ext cx="457200" cy="457200"/>
          </a:xfrm>
          <a:prstGeom prst="roundRect">
            <a:avLst>
              <a:gd name="adj" fmla="val 16000"/>
            </a:avLst>
          </a:prstGeom>
          <a:solidFill>
            <a:schemeClr val="accent1"/>
          </a:solidFill>
          <a:ln/>
        </p:spPr>
      </p:sp>
      <p:pic>
        <p:nvPicPr>
          <p:cNvPr id="7" name="icon-151" descr="preencoded.png">    </p:cNvPr>
          <p:cNvPicPr>
            <a:picLocks noChangeAspect="1"/>
          </p:cNvPicPr>
          <p:nvPr/>
        </p:nvPicPr>
        <p:blipFill>
          <a:blip r:embed="rId1"/>
          <a:stretch>
            <a:fillRect/>
          </a:stretch>
        </p:blipFill>
        <p:spPr>
          <a:xfrm>
            <a:off x="841248" y="2532888"/>
            <a:ext cx="237744" cy="237744"/>
          </a:xfrm>
          <a:prstGeom prst="rect">
            <a:avLst/>
          </a:prstGeom>
        </p:spPr>
      </p:pic>
      <p:sp>
        <p:nvSpPr>
          <p:cNvPr id="8" name="text-152"/>
          <p:cNvSpPr txBox="1"/>
          <p:nvPr/>
        </p:nvSpPr>
        <p:spPr>
          <a:xfrm>
            <a:off x="1325880" y="2496312"/>
            <a:ext cx="1167323" cy="320040"/>
          </a:xfrm>
          <a:prstGeom prst="rect">
            <a:avLst/>
          </a:prstGeom>
          <a:noFill/>
          <a:ln/>
        </p:spPr>
        <p:txBody>
          <a:bodyPr wrap="square" lIns="0" tIns="0" rIns="0" bIns="0" rtlCol="0" anchor="t"/>
          <a:lstStyle/>
          <a:p>
            <a:pPr indent="0" marL="0">
              <a:buNone/>
            </a:pPr>
            <a:r>
              <a:rPr lang="en-US" sz="1600" b="1" dirty="0">
                <a:solidFill>
                  <a:schemeClr val="tx1"/>
                </a:solidFill>
              </a:rPr>
              <a:t>CLI</a:t>
            </a:r>
            <a:endParaRPr lang="en-US" sz="1600" dirty="0"/>
          </a:p>
        </p:txBody>
      </p:sp>
      <p:sp>
        <p:nvSpPr>
          <p:cNvPr id="9" name="text-153"/>
          <p:cNvSpPr txBox="1"/>
          <p:nvPr/>
        </p:nvSpPr>
        <p:spPr>
          <a:xfrm>
            <a:off x="731520" y="3017520"/>
            <a:ext cx="1715963" cy="457200"/>
          </a:xfrm>
          <a:prstGeom prst="rect">
            <a:avLst/>
          </a:prstGeom>
          <a:noFill/>
          <a:ln/>
        </p:spPr>
        <p:txBody>
          <a:bodyPr wrap="square" lIns="0" tIns="0" rIns="0" bIns="0" rtlCol="0" anchor="t"/>
          <a:lstStyle/>
          <a:p>
            <a:pPr indent="0" marL="0">
              <a:buNone/>
            </a:pPr>
            <a:r>
              <a:rPr lang="en-US" sz="1200" dirty="0">
                <a:solidFill>
                  <a:schemeClr val="tx2"/>
                </a:solidFill>
              </a:rPr>
              <a:t>Open source, written in Rust</a:t>
            </a:r>
            <a:endParaRPr lang="en-US" sz="1200" dirty="0"/>
          </a:p>
        </p:txBody>
      </p:sp>
      <p:sp>
        <p:nvSpPr>
          <p:cNvPr id="10" name="card-154"/>
          <p:cNvSpPr/>
          <p:nvPr/>
        </p:nvSpPr>
        <p:spPr>
          <a:xfrm>
            <a:off x="2813243" y="2240280"/>
            <a:ext cx="2036003" cy="1325880"/>
          </a:xfrm>
          <a:prstGeom prst="roundRect">
            <a:avLst>
              <a:gd name="adj" fmla="val 5517"/>
            </a:avLst>
          </a:prstGeom>
          <a:solidFill>
            <a:schemeClr val="bg2"/>
          </a:solidFill>
          <a:ln/>
        </p:spPr>
      </p:sp>
      <p:sp>
        <p:nvSpPr>
          <p:cNvPr id="11" name="icon-tile-155"/>
          <p:cNvSpPr/>
          <p:nvPr/>
        </p:nvSpPr>
        <p:spPr>
          <a:xfrm>
            <a:off x="2996123" y="2423160"/>
            <a:ext cx="457200" cy="457200"/>
          </a:xfrm>
          <a:prstGeom prst="roundRect">
            <a:avLst>
              <a:gd name="adj" fmla="val 16000"/>
            </a:avLst>
          </a:prstGeom>
          <a:solidFill>
            <a:schemeClr val="accent1"/>
          </a:solidFill>
          <a:ln/>
        </p:spPr>
      </p:sp>
      <p:pic>
        <p:nvPicPr>
          <p:cNvPr id="12" name="icon-156" descr="preencoded.png">    </p:cNvPr>
          <p:cNvPicPr>
            <a:picLocks noChangeAspect="1"/>
          </p:cNvPicPr>
          <p:nvPr/>
        </p:nvPicPr>
        <p:blipFill>
          <a:blip r:embed="rId2"/>
          <a:stretch>
            <a:fillRect/>
          </a:stretch>
        </p:blipFill>
        <p:spPr>
          <a:xfrm>
            <a:off x="3105851" y="2532888"/>
            <a:ext cx="237744" cy="237744"/>
          </a:xfrm>
          <a:prstGeom prst="rect">
            <a:avLst/>
          </a:prstGeom>
        </p:spPr>
      </p:pic>
      <p:sp>
        <p:nvSpPr>
          <p:cNvPr id="13" name="text-157"/>
          <p:cNvSpPr txBox="1"/>
          <p:nvPr/>
        </p:nvSpPr>
        <p:spPr>
          <a:xfrm>
            <a:off x="3590483" y="2496312"/>
            <a:ext cx="1167323" cy="320040"/>
          </a:xfrm>
          <a:prstGeom prst="rect">
            <a:avLst/>
          </a:prstGeom>
          <a:noFill/>
          <a:ln/>
        </p:spPr>
        <p:txBody>
          <a:bodyPr wrap="square" lIns="0" tIns="0" rIns="0" bIns="0" rtlCol="0" anchor="t"/>
          <a:lstStyle/>
          <a:p>
            <a:pPr indent="0" marL="0">
              <a:buNone/>
            </a:pPr>
            <a:r>
              <a:rPr lang="en-US" sz="1600" b="1" dirty="0">
                <a:solidFill>
                  <a:schemeClr val="tx1"/>
                </a:solidFill>
              </a:rPr>
              <a:t>IDE extension</a:t>
            </a:r>
            <a:endParaRPr lang="en-US" sz="1600" dirty="0"/>
          </a:p>
        </p:txBody>
      </p:sp>
      <p:sp>
        <p:nvSpPr>
          <p:cNvPr id="14" name="text-158"/>
          <p:cNvSpPr txBox="1"/>
          <p:nvPr/>
        </p:nvSpPr>
        <p:spPr>
          <a:xfrm>
            <a:off x="2996123" y="3017520"/>
            <a:ext cx="1715963" cy="457200"/>
          </a:xfrm>
          <a:prstGeom prst="rect">
            <a:avLst/>
          </a:prstGeom>
          <a:noFill/>
          <a:ln/>
        </p:spPr>
        <p:txBody>
          <a:bodyPr wrap="square" lIns="0" tIns="0" rIns="0" bIns="0" rtlCol="0" anchor="t"/>
          <a:lstStyle/>
          <a:p>
            <a:pPr indent="0" marL="0">
              <a:buNone/>
            </a:pPr>
            <a:r>
              <a:rPr lang="en-US" sz="1200" dirty="0">
                <a:solidFill>
                  <a:schemeClr val="tx2"/>
                </a:solidFill>
              </a:rPr>
              <a:t>VS Code, JetBrains, Xcode</a:t>
            </a:r>
            <a:endParaRPr lang="en-US" sz="1200" dirty="0"/>
          </a:p>
        </p:txBody>
      </p:sp>
      <p:sp>
        <p:nvSpPr>
          <p:cNvPr id="15" name="card-159"/>
          <p:cNvSpPr/>
          <p:nvPr/>
        </p:nvSpPr>
        <p:spPr>
          <a:xfrm>
            <a:off x="5077846" y="2240280"/>
            <a:ext cx="2036003" cy="1325880"/>
          </a:xfrm>
          <a:prstGeom prst="roundRect">
            <a:avLst>
              <a:gd name="adj" fmla="val 5517"/>
            </a:avLst>
          </a:prstGeom>
          <a:solidFill>
            <a:schemeClr val="bg2"/>
          </a:solidFill>
          <a:ln/>
        </p:spPr>
      </p:sp>
      <p:sp>
        <p:nvSpPr>
          <p:cNvPr id="16" name="icon-tile-160"/>
          <p:cNvSpPr/>
          <p:nvPr/>
        </p:nvSpPr>
        <p:spPr>
          <a:xfrm>
            <a:off x="5260726" y="2423160"/>
            <a:ext cx="457200" cy="457200"/>
          </a:xfrm>
          <a:prstGeom prst="roundRect">
            <a:avLst>
              <a:gd name="adj" fmla="val 16000"/>
            </a:avLst>
          </a:prstGeom>
          <a:solidFill>
            <a:schemeClr val="accent1"/>
          </a:solidFill>
          <a:ln/>
        </p:spPr>
      </p:sp>
      <p:pic>
        <p:nvPicPr>
          <p:cNvPr id="17" name="icon-161" descr="preencoded.png">    </p:cNvPr>
          <p:cNvPicPr>
            <a:picLocks noChangeAspect="1"/>
          </p:cNvPicPr>
          <p:nvPr/>
        </p:nvPicPr>
        <p:blipFill>
          <a:blip r:embed="rId3"/>
          <a:stretch>
            <a:fillRect/>
          </a:stretch>
        </p:blipFill>
        <p:spPr>
          <a:xfrm>
            <a:off x="5370454" y="2532888"/>
            <a:ext cx="237744" cy="237744"/>
          </a:xfrm>
          <a:prstGeom prst="rect">
            <a:avLst/>
          </a:prstGeom>
        </p:spPr>
      </p:pic>
      <p:sp>
        <p:nvSpPr>
          <p:cNvPr id="18" name="text-162"/>
          <p:cNvSpPr txBox="1"/>
          <p:nvPr/>
        </p:nvSpPr>
        <p:spPr>
          <a:xfrm>
            <a:off x="5855086" y="2496312"/>
            <a:ext cx="1167323" cy="320040"/>
          </a:xfrm>
          <a:prstGeom prst="rect">
            <a:avLst/>
          </a:prstGeom>
          <a:noFill/>
          <a:ln/>
        </p:spPr>
        <p:txBody>
          <a:bodyPr wrap="square" lIns="0" tIns="0" rIns="0" bIns="0" rtlCol="0" anchor="t"/>
          <a:lstStyle/>
          <a:p>
            <a:pPr indent="0" marL="0">
              <a:buNone/>
            </a:pPr>
            <a:r>
              <a:rPr lang="en-US" sz="1600" b="1" dirty="0">
                <a:solidFill>
                  <a:schemeClr val="tx1"/>
                </a:solidFill>
              </a:rPr>
              <a:t>Desktop app</a:t>
            </a:r>
            <a:endParaRPr lang="en-US" sz="1600" dirty="0"/>
          </a:p>
        </p:txBody>
      </p:sp>
      <p:sp>
        <p:nvSpPr>
          <p:cNvPr id="19" name="text-163"/>
          <p:cNvSpPr txBox="1"/>
          <p:nvPr/>
        </p:nvSpPr>
        <p:spPr>
          <a:xfrm>
            <a:off x="5260726" y="3017520"/>
            <a:ext cx="1715963" cy="457200"/>
          </a:xfrm>
          <a:prstGeom prst="rect">
            <a:avLst/>
          </a:prstGeom>
          <a:noFill/>
          <a:ln/>
        </p:spPr>
        <p:txBody>
          <a:bodyPr wrap="square" lIns="0" tIns="0" rIns="0" bIns="0" rtlCol="0" anchor="t"/>
          <a:lstStyle/>
          <a:p>
            <a:pPr indent="0" marL="0">
              <a:buNone/>
            </a:pPr>
            <a:r>
              <a:rPr lang="en-US" sz="1200" dirty="0">
                <a:solidFill>
                  <a:schemeClr val="tx2"/>
                </a:solidFill>
              </a:rPr>
              <a:t>Inside the ChatGPT app</a:t>
            </a:r>
            <a:endParaRPr lang="en-US" sz="1200" dirty="0"/>
          </a:p>
        </p:txBody>
      </p:sp>
      <p:sp>
        <p:nvSpPr>
          <p:cNvPr id="20" name="card-164"/>
          <p:cNvSpPr/>
          <p:nvPr/>
        </p:nvSpPr>
        <p:spPr>
          <a:xfrm>
            <a:off x="7342449" y="2240280"/>
            <a:ext cx="2036003" cy="1325880"/>
          </a:xfrm>
          <a:prstGeom prst="roundRect">
            <a:avLst>
              <a:gd name="adj" fmla="val 5517"/>
            </a:avLst>
          </a:prstGeom>
          <a:solidFill>
            <a:schemeClr val="bg2"/>
          </a:solidFill>
          <a:ln/>
        </p:spPr>
      </p:sp>
      <p:sp>
        <p:nvSpPr>
          <p:cNvPr id="21" name="icon-tile-165"/>
          <p:cNvSpPr/>
          <p:nvPr/>
        </p:nvSpPr>
        <p:spPr>
          <a:xfrm>
            <a:off x="7525329" y="2423160"/>
            <a:ext cx="457200" cy="457200"/>
          </a:xfrm>
          <a:prstGeom prst="roundRect">
            <a:avLst>
              <a:gd name="adj" fmla="val 16000"/>
            </a:avLst>
          </a:prstGeom>
          <a:solidFill>
            <a:schemeClr val="accent1"/>
          </a:solidFill>
          <a:ln/>
        </p:spPr>
      </p:sp>
      <p:pic>
        <p:nvPicPr>
          <p:cNvPr id="22" name="icon-166" descr="preencoded.png">    </p:cNvPr>
          <p:cNvPicPr>
            <a:picLocks noChangeAspect="1"/>
          </p:cNvPicPr>
          <p:nvPr/>
        </p:nvPicPr>
        <p:blipFill>
          <a:blip r:embed="rId4"/>
          <a:stretch>
            <a:fillRect/>
          </a:stretch>
        </p:blipFill>
        <p:spPr>
          <a:xfrm>
            <a:off x="7635057" y="2532888"/>
            <a:ext cx="237744" cy="237744"/>
          </a:xfrm>
          <a:prstGeom prst="rect">
            <a:avLst/>
          </a:prstGeom>
        </p:spPr>
      </p:pic>
      <p:sp>
        <p:nvSpPr>
          <p:cNvPr id="23" name="text-167"/>
          <p:cNvSpPr txBox="1"/>
          <p:nvPr/>
        </p:nvSpPr>
        <p:spPr>
          <a:xfrm>
            <a:off x="8119689" y="2496312"/>
            <a:ext cx="1167323" cy="320040"/>
          </a:xfrm>
          <a:prstGeom prst="rect">
            <a:avLst/>
          </a:prstGeom>
          <a:noFill/>
          <a:ln/>
        </p:spPr>
        <p:txBody>
          <a:bodyPr wrap="square" lIns="0" tIns="0" rIns="0" bIns="0" rtlCol="0" anchor="t"/>
          <a:lstStyle/>
          <a:p>
            <a:pPr indent="0" marL="0">
              <a:buNone/>
            </a:pPr>
            <a:r>
              <a:rPr lang="en-US" sz="1600" b="1" dirty="0">
                <a:solidFill>
                  <a:schemeClr val="tx1"/>
                </a:solidFill>
              </a:rPr>
              <a:t>Cloud</a:t>
            </a:r>
            <a:endParaRPr lang="en-US" sz="1600" dirty="0"/>
          </a:p>
        </p:txBody>
      </p:sp>
      <p:sp>
        <p:nvSpPr>
          <p:cNvPr id="24" name="text-168"/>
          <p:cNvSpPr txBox="1"/>
          <p:nvPr/>
        </p:nvSpPr>
        <p:spPr>
          <a:xfrm>
            <a:off x="7525329" y="3017520"/>
            <a:ext cx="1715963" cy="457200"/>
          </a:xfrm>
          <a:prstGeom prst="rect">
            <a:avLst/>
          </a:prstGeom>
          <a:noFill/>
          <a:ln/>
        </p:spPr>
        <p:txBody>
          <a:bodyPr wrap="square" lIns="0" tIns="0" rIns="0" bIns="0" rtlCol="0" anchor="t"/>
          <a:lstStyle/>
          <a:p>
            <a:pPr indent="0" marL="0">
              <a:buNone/>
            </a:pPr>
            <a:r>
              <a:rPr lang="en-US" sz="1200" dirty="0">
                <a:solidFill>
                  <a:schemeClr val="tx2"/>
                </a:solidFill>
              </a:rPr>
              <a:t>A container per task</a:t>
            </a:r>
            <a:endParaRPr lang="en-US" sz="1200" dirty="0"/>
          </a:p>
        </p:txBody>
      </p:sp>
      <p:sp>
        <p:nvSpPr>
          <p:cNvPr id="25" name="card-169"/>
          <p:cNvSpPr/>
          <p:nvPr/>
        </p:nvSpPr>
        <p:spPr>
          <a:xfrm>
            <a:off x="9607052" y="2240280"/>
            <a:ext cx="2036003" cy="1325880"/>
          </a:xfrm>
          <a:prstGeom prst="roundRect">
            <a:avLst>
              <a:gd name="adj" fmla="val 5517"/>
            </a:avLst>
          </a:prstGeom>
          <a:solidFill>
            <a:schemeClr val="bg2"/>
          </a:solidFill>
          <a:ln/>
        </p:spPr>
      </p:sp>
      <p:sp>
        <p:nvSpPr>
          <p:cNvPr id="26" name="icon-tile-170"/>
          <p:cNvSpPr/>
          <p:nvPr/>
        </p:nvSpPr>
        <p:spPr>
          <a:xfrm>
            <a:off x="9789932" y="2423160"/>
            <a:ext cx="457200" cy="457200"/>
          </a:xfrm>
          <a:prstGeom prst="roundRect">
            <a:avLst>
              <a:gd name="adj" fmla="val 16000"/>
            </a:avLst>
          </a:prstGeom>
          <a:solidFill>
            <a:schemeClr val="accent1"/>
          </a:solidFill>
          <a:ln/>
        </p:spPr>
      </p:sp>
      <p:pic>
        <p:nvPicPr>
          <p:cNvPr id="27" name="icon-171" descr="preencoded.png">    </p:cNvPr>
          <p:cNvPicPr>
            <a:picLocks noChangeAspect="1"/>
          </p:cNvPicPr>
          <p:nvPr/>
        </p:nvPicPr>
        <p:blipFill>
          <a:blip r:embed="rId5"/>
          <a:stretch>
            <a:fillRect/>
          </a:stretch>
        </p:blipFill>
        <p:spPr>
          <a:xfrm>
            <a:off x="9899660" y="2532888"/>
            <a:ext cx="237744" cy="237744"/>
          </a:xfrm>
          <a:prstGeom prst="rect">
            <a:avLst/>
          </a:prstGeom>
        </p:spPr>
      </p:pic>
      <p:sp>
        <p:nvSpPr>
          <p:cNvPr id="28" name="text-172"/>
          <p:cNvSpPr txBox="1"/>
          <p:nvPr/>
        </p:nvSpPr>
        <p:spPr>
          <a:xfrm>
            <a:off x="10384292" y="2496312"/>
            <a:ext cx="1167323" cy="320040"/>
          </a:xfrm>
          <a:prstGeom prst="rect">
            <a:avLst/>
          </a:prstGeom>
          <a:noFill/>
          <a:ln/>
        </p:spPr>
        <p:txBody>
          <a:bodyPr wrap="square" lIns="0" tIns="0" rIns="0" bIns="0" rtlCol="0" anchor="t"/>
          <a:lstStyle/>
          <a:p>
            <a:pPr indent="0" marL="0">
              <a:buNone/>
            </a:pPr>
            <a:r>
              <a:rPr lang="en-US" sz="1600" b="1" dirty="0">
                <a:solidFill>
                  <a:schemeClr val="tx1"/>
                </a:solidFill>
              </a:rPr>
              <a:t>SDK and CI</a:t>
            </a:r>
            <a:endParaRPr lang="en-US" sz="1600" dirty="0"/>
          </a:p>
        </p:txBody>
      </p:sp>
      <p:sp>
        <p:nvSpPr>
          <p:cNvPr id="29" name="text-173"/>
          <p:cNvSpPr txBox="1"/>
          <p:nvPr/>
        </p:nvSpPr>
        <p:spPr>
          <a:xfrm>
            <a:off x="9789932" y="3017520"/>
            <a:ext cx="1715963" cy="457200"/>
          </a:xfrm>
          <a:prstGeom prst="rect">
            <a:avLst/>
          </a:prstGeom>
          <a:noFill/>
          <a:ln/>
        </p:spPr>
        <p:txBody>
          <a:bodyPr wrap="square" lIns="0" tIns="0" rIns="0" bIns="0" rtlCol="0" anchor="t"/>
          <a:lstStyle/>
          <a:p>
            <a:pPr indent="0" marL="0">
              <a:buNone/>
            </a:pPr>
            <a:r>
              <a:rPr lang="en-US" sz="1200" dirty="0">
                <a:solidFill>
                  <a:schemeClr val="tx2"/>
                </a:solidFill>
              </a:rPr>
              <a:t>Scripts, pipelines, Slack</a:t>
            </a:r>
            <a:endParaRPr lang="en-US" sz="1200" dirty="0"/>
          </a:p>
        </p:txBody>
      </p:sp>
      <p:sp>
        <p:nvSpPr>
          <p:cNvPr id="30" name="text-174"/>
          <p:cNvSpPr txBox="1"/>
          <p:nvPr/>
        </p:nvSpPr>
        <p:spPr>
          <a:xfrm>
            <a:off x="548640" y="3749040"/>
            <a:ext cx="2743200" cy="228600"/>
          </a:xfrm>
          <a:prstGeom prst="rect">
            <a:avLst/>
          </a:prstGeom>
          <a:noFill/>
          <a:ln/>
        </p:spPr>
        <p:txBody>
          <a:bodyPr wrap="square" lIns="0" tIns="0" rIns="0" bIns="0" rtlCol="0" anchor="t"/>
          <a:lstStyle/>
          <a:p>
            <a:pPr indent="0" marL="0">
              <a:buNone/>
            </a:pPr>
            <a:r>
              <a:rPr lang="en-US" sz="1100" b="1" dirty="0">
                <a:solidFill>
                  <a:schemeClr val="accent4"/>
                </a:solidFill>
                <a:latin typeface="Courier New" pitchFamily="34" charset="0"/>
                <a:ea typeface="Courier New" pitchFamily="34" charset="-122"/>
                <a:cs typeface="Courier New" pitchFamily="34" charset="-120"/>
              </a:rPr>
              <a:t>SHARED CORE</a:t>
            </a:r>
            <a:endParaRPr lang="en-US" sz="1100" dirty="0"/>
          </a:p>
        </p:txBody>
      </p:sp>
      <p:sp>
        <p:nvSpPr>
          <p:cNvPr id="31" name="card-175"/>
          <p:cNvSpPr/>
          <p:nvPr/>
        </p:nvSpPr>
        <p:spPr>
          <a:xfrm>
            <a:off x="548640" y="4023360"/>
            <a:ext cx="11094415" cy="685800"/>
          </a:xfrm>
          <a:prstGeom prst="roundRect">
            <a:avLst>
              <a:gd name="adj" fmla="val 10667"/>
            </a:avLst>
          </a:prstGeom>
          <a:solidFill>
            <a:schemeClr val="accent3"/>
          </a:solidFill>
          <a:ln/>
        </p:spPr>
      </p:sp>
      <p:sp>
        <p:nvSpPr>
          <p:cNvPr id="32" name="text-176"/>
          <p:cNvSpPr txBox="1"/>
          <p:nvPr/>
        </p:nvSpPr>
        <p:spPr>
          <a:xfrm>
            <a:off x="822960" y="4023360"/>
            <a:ext cx="10545775" cy="685800"/>
          </a:xfrm>
          <a:prstGeom prst="rect">
            <a:avLst/>
          </a:prstGeom>
          <a:noFill/>
          <a:ln/>
        </p:spPr>
        <p:txBody>
          <a:bodyPr wrap="square" lIns="0" tIns="0" rIns="0" bIns="0" rtlCol="0" anchor="ctr"/>
          <a:lstStyle/>
          <a:p>
            <a:pPr indent="0" marL="0">
              <a:buNone/>
            </a:pPr>
            <a:r>
              <a:rPr lang="en-US" sz="1600" b="1" dirty="0">
                <a:solidFill>
                  <a:schemeClr val="bg1"/>
                </a:solidFill>
              </a:rPr>
              <a:t>Codex App Server: </a:t>
            </a:r>
            <a:pPr indent="0" marL="0">
              <a:buNone/>
            </a:pPr>
            <a:r>
              <a:rPr lang="en-US" sz="1600" dirty="0">
                <a:solidFill>
                  <a:schemeClr val="bg1"/>
                </a:solidFill>
              </a:rPr>
              <a:t>one protocol for sessions, approvals and long-running threads</a:t>
            </a:r>
            <a:endParaRPr lang="en-US" sz="1600" dirty="0"/>
          </a:p>
        </p:txBody>
      </p:sp>
      <p:sp>
        <p:nvSpPr>
          <p:cNvPr id="33" name="card-177"/>
          <p:cNvSpPr/>
          <p:nvPr/>
        </p:nvSpPr>
        <p:spPr>
          <a:xfrm>
            <a:off x="548640" y="4892040"/>
            <a:ext cx="5410048" cy="960120"/>
          </a:xfrm>
          <a:prstGeom prst="roundRect">
            <a:avLst>
              <a:gd name="adj" fmla="val 7619"/>
            </a:avLst>
          </a:prstGeom>
          <a:solidFill>
            <a:schemeClr val="bg2"/>
          </a:solidFill>
          <a:ln/>
        </p:spPr>
      </p:sp>
      <p:sp>
        <p:nvSpPr>
          <p:cNvPr id="34" name="text-178"/>
          <p:cNvSpPr txBox="1"/>
          <p:nvPr/>
        </p:nvSpPr>
        <p:spPr>
          <a:xfrm>
            <a:off x="822960" y="4892040"/>
            <a:ext cx="4861408" cy="960120"/>
          </a:xfrm>
          <a:prstGeom prst="rect">
            <a:avLst/>
          </a:prstGeom>
          <a:noFill/>
          <a:ln/>
        </p:spPr>
        <p:txBody>
          <a:bodyPr wrap="square" lIns="0" tIns="0" rIns="0" bIns="0" rtlCol="0" anchor="ctr"/>
          <a:lstStyle/>
          <a:p>
            <a:pPr indent="0" marL="0">
              <a:buNone/>
            </a:pPr>
            <a:r>
              <a:rPr lang="en-US" sz="1600" b="1" dirty="0">
                <a:solidFill>
                  <a:schemeClr val="tx1"/>
                </a:solidFill>
              </a:rPr>
              <a:t>Models</a:t>
            </a:r>
            <a:endParaRPr lang="en-US" sz="1400" dirty="0"/>
          </a:p>
          <a:p>
            <a:pPr indent="0" marL="0">
              <a:buNone/>
            </a:pPr>
            <a:r>
              <a:rPr lang="en-US" sz="1400" dirty="0">
                <a:solidFill>
                  <a:schemeClr val="tx1"/>
                </a:solidFill>
              </a:rPr>
              <a:t>GPT-6.1 Sol by default; Astra, Luna and earlier options</a:t>
            </a:r>
            <a:endParaRPr lang="en-US" sz="1400" dirty="0"/>
          </a:p>
        </p:txBody>
      </p:sp>
      <p:sp>
        <p:nvSpPr>
          <p:cNvPr id="35" name="card-179"/>
          <p:cNvSpPr/>
          <p:nvPr/>
        </p:nvSpPr>
        <p:spPr>
          <a:xfrm>
            <a:off x="6233008" y="4892040"/>
            <a:ext cx="5410048" cy="960120"/>
          </a:xfrm>
          <a:prstGeom prst="roundRect">
            <a:avLst>
              <a:gd name="adj" fmla="val 7619"/>
            </a:avLst>
          </a:prstGeom>
          <a:solidFill>
            <a:schemeClr val="bg2"/>
          </a:solidFill>
          <a:ln/>
        </p:spPr>
      </p:sp>
      <p:sp>
        <p:nvSpPr>
          <p:cNvPr id="36" name="text-180"/>
          <p:cNvSpPr txBox="1"/>
          <p:nvPr/>
        </p:nvSpPr>
        <p:spPr>
          <a:xfrm>
            <a:off x="6507328" y="4892040"/>
            <a:ext cx="4861408" cy="960120"/>
          </a:xfrm>
          <a:prstGeom prst="rect">
            <a:avLst/>
          </a:prstGeom>
          <a:noFill/>
          <a:ln/>
        </p:spPr>
        <p:txBody>
          <a:bodyPr wrap="square" lIns="0" tIns="0" rIns="0" bIns="0" rtlCol="0" anchor="ctr"/>
          <a:lstStyle/>
          <a:p>
            <a:pPr indent="0" marL="0">
              <a:buNone/>
            </a:pPr>
            <a:r>
              <a:rPr lang="en-US" sz="1600" b="1" dirty="0">
                <a:solidFill>
                  <a:schemeClr val="tx1"/>
                </a:solidFill>
              </a:rPr>
              <a:t>Execution</a:t>
            </a:r>
            <a:endParaRPr lang="en-US" sz="1400" dirty="0"/>
          </a:p>
          <a:p>
            <a:pPr indent="0" marL="0">
              <a:buNone/>
            </a:pPr>
            <a:r>
              <a:rPr lang="en-US" sz="1400" dirty="0">
                <a:solidFill>
                  <a:schemeClr val="tx1"/>
                </a:solidFill>
              </a:rPr>
              <a:t>A local OS sandbox or an isolated cloud container</a:t>
            </a:r>
            <a:endParaRPr lang="en-US" sz="1400" dirty="0"/>
          </a:p>
        </p:txBody>
      </p:sp>
      <p:sp>
        <p:nvSpPr>
          <p:cNvPr id="37" name="text-18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InfoQ, OpenAI publishes Codex App Server architecture (Feb 2026); OpenAI Codex documentation.</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8</a:t>
            </a:fld>
            <a:endParaRPr lang="en-US"/>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02 / technology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Safety rests on two controls: the sandbox and the approval policy</a:t>
            </a:r>
            <a:endParaRPr lang="en-US" sz="3200" dirty="0"/>
          </a:p>
        </p:txBody>
      </p:sp>
      <p:sp>
        <p:nvSpPr>
          <p:cNvPr id="4" name="text-182"/>
          <p:cNvSpPr txBox="1"/>
          <p:nvPr/>
        </p:nvSpPr>
        <p:spPr>
          <a:xfrm>
            <a:off x="548640" y="1920240"/>
            <a:ext cx="5760720" cy="320040"/>
          </a:xfrm>
          <a:prstGeom prst="rect">
            <a:avLst/>
          </a:prstGeom>
          <a:noFill/>
          <a:ln/>
        </p:spPr>
        <p:txBody>
          <a:bodyPr wrap="square" lIns="0" tIns="0" rIns="0" bIns="0" rtlCol="0" anchor="t"/>
          <a:lstStyle/>
          <a:p>
            <a:pPr indent="0" marL="0">
              <a:buNone/>
            </a:pPr>
            <a:r>
              <a:rPr lang="en-US" sz="1800" b="1" dirty="0">
                <a:solidFill>
                  <a:schemeClr val="tx1"/>
                </a:solidFill>
              </a:rPr>
              <a:t>Sandbox mode: what Codex may touch</a:t>
            </a:r>
            <a:endParaRPr lang="en-US" sz="1800" dirty="0"/>
          </a:p>
        </p:txBody>
      </p:sp>
      <p:sp>
        <p:nvSpPr>
          <p:cNvPr id="5" name="card-183"/>
          <p:cNvSpPr/>
          <p:nvPr/>
        </p:nvSpPr>
        <p:spPr>
          <a:xfrm>
            <a:off x="548640" y="2423160"/>
            <a:ext cx="5760720" cy="1024128"/>
          </a:xfrm>
          <a:prstGeom prst="roundRect">
            <a:avLst>
              <a:gd name="adj" fmla="val 7143"/>
            </a:avLst>
          </a:prstGeom>
          <a:solidFill>
            <a:schemeClr val="bg2"/>
          </a:solidFill>
          <a:ln/>
        </p:spPr>
      </p:sp>
      <p:sp>
        <p:nvSpPr>
          <p:cNvPr id="6" name="text-184"/>
          <p:cNvSpPr txBox="1"/>
          <p:nvPr/>
        </p:nvSpPr>
        <p:spPr>
          <a:xfrm>
            <a:off x="777240" y="2560320"/>
            <a:ext cx="384048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read-only</a:t>
            </a:r>
            <a:endParaRPr lang="en-US" sz="1400" dirty="0"/>
          </a:p>
        </p:txBody>
      </p:sp>
      <p:sp>
        <p:nvSpPr>
          <p:cNvPr id="7" name="text-185"/>
          <p:cNvSpPr txBox="1"/>
          <p:nvPr/>
        </p:nvSpPr>
        <p:spPr>
          <a:xfrm>
            <a:off x="777240" y="2880360"/>
            <a:ext cx="3840480" cy="502920"/>
          </a:xfrm>
          <a:prstGeom prst="rect">
            <a:avLst/>
          </a:prstGeom>
          <a:noFill/>
          <a:ln/>
        </p:spPr>
        <p:txBody>
          <a:bodyPr wrap="square" lIns="0" tIns="0" rIns="0" bIns="0" rtlCol="0" anchor="t"/>
          <a:lstStyle/>
          <a:p>
            <a:pPr indent="0" marL="0">
              <a:buNone/>
            </a:pPr>
            <a:r>
              <a:rPr lang="en-US" sz="1400" dirty="0">
                <a:solidFill>
                  <a:schemeClr val="tx2"/>
                </a:solidFill>
              </a:rPr>
              <a:t>Reads files; edits and commands need approval</a:t>
            </a:r>
            <a:endParaRPr lang="en-US" sz="1400" dirty="0"/>
          </a:p>
        </p:txBody>
      </p:sp>
      <p:sp>
        <p:nvSpPr>
          <p:cNvPr id="8" name="pill-186"/>
          <p:cNvSpPr/>
          <p:nvPr/>
        </p:nvSpPr>
        <p:spPr>
          <a:xfrm>
            <a:off x="4754880" y="2779776"/>
            <a:ext cx="1371600" cy="310896"/>
          </a:xfrm>
          <a:prstGeom prst="roundRect">
            <a:avLst>
              <a:gd name="adj" fmla="val 50000"/>
            </a:avLst>
          </a:prstGeom>
          <a:solidFill>
            <a:schemeClr val="accent5"/>
          </a:solidFill>
          <a:ln/>
        </p:spPr>
      </p:sp>
      <p:sp>
        <p:nvSpPr>
          <p:cNvPr id="9" name="text-187"/>
          <p:cNvSpPr txBox="1"/>
          <p:nvPr/>
        </p:nvSpPr>
        <p:spPr>
          <a:xfrm>
            <a:off x="4754880" y="2779776"/>
            <a:ext cx="1371600" cy="310896"/>
          </a:xfrm>
          <a:prstGeom prst="rect">
            <a:avLst/>
          </a:prstGeom>
          <a:noFill/>
          <a:ln/>
        </p:spPr>
        <p:txBody>
          <a:bodyPr wrap="square" lIns="0" tIns="0" rIns="0" bIns="0" rtlCol="0" anchor="ctr"/>
          <a:lstStyle/>
          <a:p>
            <a:pPr algn="ctr" indent="0" marL="0">
              <a:buNone/>
            </a:pPr>
            <a:r>
              <a:rPr lang="en-US" sz="1200" b="1" dirty="0">
                <a:solidFill>
                  <a:schemeClr val="tx1"/>
                </a:solidFill>
              </a:rPr>
              <a:t>Lowest risk</a:t>
            </a:r>
            <a:endParaRPr lang="en-US" sz="1200" dirty="0"/>
          </a:p>
        </p:txBody>
      </p:sp>
      <p:sp>
        <p:nvSpPr>
          <p:cNvPr id="10" name="card-188"/>
          <p:cNvSpPr/>
          <p:nvPr/>
        </p:nvSpPr>
        <p:spPr>
          <a:xfrm>
            <a:off x="548640" y="3584448"/>
            <a:ext cx="5760720" cy="1024128"/>
          </a:xfrm>
          <a:prstGeom prst="roundRect">
            <a:avLst>
              <a:gd name="adj" fmla="val 7143"/>
            </a:avLst>
          </a:prstGeom>
          <a:solidFill>
            <a:schemeClr val="bg2"/>
          </a:solidFill>
          <a:ln/>
        </p:spPr>
      </p:sp>
      <p:sp>
        <p:nvSpPr>
          <p:cNvPr id="11" name="text-189"/>
          <p:cNvSpPr txBox="1"/>
          <p:nvPr/>
        </p:nvSpPr>
        <p:spPr>
          <a:xfrm>
            <a:off x="777240" y="3721608"/>
            <a:ext cx="384048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workspace-write</a:t>
            </a:r>
            <a:endParaRPr lang="en-US" sz="1400" dirty="0"/>
          </a:p>
        </p:txBody>
      </p:sp>
      <p:sp>
        <p:nvSpPr>
          <p:cNvPr id="12" name="text-190"/>
          <p:cNvSpPr txBox="1"/>
          <p:nvPr/>
        </p:nvSpPr>
        <p:spPr>
          <a:xfrm>
            <a:off x="777240" y="4041648"/>
            <a:ext cx="3840480" cy="502920"/>
          </a:xfrm>
          <a:prstGeom prst="rect">
            <a:avLst/>
          </a:prstGeom>
          <a:noFill/>
          <a:ln/>
        </p:spPr>
        <p:txBody>
          <a:bodyPr wrap="square" lIns="0" tIns="0" rIns="0" bIns="0" rtlCol="0" anchor="t"/>
          <a:lstStyle/>
          <a:p>
            <a:pPr indent="0" marL="0">
              <a:buNone/>
            </a:pPr>
            <a:r>
              <a:rPr lang="en-US" sz="1400" dirty="0">
                <a:solidFill>
                  <a:schemeClr val="tx2"/>
                </a:solidFill>
              </a:rPr>
              <a:t>Edits and runs commands inside the project folder only</a:t>
            </a:r>
            <a:endParaRPr lang="en-US" sz="1400" dirty="0"/>
          </a:p>
        </p:txBody>
      </p:sp>
      <p:sp>
        <p:nvSpPr>
          <p:cNvPr id="13" name="pill-191"/>
          <p:cNvSpPr/>
          <p:nvPr/>
        </p:nvSpPr>
        <p:spPr>
          <a:xfrm>
            <a:off x="4754880" y="3941064"/>
            <a:ext cx="1371600" cy="310896"/>
          </a:xfrm>
          <a:prstGeom prst="roundRect">
            <a:avLst>
              <a:gd name="adj" fmla="val 50000"/>
            </a:avLst>
          </a:prstGeom>
          <a:solidFill>
            <a:schemeClr val="accent1"/>
          </a:solidFill>
          <a:ln/>
        </p:spPr>
      </p:sp>
      <p:sp>
        <p:nvSpPr>
          <p:cNvPr id="14" name="text-192"/>
          <p:cNvSpPr txBox="1"/>
          <p:nvPr/>
        </p:nvSpPr>
        <p:spPr>
          <a:xfrm>
            <a:off x="4754880" y="3941064"/>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Usual default</a:t>
            </a:r>
            <a:endParaRPr lang="en-US" sz="1200" dirty="0"/>
          </a:p>
        </p:txBody>
      </p:sp>
      <p:sp>
        <p:nvSpPr>
          <p:cNvPr id="15" name="card-193"/>
          <p:cNvSpPr/>
          <p:nvPr/>
        </p:nvSpPr>
        <p:spPr>
          <a:xfrm>
            <a:off x="548640" y="4745736"/>
            <a:ext cx="5760720" cy="1024128"/>
          </a:xfrm>
          <a:prstGeom prst="roundRect">
            <a:avLst>
              <a:gd name="adj" fmla="val 7143"/>
            </a:avLst>
          </a:prstGeom>
          <a:solidFill>
            <a:schemeClr val="bg2"/>
          </a:solidFill>
          <a:ln/>
        </p:spPr>
      </p:sp>
      <p:sp>
        <p:nvSpPr>
          <p:cNvPr id="16" name="text-194"/>
          <p:cNvSpPr txBox="1"/>
          <p:nvPr/>
        </p:nvSpPr>
        <p:spPr>
          <a:xfrm>
            <a:off x="777240" y="4882896"/>
            <a:ext cx="3840480" cy="274320"/>
          </a:xfrm>
          <a:prstGeom prst="rect">
            <a:avLst/>
          </a:prstGeom>
          <a:noFill/>
          <a:ln/>
        </p:spPr>
        <p:txBody>
          <a:bodyPr wrap="square" lIns="0" tIns="0" rIns="0" bIns="0" rtlCol="0" anchor="t"/>
          <a:lstStyle/>
          <a:p>
            <a:pPr indent="0" marL="0">
              <a:buNone/>
            </a:pPr>
            <a:r>
              <a:rPr lang="en-US" sz="1400" b="1" dirty="0">
                <a:solidFill>
                  <a:schemeClr val="tx1"/>
                </a:solidFill>
                <a:latin typeface="Courier New" pitchFamily="34" charset="0"/>
                <a:ea typeface="Courier New" pitchFamily="34" charset="-122"/>
                <a:cs typeface="Courier New" pitchFamily="34" charset="-120"/>
              </a:rPr>
              <a:t>danger-full-access</a:t>
            </a:r>
            <a:endParaRPr lang="en-US" sz="1400" dirty="0"/>
          </a:p>
        </p:txBody>
      </p:sp>
      <p:sp>
        <p:nvSpPr>
          <p:cNvPr id="17" name="text-195"/>
          <p:cNvSpPr txBox="1"/>
          <p:nvPr/>
        </p:nvSpPr>
        <p:spPr>
          <a:xfrm>
            <a:off x="777240" y="5202936"/>
            <a:ext cx="3840480" cy="502920"/>
          </a:xfrm>
          <a:prstGeom prst="rect">
            <a:avLst/>
          </a:prstGeom>
          <a:noFill/>
          <a:ln/>
        </p:spPr>
        <p:txBody>
          <a:bodyPr wrap="square" lIns="0" tIns="0" rIns="0" bIns="0" rtlCol="0" anchor="t"/>
          <a:lstStyle/>
          <a:p>
            <a:pPr indent="0" marL="0">
              <a:buNone/>
            </a:pPr>
            <a:r>
              <a:rPr lang="en-US" sz="1400" dirty="0">
                <a:solidFill>
                  <a:schemeClr val="tx2"/>
                </a:solidFill>
              </a:rPr>
              <a:t>No sandbox: full disk and network access</a:t>
            </a:r>
            <a:endParaRPr lang="en-US" sz="1400" dirty="0"/>
          </a:p>
        </p:txBody>
      </p:sp>
      <p:sp>
        <p:nvSpPr>
          <p:cNvPr id="18" name="pill-196"/>
          <p:cNvSpPr/>
          <p:nvPr/>
        </p:nvSpPr>
        <p:spPr>
          <a:xfrm>
            <a:off x="4754880" y="5102352"/>
            <a:ext cx="1371600" cy="310896"/>
          </a:xfrm>
          <a:prstGeom prst="roundRect">
            <a:avLst>
              <a:gd name="adj" fmla="val 50000"/>
            </a:avLst>
          </a:prstGeom>
          <a:solidFill>
            <a:schemeClr val="accent6"/>
          </a:solidFill>
          <a:ln/>
        </p:spPr>
      </p:sp>
      <p:sp>
        <p:nvSpPr>
          <p:cNvPr id="19" name="text-197"/>
          <p:cNvSpPr txBox="1"/>
          <p:nvPr/>
        </p:nvSpPr>
        <p:spPr>
          <a:xfrm>
            <a:off x="4754880" y="5102352"/>
            <a:ext cx="1371600" cy="310896"/>
          </a:xfrm>
          <a:prstGeom prst="rect">
            <a:avLst/>
          </a:prstGeom>
          <a:noFill/>
          <a:ln/>
        </p:spPr>
        <p:txBody>
          <a:bodyPr wrap="square" lIns="0" tIns="0" rIns="0" bIns="0" rtlCol="0" anchor="ctr"/>
          <a:lstStyle/>
          <a:p>
            <a:pPr algn="ctr" indent="0" marL="0">
              <a:buNone/>
            </a:pPr>
            <a:r>
              <a:rPr lang="en-US" sz="1200" b="1" dirty="0">
                <a:solidFill>
                  <a:schemeClr val="bg1"/>
                </a:solidFill>
              </a:rPr>
              <a:t>Highest risk</a:t>
            </a:r>
            <a:endParaRPr lang="en-US" sz="1200" dirty="0"/>
          </a:p>
        </p:txBody>
      </p:sp>
      <p:sp>
        <p:nvSpPr>
          <p:cNvPr id="20" name="card-198"/>
          <p:cNvSpPr/>
          <p:nvPr/>
        </p:nvSpPr>
        <p:spPr>
          <a:xfrm>
            <a:off x="6675120" y="1920240"/>
            <a:ext cx="4967935" cy="2240280"/>
          </a:xfrm>
          <a:prstGeom prst="roundRect">
            <a:avLst>
              <a:gd name="adj" fmla="val 3265"/>
            </a:avLst>
          </a:prstGeom>
          <a:solidFill>
            <a:schemeClr val="bg2"/>
          </a:solidFill>
          <a:ln/>
        </p:spPr>
      </p:sp>
      <p:sp>
        <p:nvSpPr>
          <p:cNvPr id="21" name="text-199"/>
          <p:cNvSpPr txBox="1"/>
          <p:nvPr/>
        </p:nvSpPr>
        <p:spPr>
          <a:xfrm>
            <a:off x="6949440" y="2148840"/>
            <a:ext cx="4419295" cy="320040"/>
          </a:xfrm>
          <a:prstGeom prst="rect">
            <a:avLst/>
          </a:prstGeom>
          <a:noFill/>
          <a:ln/>
        </p:spPr>
        <p:txBody>
          <a:bodyPr wrap="square" lIns="0" tIns="0" rIns="0" bIns="0" rtlCol="0" anchor="t"/>
          <a:lstStyle/>
          <a:p>
            <a:pPr indent="0" marL="0">
              <a:buNone/>
            </a:pPr>
            <a:r>
              <a:rPr lang="en-US" sz="1800" b="1" dirty="0">
                <a:solidFill>
                  <a:schemeClr val="tx1"/>
                </a:solidFill>
              </a:rPr>
              <a:t>Approval policy: when it must ask</a:t>
            </a:r>
            <a:endParaRPr lang="en-US" sz="1800" dirty="0"/>
          </a:p>
        </p:txBody>
      </p:sp>
      <p:sp>
        <p:nvSpPr>
          <p:cNvPr id="22" name="text-200"/>
          <p:cNvSpPr txBox="1"/>
          <p:nvPr/>
        </p:nvSpPr>
        <p:spPr>
          <a:xfrm>
            <a:off x="6949440" y="2651760"/>
            <a:ext cx="4419295" cy="1371600"/>
          </a:xfrm>
          <a:prstGeom prst="rect">
            <a:avLst/>
          </a:prstGeom>
          <a:noFill/>
          <a:ln/>
        </p:spPr>
        <p:txBody>
          <a:bodyPr wrap="square" lIns="0" tIns="0" rIns="0" bIns="0" rtlCol="0" anchor="t"/>
          <a:lstStyle/>
          <a:p>
            <a:pPr indent="0" marL="0">
              <a:spcAft>
                <a:spcPts val="800"/>
              </a:spcAft>
              <a:buNone/>
            </a:pPr>
            <a:r>
              <a:rPr lang="en-US" sz="1400" b="1" dirty="0">
                <a:solidFill>
                  <a:schemeClr val="accent1"/>
                </a:solidFill>
                <a:latin typeface="Courier New" pitchFamily="34" charset="0"/>
                <a:ea typeface="Courier New" pitchFamily="34" charset="-122"/>
                <a:cs typeface="Courier New" pitchFamily="34" charset="-120"/>
              </a:rPr>
              <a:t>on-request  </a:t>
            </a:r>
            <a:pPr indent="0" marL="0">
              <a:spcAft>
                <a:spcPts val="800"/>
              </a:spcAft>
              <a:buNone/>
            </a:pPr>
            <a:r>
              <a:rPr lang="en-US" sz="1400" dirty="0">
                <a:solidFill>
                  <a:schemeClr val="tx1"/>
                </a:solidFill>
              </a:rPr>
              <a:t>asks before leaving the sandbox</a:t>
            </a:r>
            <a:endParaRPr lang="en-US" sz="1400" dirty="0"/>
          </a:p>
          <a:p>
            <a:pPr indent="0" marL="0">
              <a:spcAft>
                <a:spcPts val="800"/>
              </a:spcAft>
              <a:buNone/>
            </a:pPr>
            <a:r>
              <a:rPr lang="en-US" sz="1400" b="1" dirty="0">
                <a:solidFill>
                  <a:schemeClr val="accent1"/>
                </a:solidFill>
                <a:latin typeface="Courier New" pitchFamily="34" charset="0"/>
                <a:ea typeface="Courier New" pitchFamily="34" charset="-122"/>
                <a:cs typeface="Courier New" pitchFamily="34" charset="-120"/>
              </a:rPr>
              <a:t>never  </a:t>
            </a:r>
            <a:pPr indent="0" marL="0">
              <a:spcAft>
                <a:spcPts val="800"/>
              </a:spcAft>
              <a:buNone/>
            </a:pPr>
            <a:r>
              <a:rPr lang="en-US" sz="1400" dirty="0">
                <a:solidFill>
                  <a:schemeClr val="tx1"/>
                </a:solidFill>
              </a:rPr>
              <a:t>runs without prompts, for CI jobs</a:t>
            </a:r>
            <a:endParaRPr lang="en-US" sz="1400" dirty="0"/>
          </a:p>
          <a:p>
            <a:pPr indent="0" marL="0">
              <a:spcAft>
                <a:spcPts val="800"/>
              </a:spcAft>
              <a:buNone/>
            </a:pPr>
            <a:r>
              <a:rPr lang="en-US" sz="1400" b="1" dirty="0">
                <a:solidFill>
                  <a:schemeClr val="accent1"/>
                </a:solidFill>
                <a:latin typeface="Courier New" pitchFamily="34" charset="0"/>
                <a:ea typeface="Courier New" pitchFamily="34" charset="-122"/>
                <a:cs typeface="Courier New" pitchFamily="34" charset="-120"/>
              </a:rPr>
              <a:t>granular  </a:t>
            </a:r>
            <a:pPr indent="0" marL="0">
              <a:spcAft>
                <a:spcPts val="800"/>
              </a:spcAft>
              <a:buNone/>
            </a:pPr>
            <a:r>
              <a:rPr lang="en-US" sz="1400" dirty="0">
                <a:solidFill>
                  <a:schemeClr val="tx1"/>
                </a:solidFill>
              </a:rPr>
              <a:t>per-category rules with auto-review</a:t>
            </a:r>
            <a:endParaRPr lang="en-US" sz="1400" dirty="0"/>
          </a:p>
        </p:txBody>
      </p:sp>
      <p:sp>
        <p:nvSpPr>
          <p:cNvPr id="23" name="card-201"/>
          <p:cNvSpPr/>
          <p:nvPr/>
        </p:nvSpPr>
        <p:spPr>
          <a:xfrm>
            <a:off x="6675120" y="4389120"/>
            <a:ext cx="4967935" cy="1508760"/>
          </a:xfrm>
          <a:prstGeom prst="roundRect">
            <a:avLst>
              <a:gd name="adj" fmla="val 4848"/>
            </a:avLst>
          </a:prstGeom>
          <a:solidFill>
            <a:schemeClr val="bg2"/>
          </a:solidFill>
          <a:ln/>
        </p:spPr>
      </p:sp>
      <p:sp>
        <p:nvSpPr>
          <p:cNvPr id="24" name="text-202"/>
          <p:cNvSpPr txBox="1"/>
          <p:nvPr/>
        </p:nvSpPr>
        <p:spPr>
          <a:xfrm>
            <a:off x="6949440" y="4572000"/>
            <a:ext cx="4419295" cy="320040"/>
          </a:xfrm>
          <a:prstGeom prst="rect">
            <a:avLst/>
          </a:prstGeom>
          <a:noFill/>
          <a:ln/>
        </p:spPr>
        <p:txBody>
          <a:bodyPr wrap="square" lIns="0" tIns="0" rIns="0" bIns="0" rtlCol="0" anchor="t"/>
          <a:lstStyle/>
          <a:p>
            <a:pPr indent="0" marL="0">
              <a:buNone/>
            </a:pPr>
            <a:r>
              <a:rPr lang="en-US" sz="1800" b="1" dirty="0">
                <a:solidFill>
                  <a:schemeClr val="tx1"/>
                </a:solidFill>
              </a:rPr>
              <a:t>Enforced by the operating system</a:t>
            </a:r>
            <a:endParaRPr lang="en-US" sz="1800" dirty="0"/>
          </a:p>
        </p:txBody>
      </p:sp>
      <p:sp>
        <p:nvSpPr>
          <p:cNvPr id="25" name="text-203"/>
          <p:cNvSpPr txBox="1"/>
          <p:nvPr/>
        </p:nvSpPr>
        <p:spPr>
          <a:xfrm>
            <a:off x="6949440" y="4983480"/>
            <a:ext cx="4419295" cy="822960"/>
          </a:xfrm>
          <a:prstGeom prst="rect">
            <a:avLst/>
          </a:prstGeom>
          <a:noFill/>
          <a:ln/>
        </p:spPr>
        <p:txBody>
          <a:bodyPr wrap="square" lIns="0" tIns="0" rIns="0" bIns="0" rtlCol="0" anchor="t"/>
          <a:lstStyle/>
          <a:p>
            <a:pPr indent="0" marL="0">
              <a:buNone/>
            </a:pPr>
            <a:r>
              <a:rPr lang="en-US" sz="1400" dirty="0">
                <a:solidFill>
                  <a:schemeClr val="tx2"/>
                </a:solidFill>
              </a:rPr>
              <a:t>Seatbelt on macOS, Landlock with seccomp on Linux, restricted tokens and ACLs on Windows. Cloud tasks run in isolated containers.</a:t>
            </a:r>
            <a:endParaRPr lang="en-US" sz="1400" dirty="0"/>
          </a:p>
        </p:txBody>
      </p:sp>
      <p:sp>
        <p:nvSpPr>
          <p:cNvPr id="26" name="text-20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OpenAI Codex configuration reference and best-practice guide; TechRadar (Mar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9</a:t>
            </a:fld>
            <a:endParaRPr lang="en-US"/>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02 / technology</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Teams shape Codex through five extension points</a:t>
            </a:r>
            <a:endParaRPr lang="en-US" sz="3200" dirty="0"/>
          </a:p>
        </p:txBody>
      </p:sp>
      <p:sp>
        <p:nvSpPr>
          <p:cNvPr id="4" name="icon-tile-205"/>
          <p:cNvSpPr/>
          <p:nvPr/>
        </p:nvSpPr>
        <p:spPr>
          <a:xfrm>
            <a:off x="548640" y="1956816"/>
            <a:ext cx="548640" cy="548640"/>
          </a:xfrm>
          <a:prstGeom prst="roundRect">
            <a:avLst>
              <a:gd name="adj" fmla="val 13333"/>
            </a:avLst>
          </a:prstGeom>
          <a:solidFill>
            <a:schemeClr val="accent1"/>
          </a:solidFill>
          <a:ln/>
        </p:spPr>
      </p:sp>
      <p:pic>
        <p:nvPicPr>
          <p:cNvPr id="5" name="icon-206" descr="preencoded.png">    </p:cNvPr>
          <p:cNvPicPr>
            <a:picLocks noChangeAspect="1"/>
          </p:cNvPicPr>
          <p:nvPr/>
        </p:nvPicPr>
        <p:blipFill>
          <a:blip r:embed="rId1"/>
          <a:stretch>
            <a:fillRect/>
          </a:stretch>
        </p:blipFill>
        <p:spPr>
          <a:xfrm>
            <a:off x="680314" y="2088490"/>
            <a:ext cx="285293" cy="285293"/>
          </a:xfrm>
          <a:prstGeom prst="rect">
            <a:avLst/>
          </a:prstGeom>
        </p:spPr>
      </p:pic>
      <p:sp>
        <p:nvSpPr>
          <p:cNvPr id="6" name="text-207"/>
          <p:cNvSpPr txBox="1"/>
          <p:nvPr/>
        </p:nvSpPr>
        <p:spPr>
          <a:xfrm>
            <a:off x="1325880" y="1920240"/>
            <a:ext cx="5303520" cy="292608"/>
          </a:xfrm>
          <a:prstGeom prst="rect">
            <a:avLst/>
          </a:prstGeom>
          <a:noFill/>
          <a:ln/>
        </p:spPr>
        <p:txBody>
          <a:bodyPr wrap="square" lIns="0" tIns="0" rIns="0" bIns="0" rtlCol="0" anchor="t"/>
          <a:lstStyle/>
          <a:p>
            <a:pPr indent="0" marL="0">
              <a:buNone/>
            </a:pPr>
            <a:r>
              <a:rPr lang="en-US" sz="1600" b="1" dirty="0">
                <a:solidFill>
                  <a:schemeClr val="tx1"/>
                </a:solidFill>
              </a:rPr>
              <a:t>AGENTS.md</a:t>
            </a:r>
            <a:endParaRPr lang="en-US" sz="1600" dirty="0"/>
          </a:p>
        </p:txBody>
      </p:sp>
      <p:sp>
        <p:nvSpPr>
          <p:cNvPr id="7" name="text-208"/>
          <p:cNvSpPr txBox="1"/>
          <p:nvPr/>
        </p:nvSpPr>
        <p:spPr>
          <a:xfrm>
            <a:off x="1325880" y="2221992"/>
            <a:ext cx="5303520" cy="457200"/>
          </a:xfrm>
          <a:prstGeom prst="rect">
            <a:avLst/>
          </a:prstGeom>
          <a:noFill/>
          <a:ln/>
        </p:spPr>
        <p:txBody>
          <a:bodyPr wrap="square" lIns="0" tIns="0" rIns="0" bIns="0" rtlCol="0" anchor="t"/>
          <a:lstStyle/>
          <a:p>
            <a:pPr indent="0" marL="0">
              <a:buNone/>
            </a:pPr>
            <a:r>
              <a:rPr lang="en-US" sz="1400" dirty="0">
                <a:solidFill>
                  <a:schemeClr val="tx2"/>
                </a:solidFill>
              </a:rPr>
              <a:t>A README for agents, loaded into context automatically</a:t>
            </a:r>
            <a:endParaRPr lang="en-US" sz="1400" dirty="0"/>
          </a:p>
        </p:txBody>
      </p:sp>
      <p:sp>
        <p:nvSpPr>
          <p:cNvPr id="8" name="icon-tile-209"/>
          <p:cNvSpPr/>
          <p:nvPr/>
        </p:nvSpPr>
        <p:spPr>
          <a:xfrm>
            <a:off x="548640" y="2761488"/>
            <a:ext cx="548640" cy="548640"/>
          </a:xfrm>
          <a:prstGeom prst="roundRect">
            <a:avLst>
              <a:gd name="adj" fmla="val 13333"/>
            </a:avLst>
          </a:prstGeom>
          <a:solidFill>
            <a:schemeClr val="accent1"/>
          </a:solidFill>
          <a:ln/>
        </p:spPr>
      </p:sp>
      <p:pic>
        <p:nvPicPr>
          <p:cNvPr id="9" name="icon-210" descr="preencoded.png">    </p:cNvPr>
          <p:cNvPicPr>
            <a:picLocks noChangeAspect="1"/>
          </p:cNvPicPr>
          <p:nvPr/>
        </p:nvPicPr>
        <p:blipFill>
          <a:blip r:embed="rId2"/>
          <a:stretch>
            <a:fillRect/>
          </a:stretch>
        </p:blipFill>
        <p:spPr>
          <a:xfrm>
            <a:off x="680314" y="2893162"/>
            <a:ext cx="285293" cy="285293"/>
          </a:xfrm>
          <a:prstGeom prst="rect">
            <a:avLst/>
          </a:prstGeom>
        </p:spPr>
      </p:pic>
      <p:sp>
        <p:nvSpPr>
          <p:cNvPr id="10" name="text-211"/>
          <p:cNvSpPr txBox="1"/>
          <p:nvPr/>
        </p:nvSpPr>
        <p:spPr>
          <a:xfrm>
            <a:off x="1325880" y="2724912"/>
            <a:ext cx="5303520" cy="292608"/>
          </a:xfrm>
          <a:prstGeom prst="rect">
            <a:avLst/>
          </a:prstGeom>
          <a:noFill/>
          <a:ln/>
        </p:spPr>
        <p:txBody>
          <a:bodyPr wrap="square" lIns="0" tIns="0" rIns="0" bIns="0" rtlCol="0" anchor="t"/>
          <a:lstStyle/>
          <a:p>
            <a:pPr indent="0" marL="0">
              <a:buNone/>
            </a:pPr>
            <a:r>
              <a:rPr lang="en-US" sz="1600" b="1" dirty="0">
                <a:solidFill>
                  <a:schemeClr val="tx1"/>
                </a:solidFill>
              </a:rPr>
              <a:t>Skills</a:t>
            </a:r>
            <a:endParaRPr lang="en-US" sz="1600" dirty="0"/>
          </a:p>
        </p:txBody>
      </p:sp>
      <p:sp>
        <p:nvSpPr>
          <p:cNvPr id="11" name="text-212"/>
          <p:cNvSpPr txBox="1"/>
          <p:nvPr/>
        </p:nvSpPr>
        <p:spPr>
          <a:xfrm>
            <a:off x="1325880" y="3026664"/>
            <a:ext cx="5303520" cy="457200"/>
          </a:xfrm>
          <a:prstGeom prst="rect">
            <a:avLst/>
          </a:prstGeom>
          <a:noFill/>
          <a:ln/>
        </p:spPr>
        <p:txBody>
          <a:bodyPr wrap="square" lIns="0" tIns="0" rIns="0" bIns="0" rtlCol="0" anchor="t"/>
          <a:lstStyle/>
          <a:p>
            <a:pPr indent="0" marL="0">
              <a:buNone/>
            </a:pPr>
            <a:r>
              <a:rPr lang="en-US" sz="1400" dirty="0">
                <a:solidFill>
                  <a:schemeClr val="tx2"/>
                </a:solidFill>
              </a:rPr>
              <a:t>Reusable SKILL.md packages of instructions and scripts</a:t>
            </a:r>
            <a:endParaRPr lang="en-US" sz="1400" dirty="0"/>
          </a:p>
        </p:txBody>
      </p:sp>
      <p:sp>
        <p:nvSpPr>
          <p:cNvPr id="12" name="icon-tile-213"/>
          <p:cNvSpPr/>
          <p:nvPr/>
        </p:nvSpPr>
        <p:spPr>
          <a:xfrm>
            <a:off x="548640" y="3566160"/>
            <a:ext cx="548640" cy="548640"/>
          </a:xfrm>
          <a:prstGeom prst="roundRect">
            <a:avLst>
              <a:gd name="adj" fmla="val 13333"/>
            </a:avLst>
          </a:prstGeom>
          <a:solidFill>
            <a:schemeClr val="accent1"/>
          </a:solidFill>
          <a:ln/>
        </p:spPr>
      </p:sp>
      <p:pic>
        <p:nvPicPr>
          <p:cNvPr id="13" name="icon-214" descr="preencoded.png">    </p:cNvPr>
          <p:cNvPicPr>
            <a:picLocks noChangeAspect="1"/>
          </p:cNvPicPr>
          <p:nvPr/>
        </p:nvPicPr>
        <p:blipFill>
          <a:blip r:embed="rId3"/>
          <a:stretch>
            <a:fillRect/>
          </a:stretch>
        </p:blipFill>
        <p:spPr>
          <a:xfrm>
            <a:off x="680314" y="3697834"/>
            <a:ext cx="285293" cy="285293"/>
          </a:xfrm>
          <a:prstGeom prst="rect">
            <a:avLst/>
          </a:prstGeom>
        </p:spPr>
      </p:pic>
      <p:sp>
        <p:nvSpPr>
          <p:cNvPr id="14" name="text-215"/>
          <p:cNvSpPr txBox="1"/>
          <p:nvPr/>
        </p:nvSpPr>
        <p:spPr>
          <a:xfrm>
            <a:off x="1325880" y="3529584"/>
            <a:ext cx="5303520" cy="292608"/>
          </a:xfrm>
          <a:prstGeom prst="rect">
            <a:avLst/>
          </a:prstGeom>
          <a:noFill/>
          <a:ln/>
        </p:spPr>
        <p:txBody>
          <a:bodyPr wrap="square" lIns="0" tIns="0" rIns="0" bIns="0" rtlCol="0" anchor="t"/>
          <a:lstStyle/>
          <a:p>
            <a:pPr indent="0" marL="0">
              <a:buNone/>
            </a:pPr>
            <a:r>
              <a:rPr lang="en-US" sz="1600" b="1" dirty="0">
                <a:solidFill>
                  <a:schemeClr val="tx1"/>
                </a:solidFill>
              </a:rPr>
              <a:t>Subagents</a:t>
            </a:r>
            <a:endParaRPr lang="en-US" sz="1600" dirty="0"/>
          </a:p>
        </p:txBody>
      </p:sp>
      <p:sp>
        <p:nvSpPr>
          <p:cNvPr id="15" name="text-216"/>
          <p:cNvSpPr txBox="1"/>
          <p:nvPr/>
        </p:nvSpPr>
        <p:spPr>
          <a:xfrm>
            <a:off x="1325880" y="3831336"/>
            <a:ext cx="5303520" cy="457200"/>
          </a:xfrm>
          <a:prstGeom prst="rect">
            <a:avLst/>
          </a:prstGeom>
          <a:noFill/>
          <a:ln/>
        </p:spPr>
        <p:txBody>
          <a:bodyPr wrap="square" lIns="0" tIns="0" rIns="0" bIns="0" rtlCol="0" anchor="t"/>
          <a:lstStyle/>
          <a:p>
            <a:pPr indent="0" marL="0">
              <a:buNone/>
            </a:pPr>
            <a:r>
              <a:rPr lang="en-US" sz="1400" dirty="0">
                <a:solidFill>
                  <a:schemeClr val="tx2"/>
                </a:solidFill>
              </a:rPr>
              <a:t>Specialised agents that run in parallel inside the same sandbox</a:t>
            </a:r>
            <a:endParaRPr lang="en-US" sz="1400" dirty="0"/>
          </a:p>
        </p:txBody>
      </p:sp>
      <p:sp>
        <p:nvSpPr>
          <p:cNvPr id="16" name="icon-tile-217"/>
          <p:cNvSpPr/>
          <p:nvPr/>
        </p:nvSpPr>
        <p:spPr>
          <a:xfrm>
            <a:off x="548640" y="4370832"/>
            <a:ext cx="548640" cy="548640"/>
          </a:xfrm>
          <a:prstGeom prst="roundRect">
            <a:avLst>
              <a:gd name="adj" fmla="val 13333"/>
            </a:avLst>
          </a:prstGeom>
          <a:solidFill>
            <a:schemeClr val="accent1"/>
          </a:solidFill>
          <a:ln/>
        </p:spPr>
      </p:sp>
      <p:pic>
        <p:nvPicPr>
          <p:cNvPr id="17" name="icon-218" descr="preencoded.png">    </p:cNvPr>
          <p:cNvPicPr>
            <a:picLocks noChangeAspect="1"/>
          </p:cNvPicPr>
          <p:nvPr/>
        </p:nvPicPr>
        <p:blipFill>
          <a:blip r:embed="rId4"/>
          <a:stretch>
            <a:fillRect/>
          </a:stretch>
        </p:blipFill>
        <p:spPr>
          <a:xfrm>
            <a:off x="680314" y="4502506"/>
            <a:ext cx="285293" cy="285293"/>
          </a:xfrm>
          <a:prstGeom prst="rect">
            <a:avLst/>
          </a:prstGeom>
        </p:spPr>
      </p:pic>
      <p:sp>
        <p:nvSpPr>
          <p:cNvPr id="18" name="text-219"/>
          <p:cNvSpPr txBox="1"/>
          <p:nvPr/>
        </p:nvSpPr>
        <p:spPr>
          <a:xfrm>
            <a:off x="1325880" y="4334256"/>
            <a:ext cx="5303520" cy="292608"/>
          </a:xfrm>
          <a:prstGeom prst="rect">
            <a:avLst/>
          </a:prstGeom>
          <a:noFill/>
          <a:ln/>
        </p:spPr>
        <p:txBody>
          <a:bodyPr wrap="square" lIns="0" tIns="0" rIns="0" bIns="0" rtlCol="0" anchor="t"/>
          <a:lstStyle/>
          <a:p>
            <a:pPr indent="0" marL="0">
              <a:buNone/>
            </a:pPr>
            <a:r>
              <a:rPr lang="en-US" sz="1600" b="1" dirty="0">
                <a:solidFill>
                  <a:schemeClr val="tx1"/>
                </a:solidFill>
              </a:rPr>
              <a:t>MCP</a:t>
            </a:r>
            <a:endParaRPr lang="en-US" sz="1600" dirty="0"/>
          </a:p>
        </p:txBody>
      </p:sp>
      <p:sp>
        <p:nvSpPr>
          <p:cNvPr id="19" name="text-220"/>
          <p:cNvSpPr txBox="1"/>
          <p:nvPr/>
        </p:nvSpPr>
        <p:spPr>
          <a:xfrm>
            <a:off x="1325880" y="4636008"/>
            <a:ext cx="5303520" cy="457200"/>
          </a:xfrm>
          <a:prstGeom prst="rect">
            <a:avLst/>
          </a:prstGeom>
          <a:noFill/>
          <a:ln/>
        </p:spPr>
        <p:txBody>
          <a:bodyPr wrap="square" lIns="0" tIns="0" rIns="0" bIns="0" rtlCol="0" anchor="t"/>
          <a:lstStyle/>
          <a:p>
            <a:pPr indent="0" marL="0">
              <a:buNone/>
            </a:pPr>
            <a:r>
              <a:rPr lang="en-US" sz="1400" dirty="0">
                <a:solidFill>
                  <a:schemeClr val="tx2"/>
                </a:solidFill>
              </a:rPr>
              <a:t>An open protocol connecting external tools and data</a:t>
            </a:r>
            <a:endParaRPr lang="en-US" sz="1400" dirty="0"/>
          </a:p>
        </p:txBody>
      </p:sp>
      <p:sp>
        <p:nvSpPr>
          <p:cNvPr id="20" name="icon-tile-221"/>
          <p:cNvSpPr/>
          <p:nvPr/>
        </p:nvSpPr>
        <p:spPr>
          <a:xfrm>
            <a:off x="548640" y="5175504"/>
            <a:ext cx="548640" cy="548640"/>
          </a:xfrm>
          <a:prstGeom prst="roundRect">
            <a:avLst>
              <a:gd name="adj" fmla="val 13333"/>
            </a:avLst>
          </a:prstGeom>
          <a:solidFill>
            <a:schemeClr val="accent1"/>
          </a:solidFill>
          <a:ln/>
        </p:spPr>
      </p:sp>
      <p:pic>
        <p:nvPicPr>
          <p:cNvPr id="21" name="icon-222" descr="preencoded.png">    </p:cNvPr>
          <p:cNvPicPr>
            <a:picLocks noChangeAspect="1"/>
          </p:cNvPicPr>
          <p:nvPr/>
        </p:nvPicPr>
        <p:blipFill>
          <a:blip r:embed="rId5"/>
          <a:stretch>
            <a:fillRect/>
          </a:stretch>
        </p:blipFill>
        <p:spPr>
          <a:xfrm>
            <a:off x="680314" y="5307178"/>
            <a:ext cx="285293" cy="285293"/>
          </a:xfrm>
          <a:prstGeom prst="rect">
            <a:avLst/>
          </a:prstGeom>
        </p:spPr>
      </p:pic>
      <p:sp>
        <p:nvSpPr>
          <p:cNvPr id="22" name="text-223"/>
          <p:cNvSpPr txBox="1"/>
          <p:nvPr/>
        </p:nvSpPr>
        <p:spPr>
          <a:xfrm>
            <a:off x="1325880" y="5138928"/>
            <a:ext cx="5303520" cy="292608"/>
          </a:xfrm>
          <a:prstGeom prst="rect">
            <a:avLst/>
          </a:prstGeom>
          <a:noFill/>
          <a:ln/>
        </p:spPr>
        <p:txBody>
          <a:bodyPr wrap="square" lIns="0" tIns="0" rIns="0" bIns="0" rtlCol="0" anchor="t"/>
          <a:lstStyle/>
          <a:p>
            <a:pPr indent="0" marL="0">
              <a:buNone/>
            </a:pPr>
            <a:r>
              <a:rPr lang="en-US" sz="1600" b="1" dirty="0">
                <a:solidFill>
                  <a:schemeClr val="tx1"/>
                </a:solidFill>
              </a:rPr>
              <a:t>Plugins</a:t>
            </a:r>
            <a:endParaRPr lang="en-US" sz="1600" dirty="0"/>
          </a:p>
        </p:txBody>
      </p:sp>
      <p:sp>
        <p:nvSpPr>
          <p:cNvPr id="23" name="text-224"/>
          <p:cNvSpPr txBox="1"/>
          <p:nvPr/>
        </p:nvSpPr>
        <p:spPr>
          <a:xfrm>
            <a:off x="1325880" y="5440680"/>
            <a:ext cx="5303520" cy="457200"/>
          </a:xfrm>
          <a:prstGeom prst="rect">
            <a:avLst/>
          </a:prstGeom>
          <a:noFill/>
          <a:ln/>
        </p:spPr>
        <p:txBody>
          <a:bodyPr wrap="square" lIns="0" tIns="0" rIns="0" bIns="0" rtlCol="0" anchor="t"/>
          <a:lstStyle/>
          <a:p>
            <a:pPr indent="0" marL="0">
              <a:buNone/>
            </a:pPr>
            <a:r>
              <a:rPr lang="en-US" sz="1400" dirty="0">
                <a:solidFill>
                  <a:schemeClr val="tx2"/>
                </a:solidFill>
              </a:rPr>
              <a:t>Bundles of skills, apps and MCP servers, governed by admins</a:t>
            </a:r>
            <a:endParaRPr lang="en-US" sz="1400" dirty="0"/>
          </a:p>
        </p:txBody>
      </p:sp>
      <p:sp>
        <p:nvSpPr>
          <p:cNvPr id="24" name="card-225"/>
          <p:cNvSpPr/>
          <p:nvPr/>
        </p:nvSpPr>
        <p:spPr>
          <a:xfrm>
            <a:off x="7086600" y="1920240"/>
            <a:ext cx="4556455" cy="3977640"/>
          </a:xfrm>
          <a:prstGeom prst="roundRect">
            <a:avLst>
              <a:gd name="adj" fmla="val 1839"/>
            </a:avLst>
          </a:prstGeom>
          <a:solidFill>
            <a:schemeClr val="tx1"/>
          </a:solidFill>
          <a:ln/>
        </p:spPr>
      </p:sp>
      <p:sp>
        <p:nvSpPr>
          <p:cNvPr id="25" name="dot-226"/>
          <p:cNvSpPr/>
          <p:nvPr/>
        </p:nvSpPr>
        <p:spPr>
          <a:xfrm>
            <a:off x="7360920" y="2176272"/>
            <a:ext cx="137160" cy="137160"/>
          </a:xfrm>
          <a:prstGeom prst="ellipse">
            <a:avLst/>
          </a:prstGeom>
          <a:solidFill>
            <a:schemeClr val="accent6"/>
          </a:solidFill>
          <a:ln/>
        </p:spPr>
      </p:sp>
      <p:sp>
        <p:nvSpPr>
          <p:cNvPr id="26" name="dot-227"/>
          <p:cNvSpPr/>
          <p:nvPr/>
        </p:nvSpPr>
        <p:spPr>
          <a:xfrm>
            <a:off x="7598664" y="2176272"/>
            <a:ext cx="137160" cy="137160"/>
          </a:xfrm>
          <a:prstGeom prst="ellipse">
            <a:avLst/>
          </a:prstGeom>
          <a:solidFill>
            <a:schemeClr val="accent2"/>
          </a:solidFill>
          <a:ln/>
        </p:spPr>
      </p:sp>
      <p:sp>
        <p:nvSpPr>
          <p:cNvPr id="27" name="dot-228"/>
          <p:cNvSpPr/>
          <p:nvPr/>
        </p:nvSpPr>
        <p:spPr>
          <a:xfrm>
            <a:off x="7836408" y="2176272"/>
            <a:ext cx="137160" cy="137160"/>
          </a:xfrm>
          <a:prstGeom prst="ellipse">
            <a:avLst/>
          </a:prstGeom>
          <a:solidFill>
            <a:schemeClr val="accent1"/>
          </a:solidFill>
          <a:ln/>
        </p:spPr>
      </p:sp>
      <p:sp>
        <p:nvSpPr>
          <p:cNvPr id="28" name="text-229"/>
          <p:cNvSpPr txBox="1"/>
          <p:nvPr/>
        </p:nvSpPr>
        <p:spPr>
          <a:xfrm>
            <a:off x="8275320" y="2103120"/>
            <a:ext cx="3093415" cy="274320"/>
          </a:xfrm>
          <a:prstGeom prst="rect">
            <a:avLst/>
          </a:prstGeom>
          <a:noFill/>
          <a:ln/>
        </p:spPr>
        <p:txBody>
          <a:bodyPr wrap="square" lIns="0" tIns="0" rIns="0" bIns="0" rtlCol="0" anchor="t"/>
          <a:lstStyle/>
          <a:p>
            <a:pPr algn="r" indent="0" marL="0">
              <a:buNone/>
            </a:pPr>
            <a:r>
              <a:rPr lang="en-US" sz="1200" dirty="0">
                <a:solidFill>
                  <a:schemeClr val="accent5"/>
                </a:solidFill>
                <a:latin typeface="Courier New" pitchFamily="34" charset="0"/>
                <a:ea typeface="Courier New" pitchFamily="34" charset="-122"/>
                <a:cs typeface="Courier New" pitchFamily="34" charset="-120"/>
              </a:rPr>
              <a:t>AGENTS.md (illustrative)</a:t>
            </a:r>
            <a:endParaRPr lang="en-US" sz="1200" dirty="0"/>
          </a:p>
        </p:txBody>
      </p:sp>
      <p:sp>
        <p:nvSpPr>
          <p:cNvPr id="29" name="text-230"/>
          <p:cNvSpPr txBox="1"/>
          <p:nvPr/>
        </p:nvSpPr>
        <p:spPr>
          <a:xfrm>
            <a:off x="7360920" y="2606040"/>
            <a:ext cx="4099255" cy="3108960"/>
          </a:xfrm>
          <a:prstGeom prst="rect">
            <a:avLst/>
          </a:prstGeom>
          <a:noFill/>
          <a:ln/>
        </p:spPr>
        <p:txBody>
          <a:bodyPr wrap="square" lIns="0" tIns="0" rIns="0" bIns="0" rtlCol="0" anchor="t"/>
          <a:lstStyle/>
          <a:p>
            <a:pPr indent="0" marL="0">
              <a:buNone/>
            </a:pPr>
            <a:r>
              <a:rPr lang="en-US" sz="1400" b="1" dirty="0">
                <a:solidFill>
                  <a:schemeClr val="bg1"/>
                </a:solidFill>
                <a:latin typeface="Courier New" pitchFamily="34" charset="0"/>
                <a:ea typeface="Courier New" pitchFamily="34" charset="-122"/>
                <a:cs typeface="Courier New" pitchFamily="34" charset="-120"/>
              </a:rPr>
              <a:t># AGENTS.md</a:t>
            </a:r>
            <a:endParaRPr lang="en-US" sz="1400" dirty="0"/>
          </a:p>
          <a:p>
            <a:pPr indent="0" marL="0">
              <a:buNone/>
            </a:pP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Setup</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Run `npm ci` before tests</a:t>
            </a:r>
            <a:endParaRPr lang="en-US" sz="1400" dirty="0"/>
          </a:p>
          <a:p>
            <a:pPr indent="0" marL="0">
              <a:buNone/>
            </a:pP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Conventions</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TypeScript strict mode</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Ask before adding packages</a:t>
            </a:r>
            <a:endParaRPr lang="en-US" sz="1400" dirty="0"/>
          </a:p>
          <a:p>
            <a:pPr indent="0" marL="0">
              <a:buNone/>
            </a:pPr>
            <a:endParaRPr lang="en-US" sz="1400" dirty="0"/>
          </a:p>
          <a:p>
            <a:pPr indent="0" marL="0">
              <a:buNone/>
            </a:pPr>
            <a:r>
              <a:rPr lang="en-US" sz="1400" b="1" dirty="0">
                <a:solidFill>
                  <a:schemeClr val="bg1"/>
                </a:solidFill>
                <a:latin typeface="Courier New" pitchFamily="34" charset="0"/>
                <a:ea typeface="Courier New" pitchFamily="34" charset="-122"/>
                <a:cs typeface="Courier New" pitchFamily="34" charset="-120"/>
              </a:rPr>
              <a:t>## Done means</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`npm test` passes</a:t>
            </a:r>
            <a:endParaRPr lang="en-US" sz="1400" dirty="0"/>
          </a:p>
          <a:p>
            <a:pPr indent="0" marL="0">
              <a:buNone/>
            </a:pPr>
            <a:r>
              <a:rPr lang="en-US" sz="1400" dirty="0">
                <a:solidFill>
                  <a:schemeClr val="accent5"/>
                </a:solidFill>
                <a:latin typeface="Courier New" pitchFamily="34" charset="0"/>
                <a:ea typeface="Courier New" pitchFamily="34" charset="-122"/>
                <a:cs typeface="Courier New" pitchFamily="34" charset="-120"/>
              </a:rPr>
              <a:t>- `npm run lint` is clean</a:t>
            </a:r>
            <a:endParaRPr lang="en-US" sz="1400" dirty="0"/>
          </a:p>
        </p:txBody>
      </p:sp>
      <p:sp>
        <p:nvSpPr>
          <p:cNvPr id="30" name="text-231"/>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OpenAI Codex documentation (AGENTS.md, Skills, Subagents, MCP, Plugins); InfoWorld (Mar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10</a:t>
            </a:fld>
            <a:endParaRPr lang="en-US"/>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03 / capabilities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Codex now covers the engineering workflow, and work beyond code</a:t>
            </a:r>
            <a:endParaRPr lang="en-US" sz="3200" dirty="0"/>
          </a:p>
        </p:txBody>
      </p:sp>
      <p:sp>
        <p:nvSpPr>
          <p:cNvPr id="4" name="card-232"/>
          <p:cNvSpPr/>
          <p:nvPr/>
        </p:nvSpPr>
        <p:spPr>
          <a:xfrm>
            <a:off x="548640" y="1920240"/>
            <a:ext cx="3515258" cy="1828800"/>
          </a:xfrm>
          <a:prstGeom prst="roundRect">
            <a:avLst>
              <a:gd name="adj" fmla="val 4000"/>
            </a:avLst>
          </a:prstGeom>
          <a:solidFill>
            <a:schemeClr val="bg2"/>
          </a:solidFill>
          <a:ln/>
        </p:spPr>
      </p:sp>
      <p:sp>
        <p:nvSpPr>
          <p:cNvPr id="5" name="icon-tile-233"/>
          <p:cNvSpPr/>
          <p:nvPr/>
        </p:nvSpPr>
        <p:spPr>
          <a:xfrm>
            <a:off x="822960" y="2194560"/>
            <a:ext cx="502920" cy="502920"/>
          </a:xfrm>
          <a:prstGeom prst="roundRect">
            <a:avLst>
              <a:gd name="adj" fmla="val 14545"/>
            </a:avLst>
          </a:prstGeom>
          <a:solidFill>
            <a:schemeClr val="accent1"/>
          </a:solidFill>
          <a:ln/>
        </p:spPr>
      </p:sp>
      <p:pic>
        <p:nvPicPr>
          <p:cNvPr id="6" name="icon-234" descr="preencoded.png">    </p:cNvPr>
          <p:cNvPicPr>
            <a:picLocks noChangeAspect="1"/>
          </p:cNvPicPr>
          <p:nvPr/>
        </p:nvPicPr>
        <p:blipFill>
          <a:blip r:embed="rId1"/>
          <a:stretch>
            <a:fillRect/>
          </a:stretch>
        </p:blipFill>
        <p:spPr>
          <a:xfrm>
            <a:off x="943661" y="2315261"/>
            <a:ext cx="261518" cy="261518"/>
          </a:xfrm>
          <a:prstGeom prst="rect">
            <a:avLst/>
          </a:prstGeom>
        </p:spPr>
      </p:pic>
      <p:sp>
        <p:nvSpPr>
          <p:cNvPr id="7" name="text-235"/>
          <p:cNvSpPr txBox="1"/>
          <p:nvPr/>
        </p:nvSpPr>
        <p:spPr>
          <a:xfrm>
            <a:off x="1508760" y="219456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Build features</a:t>
            </a:r>
            <a:endParaRPr lang="en-US" sz="1800" dirty="0"/>
          </a:p>
        </p:txBody>
      </p:sp>
      <p:sp>
        <p:nvSpPr>
          <p:cNvPr id="8" name="text-236"/>
          <p:cNvSpPr txBox="1"/>
          <p:nvPr/>
        </p:nvSpPr>
        <p:spPr>
          <a:xfrm>
            <a:off x="822960" y="2880360"/>
            <a:ext cx="2966618" cy="777240"/>
          </a:xfrm>
          <a:prstGeom prst="rect">
            <a:avLst/>
          </a:prstGeom>
          <a:noFill/>
          <a:ln/>
        </p:spPr>
        <p:txBody>
          <a:bodyPr wrap="square" lIns="0" tIns="0" rIns="0" bIns="0" rtlCol="0" anchor="t"/>
          <a:lstStyle/>
          <a:p>
            <a:pPr indent="0" marL="0">
              <a:buNone/>
            </a:pPr>
            <a:r>
              <a:rPr lang="en-US" sz="1400" dirty="0">
                <a:solidFill>
                  <a:schemeClr val="tx2"/>
                </a:solidFill>
              </a:rPr>
              <a:t>Implements a described feature across several files and opens a pull request</a:t>
            </a:r>
            <a:endParaRPr lang="en-US" sz="1400" dirty="0"/>
          </a:p>
        </p:txBody>
      </p:sp>
      <p:sp>
        <p:nvSpPr>
          <p:cNvPr id="9" name="card-237"/>
          <p:cNvSpPr/>
          <p:nvPr/>
        </p:nvSpPr>
        <p:spPr>
          <a:xfrm>
            <a:off x="4338218" y="1920240"/>
            <a:ext cx="3515258" cy="1828800"/>
          </a:xfrm>
          <a:prstGeom prst="roundRect">
            <a:avLst>
              <a:gd name="adj" fmla="val 4000"/>
            </a:avLst>
          </a:prstGeom>
          <a:solidFill>
            <a:schemeClr val="bg2"/>
          </a:solidFill>
          <a:ln/>
        </p:spPr>
      </p:sp>
      <p:sp>
        <p:nvSpPr>
          <p:cNvPr id="10" name="icon-tile-238"/>
          <p:cNvSpPr/>
          <p:nvPr/>
        </p:nvSpPr>
        <p:spPr>
          <a:xfrm>
            <a:off x="4612538" y="2194560"/>
            <a:ext cx="502920" cy="502920"/>
          </a:xfrm>
          <a:prstGeom prst="roundRect">
            <a:avLst>
              <a:gd name="adj" fmla="val 14545"/>
            </a:avLst>
          </a:prstGeom>
          <a:solidFill>
            <a:schemeClr val="accent1"/>
          </a:solidFill>
          <a:ln/>
        </p:spPr>
      </p:sp>
      <p:pic>
        <p:nvPicPr>
          <p:cNvPr id="11" name="icon-239" descr="preencoded.png">    </p:cNvPr>
          <p:cNvPicPr>
            <a:picLocks noChangeAspect="1"/>
          </p:cNvPicPr>
          <p:nvPr/>
        </p:nvPicPr>
        <p:blipFill>
          <a:blip r:embed="rId2"/>
          <a:stretch>
            <a:fillRect/>
          </a:stretch>
        </p:blipFill>
        <p:spPr>
          <a:xfrm>
            <a:off x="4733239" y="2315261"/>
            <a:ext cx="261518" cy="261518"/>
          </a:xfrm>
          <a:prstGeom prst="rect">
            <a:avLst/>
          </a:prstGeom>
        </p:spPr>
      </p:pic>
      <p:sp>
        <p:nvSpPr>
          <p:cNvPr id="12" name="text-240"/>
          <p:cNvSpPr txBox="1"/>
          <p:nvPr/>
        </p:nvSpPr>
        <p:spPr>
          <a:xfrm>
            <a:off x="5298338" y="219456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Fix bugs</a:t>
            </a:r>
            <a:endParaRPr lang="en-US" sz="1800" dirty="0"/>
          </a:p>
        </p:txBody>
      </p:sp>
      <p:sp>
        <p:nvSpPr>
          <p:cNvPr id="13" name="text-241"/>
          <p:cNvSpPr txBox="1"/>
          <p:nvPr/>
        </p:nvSpPr>
        <p:spPr>
          <a:xfrm>
            <a:off x="4612538" y="2880360"/>
            <a:ext cx="2966618" cy="777240"/>
          </a:xfrm>
          <a:prstGeom prst="rect">
            <a:avLst/>
          </a:prstGeom>
          <a:noFill/>
          <a:ln/>
        </p:spPr>
        <p:txBody>
          <a:bodyPr wrap="square" lIns="0" tIns="0" rIns="0" bIns="0" rtlCol="0" anchor="t"/>
          <a:lstStyle/>
          <a:p>
            <a:pPr indent="0" marL="0">
              <a:buNone/>
            </a:pPr>
            <a:r>
              <a:rPr lang="en-US" sz="1400" dirty="0">
                <a:solidFill>
                  <a:schemeClr val="tx2"/>
                </a:solidFill>
              </a:rPr>
              <a:t>Reproduces a failure, traces the cause and patches it with a test</a:t>
            </a:r>
            <a:endParaRPr lang="en-US" sz="1400" dirty="0"/>
          </a:p>
        </p:txBody>
      </p:sp>
      <p:sp>
        <p:nvSpPr>
          <p:cNvPr id="14" name="card-242"/>
          <p:cNvSpPr/>
          <p:nvPr/>
        </p:nvSpPr>
        <p:spPr>
          <a:xfrm>
            <a:off x="8127797" y="1920240"/>
            <a:ext cx="3515258" cy="1828800"/>
          </a:xfrm>
          <a:prstGeom prst="roundRect">
            <a:avLst>
              <a:gd name="adj" fmla="val 4000"/>
            </a:avLst>
          </a:prstGeom>
          <a:solidFill>
            <a:schemeClr val="bg2"/>
          </a:solidFill>
          <a:ln/>
        </p:spPr>
      </p:sp>
      <p:sp>
        <p:nvSpPr>
          <p:cNvPr id="15" name="icon-tile-243"/>
          <p:cNvSpPr/>
          <p:nvPr/>
        </p:nvSpPr>
        <p:spPr>
          <a:xfrm>
            <a:off x="8402117" y="2194560"/>
            <a:ext cx="502920" cy="502920"/>
          </a:xfrm>
          <a:prstGeom prst="roundRect">
            <a:avLst>
              <a:gd name="adj" fmla="val 14545"/>
            </a:avLst>
          </a:prstGeom>
          <a:solidFill>
            <a:schemeClr val="accent1"/>
          </a:solidFill>
          <a:ln/>
        </p:spPr>
      </p:sp>
      <p:pic>
        <p:nvPicPr>
          <p:cNvPr id="16" name="icon-244" descr="preencoded.png">    </p:cNvPr>
          <p:cNvPicPr>
            <a:picLocks noChangeAspect="1"/>
          </p:cNvPicPr>
          <p:nvPr/>
        </p:nvPicPr>
        <p:blipFill>
          <a:blip r:embed="rId3"/>
          <a:stretch>
            <a:fillRect/>
          </a:stretch>
        </p:blipFill>
        <p:spPr>
          <a:xfrm>
            <a:off x="8522818" y="2315261"/>
            <a:ext cx="261518" cy="261518"/>
          </a:xfrm>
          <a:prstGeom prst="rect">
            <a:avLst/>
          </a:prstGeom>
        </p:spPr>
      </p:pic>
      <p:sp>
        <p:nvSpPr>
          <p:cNvPr id="17" name="text-245"/>
          <p:cNvSpPr txBox="1"/>
          <p:nvPr/>
        </p:nvSpPr>
        <p:spPr>
          <a:xfrm>
            <a:off x="9087917" y="219456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Review code</a:t>
            </a:r>
            <a:endParaRPr lang="en-US" sz="1800" dirty="0"/>
          </a:p>
        </p:txBody>
      </p:sp>
      <p:sp>
        <p:nvSpPr>
          <p:cNvPr id="18" name="text-246"/>
          <p:cNvSpPr txBox="1"/>
          <p:nvPr/>
        </p:nvSpPr>
        <p:spPr>
          <a:xfrm>
            <a:off x="8402117" y="2880360"/>
            <a:ext cx="2966618" cy="777240"/>
          </a:xfrm>
          <a:prstGeom prst="rect">
            <a:avLst/>
          </a:prstGeom>
          <a:noFill/>
          <a:ln/>
        </p:spPr>
        <p:txBody>
          <a:bodyPr wrap="square" lIns="0" tIns="0" rIns="0" bIns="0" rtlCol="0" anchor="t"/>
          <a:lstStyle/>
          <a:p>
            <a:pPr indent="0" marL="0">
              <a:buNone/>
            </a:pPr>
            <a:r>
              <a:rPr lang="en-US" sz="1400" dirty="0">
                <a:solidFill>
                  <a:schemeClr val="tx2"/>
                </a:solidFill>
              </a:rPr>
              <a:t>Reviews pull requests and flags defects before a human reviewer does</a:t>
            </a:r>
            <a:endParaRPr lang="en-US" sz="1400" dirty="0"/>
          </a:p>
        </p:txBody>
      </p:sp>
      <p:sp>
        <p:nvSpPr>
          <p:cNvPr id="19" name="card-247"/>
          <p:cNvSpPr/>
          <p:nvPr/>
        </p:nvSpPr>
        <p:spPr>
          <a:xfrm>
            <a:off x="548640" y="4023360"/>
            <a:ext cx="3515258" cy="1828800"/>
          </a:xfrm>
          <a:prstGeom prst="roundRect">
            <a:avLst>
              <a:gd name="adj" fmla="val 4000"/>
            </a:avLst>
          </a:prstGeom>
          <a:solidFill>
            <a:schemeClr val="bg2"/>
          </a:solidFill>
          <a:ln/>
        </p:spPr>
      </p:sp>
      <p:sp>
        <p:nvSpPr>
          <p:cNvPr id="20" name="icon-tile-248"/>
          <p:cNvSpPr/>
          <p:nvPr/>
        </p:nvSpPr>
        <p:spPr>
          <a:xfrm>
            <a:off x="822960" y="4297680"/>
            <a:ext cx="502920" cy="502920"/>
          </a:xfrm>
          <a:prstGeom prst="roundRect">
            <a:avLst>
              <a:gd name="adj" fmla="val 14545"/>
            </a:avLst>
          </a:prstGeom>
          <a:solidFill>
            <a:schemeClr val="accent1"/>
          </a:solidFill>
          <a:ln/>
        </p:spPr>
      </p:sp>
      <p:pic>
        <p:nvPicPr>
          <p:cNvPr id="21" name="icon-249" descr="preencoded.png">    </p:cNvPr>
          <p:cNvPicPr>
            <a:picLocks noChangeAspect="1"/>
          </p:cNvPicPr>
          <p:nvPr/>
        </p:nvPicPr>
        <p:blipFill>
          <a:blip r:embed="rId4"/>
          <a:stretch>
            <a:fillRect/>
          </a:stretch>
        </p:blipFill>
        <p:spPr>
          <a:xfrm>
            <a:off x="943661" y="4418381"/>
            <a:ext cx="261518" cy="261518"/>
          </a:xfrm>
          <a:prstGeom prst="rect">
            <a:avLst/>
          </a:prstGeom>
        </p:spPr>
      </p:pic>
      <p:sp>
        <p:nvSpPr>
          <p:cNvPr id="22" name="text-250"/>
          <p:cNvSpPr txBox="1"/>
          <p:nvPr/>
        </p:nvSpPr>
        <p:spPr>
          <a:xfrm>
            <a:off x="1508760" y="42976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Refactor and migrate</a:t>
            </a:r>
            <a:endParaRPr lang="en-US" sz="1800" dirty="0"/>
          </a:p>
        </p:txBody>
      </p:sp>
      <p:sp>
        <p:nvSpPr>
          <p:cNvPr id="23" name="text-251"/>
          <p:cNvSpPr txBox="1"/>
          <p:nvPr/>
        </p:nvSpPr>
        <p:spPr>
          <a:xfrm>
            <a:off x="822960" y="4983480"/>
            <a:ext cx="2966618" cy="777240"/>
          </a:xfrm>
          <a:prstGeom prst="rect">
            <a:avLst/>
          </a:prstGeom>
          <a:noFill/>
          <a:ln/>
        </p:spPr>
        <p:txBody>
          <a:bodyPr wrap="square" lIns="0" tIns="0" rIns="0" bIns="0" rtlCol="0" anchor="t"/>
          <a:lstStyle/>
          <a:p>
            <a:pPr indent="0" marL="0">
              <a:buNone/>
            </a:pPr>
            <a:r>
              <a:rPr lang="en-US" sz="1400" dirty="0">
                <a:solidFill>
                  <a:schemeClr val="tx2"/>
                </a:solidFill>
              </a:rPr>
              <a:t>Carries out large, repetitive changes such as framework upgrades</a:t>
            </a:r>
            <a:endParaRPr lang="en-US" sz="1400" dirty="0"/>
          </a:p>
        </p:txBody>
      </p:sp>
      <p:sp>
        <p:nvSpPr>
          <p:cNvPr id="24" name="card-252"/>
          <p:cNvSpPr/>
          <p:nvPr/>
        </p:nvSpPr>
        <p:spPr>
          <a:xfrm>
            <a:off x="4338218" y="4023360"/>
            <a:ext cx="3515258" cy="1828800"/>
          </a:xfrm>
          <a:prstGeom prst="roundRect">
            <a:avLst>
              <a:gd name="adj" fmla="val 4000"/>
            </a:avLst>
          </a:prstGeom>
          <a:solidFill>
            <a:schemeClr val="bg2"/>
          </a:solidFill>
          <a:ln/>
        </p:spPr>
      </p:sp>
      <p:sp>
        <p:nvSpPr>
          <p:cNvPr id="25" name="icon-tile-253"/>
          <p:cNvSpPr/>
          <p:nvPr/>
        </p:nvSpPr>
        <p:spPr>
          <a:xfrm>
            <a:off x="4612538" y="4297680"/>
            <a:ext cx="502920" cy="502920"/>
          </a:xfrm>
          <a:prstGeom prst="roundRect">
            <a:avLst>
              <a:gd name="adj" fmla="val 14545"/>
            </a:avLst>
          </a:prstGeom>
          <a:solidFill>
            <a:schemeClr val="accent1"/>
          </a:solidFill>
          <a:ln/>
        </p:spPr>
      </p:sp>
      <p:pic>
        <p:nvPicPr>
          <p:cNvPr id="26" name="icon-254" descr="preencoded.png">    </p:cNvPr>
          <p:cNvPicPr>
            <a:picLocks noChangeAspect="1"/>
          </p:cNvPicPr>
          <p:nvPr/>
        </p:nvPicPr>
        <p:blipFill>
          <a:blip r:embed="rId5"/>
          <a:stretch>
            <a:fillRect/>
          </a:stretch>
        </p:blipFill>
        <p:spPr>
          <a:xfrm>
            <a:off x="4733239" y="4418381"/>
            <a:ext cx="261518" cy="261518"/>
          </a:xfrm>
          <a:prstGeom prst="rect">
            <a:avLst/>
          </a:prstGeom>
        </p:spPr>
      </p:pic>
      <p:sp>
        <p:nvSpPr>
          <p:cNvPr id="27" name="text-255"/>
          <p:cNvSpPr txBox="1"/>
          <p:nvPr/>
        </p:nvSpPr>
        <p:spPr>
          <a:xfrm>
            <a:off x="5298338" y="42976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Test and automate</a:t>
            </a:r>
            <a:endParaRPr lang="en-US" sz="1800" dirty="0"/>
          </a:p>
        </p:txBody>
      </p:sp>
      <p:sp>
        <p:nvSpPr>
          <p:cNvPr id="28" name="text-256"/>
          <p:cNvSpPr txBox="1"/>
          <p:nvPr/>
        </p:nvSpPr>
        <p:spPr>
          <a:xfrm>
            <a:off x="4612538" y="4983480"/>
            <a:ext cx="2966618" cy="777240"/>
          </a:xfrm>
          <a:prstGeom prst="rect">
            <a:avLst/>
          </a:prstGeom>
          <a:noFill/>
          <a:ln/>
        </p:spPr>
        <p:txBody>
          <a:bodyPr wrap="square" lIns="0" tIns="0" rIns="0" bIns="0" rtlCol="0" anchor="t"/>
          <a:lstStyle/>
          <a:p>
            <a:pPr indent="0" marL="0">
              <a:buNone/>
            </a:pPr>
            <a:r>
              <a:rPr lang="en-US" sz="1400" dirty="0">
                <a:solidFill>
                  <a:schemeClr val="tx2"/>
                </a:solidFill>
              </a:rPr>
              <a:t>Writes tests and runs unattended in CI pipelines</a:t>
            </a:r>
            <a:endParaRPr lang="en-US" sz="1400" dirty="0"/>
          </a:p>
        </p:txBody>
      </p:sp>
      <p:sp>
        <p:nvSpPr>
          <p:cNvPr id="29" name="card-257"/>
          <p:cNvSpPr/>
          <p:nvPr/>
        </p:nvSpPr>
        <p:spPr>
          <a:xfrm>
            <a:off x="8127797" y="4023360"/>
            <a:ext cx="3515258" cy="1828800"/>
          </a:xfrm>
          <a:prstGeom prst="roundRect">
            <a:avLst>
              <a:gd name="adj" fmla="val 4000"/>
            </a:avLst>
          </a:prstGeom>
          <a:solidFill>
            <a:schemeClr val="accent5"/>
          </a:solidFill>
          <a:ln/>
        </p:spPr>
      </p:sp>
      <p:sp>
        <p:nvSpPr>
          <p:cNvPr id="30" name="icon-tile-258"/>
          <p:cNvSpPr/>
          <p:nvPr/>
        </p:nvSpPr>
        <p:spPr>
          <a:xfrm>
            <a:off x="8402117" y="4297680"/>
            <a:ext cx="502920" cy="502920"/>
          </a:xfrm>
          <a:prstGeom prst="roundRect">
            <a:avLst>
              <a:gd name="adj" fmla="val 14545"/>
            </a:avLst>
          </a:prstGeom>
          <a:solidFill>
            <a:schemeClr val="accent1"/>
          </a:solidFill>
          <a:ln/>
        </p:spPr>
      </p:sp>
      <p:pic>
        <p:nvPicPr>
          <p:cNvPr id="31" name="icon-259" descr="preencoded.png">    </p:cNvPr>
          <p:cNvPicPr>
            <a:picLocks noChangeAspect="1"/>
          </p:cNvPicPr>
          <p:nvPr/>
        </p:nvPicPr>
        <p:blipFill>
          <a:blip r:embed="rId6"/>
          <a:stretch>
            <a:fillRect/>
          </a:stretch>
        </p:blipFill>
        <p:spPr>
          <a:xfrm>
            <a:off x="8522818" y="4418381"/>
            <a:ext cx="261518" cy="261518"/>
          </a:xfrm>
          <a:prstGeom prst="rect">
            <a:avLst/>
          </a:prstGeom>
        </p:spPr>
      </p:pic>
      <p:sp>
        <p:nvSpPr>
          <p:cNvPr id="32" name="text-260"/>
          <p:cNvSpPr txBox="1"/>
          <p:nvPr/>
        </p:nvSpPr>
        <p:spPr>
          <a:xfrm>
            <a:off x="9087917" y="4297680"/>
            <a:ext cx="2326538" cy="502920"/>
          </a:xfrm>
          <a:prstGeom prst="rect">
            <a:avLst/>
          </a:prstGeom>
          <a:noFill/>
          <a:ln/>
        </p:spPr>
        <p:txBody>
          <a:bodyPr wrap="square" lIns="0" tIns="0" rIns="0" bIns="0" rtlCol="0" anchor="ctr"/>
          <a:lstStyle/>
          <a:p>
            <a:pPr indent="0" marL="0">
              <a:buNone/>
            </a:pPr>
            <a:r>
              <a:rPr lang="en-US" sz="1800" b="1" dirty="0">
                <a:solidFill>
                  <a:schemeClr val="tx1"/>
                </a:solidFill>
              </a:rPr>
              <a:t>Work beyond code</a:t>
            </a:r>
            <a:endParaRPr lang="en-US" sz="1800" dirty="0"/>
          </a:p>
        </p:txBody>
      </p:sp>
      <p:sp>
        <p:nvSpPr>
          <p:cNvPr id="33" name="text-261"/>
          <p:cNvSpPr txBox="1"/>
          <p:nvPr/>
        </p:nvSpPr>
        <p:spPr>
          <a:xfrm>
            <a:off x="8402117" y="4983480"/>
            <a:ext cx="2966618" cy="777240"/>
          </a:xfrm>
          <a:prstGeom prst="rect">
            <a:avLst/>
          </a:prstGeom>
          <a:noFill/>
          <a:ln/>
        </p:spPr>
        <p:txBody>
          <a:bodyPr wrap="square" lIns="0" tIns="0" rIns="0" bIns="0" rtlCol="0" anchor="t"/>
          <a:lstStyle/>
          <a:p>
            <a:pPr indent="0" marL="0">
              <a:buNone/>
            </a:pPr>
            <a:r>
              <a:rPr lang="en-US" sz="1400" dirty="0">
                <a:solidFill>
                  <a:schemeClr val="tx2"/>
                </a:solidFill>
              </a:rPr>
              <a:t>Operates desktop apps and handles documents and data analysis</a:t>
            </a:r>
            <a:endParaRPr lang="en-US" sz="1400" dirty="0"/>
          </a:p>
        </p:txBody>
      </p:sp>
      <p:sp>
        <p:nvSpPr>
          <p:cNvPr id="34" name="text-262"/>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OpenAI Codex documentation and changelog; OpenAI (June 2026): about 20% of weekly users were knowledge workers.</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11</a:t>
            </a:fld>
            <a:endParaRPr lang="en-US"/>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03 / capabilities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Benchmark scores climbed with each model generation</a:t>
            </a:r>
            <a:endParaRPr lang="en-US" sz="3200" dirty="0"/>
          </a:p>
        </p:txBody>
      </p:sp>
      <p:graphicFrame>
        <p:nvGraphicFramePr>
          <p:cNvPr id="4" name="Chart 0" descr=""/>
          <p:cNvGraphicFramePr/>
          <p:nvPr>
            <p:ph idx="103" type="chart" hasCustomPrompt="1"/>
          </p:nvPr>
        </p:nvGraphicFramePr>
        <p:xfrm>
          <a:off x="548640" y="192024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card-263"/>
          <p:cNvSpPr/>
          <p:nvPr/>
        </p:nvSpPr>
        <p:spPr>
          <a:xfrm>
            <a:off x="7863840" y="1920240"/>
            <a:ext cx="3779215" cy="3931920"/>
          </a:xfrm>
          <a:prstGeom prst="roundRect">
            <a:avLst>
              <a:gd name="adj" fmla="val 1936"/>
            </a:avLst>
          </a:prstGeom>
          <a:solidFill>
            <a:schemeClr val="bg2"/>
          </a:solidFill>
          <a:ln/>
        </p:spPr>
      </p:sp>
      <p:sp>
        <p:nvSpPr>
          <p:cNvPr id="6" name="text-264"/>
          <p:cNvSpPr txBox="1"/>
          <p:nvPr/>
        </p:nvSpPr>
        <p:spPr>
          <a:xfrm>
            <a:off x="8138160" y="2194560"/>
            <a:ext cx="3230575" cy="320040"/>
          </a:xfrm>
          <a:prstGeom prst="rect">
            <a:avLst/>
          </a:prstGeom>
          <a:noFill/>
          <a:ln/>
        </p:spPr>
        <p:txBody>
          <a:bodyPr wrap="square" lIns="0" tIns="0" rIns="0" bIns="0" rtlCol="0" anchor="t"/>
          <a:lstStyle/>
          <a:p>
            <a:pPr indent="0" marL="0">
              <a:buNone/>
            </a:pPr>
            <a:r>
              <a:rPr lang="en-US" sz="1800" b="1" dirty="0">
                <a:solidFill>
                  <a:schemeClr val="tx1"/>
                </a:solidFill>
              </a:rPr>
              <a:t>Read these numbers with care</a:t>
            </a:r>
            <a:endParaRPr lang="en-US" sz="1800" dirty="0"/>
          </a:p>
        </p:txBody>
      </p:sp>
      <p:sp>
        <p:nvSpPr>
          <p:cNvPr id="7" name="text-265"/>
          <p:cNvSpPr txBox="1"/>
          <p:nvPr/>
        </p:nvSpPr>
        <p:spPr>
          <a:xfrm>
            <a:off x="8138160" y="2697480"/>
            <a:ext cx="3230575" cy="2926080"/>
          </a:xfrm>
          <a:prstGeom prst="rect">
            <a:avLst/>
          </a:prstGeom>
          <a:noFill/>
          <a:ln/>
        </p:spPr>
        <p:txBody>
          <a:bodyPr wrap="square" lIns="0" tIns="0" rIns="0" bIns="0" rtlCol="0" anchor="t"/>
          <a:lstStyle/>
          <a:p>
            <a:pPr marL="342900" indent="-342900">
              <a:spcAft>
                <a:spcPts val="1000"/>
              </a:spcAft>
              <a:buSzPct val="100000"/>
              <a:buChar char="•"/>
            </a:pPr>
            <a:r>
              <a:rPr lang="en-US" sz="1400" dirty="0">
                <a:solidFill>
                  <a:schemeClr val="tx2"/>
                </a:solidFill>
              </a:rPr>
              <a:t>Scores are vendor-reported, and the benchmark moved from version 2.0 to 2.1</a:t>
            </a:r>
            <a:endParaRPr lang="en-US" sz="1400" dirty="0"/>
          </a:p>
          <a:p>
            <a:pPr marL="342900" indent="-342900">
              <a:spcAft>
                <a:spcPts val="1000"/>
              </a:spcAft>
              <a:buSzPct val="100000"/>
              <a:buChar char="•"/>
            </a:pPr>
            <a:r>
              <a:rPr lang="en-US" sz="1400" dirty="0">
                <a:solidFill>
                  <a:schemeClr val="tx2"/>
                </a:solidFill>
              </a:rPr>
              <a:t>GPT-6 Astra is reported only on Terminal-Bench 4.0, at 57.9%</a:t>
            </a:r>
            <a:endParaRPr lang="en-US" sz="1400" dirty="0"/>
          </a:p>
          <a:p>
            <a:pPr marL="342900" indent="-342900">
              <a:spcAft>
                <a:spcPts val="1000"/>
              </a:spcAft>
              <a:buSzPct val="100000"/>
              <a:buChar char="•"/>
            </a:pPr>
            <a:r>
              <a:rPr lang="en-US" sz="1400" dirty="0">
                <a:solidFill>
                  <a:schemeClr val="tx2"/>
                </a:solidFill>
              </a:rPr>
              <a:t>SWE-bench Verified and SWE-bench Pro are different tests</a:t>
            </a:r>
            <a:endParaRPr lang="en-US" sz="1400" dirty="0"/>
          </a:p>
          <a:p>
            <a:pPr marL="342900" indent="-342900">
              <a:spcAft>
                <a:spcPts val="1000"/>
              </a:spcAft>
              <a:buSzPct val="100000"/>
              <a:buChar char="•"/>
            </a:pPr>
            <a:r>
              <a:rPr lang="en-US" sz="1400" dirty="0">
                <a:solidFill>
                  <a:schemeClr val="tx2"/>
                </a:solidFill>
              </a:rPr>
              <a:t>Each result reflects the model and its test harness together</a:t>
            </a:r>
            <a:endParaRPr lang="en-US" sz="1400" dirty="0"/>
          </a:p>
        </p:txBody>
      </p:sp>
      <p:sp>
        <p:nvSpPr>
          <p:cNvPr id="8" name="text-26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scores reported by OpenAI, compiled by gradually.ai (26 Sept 2026). GPT-5.5 on Terminal-Bench 2.0; GPT-5.6 Sol on 2.1.</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12</a:t>
            </a:fld>
            <a:endParaRPr lang="en-US"/>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03 / capabilities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Weekly users tripled between March and June 2026</a:t>
            </a:r>
            <a:endParaRPr lang="en-US" sz="3200" dirty="0"/>
          </a:p>
        </p:txBody>
      </p:sp>
      <p:graphicFrame>
        <p:nvGraphicFramePr>
          <p:cNvPr id="4" name="Chart 0" descr=""/>
          <p:cNvGraphicFramePr/>
          <p:nvPr>
            <p:ph idx="103" type="chart" hasCustomPrompt="1"/>
          </p:nvPr>
        </p:nvGraphicFramePr>
        <p:xfrm>
          <a:off x="548640" y="1920240"/>
          <a:ext cx="6949440" cy="3931920"/>
        </p:xfrm>
        <a:graphic xmlns:a="http://schemas.openxmlformats.org/drawingml/2006/main">
          <a:graphicData uri="http://schemas.openxmlformats.org/drawingml/2006/chart">
            <c:chart xmlns:c="http://schemas.openxmlformats.org/drawingml/2006/chart" r:id="rId1"/>
          </a:graphicData>
        </a:graphic>
      </p:graphicFrame>
      <p:sp>
        <p:nvSpPr>
          <p:cNvPr id="5" name="card-267"/>
          <p:cNvSpPr/>
          <p:nvPr/>
        </p:nvSpPr>
        <p:spPr>
          <a:xfrm>
            <a:off x="7863840" y="1920240"/>
            <a:ext cx="3779215" cy="1216152"/>
          </a:xfrm>
          <a:prstGeom prst="roundRect">
            <a:avLst>
              <a:gd name="adj" fmla="val 6015"/>
            </a:avLst>
          </a:prstGeom>
          <a:solidFill>
            <a:schemeClr val="bg2"/>
          </a:solidFill>
          <a:ln/>
        </p:spPr>
      </p:sp>
      <p:sp>
        <p:nvSpPr>
          <p:cNvPr id="6" name="text-268"/>
          <p:cNvSpPr txBox="1"/>
          <p:nvPr/>
        </p:nvSpPr>
        <p:spPr>
          <a:xfrm>
            <a:off x="8138160" y="2057400"/>
            <a:ext cx="3230575" cy="457200"/>
          </a:xfrm>
          <a:prstGeom prst="rect">
            <a:avLst/>
          </a:prstGeom>
          <a:noFill/>
          <a:ln/>
        </p:spPr>
        <p:txBody>
          <a:bodyPr wrap="square" lIns="0" tIns="0" rIns="0" bIns="0" rtlCol="0" anchor="t"/>
          <a:lstStyle/>
          <a:p>
            <a:pPr indent="0" marL="0">
              <a:buNone/>
            </a:pPr>
            <a:r>
              <a:rPr lang="en-US" sz="2800" b="1" dirty="0">
                <a:solidFill>
                  <a:schemeClr val="accent1"/>
                </a:solidFill>
                <a:latin typeface="Courier New" pitchFamily="34" charset="0"/>
                <a:ea typeface="Courier New" pitchFamily="34" charset="-122"/>
                <a:cs typeface="Courier New" pitchFamily="34" charset="-120"/>
              </a:rPr>
              <a:t>126.6K</a:t>
            </a:r>
            <a:endParaRPr lang="en-US" sz="2800" dirty="0"/>
          </a:p>
        </p:txBody>
      </p:sp>
      <p:sp>
        <p:nvSpPr>
          <p:cNvPr id="7" name="text-269"/>
          <p:cNvSpPr txBox="1"/>
          <p:nvPr/>
        </p:nvSpPr>
        <p:spPr>
          <a:xfrm>
            <a:off x="8138160" y="2560320"/>
            <a:ext cx="3230575" cy="502920"/>
          </a:xfrm>
          <a:prstGeom prst="rect">
            <a:avLst/>
          </a:prstGeom>
          <a:noFill/>
          <a:ln/>
        </p:spPr>
        <p:txBody>
          <a:bodyPr wrap="square" lIns="0" tIns="0" rIns="0" bIns="0" rtlCol="0" anchor="t"/>
          <a:lstStyle/>
          <a:p>
            <a:pPr indent="0" marL="0">
              <a:buNone/>
            </a:pPr>
            <a:r>
              <a:rPr lang="en-US" sz="1400" dirty="0">
                <a:solidFill>
                  <a:schemeClr val="tx2"/>
                </a:solidFill>
              </a:rPr>
              <a:t>GitHub stars on the open-source CLI</a:t>
            </a:r>
            <a:endParaRPr lang="en-US" sz="1400" dirty="0"/>
          </a:p>
        </p:txBody>
      </p:sp>
      <p:sp>
        <p:nvSpPr>
          <p:cNvPr id="8" name="card-270"/>
          <p:cNvSpPr/>
          <p:nvPr/>
        </p:nvSpPr>
        <p:spPr>
          <a:xfrm>
            <a:off x="7863840" y="3273552"/>
            <a:ext cx="3779215" cy="1216152"/>
          </a:xfrm>
          <a:prstGeom prst="roundRect">
            <a:avLst>
              <a:gd name="adj" fmla="val 6015"/>
            </a:avLst>
          </a:prstGeom>
          <a:solidFill>
            <a:schemeClr val="bg2"/>
          </a:solidFill>
          <a:ln/>
        </p:spPr>
      </p:sp>
      <p:sp>
        <p:nvSpPr>
          <p:cNvPr id="9" name="text-271"/>
          <p:cNvSpPr txBox="1"/>
          <p:nvPr/>
        </p:nvSpPr>
        <p:spPr>
          <a:xfrm>
            <a:off x="8138160" y="3410712"/>
            <a:ext cx="3230575" cy="457200"/>
          </a:xfrm>
          <a:prstGeom prst="rect">
            <a:avLst/>
          </a:prstGeom>
          <a:noFill/>
          <a:ln/>
        </p:spPr>
        <p:txBody>
          <a:bodyPr wrap="square" lIns="0" tIns="0" rIns="0" bIns="0" rtlCol="0" anchor="t"/>
          <a:lstStyle/>
          <a:p>
            <a:pPr indent="0" marL="0">
              <a:buNone/>
            </a:pPr>
            <a:r>
              <a:rPr lang="en-US" sz="2800" b="1" dirty="0">
                <a:solidFill>
                  <a:schemeClr val="accent1"/>
                </a:solidFill>
                <a:latin typeface="Courier New" pitchFamily="34" charset="0"/>
                <a:ea typeface="Courier New" pitchFamily="34" charset="-122"/>
                <a:cs typeface="Courier New" pitchFamily="34" charset="-120"/>
              </a:rPr>
              <a:t>83.0M</a:t>
            </a:r>
            <a:endParaRPr lang="en-US" sz="2800" dirty="0"/>
          </a:p>
        </p:txBody>
      </p:sp>
      <p:sp>
        <p:nvSpPr>
          <p:cNvPr id="10" name="text-272"/>
          <p:cNvSpPr txBox="1"/>
          <p:nvPr/>
        </p:nvSpPr>
        <p:spPr>
          <a:xfrm>
            <a:off x="8138160" y="3913632"/>
            <a:ext cx="3230575" cy="502920"/>
          </a:xfrm>
          <a:prstGeom prst="rect">
            <a:avLst/>
          </a:prstGeom>
          <a:noFill/>
          <a:ln/>
        </p:spPr>
        <p:txBody>
          <a:bodyPr wrap="square" lIns="0" tIns="0" rIns="0" bIns="0" rtlCol="0" anchor="t"/>
          <a:lstStyle/>
          <a:p>
            <a:pPr indent="0" marL="0">
              <a:buNone/>
            </a:pPr>
            <a:r>
              <a:rPr lang="en-US" sz="1400" dirty="0">
                <a:solidFill>
                  <a:schemeClr val="tx2"/>
                </a:solidFill>
              </a:rPr>
              <a:t>npm downloads in 30 days to 24 Sept 2026</a:t>
            </a:r>
            <a:endParaRPr lang="en-US" sz="1400" dirty="0"/>
          </a:p>
        </p:txBody>
      </p:sp>
      <p:sp>
        <p:nvSpPr>
          <p:cNvPr id="11" name="card-273"/>
          <p:cNvSpPr/>
          <p:nvPr/>
        </p:nvSpPr>
        <p:spPr>
          <a:xfrm>
            <a:off x="7863840" y="4626864"/>
            <a:ext cx="3779215" cy="1216152"/>
          </a:xfrm>
          <a:prstGeom prst="roundRect">
            <a:avLst>
              <a:gd name="adj" fmla="val 6015"/>
            </a:avLst>
          </a:prstGeom>
          <a:solidFill>
            <a:schemeClr val="bg2"/>
          </a:solidFill>
          <a:ln/>
        </p:spPr>
      </p:sp>
      <p:sp>
        <p:nvSpPr>
          <p:cNvPr id="12" name="text-274"/>
          <p:cNvSpPr txBox="1"/>
          <p:nvPr/>
        </p:nvSpPr>
        <p:spPr>
          <a:xfrm>
            <a:off x="8138160" y="4764024"/>
            <a:ext cx="3230575" cy="457200"/>
          </a:xfrm>
          <a:prstGeom prst="rect">
            <a:avLst/>
          </a:prstGeom>
          <a:noFill/>
          <a:ln/>
        </p:spPr>
        <p:txBody>
          <a:bodyPr wrap="square" lIns="0" tIns="0" rIns="0" bIns="0" rtlCol="0" anchor="t"/>
          <a:lstStyle/>
          <a:p>
            <a:pPr indent="0" marL="0">
              <a:buNone/>
            </a:pPr>
            <a:r>
              <a:rPr lang="en-US" sz="2800" b="1" dirty="0">
                <a:solidFill>
                  <a:schemeClr val="accent1"/>
                </a:solidFill>
                <a:latin typeface="Courier New" pitchFamily="34" charset="0"/>
                <a:ea typeface="Courier New" pitchFamily="34" charset="-122"/>
                <a:cs typeface="Courier New" pitchFamily="34" charset="-120"/>
              </a:rPr>
              <a:t>20M</a:t>
            </a:r>
            <a:endParaRPr lang="en-US" sz="2800" dirty="0"/>
          </a:p>
        </p:txBody>
      </p:sp>
      <p:sp>
        <p:nvSpPr>
          <p:cNvPr id="13" name="text-275"/>
          <p:cNvSpPr txBox="1"/>
          <p:nvPr/>
        </p:nvSpPr>
        <p:spPr>
          <a:xfrm>
            <a:off x="8138160" y="5266944"/>
            <a:ext cx="3230575" cy="502920"/>
          </a:xfrm>
          <a:prstGeom prst="rect">
            <a:avLst/>
          </a:prstGeom>
          <a:noFill/>
          <a:ln/>
        </p:spPr>
        <p:txBody>
          <a:bodyPr wrap="square" lIns="0" tIns="0" rIns="0" bIns="0" rtlCol="0" anchor="t"/>
          <a:lstStyle/>
          <a:p>
            <a:pPr indent="0" marL="0">
              <a:buNone/>
            </a:pPr>
            <a:r>
              <a:rPr lang="en-US" sz="1400" dirty="0">
                <a:solidFill>
                  <a:schemeClr val="tx2"/>
                </a:solidFill>
              </a:rPr>
              <a:t>active users reported in Aug 2026, with no time window stated</a:t>
            </a:r>
            <a:endParaRPr lang="en-US" sz="1400" dirty="0"/>
          </a:p>
        </p:txBody>
      </p:sp>
      <p:sp>
        <p:nvSpPr>
          <p:cNvPr id="14" name="text-276"/>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Fortune (4 Mar 2026); Reuters (19 Mar 2026); OpenAI statements (Apr and Jun 2026); gradually.ai (26 Sept 2026). June figure is 5M+.</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13</a:t>
            </a:fld>
            <a:endParaRPr lang="en-US"/>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04 / market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Codex's closest rival is Claude Code, in a crowded market</a:t>
            </a:r>
            <a:endParaRPr lang="en-US" sz="3200" dirty="0"/>
          </a:p>
        </p:txBody>
      </p:sp>
      <p:graphicFrame>
        <p:nvGraphicFramePr>
          <p:cNvPr id="15" name="table-277"/>
          <p:cNvGraphicFramePr>
            <a:graphicFrameLocks noGrp="1"/>
          </p:cNvGraphicFramePr>
          <p:nvPr>
            <p:extLst>
              <p:ext uri="{D42A27DB-BD31-4B8C-83A1-F6EECF244321}">
                <p14:modId xmlns:p14="http://schemas.microsoft.com/office/powerpoint/2010/main" val="1579011935"/>
              </p:ext>
            </p:extLst>
          </p:nvPr>
        </p:nvGraphicFramePr>
        <p:xfrm>
          <a:off x="548640" y="1920240"/>
          <a:ext cx="7223760" cy="914400"/>
        </p:xfrm>
        <a:graphic>
          <a:graphicData uri="http://schemas.openxmlformats.org/drawingml/2006/table">
            <a:tbl>
              <a:tblPr/>
              <a:tblGrid>
                <a:gridCol w="2834640"/>
                <a:gridCol w="2194560"/>
                <a:gridCol w="2194560"/>
              </a:tblGrid>
              <a:tr h="475488">
                <a:tc>
                  <a:txBody>
                    <a:bodyPr/>
                    <a:lstStyle/>
                    <a:p>
                      <a:pPr indent="0" marL="0">
                        <a:buNone/>
                      </a:pPr>
                      <a:r>
                        <a:rPr lang="en-US" sz="1400" b="1" dirty="0">
                          <a:solidFill>
                            <a:schemeClr val="bg1"/>
                          </a:solidFill>
                        </a:rPr>
                        <a:t>Measure</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Codex CLI</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accent3"/>
                    </a:solidFill>
                  </a:tcPr>
                </a:tc>
                <a:tc>
                  <a:txBody>
                    <a:bodyPr/>
                    <a:lstStyle/>
                    <a:p>
                      <a:pPr indent="0" marL="0">
                        <a:buNone/>
                      </a:pPr>
                      <a:r>
                        <a:rPr lang="en-US" sz="1400" b="1" dirty="0">
                          <a:solidFill>
                            <a:schemeClr val="bg1"/>
                          </a:solidFill>
                        </a:rPr>
                        <a:t>Claude Code</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accent3"/>
                    </a:solidFill>
                  </a:tcPr>
                </a:tc>
              </a:tr>
              <a:tr h="475488">
                <a:tc>
                  <a:txBody>
                    <a:bodyPr/>
                    <a:lstStyle/>
                    <a:p>
                      <a:pPr indent="0" marL="0">
                        <a:buNone/>
                      </a:pPr>
                      <a:r>
                        <a:rPr lang="en-US" sz="1400" b="1" dirty="0">
                          <a:solidFill>
                            <a:schemeClr val="tx1"/>
                          </a:solidFill>
                        </a:rPr>
                        <a:t>Vendor</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OpenAI</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Anthropic</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Licence</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Apache 2.0</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Commercial terms</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Written in</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Rust</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TypeScript</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GitHub stars</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126.6K</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148.2K</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npm downloads, 30 days</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83.0M</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57.0M</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r>
              <a:tr h="475488">
                <a:tc>
                  <a:txBody>
                    <a:bodyPr/>
                    <a:lstStyle/>
                    <a:p>
                      <a:pPr indent="0" marL="0">
                        <a:buNone/>
                      </a:pPr>
                      <a:r>
                        <a:rPr lang="en-US" sz="1400" b="1" dirty="0">
                          <a:solidFill>
                            <a:schemeClr val="tx1"/>
                          </a:solidFill>
                        </a:rPr>
                        <a:t>VS Code installs</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14.8M</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indent="0" marL="0">
                        <a:buNone/>
                      </a:pPr>
                      <a:r>
                        <a:rPr lang="en-US" sz="1400" dirty="0">
                          <a:solidFill>
                            <a:schemeClr val="tx1"/>
                          </a:solidFill>
                        </a:rPr>
                        <a:t>26.4M</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r>
              <a:tr h="475488">
                <a:tc>
                  <a:txBody>
                    <a:bodyPr/>
                    <a:lstStyle/>
                    <a:p>
                      <a:pPr indent="0" marL="0">
                        <a:buNone/>
                      </a:pPr>
                      <a:r>
                        <a:rPr lang="en-US" sz="1400" b="1" dirty="0">
                          <a:solidFill>
                            <a:schemeClr val="tx1"/>
                          </a:solidFill>
                        </a:rPr>
                        <a:t>Included with</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ChatGPT plans</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indent="0" marL="0">
                        <a:buNone/>
                      </a:pPr>
                      <a:r>
                        <a:rPr lang="en-US" sz="1400" dirty="0">
                          <a:solidFill>
                            <a:schemeClr val="tx1"/>
                          </a:solidFill>
                        </a:rPr>
                        <a:t>Claude plans</a:t>
                      </a:r>
                      <a:endParaRPr lang="en-US" sz="1400" dirty="0"/>
                    </a:p>
                  </a:txBody>
                  <a:tcPr marL="128016" marR="91440"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r>
            </a:tbl>
          </a:graphicData>
        </a:graphic>
      </p:graphicFrame>
      <p:sp>
        <p:nvSpPr>
          <p:cNvPr id="5" name="card-278"/>
          <p:cNvSpPr/>
          <p:nvPr/>
        </p:nvSpPr>
        <p:spPr>
          <a:xfrm>
            <a:off x="8092440" y="1920240"/>
            <a:ext cx="3550615" cy="3803904"/>
          </a:xfrm>
          <a:prstGeom prst="roundRect">
            <a:avLst>
              <a:gd name="adj" fmla="val 2060"/>
            </a:avLst>
          </a:prstGeom>
          <a:solidFill>
            <a:schemeClr val="bg2"/>
          </a:solidFill>
          <a:ln/>
        </p:spPr>
      </p:sp>
      <p:sp>
        <p:nvSpPr>
          <p:cNvPr id="6" name="text-279"/>
          <p:cNvSpPr txBox="1"/>
          <p:nvPr/>
        </p:nvSpPr>
        <p:spPr>
          <a:xfrm>
            <a:off x="8366760" y="2148840"/>
            <a:ext cx="3001975" cy="320040"/>
          </a:xfrm>
          <a:prstGeom prst="rect">
            <a:avLst/>
          </a:prstGeom>
          <a:noFill/>
          <a:ln/>
        </p:spPr>
        <p:txBody>
          <a:bodyPr wrap="square" lIns="0" tIns="0" rIns="0" bIns="0" rtlCol="0" anchor="t"/>
          <a:lstStyle/>
          <a:p>
            <a:pPr indent="0" marL="0">
              <a:buNone/>
            </a:pPr>
            <a:r>
              <a:rPr lang="en-US" sz="1800" b="1" dirty="0">
                <a:solidFill>
                  <a:schemeClr val="tx1"/>
                </a:solidFill>
              </a:rPr>
              <a:t>Other rivals</a:t>
            </a:r>
            <a:endParaRPr lang="en-US" sz="1800" dirty="0"/>
          </a:p>
        </p:txBody>
      </p:sp>
      <p:sp>
        <p:nvSpPr>
          <p:cNvPr id="7" name="text-280"/>
          <p:cNvSpPr txBox="1"/>
          <p:nvPr/>
        </p:nvSpPr>
        <p:spPr>
          <a:xfrm>
            <a:off x="8366760" y="2651760"/>
            <a:ext cx="3001975" cy="640080"/>
          </a:xfrm>
          <a:prstGeom prst="rect">
            <a:avLst/>
          </a:prstGeom>
          <a:noFill/>
          <a:ln/>
        </p:spPr>
        <p:txBody>
          <a:bodyPr wrap="square" lIns="0" tIns="0" rIns="0" bIns="0" rtlCol="0" anchor="t"/>
          <a:lstStyle/>
          <a:p>
            <a:pPr indent="0" marL="0">
              <a:buNone/>
            </a:pPr>
            <a:r>
              <a:rPr lang="en-US" sz="1400" b="1" dirty="0">
                <a:solidFill>
                  <a:schemeClr val="tx1"/>
                </a:solidFill>
              </a:rPr>
              <a:t>GitHub Copilot</a:t>
            </a:r>
            <a:endParaRPr lang="en-US" sz="1400" dirty="0"/>
          </a:p>
          <a:p>
            <a:pPr indent="0" marL="0">
              <a:buNone/>
            </a:pPr>
            <a:r>
              <a:rPr lang="en-US" sz="1400" dirty="0">
                <a:solidFill>
                  <a:schemeClr val="tx2"/>
                </a:solidFill>
              </a:rPr>
              <a:t>IDE assistant with an agent mode</a:t>
            </a:r>
            <a:endParaRPr lang="en-US" sz="1400" dirty="0"/>
          </a:p>
        </p:txBody>
      </p:sp>
      <p:sp>
        <p:nvSpPr>
          <p:cNvPr id="8" name="text-281"/>
          <p:cNvSpPr txBox="1"/>
          <p:nvPr/>
        </p:nvSpPr>
        <p:spPr>
          <a:xfrm>
            <a:off x="8366760" y="3383280"/>
            <a:ext cx="3001975" cy="640080"/>
          </a:xfrm>
          <a:prstGeom prst="rect">
            <a:avLst/>
          </a:prstGeom>
          <a:noFill/>
          <a:ln/>
        </p:spPr>
        <p:txBody>
          <a:bodyPr wrap="square" lIns="0" tIns="0" rIns="0" bIns="0" rtlCol="0" anchor="t"/>
          <a:lstStyle/>
          <a:p>
            <a:pPr indent="0" marL="0">
              <a:buNone/>
            </a:pPr>
            <a:r>
              <a:rPr lang="en-US" sz="1400" b="1" dirty="0">
                <a:solidFill>
                  <a:schemeClr val="tx1"/>
                </a:solidFill>
              </a:rPr>
              <a:t>Cursor</a:t>
            </a:r>
            <a:endParaRPr lang="en-US" sz="1400" dirty="0"/>
          </a:p>
          <a:p>
            <a:pPr indent="0" marL="0">
              <a:buNone/>
            </a:pPr>
            <a:r>
              <a:rPr lang="en-US" sz="1400" dirty="0">
                <a:solidFill>
                  <a:schemeClr val="tx2"/>
                </a:solidFill>
              </a:rPr>
              <a:t>AI-native code editor</a:t>
            </a:r>
            <a:endParaRPr lang="en-US" sz="1400" dirty="0"/>
          </a:p>
        </p:txBody>
      </p:sp>
      <p:sp>
        <p:nvSpPr>
          <p:cNvPr id="9" name="text-282"/>
          <p:cNvSpPr txBox="1"/>
          <p:nvPr/>
        </p:nvSpPr>
        <p:spPr>
          <a:xfrm>
            <a:off x="8366760" y="4114800"/>
            <a:ext cx="3001975" cy="640080"/>
          </a:xfrm>
          <a:prstGeom prst="rect">
            <a:avLst/>
          </a:prstGeom>
          <a:noFill/>
          <a:ln/>
        </p:spPr>
        <p:txBody>
          <a:bodyPr wrap="square" lIns="0" tIns="0" rIns="0" bIns="0" rtlCol="0" anchor="t"/>
          <a:lstStyle/>
          <a:p>
            <a:pPr indent="0" marL="0">
              <a:buNone/>
            </a:pPr>
            <a:r>
              <a:rPr lang="en-US" sz="1400" b="1" dirty="0">
                <a:solidFill>
                  <a:schemeClr val="tx1"/>
                </a:solidFill>
              </a:rPr>
              <a:t>Amazon Kiro</a:t>
            </a:r>
            <a:endParaRPr lang="en-US" sz="1400" dirty="0"/>
          </a:p>
          <a:p>
            <a:pPr indent="0" marL="0">
              <a:buNone/>
            </a:pPr>
            <a:r>
              <a:rPr lang="en-US" sz="1400" dirty="0">
                <a:solidFill>
                  <a:schemeClr val="tx2"/>
                </a:solidFill>
              </a:rPr>
              <a:t>Spec-driven agentic IDE</a:t>
            </a:r>
            <a:endParaRPr lang="en-US" sz="1400" dirty="0"/>
          </a:p>
        </p:txBody>
      </p:sp>
      <p:sp>
        <p:nvSpPr>
          <p:cNvPr id="10" name="text-283"/>
          <p:cNvSpPr txBox="1"/>
          <p:nvPr/>
        </p:nvSpPr>
        <p:spPr>
          <a:xfrm>
            <a:off x="8366760" y="4846320"/>
            <a:ext cx="3001975" cy="640080"/>
          </a:xfrm>
          <a:prstGeom prst="rect">
            <a:avLst/>
          </a:prstGeom>
          <a:noFill/>
          <a:ln/>
        </p:spPr>
        <p:txBody>
          <a:bodyPr wrap="square" lIns="0" tIns="0" rIns="0" bIns="0" rtlCol="0" anchor="t"/>
          <a:lstStyle/>
          <a:p>
            <a:pPr indent="0" marL="0">
              <a:buNone/>
            </a:pPr>
            <a:r>
              <a:rPr lang="en-US" sz="1400" b="1" dirty="0">
                <a:solidFill>
                  <a:schemeClr val="tx1"/>
                </a:solidFill>
              </a:rPr>
              <a:t>Google Antigravity CLI</a:t>
            </a:r>
            <a:endParaRPr lang="en-US" sz="1400" dirty="0"/>
          </a:p>
          <a:p>
            <a:pPr indent="0" marL="0">
              <a:buNone/>
            </a:pPr>
            <a:r>
              <a:rPr lang="en-US" sz="1400" dirty="0">
                <a:solidFill>
                  <a:schemeClr val="tx2"/>
                </a:solidFill>
              </a:rPr>
              <a:t>Successor to Gemini CLI</a:t>
            </a:r>
            <a:endParaRPr lang="en-US" sz="1400" dirty="0"/>
          </a:p>
        </p:txBody>
      </p:sp>
      <p:sp>
        <p:nvSpPr>
          <p:cNvPr id="11" name="text-28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figures for 24 to 26 Sept 2026 compiled by gradually.ai from GitHub, npm and the VS Code Marketplace; Reuters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14</a:t>
            </a:fld>
            <a:endParaRPr lang="en-US"/>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04 / market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Codex is bundled with ChatGPT plans and metered by tokens</a:t>
            </a:r>
            <a:endParaRPr lang="en-US" sz="3200" dirty="0"/>
          </a:p>
        </p:txBody>
      </p:sp>
      <p:sp>
        <p:nvSpPr>
          <p:cNvPr id="4" name="card-285"/>
          <p:cNvSpPr/>
          <p:nvPr/>
        </p:nvSpPr>
        <p:spPr>
          <a:xfrm>
            <a:off x="548640" y="1920240"/>
            <a:ext cx="5852160" cy="1188720"/>
          </a:xfrm>
          <a:prstGeom prst="roundRect">
            <a:avLst>
              <a:gd name="adj" fmla="val 6154"/>
            </a:avLst>
          </a:prstGeom>
          <a:solidFill>
            <a:schemeClr val="bg2"/>
          </a:solidFill>
          <a:ln/>
        </p:spPr>
      </p:sp>
      <p:sp>
        <p:nvSpPr>
          <p:cNvPr id="5" name="text-286"/>
          <p:cNvSpPr txBox="1"/>
          <p:nvPr/>
        </p:nvSpPr>
        <p:spPr>
          <a:xfrm>
            <a:off x="822960" y="2103120"/>
            <a:ext cx="1828800"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$20</a:t>
            </a:r>
            <a:endParaRPr lang="en-US" sz="3000" dirty="0"/>
          </a:p>
        </p:txBody>
      </p:sp>
      <p:sp>
        <p:nvSpPr>
          <p:cNvPr id="6" name="text-287"/>
          <p:cNvSpPr txBox="1"/>
          <p:nvPr/>
        </p:nvSpPr>
        <p:spPr>
          <a:xfrm>
            <a:off x="822960" y="2670048"/>
            <a:ext cx="1828800" cy="274320"/>
          </a:xfrm>
          <a:prstGeom prst="rect">
            <a:avLst/>
          </a:prstGeom>
          <a:noFill/>
          <a:ln/>
        </p:spPr>
        <p:txBody>
          <a:bodyPr wrap="square" lIns="0" tIns="0" rIns="0" bIns="0" rtlCol="0" anchor="t"/>
          <a:lstStyle/>
          <a:p>
            <a:pPr indent="0" marL="0">
              <a:buNone/>
            </a:pPr>
            <a:r>
              <a:rPr lang="en-US" sz="1200" dirty="0">
                <a:solidFill>
                  <a:schemeClr val="accent4"/>
                </a:solidFill>
              </a:rPr>
              <a:t>per month</a:t>
            </a:r>
            <a:endParaRPr lang="en-US" sz="1200" dirty="0"/>
          </a:p>
        </p:txBody>
      </p:sp>
      <p:sp>
        <p:nvSpPr>
          <p:cNvPr id="7" name="text-288"/>
          <p:cNvSpPr txBox="1"/>
          <p:nvPr/>
        </p:nvSpPr>
        <p:spPr>
          <a:xfrm>
            <a:off x="2743200" y="2121408"/>
            <a:ext cx="3383280" cy="320040"/>
          </a:xfrm>
          <a:prstGeom prst="rect">
            <a:avLst/>
          </a:prstGeom>
          <a:noFill/>
          <a:ln/>
        </p:spPr>
        <p:txBody>
          <a:bodyPr wrap="square" lIns="0" tIns="0" rIns="0" bIns="0" rtlCol="0" anchor="t"/>
          <a:lstStyle/>
          <a:p>
            <a:pPr indent="0" marL="0">
              <a:buNone/>
            </a:pPr>
            <a:r>
              <a:rPr lang="en-US" sz="1800" b="1" dirty="0">
                <a:solidFill>
                  <a:schemeClr val="tx1"/>
                </a:solidFill>
              </a:rPr>
              <a:t>ChatGPT Plus</a:t>
            </a:r>
            <a:endParaRPr lang="en-US" sz="1800" dirty="0"/>
          </a:p>
        </p:txBody>
      </p:sp>
      <p:sp>
        <p:nvSpPr>
          <p:cNvPr id="8" name="text-289"/>
          <p:cNvSpPr txBox="1"/>
          <p:nvPr/>
        </p:nvSpPr>
        <p:spPr>
          <a:xfrm>
            <a:off x="2743200" y="2487168"/>
            <a:ext cx="3383280" cy="548640"/>
          </a:xfrm>
          <a:prstGeom prst="rect">
            <a:avLst/>
          </a:prstGeom>
          <a:noFill/>
          <a:ln/>
        </p:spPr>
        <p:txBody>
          <a:bodyPr wrap="square" lIns="0" tIns="0" rIns="0" bIns="0" rtlCol="0" anchor="t"/>
          <a:lstStyle/>
          <a:p>
            <a:pPr indent="0" marL="0">
              <a:buNone/>
            </a:pPr>
            <a:r>
              <a:rPr lang="en-US" sz="1400" dirty="0">
                <a:solidFill>
                  <a:schemeClr val="tx2"/>
                </a:solidFill>
              </a:rPr>
              <a:t>Individual plan with model-specific Codex allowances</a:t>
            </a:r>
            <a:endParaRPr lang="en-US" sz="1400" dirty="0"/>
          </a:p>
        </p:txBody>
      </p:sp>
      <p:sp>
        <p:nvSpPr>
          <p:cNvPr id="9" name="card-290"/>
          <p:cNvSpPr/>
          <p:nvPr/>
        </p:nvSpPr>
        <p:spPr>
          <a:xfrm>
            <a:off x="548640" y="3246120"/>
            <a:ext cx="5852160" cy="1188720"/>
          </a:xfrm>
          <a:prstGeom prst="roundRect">
            <a:avLst>
              <a:gd name="adj" fmla="val 6154"/>
            </a:avLst>
          </a:prstGeom>
          <a:solidFill>
            <a:schemeClr val="bg2"/>
          </a:solidFill>
          <a:ln/>
        </p:spPr>
      </p:sp>
      <p:sp>
        <p:nvSpPr>
          <p:cNvPr id="10" name="text-291"/>
          <p:cNvSpPr txBox="1"/>
          <p:nvPr/>
        </p:nvSpPr>
        <p:spPr>
          <a:xfrm>
            <a:off x="822960" y="3429000"/>
            <a:ext cx="1828800"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$100</a:t>
            </a:r>
            <a:endParaRPr lang="en-US" sz="3000" dirty="0"/>
          </a:p>
        </p:txBody>
      </p:sp>
      <p:sp>
        <p:nvSpPr>
          <p:cNvPr id="11" name="text-292"/>
          <p:cNvSpPr txBox="1"/>
          <p:nvPr/>
        </p:nvSpPr>
        <p:spPr>
          <a:xfrm>
            <a:off x="822960" y="3995928"/>
            <a:ext cx="1828800" cy="274320"/>
          </a:xfrm>
          <a:prstGeom prst="rect">
            <a:avLst/>
          </a:prstGeom>
          <a:noFill/>
          <a:ln/>
        </p:spPr>
        <p:txBody>
          <a:bodyPr wrap="square" lIns="0" tIns="0" rIns="0" bIns="0" rtlCol="0" anchor="t"/>
          <a:lstStyle/>
          <a:p>
            <a:pPr indent="0" marL="0">
              <a:buNone/>
            </a:pPr>
            <a:r>
              <a:rPr lang="en-US" sz="1200" dirty="0">
                <a:solidFill>
                  <a:schemeClr val="accent4"/>
                </a:solidFill>
              </a:rPr>
              <a:t>per month</a:t>
            </a:r>
            <a:endParaRPr lang="en-US" sz="1200" dirty="0"/>
          </a:p>
        </p:txBody>
      </p:sp>
      <p:sp>
        <p:nvSpPr>
          <p:cNvPr id="12" name="text-293"/>
          <p:cNvSpPr txBox="1"/>
          <p:nvPr/>
        </p:nvSpPr>
        <p:spPr>
          <a:xfrm>
            <a:off x="2743200" y="3447288"/>
            <a:ext cx="3383280" cy="320040"/>
          </a:xfrm>
          <a:prstGeom prst="rect">
            <a:avLst/>
          </a:prstGeom>
          <a:noFill/>
          <a:ln/>
        </p:spPr>
        <p:txBody>
          <a:bodyPr wrap="square" lIns="0" tIns="0" rIns="0" bIns="0" rtlCol="0" anchor="t"/>
          <a:lstStyle/>
          <a:p>
            <a:pPr indent="0" marL="0">
              <a:buNone/>
            </a:pPr>
            <a:r>
              <a:rPr lang="en-US" sz="1800" b="1" dirty="0">
                <a:solidFill>
                  <a:schemeClr val="tx1"/>
                </a:solidFill>
              </a:rPr>
              <a:t>ChatGPT Pro</a:t>
            </a:r>
            <a:endParaRPr lang="en-US" sz="1800" dirty="0"/>
          </a:p>
        </p:txBody>
      </p:sp>
      <p:sp>
        <p:nvSpPr>
          <p:cNvPr id="13" name="text-294"/>
          <p:cNvSpPr txBox="1"/>
          <p:nvPr/>
        </p:nvSpPr>
        <p:spPr>
          <a:xfrm>
            <a:off x="2743200" y="3813048"/>
            <a:ext cx="3383280" cy="548640"/>
          </a:xfrm>
          <a:prstGeom prst="rect">
            <a:avLst/>
          </a:prstGeom>
          <a:noFill/>
          <a:ln/>
        </p:spPr>
        <p:txBody>
          <a:bodyPr wrap="square" lIns="0" tIns="0" rIns="0" bIns="0" rtlCol="0" anchor="t"/>
          <a:lstStyle/>
          <a:p>
            <a:pPr indent="0" marL="0">
              <a:buNone/>
            </a:pPr>
            <a:r>
              <a:rPr lang="en-US" sz="1400" dirty="0">
                <a:solidFill>
                  <a:schemeClr val="tx2"/>
                </a:solidFill>
              </a:rPr>
              <a:t>About five times the Plus usage allowance</a:t>
            </a:r>
            <a:endParaRPr lang="en-US" sz="1400" dirty="0"/>
          </a:p>
        </p:txBody>
      </p:sp>
      <p:sp>
        <p:nvSpPr>
          <p:cNvPr id="14" name="card-295"/>
          <p:cNvSpPr/>
          <p:nvPr/>
        </p:nvSpPr>
        <p:spPr>
          <a:xfrm>
            <a:off x="548640" y="4572000"/>
            <a:ext cx="5852160" cy="1188720"/>
          </a:xfrm>
          <a:prstGeom prst="roundRect">
            <a:avLst>
              <a:gd name="adj" fmla="val 6154"/>
            </a:avLst>
          </a:prstGeom>
          <a:solidFill>
            <a:schemeClr val="bg2"/>
          </a:solidFill>
          <a:ln/>
        </p:spPr>
      </p:sp>
      <p:sp>
        <p:nvSpPr>
          <p:cNvPr id="15" name="text-296"/>
          <p:cNvSpPr txBox="1"/>
          <p:nvPr/>
        </p:nvSpPr>
        <p:spPr>
          <a:xfrm>
            <a:off x="822960" y="4754880"/>
            <a:ext cx="1828800"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$25</a:t>
            </a:r>
            <a:endParaRPr lang="en-US" sz="3000" dirty="0"/>
          </a:p>
        </p:txBody>
      </p:sp>
      <p:sp>
        <p:nvSpPr>
          <p:cNvPr id="16" name="text-297"/>
          <p:cNvSpPr txBox="1"/>
          <p:nvPr/>
        </p:nvSpPr>
        <p:spPr>
          <a:xfrm>
            <a:off x="822960" y="5321808"/>
            <a:ext cx="1828800" cy="274320"/>
          </a:xfrm>
          <a:prstGeom prst="rect">
            <a:avLst/>
          </a:prstGeom>
          <a:noFill/>
          <a:ln/>
        </p:spPr>
        <p:txBody>
          <a:bodyPr wrap="square" lIns="0" tIns="0" rIns="0" bIns="0" rtlCol="0" anchor="t"/>
          <a:lstStyle/>
          <a:p>
            <a:pPr indent="0" marL="0">
              <a:buNone/>
            </a:pPr>
            <a:r>
              <a:rPr lang="en-US" sz="1200" dirty="0">
                <a:solidFill>
                  <a:schemeClr val="accent4"/>
                </a:solidFill>
              </a:rPr>
              <a:t>per user, monthly</a:t>
            </a:r>
            <a:endParaRPr lang="en-US" sz="1200" dirty="0"/>
          </a:p>
        </p:txBody>
      </p:sp>
      <p:sp>
        <p:nvSpPr>
          <p:cNvPr id="17" name="text-298"/>
          <p:cNvSpPr txBox="1"/>
          <p:nvPr/>
        </p:nvSpPr>
        <p:spPr>
          <a:xfrm>
            <a:off x="2743200" y="4773168"/>
            <a:ext cx="3383280" cy="320040"/>
          </a:xfrm>
          <a:prstGeom prst="rect">
            <a:avLst/>
          </a:prstGeom>
          <a:noFill/>
          <a:ln/>
        </p:spPr>
        <p:txBody>
          <a:bodyPr wrap="square" lIns="0" tIns="0" rIns="0" bIns="0" rtlCol="0" anchor="t"/>
          <a:lstStyle/>
          <a:p>
            <a:pPr indent="0" marL="0">
              <a:buNone/>
            </a:pPr>
            <a:r>
              <a:rPr lang="en-US" sz="1800" b="1" dirty="0">
                <a:solidFill>
                  <a:schemeClr val="tx1"/>
                </a:solidFill>
              </a:rPr>
              <a:t>ChatGPT Business</a:t>
            </a:r>
            <a:endParaRPr lang="en-US" sz="1800" dirty="0"/>
          </a:p>
        </p:txBody>
      </p:sp>
      <p:sp>
        <p:nvSpPr>
          <p:cNvPr id="18" name="text-299"/>
          <p:cNvSpPr txBox="1"/>
          <p:nvPr/>
        </p:nvSpPr>
        <p:spPr>
          <a:xfrm>
            <a:off x="2743200" y="5138928"/>
            <a:ext cx="3383280" cy="548640"/>
          </a:xfrm>
          <a:prstGeom prst="rect">
            <a:avLst/>
          </a:prstGeom>
          <a:noFill/>
          <a:ln/>
        </p:spPr>
        <p:txBody>
          <a:bodyPr wrap="square" lIns="0" tIns="0" rIns="0" bIns="0" rtlCol="0" anchor="t"/>
          <a:lstStyle/>
          <a:p>
            <a:pPr indent="0" marL="0">
              <a:buNone/>
            </a:pPr>
            <a:r>
              <a:rPr lang="en-US" sz="1400" dirty="0">
                <a:solidFill>
                  <a:schemeClr val="tx2"/>
                </a:solidFill>
              </a:rPr>
              <a:t>Team-managed workspace, billed per user</a:t>
            </a:r>
            <a:endParaRPr lang="en-US" sz="1400" dirty="0"/>
          </a:p>
        </p:txBody>
      </p:sp>
      <p:sp>
        <p:nvSpPr>
          <p:cNvPr id="19" name="text-300"/>
          <p:cNvSpPr txBox="1"/>
          <p:nvPr/>
        </p:nvSpPr>
        <p:spPr>
          <a:xfrm>
            <a:off x="6766560" y="1920240"/>
            <a:ext cx="4876495" cy="320040"/>
          </a:xfrm>
          <a:prstGeom prst="rect">
            <a:avLst/>
          </a:prstGeom>
          <a:noFill/>
          <a:ln/>
        </p:spPr>
        <p:txBody>
          <a:bodyPr wrap="square" lIns="0" tIns="0" rIns="0" bIns="0" rtlCol="0" anchor="t"/>
          <a:lstStyle/>
          <a:p>
            <a:pPr indent="0" marL="0">
              <a:buNone/>
            </a:pPr>
            <a:r>
              <a:rPr lang="en-US" sz="1800" b="1" dirty="0">
                <a:solidFill>
                  <a:schemeClr val="tx1"/>
                </a:solidFill>
              </a:rPr>
              <a:t>API price per 1M tokens (USD)</a:t>
            </a:r>
            <a:endParaRPr lang="en-US" sz="1800" dirty="0"/>
          </a:p>
        </p:txBody>
      </p:sp>
      <p:graphicFrame>
        <p:nvGraphicFramePr>
          <p:cNvPr id="16" name="table-301"/>
          <p:cNvGraphicFramePr>
            <a:graphicFrameLocks noGrp="1"/>
          </p:cNvGraphicFramePr>
          <p:nvPr>
            <p:extLst>
              <p:ext uri="{D42A27DB-BD31-4B8C-83A1-F6EECF244321}">
                <p14:modId xmlns:p14="http://schemas.microsoft.com/office/powerpoint/2010/main" val="1579011935"/>
              </p:ext>
            </p:extLst>
          </p:nvPr>
        </p:nvGraphicFramePr>
        <p:xfrm>
          <a:off x="6766560" y="2423160"/>
          <a:ext cx="4876495" cy="914400"/>
        </p:xfrm>
        <a:graphic>
          <a:graphicData uri="http://schemas.openxmlformats.org/drawingml/2006/table">
            <a:tbl>
              <a:tblPr/>
              <a:tblGrid>
                <a:gridCol w="2133295"/>
                <a:gridCol w="1371600"/>
                <a:gridCol w="1371600"/>
              </a:tblGrid>
              <a:tr h="502920">
                <a:tc>
                  <a:txBody>
                    <a:bodyPr/>
                    <a:lstStyle/>
                    <a:p>
                      <a:pPr algn="l" indent="0" marL="0">
                        <a:buNone/>
                      </a:pPr>
                      <a:r>
                        <a:rPr lang="en-US" sz="1400" b="1" dirty="0">
                          <a:solidFill>
                            <a:schemeClr val="bg1"/>
                          </a:solidFill>
                        </a:rPr>
                        <a:t>Model</a:t>
                      </a:r>
                      <a:endParaRPr lang="en-US" sz="1400" dirty="0"/>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accent3"/>
                    </a:solidFill>
                  </a:tcPr>
                </a:tc>
                <a:tc>
                  <a:txBody>
                    <a:bodyPr/>
                    <a:lstStyle/>
                    <a:p>
                      <a:pPr algn="r" indent="0" marL="0">
                        <a:buNone/>
                      </a:pPr>
                      <a:r>
                        <a:rPr lang="en-US" sz="1400" b="1" dirty="0">
                          <a:solidFill>
                            <a:schemeClr val="bg1"/>
                          </a:solidFill>
                        </a:rPr>
                        <a:t>Input</a:t>
                      </a:r>
                      <a:endParaRPr lang="en-US" sz="1400" dirty="0"/>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accent3"/>
                    </a:solidFill>
                  </a:tcPr>
                </a:tc>
                <a:tc>
                  <a:txBody>
                    <a:bodyPr/>
                    <a:lstStyle/>
                    <a:p>
                      <a:pPr algn="r" indent="0" marL="0">
                        <a:buNone/>
                      </a:pPr>
                      <a:r>
                        <a:rPr lang="en-US" sz="1400" b="1" dirty="0">
                          <a:solidFill>
                            <a:schemeClr val="bg1"/>
                          </a:solidFill>
                        </a:rPr>
                        <a:t>Output</a:t>
                      </a:r>
                      <a:endParaRPr lang="en-US" sz="1400" dirty="0"/>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accent3"/>
                    </a:solidFill>
                  </a:tcPr>
                </a:tc>
              </a:tr>
              <a:tr h="502920">
                <a:tc>
                  <a:txBody>
                    <a:bodyPr/>
                    <a:lstStyle/>
                    <a:p>
                      <a:pPr algn="l" indent="0" marL="0">
                        <a:buNone/>
                      </a:pPr>
                      <a:r>
                        <a:rPr lang="en-US" sz="1400" b="1" dirty="0">
                          <a:solidFill>
                            <a:schemeClr val="tx1"/>
                          </a:solidFill>
                        </a:rPr>
                        <a:t>GPT-6.1 Sol</a:t>
                      </a:r>
                      <a:endParaRPr lang="en-US" sz="1400" dirty="0"/>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$2.00</a:t>
                      </a:r>
                      <a:endParaRPr lang="en-US" sz="1400" dirty="0">
                        <a:latin typeface="Courier New" charset="0"/>
                        <a:ea typeface="Courier New" charset="0"/>
                        <a:cs typeface="Courier New" charset="0"/>
                      </a:endParaRPr>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$10.00</a:t>
                      </a:r>
                      <a:endParaRPr lang="en-US" sz="1400" dirty="0">
                        <a:latin typeface="Courier New" charset="0"/>
                        <a:ea typeface="Courier New" charset="0"/>
                        <a:cs typeface="Courier New" charset="0"/>
                      </a:endParaRPr>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r>
              <a:tr h="502920">
                <a:tc>
                  <a:txBody>
                    <a:bodyPr/>
                    <a:lstStyle/>
                    <a:p>
                      <a:pPr algn="l" indent="0" marL="0">
                        <a:buNone/>
                      </a:pPr>
                      <a:r>
                        <a:rPr lang="en-US" sz="1400" b="1" dirty="0">
                          <a:solidFill>
                            <a:schemeClr val="tx1"/>
                          </a:solidFill>
                        </a:rPr>
                        <a:t>GPT-6 Astra</a:t>
                      </a:r>
                      <a:endParaRPr lang="en-US" sz="1400" dirty="0"/>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$10.00</a:t>
                      </a:r>
                      <a:endParaRPr lang="en-US" sz="1400" dirty="0">
                        <a:latin typeface="Courier New" charset="0"/>
                        <a:ea typeface="Courier New" charset="0"/>
                        <a:cs typeface="Courier New" charset="0"/>
                      </a:endParaRPr>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$50.00</a:t>
                      </a:r>
                      <a:endParaRPr lang="en-US" sz="1400" dirty="0">
                        <a:latin typeface="Courier New" charset="0"/>
                        <a:ea typeface="Courier New" charset="0"/>
                        <a:cs typeface="Courier New" charset="0"/>
                      </a:endParaRPr>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2"/>
                    </a:solidFill>
                  </a:tcPr>
                </a:tc>
              </a:tr>
              <a:tr h="502920">
                <a:tc>
                  <a:txBody>
                    <a:bodyPr/>
                    <a:lstStyle/>
                    <a:p>
                      <a:pPr algn="l" indent="0" marL="0">
                        <a:buNone/>
                      </a:pPr>
                      <a:r>
                        <a:rPr lang="en-US" sz="1400" b="1" dirty="0">
                          <a:solidFill>
                            <a:schemeClr val="tx1"/>
                          </a:solidFill>
                        </a:rPr>
                        <a:t>GPT-6 Luna</a:t>
                      </a:r>
                      <a:endParaRPr lang="en-US" sz="1400" dirty="0"/>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$0.10</a:t>
                      </a:r>
                      <a:endParaRPr lang="en-US" sz="1400" dirty="0">
                        <a:latin typeface="Courier New" charset="0"/>
                        <a:ea typeface="Courier New" charset="0"/>
                        <a:cs typeface="Courier New" charset="0"/>
                      </a:endParaRPr>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c>
                  <a:txBody>
                    <a:bodyPr/>
                    <a:lstStyle/>
                    <a:p>
                      <a:pPr algn="r" indent="0" marL="0">
                        <a:buNone/>
                      </a:pPr>
                      <a:r>
                        <a:rPr lang="en-US" sz="1400" dirty="0">
                          <a:solidFill>
                            <a:schemeClr val="tx1"/>
                          </a:solidFill>
                          <a:latin typeface="Courier New" pitchFamily="34" charset="0"/>
                          <a:ea typeface="Courier New" pitchFamily="34" charset="-122"/>
                          <a:cs typeface="Courier New" pitchFamily="34" charset="-120"/>
                        </a:rPr>
                        <a:t>$0.50</a:t>
                      </a:r>
                      <a:endParaRPr lang="en-US" sz="1400" dirty="0">
                        <a:latin typeface="Courier New" charset="0"/>
                        <a:ea typeface="Courier New" charset="0"/>
                        <a:cs typeface="Courier New" charset="0"/>
                      </a:endParaRPr>
                    </a:p>
                  </a:txBody>
                  <a:tcPr marL="128016" marR="128016" marT="36576" marB="36576" anchor="ctr">
                    <a:lnL w="9525" cap="flat" cmpd="sng" algn="ctr">
                      <a:solidFill>
                        <a:srgbClr val="C8E6DA"/>
                      </a:solidFill>
                      <a:prstDash val="solid"/>
                      <a:round/>
                      <a:headEnd type="none" w="med" len="med"/>
                      <a:tailEnd type="none" w="med" len="med"/>
                    </a:lnL>
                    <a:lnR w="9525" cap="flat" cmpd="sng" algn="ctr">
                      <a:solidFill>
                        <a:srgbClr val="C8E6DA"/>
                      </a:solidFill>
                      <a:prstDash val="solid"/>
                      <a:round/>
                      <a:headEnd type="none" w="med" len="med"/>
                      <a:tailEnd type="none" w="med" len="med"/>
                    </a:lnR>
                    <a:lnT w="9525" cap="flat" cmpd="sng" algn="ctr">
                      <a:solidFill>
                        <a:srgbClr val="C8E6DA"/>
                      </a:solidFill>
                      <a:prstDash val="solid"/>
                      <a:round/>
                      <a:headEnd type="none" w="med" len="med"/>
                      <a:tailEnd type="none" w="med" len="med"/>
                    </a:lnT>
                    <a:lnB w="9525" cap="flat" cmpd="sng" algn="ctr">
                      <a:solidFill>
                        <a:srgbClr val="C8E6DA"/>
                      </a:solidFill>
                      <a:prstDash val="solid"/>
                      <a:round/>
                      <a:headEnd type="none" w="med" len="med"/>
                      <a:tailEnd type="none" w="med" len="med"/>
                    </a:lnB>
                    <a:solidFill>
                      <a:schemeClr val="bg1"/>
                    </a:solidFill>
                  </a:tcPr>
                </a:tc>
              </a:tr>
            </a:tbl>
          </a:graphicData>
        </a:graphic>
      </p:graphicFrame>
      <p:sp>
        <p:nvSpPr>
          <p:cNvPr id="21" name="card-302"/>
          <p:cNvSpPr/>
          <p:nvPr/>
        </p:nvSpPr>
        <p:spPr>
          <a:xfrm>
            <a:off x="6766560" y="4754880"/>
            <a:ext cx="4876495" cy="1005840"/>
          </a:xfrm>
          <a:prstGeom prst="roundRect">
            <a:avLst>
              <a:gd name="adj" fmla="val 7273"/>
            </a:avLst>
          </a:prstGeom>
          <a:solidFill>
            <a:schemeClr val="bg2"/>
          </a:solidFill>
          <a:ln/>
        </p:spPr>
      </p:sp>
      <p:sp>
        <p:nvSpPr>
          <p:cNvPr id="22" name="text-303"/>
          <p:cNvSpPr txBox="1"/>
          <p:nvPr/>
        </p:nvSpPr>
        <p:spPr>
          <a:xfrm>
            <a:off x="7040880" y="4754880"/>
            <a:ext cx="4327855" cy="1005840"/>
          </a:xfrm>
          <a:prstGeom prst="rect">
            <a:avLst/>
          </a:prstGeom>
          <a:noFill/>
          <a:ln/>
        </p:spPr>
        <p:txBody>
          <a:bodyPr wrap="square" lIns="0" tIns="0" rIns="0" bIns="0" rtlCol="0" anchor="ctr"/>
          <a:lstStyle/>
          <a:p>
            <a:pPr indent="0" marL="0">
              <a:buNone/>
            </a:pPr>
            <a:r>
              <a:rPr lang="en-US" sz="1400" dirty="0">
                <a:solidFill>
                  <a:schemeClr val="tx2"/>
                </a:solidFill>
              </a:rPr>
              <a:t>Billing moved to a token basis in April 2026. GPT-6.1 Sol is priced at one-fifth of Astra.</a:t>
            </a:r>
            <a:endParaRPr lang="en-US" sz="1400" dirty="0"/>
          </a:p>
        </p:txBody>
      </p:sp>
      <p:sp>
        <p:nvSpPr>
          <p:cNvPr id="23" name="text-304"/>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 prices as listed in late September 2026 (OpenAI; gradually.ai; DevX). Prices change often, so check openai.com before citing.</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15</a:t>
            </a:fld>
            <a:endParaRPr lang="en-US"/>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04 / market</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Codex Security turns the agent toward finding vulnerabilities</a:t>
            </a:r>
            <a:endParaRPr lang="en-US" sz="3200" dirty="0"/>
          </a:p>
        </p:txBody>
      </p:sp>
      <p:sp>
        <p:nvSpPr>
          <p:cNvPr id="4" name="rail-305"/>
          <p:cNvSpPr/>
          <p:nvPr/>
        </p:nvSpPr>
        <p:spPr>
          <a:xfrm>
            <a:off x="777240" y="2194560"/>
            <a:ext cx="0" cy="2414016"/>
          </a:xfrm>
          <a:prstGeom prst="line">
            <a:avLst/>
          </a:prstGeom>
          <a:noFill/>
          <a:ln w="38100">
            <a:solidFill>
              <a:schemeClr val="accent5"/>
            </a:solidFill>
            <a:prstDash val="solid"/>
          </a:ln>
        </p:spPr>
      </p:sp>
      <p:sp>
        <p:nvSpPr>
          <p:cNvPr id="5" name="step-306"/>
          <p:cNvSpPr/>
          <p:nvPr/>
        </p:nvSpPr>
        <p:spPr>
          <a:xfrm>
            <a:off x="548640" y="1947672"/>
            <a:ext cx="457200" cy="457200"/>
          </a:xfrm>
          <a:prstGeom prst="ellipse">
            <a:avLst/>
          </a:prstGeom>
          <a:solidFill>
            <a:schemeClr val="accent1"/>
          </a:solidFill>
          <a:ln/>
        </p:spPr>
      </p:sp>
      <p:sp>
        <p:nvSpPr>
          <p:cNvPr id="6" name="text-307"/>
          <p:cNvSpPr txBox="1"/>
          <p:nvPr/>
        </p:nvSpPr>
        <p:spPr>
          <a:xfrm>
            <a:off x="548640" y="1947672"/>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1</a:t>
            </a:r>
            <a:endParaRPr lang="en-US" sz="1600" dirty="0"/>
          </a:p>
        </p:txBody>
      </p:sp>
      <p:sp>
        <p:nvSpPr>
          <p:cNvPr id="7" name="text-308"/>
          <p:cNvSpPr txBox="1"/>
          <p:nvPr/>
        </p:nvSpPr>
        <p:spPr>
          <a:xfrm>
            <a:off x="1234440" y="1920240"/>
            <a:ext cx="4754880" cy="292608"/>
          </a:xfrm>
          <a:prstGeom prst="rect">
            <a:avLst/>
          </a:prstGeom>
          <a:noFill/>
          <a:ln/>
        </p:spPr>
        <p:txBody>
          <a:bodyPr wrap="square" lIns="0" tIns="0" rIns="0" bIns="0" rtlCol="0" anchor="t"/>
          <a:lstStyle/>
          <a:p>
            <a:pPr indent="0" marL="0">
              <a:buNone/>
            </a:pPr>
            <a:r>
              <a:rPr lang="en-US" sz="1600" b="1" dirty="0">
                <a:solidFill>
                  <a:schemeClr val="tx1"/>
                </a:solidFill>
              </a:rPr>
              <a:t>Model the threats</a:t>
            </a:r>
            <a:endParaRPr lang="en-US" sz="1600" dirty="0"/>
          </a:p>
        </p:txBody>
      </p:sp>
      <p:sp>
        <p:nvSpPr>
          <p:cNvPr id="8" name="text-309"/>
          <p:cNvSpPr txBox="1"/>
          <p:nvPr/>
        </p:nvSpPr>
        <p:spPr>
          <a:xfrm>
            <a:off x="1234440" y="2221992"/>
            <a:ext cx="4754880" cy="411480"/>
          </a:xfrm>
          <a:prstGeom prst="rect">
            <a:avLst/>
          </a:prstGeom>
          <a:noFill/>
          <a:ln/>
        </p:spPr>
        <p:txBody>
          <a:bodyPr wrap="square" lIns="0" tIns="0" rIns="0" bIns="0" rtlCol="0" anchor="t"/>
          <a:lstStyle/>
          <a:p>
            <a:pPr indent="0" marL="0">
              <a:buNone/>
            </a:pPr>
            <a:r>
              <a:rPr lang="en-US" sz="1400" dirty="0">
                <a:solidFill>
                  <a:schemeClr val="tx2"/>
                </a:solidFill>
              </a:rPr>
              <a:t>Builds a threat model of the repository first</a:t>
            </a:r>
            <a:endParaRPr lang="en-US" sz="1400" dirty="0"/>
          </a:p>
        </p:txBody>
      </p:sp>
      <p:sp>
        <p:nvSpPr>
          <p:cNvPr id="9" name="step-310"/>
          <p:cNvSpPr/>
          <p:nvPr/>
        </p:nvSpPr>
        <p:spPr>
          <a:xfrm>
            <a:off x="548640" y="2752344"/>
            <a:ext cx="457200" cy="457200"/>
          </a:xfrm>
          <a:prstGeom prst="ellipse">
            <a:avLst/>
          </a:prstGeom>
          <a:solidFill>
            <a:schemeClr val="accent1"/>
          </a:solidFill>
          <a:ln/>
        </p:spPr>
      </p:sp>
      <p:sp>
        <p:nvSpPr>
          <p:cNvPr id="10" name="text-311"/>
          <p:cNvSpPr txBox="1"/>
          <p:nvPr/>
        </p:nvSpPr>
        <p:spPr>
          <a:xfrm>
            <a:off x="548640" y="2752344"/>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2</a:t>
            </a:r>
            <a:endParaRPr lang="en-US" sz="1600" dirty="0"/>
          </a:p>
        </p:txBody>
      </p:sp>
      <p:sp>
        <p:nvSpPr>
          <p:cNvPr id="11" name="text-312"/>
          <p:cNvSpPr txBox="1"/>
          <p:nvPr/>
        </p:nvSpPr>
        <p:spPr>
          <a:xfrm>
            <a:off x="1234440" y="2724912"/>
            <a:ext cx="4754880" cy="292608"/>
          </a:xfrm>
          <a:prstGeom prst="rect">
            <a:avLst/>
          </a:prstGeom>
          <a:noFill/>
          <a:ln/>
        </p:spPr>
        <p:txBody>
          <a:bodyPr wrap="square" lIns="0" tIns="0" rIns="0" bIns="0" rtlCol="0" anchor="t"/>
          <a:lstStyle/>
          <a:p>
            <a:pPr indent="0" marL="0">
              <a:buNone/>
            </a:pPr>
            <a:r>
              <a:rPr lang="en-US" sz="1600" b="1" dirty="0">
                <a:solidFill>
                  <a:schemeClr val="tx1"/>
                </a:solidFill>
              </a:rPr>
              <a:t>Search</a:t>
            </a:r>
            <a:endParaRPr lang="en-US" sz="1600" dirty="0"/>
          </a:p>
        </p:txBody>
      </p:sp>
      <p:sp>
        <p:nvSpPr>
          <p:cNvPr id="12" name="text-313"/>
          <p:cNvSpPr txBox="1"/>
          <p:nvPr/>
        </p:nvSpPr>
        <p:spPr>
          <a:xfrm>
            <a:off x="1234440" y="3026664"/>
            <a:ext cx="4754880" cy="411480"/>
          </a:xfrm>
          <a:prstGeom prst="rect">
            <a:avLst/>
          </a:prstGeom>
          <a:noFill/>
          <a:ln/>
        </p:spPr>
        <p:txBody>
          <a:bodyPr wrap="square" lIns="0" tIns="0" rIns="0" bIns="0" rtlCol="0" anchor="t"/>
          <a:lstStyle/>
          <a:p>
            <a:pPr indent="0" marL="0">
              <a:buNone/>
            </a:pPr>
            <a:r>
              <a:rPr lang="en-US" sz="1400" dirty="0">
                <a:solidFill>
                  <a:schemeClr val="tx2"/>
                </a:solidFill>
              </a:rPr>
              <a:t>Looks for vulnerabilities against that model</a:t>
            </a:r>
            <a:endParaRPr lang="en-US" sz="1400" dirty="0"/>
          </a:p>
        </p:txBody>
      </p:sp>
      <p:sp>
        <p:nvSpPr>
          <p:cNvPr id="13" name="step-314"/>
          <p:cNvSpPr/>
          <p:nvPr/>
        </p:nvSpPr>
        <p:spPr>
          <a:xfrm>
            <a:off x="548640" y="3557016"/>
            <a:ext cx="457200" cy="457200"/>
          </a:xfrm>
          <a:prstGeom prst="ellipse">
            <a:avLst/>
          </a:prstGeom>
          <a:solidFill>
            <a:schemeClr val="accent1"/>
          </a:solidFill>
          <a:ln/>
        </p:spPr>
      </p:sp>
      <p:sp>
        <p:nvSpPr>
          <p:cNvPr id="14" name="text-315"/>
          <p:cNvSpPr txBox="1"/>
          <p:nvPr/>
        </p:nvSpPr>
        <p:spPr>
          <a:xfrm>
            <a:off x="548640" y="3557016"/>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3</a:t>
            </a:r>
            <a:endParaRPr lang="en-US" sz="1600" dirty="0"/>
          </a:p>
        </p:txBody>
      </p:sp>
      <p:sp>
        <p:nvSpPr>
          <p:cNvPr id="15" name="text-316"/>
          <p:cNvSpPr txBox="1"/>
          <p:nvPr/>
        </p:nvSpPr>
        <p:spPr>
          <a:xfrm>
            <a:off x="1234440" y="3529584"/>
            <a:ext cx="4754880" cy="292608"/>
          </a:xfrm>
          <a:prstGeom prst="rect">
            <a:avLst/>
          </a:prstGeom>
          <a:noFill/>
          <a:ln/>
        </p:spPr>
        <p:txBody>
          <a:bodyPr wrap="square" lIns="0" tIns="0" rIns="0" bIns="0" rtlCol="0" anchor="t"/>
          <a:lstStyle/>
          <a:p>
            <a:pPr indent="0" marL="0">
              <a:buNone/>
            </a:pPr>
            <a:r>
              <a:rPr lang="en-US" sz="1600" b="1" dirty="0">
                <a:solidFill>
                  <a:schemeClr val="tx1"/>
                </a:solidFill>
              </a:rPr>
              <a:t>Validate</a:t>
            </a:r>
            <a:endParaRPr lang="en-US" sz="1600" dirty="0"/>
          </a:p>
        </p:txBody>
      </p:sp>
      <p:sp>
        <p:nvSpPr>
          <p:cNvPr id="16" name="text-317"/>
          <p:cNvSpPr txBox="1"/>
          <p:nvPr/>
        </p:nvSpPr>
        <p:spPr>
          <a:xfrm>
            <a:off x="1234440" y="3831336"/>
            <a:ext cx="4754880" cy="411480"/>
          </a:xfrm>
          <a:prstGeom prst="rect">
            <a:avLst/>
          </a:prstGeom>
          <a:noFill/>
          <a:ln/>
        </p:spPr>
        <p:txBody>
          <a:bodyPr wrap="square" lIns="0" tIns="0" rIns="0" bIns="0" rtlCol="0" anchor="t"/>
          <a:lstStyle/>
          <a:p>
            <a:pPr indent="0" marL="0">
              <a:buNone/>
            </a:pPr>
            <a:r>
              <a:rPr lang="en-US" sz="1400" dirty="0">
                <a:solidFill>
                  <a:schemeClr val="tx2"/>
                </a:solidFill>
              </a:rPr>
              <a:t>Reproduces findings in a sandbox to cut false positives</a:t>
            </a:r>
            <a:endParaRPr lang="en-US" sz="1400" dirty="0"/>
          </a:p>
        </p:txBody>
      </p:sp>
      <p:sp>
        <p:nvSpPr>
          <p:cNvPr id="17" name="step-318"/>
          <p:cNvSpPr/>
          <p:nvPr/>
        </p:nvSpPr>
        <p:spPr>
          <a:xfrm>
            <a:off x="548640" y="4361688"/>
            <a:ext cx="457200" cy="457200"/>
          </a:xfrm>
          <a:prstGeom prst="ellipse">
            <a:avLst/>
          </a:prstGeom>
          <a:solidFill>
            <a:schemeClr val="accent1"/>
          </a:solidFill>
          <a:ln/>
        </p:spPr>
      </p:sp>
      <p:sp>
        <p:nvSpPr>
          <p:cNvPr id="18" name="text-319"/>
          <p:cNvSpPr txBox="1"/>
          <p:nvPr/>
        </p:nvSpPr>
        <p:spPr>
          <a:xfrm>
            <a:off x="548640" y="4361688"/>
            <a:ext cx="457200" cy="457200"/>
          </a:xfrm>
          <a:prstGeom prst="rect">
            <a:avLst/>
          </a:prstGeom>
          <a:noFill/>
          <a:ln/>
        </p:spPr>
        <p:txBody>
          <a:bodyPr wrap="square" lIns="0" tIns="0" rIns="0" bIns="0" rtlCol="0" anchor="ctr"/>
          <a:lstStyle/>
          <a:p>
            <a:pPr algn="ctr" indent="0" marL="0">
              <a:buNone/>
            </a:pPr>
            <a:r>
              <a:rPr lang="en-US" sz="1600" b="1" dirty="0">
                <a:solidFill>
                  <a:schemeClr val="bg1"/>
                </a:solidFill>
                <a:latin typeface="Courier New" pitchFamily="34" charset="0"/>
                <a:ea typeface="Courier New" pitchFamily="34" charset="-122"/>
                <a:cs typeface="Courier New" pitchFamily="34" charset="-120"/>
              </a:rPr>
              <a:t>4</a:t>
            </a:r>
            <a:endParaRPr lang="en-US" sz="1600" dirty="0"/>
          </a:p>
        </p:txBody>
      </p:sp>
      <p:sp>
        <p:nvSpPr>
          <p:cNvPr id="19" name="text-320"/>
          <p:cNvSpPr txBox="1"/>
          <p:nvPr/>
        </p:nvSpPr>
        <p:spPr>
          <a:xfrm>
            <a:off x="1234440" y="4334256"/>
            <a:ext cx="4754880" cy="292608"/>
          </a:xfrm>
          <a:prstGeom prst="rect">
            <a:avLst/>
          </a:prstGeom>
          <a:noFill/>
          <a:ln/>
        </p:spPr>
        <p:txBody>
          <a:bodyPr wrap="square" lIns="0" tIns="0" rIns="0" bIns="0" rtlCol="0" anchor="t"/>
          <a:lstStyle/>
          <a:p>
            <a:pPr indent="0" marL="0">
              <a:buNone/>
            </a:pPr>
            <a:r>
              <a:rPr lang="en-US" sz="1600" b="1" dirty="0">
                <a:solidFill>
                  <a:schemeClr val="tx1"/>
                </a:solidFill>
              </a:rPr>
              <a:t>Patch</a:t>
            </a:r>
            <a:endParaRPr lang="en-US" sz="1600" dirty="0"/>
          </a:p>
        </p:txBody>
      </p:sp>
      <p:sp>
        <p:nvSpPr>
          <p:cNvPr id="20" name="text-321"/>
          <p:cNvSpPr txBox="1"/>
          <p:nvPr/>
        </p:nvSpPr>
        <p:spPr>
          <a:xfrm>
            <a:off x="1234440" y="4636008"/>
            <a:ext cx="4754880" cy="411480"/>
          </a:xfrm>
          <a:prstGeom prst="rect">
            <a:avLst/>
          </a:prstGeom>
          <a:noFill/>
          <a:ln/>
        </p:spPr>
        <p:txBody>
          <a:bodyPr wrap="square" lIns="0" tIns="0" rIns="0" bIns="0" rtlCol="0" anchor="t"/>
          <a:lstStyle/>
          <a:p>
            <a:pPr indent="0" marL="0">
              <a:buNone/>
            </a:pPr>
            <a:r>
              <a:rPr lang="en-US" sz="1400" dirty="0">
                <a:solidFill>
                  <a:schemeClr val="tx2"/>
                </a:solidFill>
              </a:rPr>
              <a:t>Proposes a fix for a human to review</a:t>
            </a:r>
            <a:endParaRPr lang="en-US" sz="1400" dirty="0"/>
          </a:p>
        </p:txBody>
      </p:sp>
      <p:sp>
        <p:nvSpPr>
          <p:cNvPr id="21" name="card-322"/>
          <p:cNvSpPr/>
          <p:nvPr/>
        </p:nvSpPr>
        <p:spPr>
          <a:xfrm>
            <a:off x="6492240" y="1920240"/>
            <a:ext cx="2461108" cy="1481328"/>
          </a:xfrm>
          <a:prstGeom prst="roundRect">
            <a:avLst>
              <a:gd name="adj" fmla="val 4938"/>
            </a:avLst>
          </a:prstGeom>
          <a:solidFill>
            <a:schemeClr val="bg2"/>
          </a:solidFill>
          <a:ln/>
        </p:spPr>
      </p:sp>
      <p:sp>
        <p:nvSpPr>
          <p:cNvPr id="22" name="text-323"/>
          <p:cNvSpPr txBox="1"/>
          <p:nvPr/>
        </p:nvSpPr>
        <p:spPr>
          <a:xfrm>
            <a:off x="6720840" y="2121408"/>
            <a:ext cx="2095348"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1.2M</a:t>
            </a:r>
            <a:endParaRPr lang="en-US" sz="3000" dirty="0"/>
          </a:p>
        </p:txBody>
      </p:sp>
      <p:sp>
        <p:nvSpPr>
          <p:cNvPr id="23" name="text-324"/>
          <p:cNvSpPr txBox="1"/>
          <p:nvPr/>
        </p:nvSpPr>
        <p:spPr>
          <a:xfrm>
            <a:off x="6720840" y="2697480"/>
            <a:ext cx="2003908" cy="594360"/>
          </a:xfrm>
          <a:prstGeom prst="rect">
            <a:avLst/>
          </a:prstGeom>
          <a:noFill/>
          <a:ln/>
        </p:spPr>
        <p:txBody>
          <a:bodyPr wrap="square" lIns="0" tIns="0" rIns="0" bIns="0" rtlCol="0" anchor="t"/>
          <a:lstStyle/>
          <a:p>
            <a:pPr indent="0" marL="0">
              <a:buNone/>
            </a:pPr>
            <a:r>
              <a:rPr lang="en-US" sz="1400" dirty="0">
                <a:solidFill>
                  <a:schemeClr val="tx2"/>
                </a:solidFill>
              </a:rPr>
              <a:t>commits scanned in 30 days</a:t>
            </a:r>
            <a:endParaRPr lang="en-US" sz="1400" dirty="0"/>
          </a:p>
        </p:txBody>
      </p:sp>
      <p:sp>
        <p:nvSpPr>
          <p:cNvPr id="24" name="card-325"/>
          <p:cNvSpPr/>
          <p:nvPr/>
        </p:nvSpPr>
        <p:spPr>
          <a:xfrm>
            <a:off x="9181948" y="1920240"/>
            <a:ext cx="2461108" cy="1481328"/>
          </a:xfrm>
          <a:prstGeom prst="roundRect">
            <a:avLst>
              <a:gd name="adj" fmla="val 4938"/>
            </a:avLst>
          </a:prstGeom>
          <a:solidFill>
            <a:schemeClr val="bg2"/>
          </a:solidFill>
          <a:ln/>
        </p:spPr>
      </p:sp>
      <p:sp>
        <p:nvSpPr>
          <p:cNvPr id="25" name="text-326"/>
          <p:cNvSpPr txBox="1"/>
          <p:nvPr/>
        </p:nvSpPr>
        <p:spPr>
          <a:xfrm>
            <a:off x="9410548" y="2121408"/>
            <a:ext cx="2095348"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~800</a:t>
            </a:r>
            <a:endParaRPr lang="en-US" sz="3000" dirty="0"/>
          </a:p>
        </p:txBody>
      </p:sp>
      <p:sp>
        <p:nvSpPr>
          <p:cNvPr id="26" name="text-327"/>
          <p:cNvSpPr txBox="1"/>
          <p:nvPr/>
        </p:nvSpPr>
        <p:spPr>
          <a:xfrm>
            <a:off x="9410548" y="2697480"/>
            <a:ext cx="2003908" cy="594360"/>
          </a:xfrm>
          <a:prstGeom prst="rect">
            <a:avLst/>
          </a:prstGeom>
          <a:noFill/>
          <a:ln/>
        </p:spPr>
        <p:txBody>
          <a:bodyPr wrap="square" lIns="0" tIns="0" rIns="0" bIns="0" rtlCol="0" anchor="t"/>
          <a:lstStyle/>
          <a:p>
            <a:pPr indent="0" marL="0">
              <a:buNone/>
            </a:pPr>
            <a:r>
              <a:rPr lang="en-US" sz="1400" dirty="0">
                <a:solidFill>
                  <a:schemeClr val="tx2"/>
                </a:solidFill>
              </a:rPr>
              <a:t>critical vulnerabilities found</a:t>
            </a:r>
            <a:endParaRPr lang="en-US" sz="1400" dirty="0"/>
          </a:p>
        </p:txBody>
      </p:sp>
      <p:sp>
        <p:nvSpPr>
          <p:cNvPr id="27" name="card-328"/>
          <p:cNvSpPr/>
          <p:nvPr/>
        </p:nvSpPr>
        <p:spPr>
          <a:xfrm>
            <a:off x="6492240" y="3584448"/>
            <a:ext cx="2461108" cy="1481328"/>
          </a:xfrm>
          <a:prstGeom prst="roundRect">
            <a:avLst>
              <a:gd name="adj" fmla="val 4938"/>
            </a:avLst>
          </a:prstGeom>
          <a:solidFill>
            <a:schemeClr val="bg2"/>
          </a:solidFill>
          <a:ln/>
        </p:spPr>
      </p:sp>
      <p:sp>
        <p:nvSpPr>
          <p:cNvPr id="28" name="text-329"/>
          <p:cNvSpPr txBox="1"/>
          <p:nvPr/>
        </p:nvSpPr>
        <p:spPr>
          <a:xfrm>
            <a:off x="6720840" y="3785616"/>
            <a:ext cx="2095348"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10,000+</a:t>
            </a:r>
            <a:endParaRPr lang="en-US" sz="3000" dirty="0"/>
          </a:p>
        </p:txBody>
      </p:sp>
      <p:sp>
        <p:nvSpPr>
          <p:cNvPr id="29" name="text-330"/>
          <p:cNvSpPr txBox="1"/>
          <p:nvPr/>
        </p:nvSpPr>
        <p:spPr>
          <a:xfrm>
            <a:off x="6720840" y="4361688"/>
            <a:ext cx="2003908" cy="594360"/>
          </a:xfrm>
          <a:prstGeom prst="rect">
            <a:avLst/>
          </a:prstGeom>
          <a:noFill/>
          <a:ln/>
        </p:spPr>
        <p:txBody>
          <a:bodyPr wrap="square" lIns="0" tIns="0" rIns="0" bIns="0" rtlCol="0" anchor="t"/>
          <a:lstStyle/>
          <a:p>
            <a:pPr indent="0" marL="0">
              <a:buNone/>
            </a:pPr>
            <a:r>
              <a:rPr lang="en-US" sz="1400" dirty="0">
                <a:solidFill>
                  <a:schemeClr val="tx2"/>
                </a:solidFill>
              </a:rPr>
              <a:t>high-severity issues found</a:t>
            </a:r>
            <a:endParaRPr lang="en-US" sz="1400" dirty="0"/>
          </a:p>
        </p:txBody>
      </p:sp>
      <p:sp>
        <p:nvSpPr>
          <p:cNvPr id="30" name="card-331"/>
          <p:cNvSpPr/>
          <p:nvPr/>
        </p:nvSpPr>
        <p:spPr>
          <a:xfrm>
            <a:off x="9181948" y="3584448"/>
            <a:ext cx="2461108" cy="1481328"/>
          </a:xfrm>
          <a:prstGeom prst="roundRect">
            <a:avLst>
              <a:gd name="adj" fmla="val 4938"/>
            </a:avLst>
          </a:prstGeom>
          <a:solidFill>
            <a:schemeClr val="bg2"/>
          </a:solidFill>
          <a:ln/>
        </p:spPr>
      </p:sp>
      <p:sp>
        <p:nvSpPr>
          <p:cNvPr id="31" name="text-332"/>
          <p:cNvSpPr txBox="1"/>
          <p:nvPr/>
        </p:nvSpPr>
        <p:spPr>
          <a:xfrm>
            <a:off x="9410548" y="3785616"/>
            <a:ext cx="2095348" cy="502920"/>
          </a:xfrm>
          <a:prstGeom prst="rect">
            <a:avLst/>
          </a:prstGeom>
          <a:noFill/>
          <a:ln/>
        </p:spPr>
        <p:txBody>
          <a:bodyPr wrap="square" lIns="0" tIns="0" rIns="0" bIns="0" rtlCol="0" anchor="t"/>
          <a:lstStyle/>
          <a:p>
            <a:pPr indent="0" marL="0">
              <a:buNone/>
            </a:pPr>
            <a:r>
              <a:rPr lang="en-US" sz="3000" b="1" dirty="0">
                <a:solidFill>
                  <a:schemeClr val="accent1"/>
                </a:solidFill>
                <a:latin typeface="Courier New" pitchFamily="34" charset="0"/>
                <a:ea typeface="Courier New" pitchFamily="34" charset="-122"/>
                <a:cs typeface="Courier New" pitchFamily="34" charset="-120"/>
              </a:rPr>
              <a:t>14</a:t>
            </a:r>
            <a:endParaRPr lang="en-US" sz="3000" dirty="0"/>
          </a:p>
        </p:txBody>
      </p:sp>
      <p:sp>
        <p:nvSpPr>
          <p:cNvPr id="32" name="text-333"/>
          <p:cNvSpPr txBox="1"/>
          <p:nvPr/>
        </p:nvSpPr>
        <p:spPr>
          <a:xfrm>
            <a:off x="9410548" y="4361688"/>
            <a:ext cx="2003908" cy="594360"/>
          </a:xfrm>
          <a:prstGeom prst="rect">
            <a:avLst/>
          </a:prstGeom>
          <a:noFill/>
          <a:ln/>
        </p:spPr>
        <p:txBody>
          <a:bodyPr wrap="square" lIns="0" tIns="0" rIns="0" bIns="0" rtlCol="0" anchor="t"/>
          <a:lstStyle/>
          <a:p>
            <a:pPr indent="0" marL="0">
              <a:buNone/>
            </a:pPr>
            <a:r>
              <a:rPr lang="en-US" sz="1400" dirty="0">
                <a:solidFill>
                  <a:schemeClr val="tx2"/>
                </a:solidFill>
              </a:rPr>
              <a:t>CVEs assigned in open source</a:t>
            </a:r>
            <a:endParaRPr lang="en-US" sz="1400" dirty="0"/>
          </a:p>
        </p:txBody>
      </p:sp>
      <p:sp>
        <p:nvSpPr>
          <p:cNvPr id="33" name="card-334"/>
          <p:cNvSpPr/>
          <p:nvPr/>
        </p:nvSpPr>
        <p:spPr>
          <a:xfrm>
            <a:off x="548640" y="5257800"/>
            <a:ext cx="11094415" cy="640080"/>
          </a:xfrm>
          <a:prstGeom prst="roundRect">
            <a:avLst>
              <a:gd name="adj" fmla="val 11429"/>
            </a:avLst>
          </a:prstGeom>
          <a:solidFill>
            <a:schemeClr val="bg2"/>
          </a:solidFill>
          <a:ln/>
        </p:spPr>
      </p:sp>
      <p:sp>
        <p:nvSpPr>
          <p:cNvPr id="34" name="icon-tile-335"/>
          <p:cNvSpPr/>
          <p:nvPr/>
        </p:nvSpPr>
        <p:spPr>
          <a:xfrm>
            <a:off x="685800" y="5385816"/>
            <a:ext cx="384048" cy="384048"/>
          </a:xfrm>
          <a:prstGeom prst="roundRect">
            <a:avLst>
              <a:gd name="adj" fmla="val 19048"/>
            </a:avLst>
          </a:prstGeom>
          <a:solidFill>
            <a:schemeClr val="accent2"/>
          </a:solidFill>
          <a:ln/>
        </p:spPr>
      </p:sp>
      <p:pic>
        <p:nvPicPr>
          <p:cNvPr id="35" name="icon-336" descr="preencoded.png">    </p:cNvPr>
          <p:cNvPicPr>
            <a:picLocks noChangeAspect="1"/>
          </p:cNvPicPr>
          <p:nvPr/>
        </p:nvPicPr>
        <p:blipFill>
          <a:blip r:embed="rId1"/>
          <a:stretch>
            <a:fillRect/>
          </a:stretch>
        </p:blipFill>
        <p:spPr>
          <a:xfrm>
            <a:off x="777972" y="5477988"/>
            <a:ext cx="199705" cy="199705"/>
          </a:xfrm>
          <a:prstGeom prst="rect">
            <a:avLst/>
          </a:prstGeom>
        </p:spPr>
      </p:pic>
      <p:sp>
        <p:nvSpPr>
          <p:cNvPr id="36" name="text-337"/>
          <p:cNvSpPr txBox="1"/>
          <p:nvPr/>
        </p:nvSpPr>
        <p:spPr>
          <a:xfrm>
            <a:off x="1234440" y="5257800"/>
            <a:ext cx="10225735" cy="640080"/>
          </a:xfrm>
          <a:prstGeom prst="rect">
            <a:avLst/>
          </a:prstGeom>
          <a:noFill/>
          <a:ln/>
        </p:spPr>
        <p:txBody>
          <a:bodyPr wrap="square" lIns="0" tIns="0" rIns="0" bIns="0" rtlCol="0" anchor="ctr"/>
          <a:lstStyle/>
          <a:p>
            <a:pPr indent="0" marL="0">
              <a:buNone/>
            </a:pPr>
            <a:r>
              <a:rPr lang="en-US" sz="1400" dirty="0">
                <a:solidFill>
                  <a:schemeClr val="tx1"/>
                </a:solidFill>
              </a:rPr>
              <a:t>Caution: in August 2026 Dark Reading reported that many AI-generated patches were misclassified, incomplete or introduced new flaws.</a:t>
            </a:r>
            <a:endParaRPr lang="en-US" sz="1400" dirty="0"/>
          </a:p>
        </p:txBody>
      </p:sp>
      <p:sp>
        <p:nvSpPr>
          <p:cNvPr id="37" name="text-338"/>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SecurityWeek (10 Mar 2026); CSO Online (9 Mar 2026); Dark Reading (7 Aug 2026). Figures are OpenAI's own.</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16</a:t>
            </a:fld>
            <a:endParaRPr lang="en-US"/>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05 / critique</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Independent evidence on AI coding tools is mixed</a:t>
            </a:r>
            <a:endParaRPr lang="en-US" sz="3200" dirty="0"/>
          </a:p>
        </p:txBody>
      </p:sp>
      <p:sp>
        <p:nvSpPr>
          <p:cNvPr id="4" name="card-339"/>
          <p:cNvSpPr/>
          <p:nvPr/>
        </p:nvSpPr>
        <p:spPr>
          <a:xfrm>
            <a:off x="548640" y="1920240"/>
            <a:ext cx="3515258" cy="3063240"/>
          </a:xfrm>
          <a:prstGeom prst="roundRect">
            <a:avLst>
              <a:gd name="adj" fmla="val 2388"/>
            </a:avLst>
          </a:prstGeom>
          <a:solidFill>
            <a:schemeClr val="bg2"/>
          </a:solidFill>
          <a:ln/>
        </p:spPr>
      </p:sp>
      <p:sp>
        <p:nvSpPr>
          <p:cNvPr id="5" name="text-340"/>
          <p:cNvSpPr txBox="1"/>
          <p:nvPr/>
        </p:nvSpPr>
        <p:spPr>
          <a:xfrm>
            <a:off x="822960" y="2194560"/>
            <a:ext cx="2966618" cy="685800"/>
          </a:xfrm>
          <a:prstGeom prst="rect">
            <a:avLst/>
          </a:prstGeom>
          <a:noFill/>
          <a:ln/>
        </p:spPr>
        <p:txBody>
          <a:bodyPr wrap="square" lIns="0" tIns="0" rIns="0" bIns="0" rtlCol="0" anchor="t"/>
          <a:lstStyle/>
          <a:p>
            <a:pPr indent="0" marL="0">
              <a:buNone/>
            </a:pPr>
            <a:r>
              <a:rPr lang="en-US" sz="4400" b="1" dirty="0">
                <a:solidFill>
                  <a:schemeClr val="accent1"/>
                </a:solidFill>
                <a:latin typeface="Courier New" pitchFamily="34" charset="0"/>
                <a:ea typeface="Courier New" pitchFamily="34" charset="-122"/>
                <a:cs typeface="Courier New" pitchFamily="34" charset="-120"/>
              </a:rPr>
              <a:t>55.8%</a:t>
            </a:r>
            <a:endParaRPr lang="en-US" sz="4400" dirty="0"/>
          </a:p>
        </p:txBody>
      </p:sp>
      <p:sp>
        <p:nvSpPr>
          <p:cNvPr id="6" name="text-341"/>
          <p:cNvSpPr txBox="1"/>
          <p:nvPr/>
        </p:nvSpPr>
        <p:spPr>
          <a:xfrm>
            <a:off x="822960" y="2971800"/>
            <a:ext cx="2966618" cy="320040"/>
          </a:xfrm>
          <a:prstGeom prst="rect">
            <a:avLst/>
          </a:prstGeom>
          <a:noFill/>
          <a:ln/>
        </p:spPr>
        <p:txBody>
          <a:bodyPr wrap="square" lIns="0" tIns="0" rIns="0" bIns="0" rtlCol="0" anchor="t"/>
          <a:lstStyle/>
          <a:p>
            <a:pPr indent="0" marL="0">
              <a:buNone/>
            </a:pPr>
            <a:r>
              <a:rPr lang="en-US" sz="1600" b="1" dirty="0">
                <a:solidFill>
                  <a:schemeClr val="tx1"/>
                </a:solidFill>
              </a:rPr>
              <a:t>faster task completion</a:t>
            </a:r>
            <a:endParaRPr lang="en-US" sz="1600" dirty="0"/>
          </a:p>
        </p:txBody>
      </p:sp>
      <p:sp>
        <p:nvSpPr>
          <p:cNvPr id="7" name="text-342"/>
          <p:cNvSpPr txBox="1"/>
          <p:nvPr/>
        </p:nvSpPr>
        <p:spPr>
          <a:xfrm>
            <a:off x="822960" y="3429000"/>
            <a:ext cx="2966618" cy="1371600"/>
          </a:xfrm>
          <a:prstGeom prst="rect">
            <a:avLst/>
          </a:prstGeom>
          <a:noFill/>
          <a:ln/>
        </p:spPr>
        <p:txBody>
          <a:bodyPr wrap="square" lIns="0" tIns="0" rIns="0" bIns="0" rtlCol="0" anchor="t"/>
          <a:lstStyle/>
          <a:p>
            <a:pPr indent="0" marL="0">
              <a:buNone/>
            </a:pPr>
            <a:r>
              <a:rPr lang="en-US" sz="1400" dirty="0">
                <a:solidFill>
                  <a:schemeClr val="tx2"/>
                </a:solidFill>
              </a:rPr>
              <a:t>Peng et al. (2023): 95 developers building an HTTP server with GitHub Copilot</a:t>
            </a:r>
            <a:endParaRPr lang="en-US" sz="1400" dirty="0"/>
          </a:p>
        </p:txBody>
      </p:sp>
      <p:sp>
        <p:nvSpPr>
          <p:cNvPr id="8" name="card-343"/>
          <p:cNvSpPr/>
          <p:nvPr/>
        </p:nvSpPr>
        <p:spPr>
          <a:xfrm>
            <a:off x="4338218" y="1920240"/>
            <a:ext cx="3515258" cy="3063240"/>
          </a:xfrm>
          <a:prstGeom prst="roundRect">
            <a:avLst>
              <a:gd name="adj" fmla="val 2388"/>
            </a:avLst>
          </a:prstGeom>
          <a:solidFill>
            <a:schemeClr val="bg2"/>
          </a:solidFill>
          <a:ln/>
        </p:spPr>
      </p:sp>
      <p:sp>
        <p:nvSpPr>
          <p:cNvPr id="9" name="text-344"/>
          <p:cNvSpPr txBox="1"/>
          <p:nvPr/>
        </p:nvSpPr>
        <p:spPr>
          <a:xfrm>
            <a:off x="4612538" y="2194560"/>
            <a:ext cx="2966618" cy="685800"/>
          </a:xfrm>
          <a:prstGeom prst="rect">
            <a:avLst/>
          </a:prstGeom>
          <a:noFill/>
          <a:ln/>
        </p:spPr>
        <p:txBody>
          <a:bodyPr wrap="square" lIns="0" tIns="0" rIns="0" bIns="0" rtlCol="0" anchor="t"/>
          <a:lstStyle/>
          <a:p>
            <a:pPr indent="0" marL="0">
              <a:buNone/>
            </a:pPr>
            <a:r>
              <a:rPr lang="en-US" sz="4400" b="1" dirty="0">
                <a:solidFill>
                  <a:schemeClr val="accent6"/>
                </a:solidFill>
                <a:latin typeface="Courier New" pitchFamily="34" charset="0"/>
                <a:ea typeface="Courier New" pitchFamily="34" charset="-122"/>
                <a:cs typeface="Courier New" pitchFamily="34" charset="-120"/>
              </a:rPr>
              <a:t>19%</a:t>
            </a:r>
            <a:endParaRPr lang="en-US" sz="4400" dirty="0"/>
          </a:p>
        </p:txBody>
      </p:sp>
      <p:sp>
        <p:nvSpPr>
          <p:cNvPr id="10" name="text-345"/>
          <p:cNvSpPr txBox="1"/>
          <p:nvPr/>
        </p:nvSpPr>
        <p:spPr>
          <a:xfrm>
            <a:off x="4612538" y="2971800"/>
            <a:ext cx="2966618" cy="320040"/>
          </a:xfrm>
          <a:prstGeom prst="rect">
            <a:avLst/>
          </a:prstGeom>
          <a:noFill/>
          <a:ln/>
        </p:spPr>
        <p:txBody>
          <a:bodyPr wrap="square" lIns="0" tIns="0" rIns="0" bIns="0" rtlCol="0" anchor="t"/>
          <a:lstStyle/>
          <a:p>
            <a:pPr indent="0" marL="0">
              <a:buNone/>
            </a:pPr>
            <a:r>
              <a:rPr lang="en-US" sz="1600" b="1" dirty="0">
                <a:solidFill>
                  <a:schemeClr val="tx1"/>
                </a:solidFill>
              </a:rPr>
              <a:t>slower on real tasks</a:t>
            </a:r>
            <a:endParaRPr lang="en-US" sz="1600" dirty="0"/>
          </a:p>
        </p:txBody>
      </p:sp>
      <p:sp>
        <p:nvSpPr>
          <p:cNvPr id="11" name="text-346"/>
          <p:cNvSpPr txBox="1"/>
          <p:nvPr/>
        </p:nvSpPr>
        <p:spPr>
          <a:xfrm>
            <a:off x="4612538" y="3429000"/>
            <a:ext cx="2966618" cy="1371600"/>
          </a:xfrm>
          <a:prstGeom prst="rect">
            <a:avLst/>
          </a:prstGeom>
          <a:noFill/>
          <a:ln/>
        </p:spPr>
        <p:txBody>
          <a:bodyPr wrap="square" lIns="0" tIns="0" rIns="0" bIns="0" rtlCol="0" anchor="t"/>
          <a:lstStyle/>
          <a:p>
            <a:pPr indent="0" marL="0">
              <a:buNone/>
            </a:pPr>
            <a:r>
              <a:rPr lang="en-US" sz="1400" dirty="0">
                <a:solidFill>
                  <a:schemeClr val="tx2"/>
                </a:solidFill>
              </a:rPr>
              <a:t>Becker et al. (2025): 16 experienced open-source developers, who believed they were about 20% faster</a:t>
            </a:r>
            <a:endParaRPr lang="en-US" sz="1400" dirty="0"/>
          </a:p>
        </p:txBody>
      </p:sp>
      <p:sp>
        <p:nvSpPr>
          <p:cNvPr id="12" name="card-347"/>
          <p:cNvSpPr/>
          <p:nvPr/>
        </p:nvSpPr>
        <p:spPr>
          <a:xfrm>
            <a:off x="8127797" y="1920240"/>
            <a:ext cx="3515258" cy="3063240"/>
          </a:xfrm>
          <a:prstGeom prst="roundRect">
            <a:avLst>
              <a:gd name="adj" fmla="val 2388"/>
            </a:avLst>
          </a:prstGeom>
          <a:solidFill>
            <a:schemeClr val="bg2"/>
          </a:solidFill>
          <a:ln/>
        </p:spPr>
      </p:sp>
      <p:sp>
        <p:nvSpPr>
          <p:cNvPr id="13" name="text-348"/>
          <p:cNvSpPr txBox="1"/>
          <p:nvPr/>
        </p:nvSpPr>
        <p:spPr>
          <a:xfrm>
            <a:off x="8402117" y="2194560"/>
            <a:ext cx="2966618" cy="685800"/>
          </a:xfrm>
          <a:prstGeom prst="rect">
            <a:avLst/>
          </a:prstGeom>
          <a:noFill/>
          <a:ln/>
        </p:spPr>
        <p:txBody>
          <a:bodyPr wrap="square" lIns="0" tIns="0" rIns="0" bIns="0" rtlCol="0" anchor="t"/>
          <a:lstStyle/>
          <a:p>
            <a:pPr indent="0" marL="0">
              <a:buNone/>
            </a:pPr>
            <a:r>
              <a:rPr lang="en-US" sz="4400" b="1" dirty="0">
                <a:solidFill>
                  <a:schemeClr val="accent2"/>
                </a:solidFill>
                <a:latin typeface="Courier New" pitchFamily="34" charset="0"/>
                <a:ea typeface="Courier New" pitchFamily="34" charset="-122"/>
                <a:cs typeface="Courier New" pitchFamily="34" charset="-120"/>
              </a:rPr>
              <a:t>~40%</a:t>
            </a:r>
            <a:endParaRPr lang="en-US" sz="4400" dirty="0"/>
          </a:p>
        </p:txBody>
      </p:sp>
      <p:sp>
        <p:nvSpPr>
          <p:cNvPr id="14" name="text-349"/>
          <p:cNvSpPr txBox="1"/>
          <p:nvPr/>
        </p:nvSpPr>
        <p:spPr>
          <a:xfrm>
            <a:off x="8402117" y="2971800"/>
            <a:ext cx="2966618" cy="320040"/>
          </a:xfrm>
          <a:prstGeom prst="rect">
            <a:avLst/>
          </a:prstGeom>
          <a:noFill/>
          <a:ln/>
        </p:spPr>
        <p:txBody>
          <a:bodyPr wrap="square" lIns="0" tIns="0" rIns="0" bIns="0" rtlCol="0" anchor="t"/>
          <a:lstStyle/>
          <a:p>
            <a:pPr indent="0" marL="0">
              <a:buNone/>
            </a:pPr>
            <a:r>
              <a:rPr lang="en-US" sz="1600" b="1" dirty="0">
                <a:solidFill>
                  <a:schemeClr val="tx1"/>
                </a:solidFill>
              </a:rPr>
              <a:t>of generated programs vulnerable</a:t>
            </a:r>
            <a:endParaRPr lang="en-US" sz="1600" dirty="0"/>
          </a:p>
        </p:txBody>
      </p:sp>
      <p:sp>
        <p:nvSpPr>
          <p:cNvPr id="15" name="text-350"/>
          <p:cNvSpPr txBox="1"/>
          <p:nvPr/>
        </p:nvSpPr>
        <p:spPr>
          <a:xfrm>
            <a:off x="8402117" y="3429000"/>
            <a:ext cx="2966618" cy="1371600"/>
          </a:xfrm>
          <a:prstGeom prst="rect">
            <a:avLst/>
          </a:prstGeom>
          <a:noFill/>
          <a:ln/>
        </p:spPr>
        <p:txBody>
          <a:bodyPr wrap="square" lIns="0" tIns="0" rIns="0" bIns="0" rtlCol="0" anchor="t"/>
          <a:lstStyle/>
          <a:p>
            <a:pPr indent="0" marL="0">
              <a:buNone/>
            </a:pPr>
            <a:r>
              <a:rPr lang="en-US" sz="1400" dirty="0">
                <a:solidFill>
                  <a:schemeClr val="tx2"/>
                </a:solidFill>
              </a:rPr>
              <a:t>Pearce et al. (2022): 1,689 Copilot programs across 89 security scenarios</a:t>
            </a:r>
            <a:endParaRPr lang="en-US" sz="1400" dirty="0"/>
          </a:p>
        </p:txBody>
      </p:sp>
      <p:sp>
        <p:nvSpPr>
          <p:cNvPr id="16" name="card-351"/>
          <p:cNvSpPr/>
          <p:nvPr/>
        </p:nvSpPr>
        <p:spPr>
          <a:xfrm>
            <a:off x="548640" y="5257800"/>
            <a:ext cx="11094415" cy="640080"/>
          </a:xfrm>
          <a:prstGeom prst="roundRect">
            <a:avLst>
              <a:gd name="adj" fmla="val 11429"/>
            </a:avLst>
          </a:prstGeom>
          <a:solidFill>
            <a:schemeClr val="bg2"/>
          </a:solidFill>
          <a:ln/>
        </p:spPr>
      </p:sp>
      <p:sp>
        <p:nvSpPr>
          <p:cNvPr id="17" name="icon-tile-352"/>
          <p:cNvSpPr/>
          <p:nvPr/>
        </p:nvSpPr>
        <p:spPr>
          <a:xfrm>
            <a:off x="685800" y="5385816"/>
            <a:ext cx="384048" cy="384048"/>
          </a:xfrm>
          <a:prstGeom prst="roundRect">
            <a:avLst>
              <a:gd name="adj" fmla="val 19048"/>
            </a:avLst>
          </a:prstGeom>
          <a:solidFill>
            <a:schemeClr val="accent1"/>
          </a:solidFill>
          <a:ln/>
        </p:spPr>
      </p:sp>
      <p:pic>
        <p:nvPicPr>
          <p:cNvPr id="18" name="icon-353" descr="preencoded.png">    </p:cNvPr>
          <p:cNvPicPr>
            <a:picLocks noChangeAspect="1"/>
          </p:cNvPicPr>
          <p:nvPr/>
        </p:nvPicPr>
        <p:blipFill>
          <a:blip r:embed="rId1"/>
          <a:stretch>
            <a:fillRect/>
          </a:stretch>
        </p:blipFill>
        <p:spPr>
          <a:xfrm>
            <a:off x="777972" y="5477988"/>
            <a:ext cx="199705" cy="199705"/>
          </a:xfrm>
          <a:prstGeom prst="rect">
            <a:avLst/>
          </a:prstGeom>
        </p:spPr>
      </p:pic>
      <p:sp>
        <p:nvSpPr>
          <p:cNvPr id="19" name="text-354"/>
          <p:cNvSpPr txBox="1"/>
          <p:nvPr/>
        </p:nvSpPr>
        <p:spPr>
          <a:xfrm>
            <a:off x="1234440" y="5257800"/>
            <a:ext cx="10225735" cy="640080"/>
          </a:xfrm>
          <a:prstGeom prst="rect">
            <a:avLst/>
          </a:prstGeom>
          <a:noFill/>
          <a:ln/>
        </p:spPr>
        <p:txBody>
          <a:bodyPr wrap="square" lIns="0" tIns="0" rIns="0" bIns="0" rtlCol="0" anchor="ctr"/>
          <a:lstStyle/>
          <a:p>
            <a:pPr indent="0" marL="0">
              <a:buNone/>
            </a:pPr>
            <a:r>
              <a:rPr lang="en-US" sz="1400" dirty="0">
                <a:solidFill>
                  <a:schemeClr val="tx1"/>
                </a:solidFill>
              </a:rPr>
              <a:t>These studies examined earlier tools. Whether the findings hold for a fully delegated agent is still an open question.</a:t>
            </a:r>
            <a:endParaRPr lang="en-US" sz="1400" dirty="0"/>
          </a:p>
        </p:txBody>
      </p:sp>
      <p:sp>
        <p:nvSpPr>
          <p:cNvPr id="20" name="text-35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Peng et al. (2023), arXiv:2302.06590; Becker et al. (2025), METR, arXiv:2507.09089; Pearce et al. (2022), IEEE S&amp;P.</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17</a:t>
            </a:fld>
            <a:endParaRPr lang="en-US"/>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05 / critique</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Five risk areas need critical treatment</a:t>
            </a:r>
            <a:endParaRPr lang="en-US" sz="3200" dirty="0"/>
          </a:p>
        </p:txBody>
      </p:sp>
      <p:sp>
        <p:nvSpPr>
          <p:cNvPr id="4" name="card-356"/>
          <p:cNvSpPr/>
          <p:nvPr/>
        </p:nvSpPr>
        <p:spPr>
          <a:xfrm>
            <a:off x="548640" y="1920240"/>
            <a:ext cx="2036003" cy="3017520"/>
          </a:xfrm>
          <a:prstGeom prst="roundRect">
            <a:avLst>
              <a:gd name="adj" fmla="val 3593"/>
            </a:avLst>
          </a:prstGeom>
          <a:solidFill>
            <a:schemeClr val="bg2"/>
          </a:solidFill>
          <a:ln/>
        </p:spPr>
      </p:sp>
      <p:sp>
        <p:nvSpPr>
          <p:cNvPr id="5" name="icon-tile-357"/>
          <p:cNvSpPr/>
          <p:nvPr/>
        </p:nvSpPr>
        <p:spPr>
          <a:xfrm>
            <a:off x="749808" y="2121408"/>
            <a:ext cx="502920" cy="502920"/>
          </a:xfrm>
          <a:prstGeom prst="roundRect">
            <a:avLst>
              <a:gd name="adj" fmla="val 14545"/>
            </a:avLst>
          </a:prstGeom>
          <a:solidFill>
            <a:schemeClr val="accent6"/>
          </a:solidFill>
          <a:ln/>
        </p:spPr>
      </p:sp>
      <p:pic>
        <p:nvPicPr>
          <p:cNvPr id="6" name="icon-358" descr="preencoded.png">    </p:cNvPr>
          <p:cNvPicPr>
            <a:picLocks noChangeAspect="1"/>
          </p:cNvPicPr>
          <p:nvPr/>
        </p:nvPicPr>
        <p:blipFill>
          <a:blip r:embed="rId1"/>
          <a:stretch>
            <a:fillRect/>
          </a:stretch>
        </p:blipFill>
        <p:spPr>
          <a:xfrm>
            <a:off x="870509" y="2242109"/>
            <a:ext cx="261518" cy="261518"/>
          </a:xfrm>
          <a:prstGeom prst="rect">
            <a:avLst/>
          </a:prstGeom>
        </p:spPr>
      </p:pic>
      <p:sp>
        <p:nvSpPr>
          <p:cNvPr id="7" name="text-359"/>
          <p:cNvSpPr txBox="1"/>
          <p:nvPr/>
        </p:nvSpPr>
        <p:spPr>
          <a:xfrm>
            <a:off x="749808" y="2788920"/>
            <a:ext cx="1670243" cy="320040"/>
          </a:xfrm>
          <a:prstGeom prst="rect">
            <a:avLst/>
          </a:prstGeom>
          <a:noFill/>
          <a:ln/>
        </p:spPr>
        <p:txBody>
          <a:bodyPr wrap="square" lIns="0" tIns="0" rIns="0" bIns="0" rtlCol="0" anchor="t"/>
          <a:lstStyle/>
          <a:p>
            <a:pPr indent="0" marL="0">
              <a:buNone/>
            </a:pPr>
            <a:r>
              <a:rPr lang="en-US" sz="1600" b="1" dirty="0">
                <a:solidFill>
                  <a:schemeClr val="tx1"/>
                </a:solidFill>
              </a:rPr>
              <a:t>Security</a:t>
            </a:r>
            <a:endParaRPr lang="en-US" sz="1600" dirty="0"/>
          </a:p>
        </p:txBody>
      </p:sp>
      <p:sp>
        <p:nvSpPr>
          <p:cNvPr id="8" name="text-360"/>
          <p:cNvSpPr txBox="1"/>
          <p:nvPr/>
        </p:nvSpPr>
        <p:spPr>
          <a:xfrm>
            <a:off x="749808" y="3182112"/>
            <a:ext cx="1651955" cy="1645920"/>
          </a:xfrm>
          <a:prstGeom prst="rect">
            <a:avLst/>
          </a:prstGeom>
          <a:noFill/>
          <a:ln/>
        </p:spPr>
        <p:txBody>
          <a:bodyPr wrap="square" lIns="0" tIns="0" rIns="0" bIns="0" rtlCol="0" anchor="t"/>
          <a:lstStyle/>
          <a:p>
            <a:pPr indent="0" marL="0">
              <a:buNone/>
            </a:pPr>
            <a:r>
              <a:rPr lang="en-US" sz="1400" dirty="0">
                <a:solidFill>
                  <a:schemeClr val="tx2"/>
                </a:solidFill>
              </a:rPr>
              <a:t>Prompt injection; in 2026 crafted branch names could steal GitHub tokens (patched)</a:t>
            </a:r>
            <a:endParaRPr lang="en-US" sz="1400" dirty="0"/>
          </a:p>
        </p:txBody>
      </p:sp>
      <p:sp>
        <p:nvSpPr>
          <p:cNvPr id="9" name="card-361"/>
          <p:cNvSpPr/>
          <p:nvPr/>
        </p:nvSpPr>
        <p:spPr>
          <a:xfrm>
            <a:off x="2813243" y="1920240"/>
            <a:ext cx="2036003" cy="3017520"/>
          </a:xfrm>
          <a:prstGeom prst="roundRect">
            <a:avLst>
              <a:gd name="adj" fmla="val 3593"/>
            </a:avLst>
          </a:prstGeom>
          <a:solidFill>
            <a:schemeClr val="bg2"/>
          </a:solidFill>
          <a:ln/>
        </p:spPr>
      </p:sp>
      <p:sp>
        <p:nvSpPr>
          <p:cNvPr id="10" name="icon-tile-362"/>
          <p:cNvSpPr/>
          <p:nvPr/>
        </p:nvSpPr>
        <p:spPr>
          <a:xfrm>
            <a:off x="3014411" y="2121408"/>
            <a:ext cx="502920" cy="502920"/>
          </a:xfrm>
          <a:prstGeom prst="roundRect">
            <a:avLst>
              <a:gd name="adj" fmla="val 14545"/>
            </a:avLst>
          </a:prstGeom>
          <a:solidFill>
            <a:schemeClr val="accent6"/>
          </a:solidFill>
          <a:ln/>
        </p:spPr>
      </p:sp>
      <p:pic>
        <p:nvPicPr>
          <p:cNvPr id="11" name="icon-363" descr="preencoded.png">    </p:cNvPr>
          <p:cNvPicPr>
            <a:picLocks noChangeAspect="1"/>
          </p:cNvPicPr>
          <p:nvPr/>
        </p:nvPicPr>
        <p:blipFill>
          <a:blip r:embed="rId2"/>
          <a:stretch>
            <a:fillRect/>
          </a:stretch>
        </p:blipFill>
        <p:spPr>
          <a:xfrm>
            <a:off x="3135112" y="2242109"/>
            <a:ext cx="261518" cy="261518"/>
          </a:xfrm>
          <a:prstGeom prst="rect">
            <a:avLst/>
          </a:prstGeom>
        </p:spPr>
      </p:pic>
      <p:sp>
        <p:nvSpPr>
          <p:cNvPr id="12" name="text-364"/>
          <p:cNvSpPr txBox="1"/>
          <p:nvPr/>
        </p:nvSpPr>
        <p:spPr>
          <a:xfrm>
            <a:off x="3014411" y="2788920"/>
            <a:ext cx="1670243" cy="320040"/>
          </a:xfrm>
          <a:prstGeom prst="rect">
            <a:avLst/>
          </a:prstGeom>
          <a:noFill/>
          <a:ln/>
        </p:spPr>
        <p:txBody>
          <a:bodyPr wrap="square" lIns="0" tIns="0" rIns="0" bIns="0" rtlCol="0" anchor="t"/>
          <a:lstStyle/>
          <a:p>
            <a:pPr indent="0" marL="0">
              <a:buNone/>
            </a:pPr>
            <a:r>
              <a:rPr lang="en-US" sz="1600" b="1" dirty="0">
                <a:solidFill>
                  <a:schemeClr val="tx1"/>
                </a:solidFill>
              </a:rPr>
              <a:t>Correctness</a:t>
            </a:r>
            <a:endParaRPr lang="en-US" sz="1600" dirty="0"/>
          </a:p>
        </p:txBody>
      </p:sp>
      <p:sp>
        <p:nvSpPr>
          <p:cNvPr id="13" name="text-365"/>
          <p:cNvSpPr txBox="1"/>
          <p:nvPr/>
        </p:nvSpPr>
        <p:spPr>
          <a:xfrm>
            <a:off x="3014411" y="3182112"/>
            <a:ext cx="1651955" cy="1645920"/>
          </a:xfrm>
          <a:prstGeom prst="rect">
            <a:avLst/>
          </a:prstGeom>
          <a:noFill/>
          <a:ln/>
        </p:spPr>
        <p:txBody>
          <a:bodyPr wrap="square" lIns="0" tIns="0" rIns="0" bIns="0" rtlCol="0" anchor="t"/>
          <a:lstStyle/>
          <a:p>
            <a:pPr indent="0" marL="0">
              <a:buNone/>
            </a:pPr>
            <a:r>
              <a:rPr lang="en-US" sz="1400" dirty="0">
                <a:solidFill>
                  <a:schemeClr val="tx2"/>
                </a:solidFill>
              </a:rPr>
              <a:t>Plausible but wrong code; AI-written patches can miss the flaw or add new ones</a:t>
            </a:r>
            <a:endParaRPr lang="en-US" sz="1400" dirty="0"/>
          </a:p>
        </p:txBody>
      </p:sp>
      <p:sp>
        <p:nvSpPr>
          <p:cNvPr id="14" name="card-366"/>
          <p:cNvSpPr/>
          <p:nvPr/>
        </p:nvSpPr>
        <p:spPr>
          <a:xfrm>
            <a:off x="5077846" y="1920240"/>
            <a:ext cx="2036003" cy="3017520"/>
          </a:xfrm>
          <a:prstGeom prst="roundRect">
            <a:avLst>
              <a:gd name="adj" fmla="val 3593"/>
            </a:avLst>
          </a:prstGeom>
          <a:solidFill>
            <a:schemeClr val="bg2"/>
          </a:solidFill>
          <a:ln/>
        </p:spPr>
      </p:sp>
      <p:sp>
        <p:nvSpPr>
          <p:cNvPr id="15" name="icon-tile-367"/>
          <p:cNvSpPr/>
          <p:nvPr/>
        </p:nvSpPr>
        <p:spPr>
          <a:xfrm>
            <a:off x="5279014" y="2121408"/>
            <a:ext cx="502920" cy="502920"/>
          </a:xfrm>
          <a:prstGeom prst="roundRect">
            <a:avLst>
              <a:gd name="adj" fmla="val 14545"/>
            </a:avLst>
          </a:prstGeom>
          <a:solidFill>
            <a:schemeClr val="accent6"/>
          </a:solidFill>
          <a:ln/>
        </p:spPr>
      </p:sp>
      <p:pic>
        <p:nvPicPr>
          <p:cNvPr id="16" name="icon-368" descr="preencoded.png">    </p:cNvPr>
          <p:cNvPicPr>
            <a:picLocks noChangeAspect="1"/>
          </p:cNvPicPr>
          <p:nvPr/>
        </p:nvPicPr>
        <p:blipFill>
          <a:blip r:embed="rId3"/>
          <a:stretch>
            <a:fillRect/>
          </a:stretch>
        </p:blipFill>
        <p:spPr>
          <a:xfrm>
            <a:off x="5399715" y="2242109"/>
            <a:ext cx="261518" cy="261518"/>
          </a:xfrm>
          <a:prstGeom prst="rect">
            <a:avLst/>
          </a:prstGeom>
        </p:spPr>
      </p:pic>
      <p:sp>
        <p:nvSpPr>
          <p:cNvPr id="17" name="text-369"/>
          <p:cNvSpPr txBox="1"/>
          <p:nvPr/>
        </p:nvSpPr>
        <p:spPr>
          <a:xfrm>
            <a:off x="5279014" y="2788920"/>
            <a:ext cx="1670243" cy="320040"/>
          </a:xfrm>
          <a:prstGeom prst="rect">
            <a:avLst/>
          </a:prstGeom>
          <a:noFill/>
          <a:ln/>
        </p:spPr>
        <p:txBody>
          <a:bodyPr wrap="square" lIns="0" tIns="0" rIns="0" bIns="0" rtlCol="0" anchor="t"/>
          <a:lstStyle/>
          <a:p>
            <a:pPr indent="0" marL="0">
              <a:buNone/>
            </a:pPr>
            <a:r>
              <a:rPr lang="en-US" sz="1600" b="1" dirty="0">
                <a:solidFill>
                  <a:schemeClr val="tx1"/>
                </a:solidFill>
              </a:rPr>
              <a:t>Over-reliance</a:t>
            </a:r>
            <a:endParaRPr lang="en-US" sz="1600" dirty="0"/>
          </a:p>
        </p:txBody>
      </p:sp>
      <p:sp>
        <p:nvSpPr>
          <p:cNvPr id="18" name="text-370"/>
          <p:cNvSpPr txBox="1"/>
          <p:nvPr/>
        </p:nvSpPr>
        <p:spPr>
          <a:xfrm>
            <a:off x="5279014" y="3182112"/>
            <a:ext cx="1651955" cy="1645920"/>
          </a:xfrm>
          <a:prstGeom prst="rect">
            <a:avLst/>
          </a:prstGeom>
          <a:noFill/>
          <a:ln/>
        </p:spPr>
        <p:txBody>
          <a:bodyPr wrap="square" lIns="0" tIns="0" rIns="0" bIns="0" rtlCol="0" anchor="t"/>
          <a:lstStyle/>
          <a:p>
            <a:pPr indent="0" marL="0">
              <a:buNone/>
            </a:pPr>
            <a:r>
              <a:rPr lang="en-US" sz="1400" dirty="0">
                <a:solidFill>
                  <a:schemeClr val="tx2"/>
                </a:solidFill>
              </a:rPr>
              <a:t>Review fatigue, skill erosion and misjudged speed gains</a:t>
            </a:r>
            <a:endParaRPr lang="en-US" sz="1400" dirty="0"/>
          </a:p>
        </p:txBody>
      </p:sp>
      <p:sp>
        <p:nvSpPr>
          <p:cNvPr id="19" name="card-371"/>
          <p:cNvSpPr/>
          <p:nvPr/>
        </p:nvSpPr>
        <p:spPr>
          <a:xfrm>
            <a:off x="7342449" y="1920240"/>
            <a:ext cx="2036003" cy="3017520"/>
          </a:xfrm>
          <a:prstGeom prst="roundRect">
            <a:avLst>
              <a:gd name="adj" fmla="val 3593"/>
            </a:avLst>
          </a:prstGeom>
          <a:solidFill>
            <a:schemeClr val="bg2"/>
          </a:solidFill>
          <a:ln/>
        </p:spPr>
      </p:sp>
      <p:sp>
        <p:nvSpPr>
          <p:cNvPr id="20" name="icon-tile-372"/>
          <p:cNvSpPr/>
          <p:nvPr/>
        </p:nvSpPr>
        <p:spPr>
          <a:xfrm>
            <a:off x="7543617" y="2121408"/>
            <a:ext cx="502920" cy="502920"/>
          </a:xfrm>
          <a:prstGeom prst="roundRect">
            <a:avLst>
              <a:gd name="adj" fmla="val 14545"/>
            </a:avLst>
          </a:prstGeom>
          <a:solidFill>
            <a:schemeClr val="accent6"/>
          </a:solidFill>
          <a:ln/>
        </p:spPr>
      </p:sp>
      <p:pic>
        <p:nvPicPr>
          <p:cNvPr id="21" name="icon-373" descr="preencoded.png">    </p:cNvPr>
          <p:cNvPicPr>
            <a:picLocks noChangeAspect="1"/>
          </p:cNvPicPr>
          <p:nvPr/>
        </p:nvPicPr>
        <p:blipFill>
          <a:blip r:embed="rId4"/>
          <a:stretch>
            <a:fillRect/>
          </a:stretch>
        </p:blipFill>
        <p:spPr>
          <a:xfrm>
            <a:off x="7664318" y="2242109"/>
            <a:ext cx="261518" cy="261518"/>
          </a:xfrm>
          <a:prstGeom prst="rect">
            <a:avLst/>
          </a:prstGeom>
        </p:spPr>
      </p:pic>
      <p:sp>
        <p:nvSpPr>
          <p:cNvPr id="22" name="text-374"/>
          <p:cNvSpPr txBox="1"/>
          <p:nvPr/>
        </p:nvSpPr>
        <p:spPr>
          <a:xfrm>
            <a:off x="7543617" y="2788920"/>
            <a:ext cx="1670243" cy="320040"/>
          </a:xfrm>
          <a:prstGeom prst="rect">
            <a:avLst/>
          </a:prstGeom>
          <a:noFill/>
          <a:ln/>
        </p:spPr>
        <p:txBody>
          <a:bodyPr wrap="square" lIns="0" tIns="0" rIns="0" bIns="0" rtlCol="0" anchor="t"/>
          <a:lstStyle/>
          <a:p>
            <a:pPr indent="0" marL="0">
              <a:buNone/>
            </a:pPr>
            <a:r>
              <a:rPr lang="en-US" sz="1600" b="1" dirty="0">
                <a:solidFill>
                  <a:schemeClr val="tx1"/>
                </a:solidFill>
              </a:rPr>
              <a:t>Legal and IP</a:t>
            </a:r>
            <a:endParaRPr lang="en-US" sz="1600" dirty="0"/>
          </a:p>
        </p:txBody>
      </p:sp>
      <p:sp>
        <p:nvSpPr>
          <p:cNvPr id="23" name="text-375"/>
          <p:cNvSpPr txBox="1"/>
          <p:nvPr/>
        </p:nvSpPr>
        <p:spPr>
          <a:xfrm>
            <a:off x="7543617" y="3182112"/>
            <a:ext cx="1651955" cy="1645920"/>
          </a:xfrm>
          <a:prstGeom prst="rect">
            <a:avLst/>
          </a:prstGeom>
          <a:noFill/>
          <a:ln/>
        </p:spPr>
        <p:txBody>
          <a:bodyPr wrap="square" lIns="0" tIns="0" rIns="0" bIns="0" rtlCol="0" anchor="t"/>
          <a:lstStyle/>
          <a:p>
            <a:pPr indent="0" marL="0">
              <a:buNone/>
            </a:pPr>
            <a:r>
              <a:rPr lang="en-US" sz="1400" dirty="0">
                <a:solidFill>
                  <a:schemeClr val="tx2"/>
                </a:solidFill>
              </a:rPr>
              <a:t>Training on public code and licence attribution, as in Doe v. GitHub</a:t>
            </a:r>
            <a:endParaRPr lang="en-US" sz="1400" dirty="0"/>
          </a:p>
        </p:txBody>
      </p:sp>
      <p:sp>
        <p:nvSpPr>
          <p:cNvPr id="24" name="card-376"/>
          <p:cNvSpPr/>
          <p:nvPr/>
        </p:nvSpPr>
        <p:spPr>
          <a:xfrm>
            <a:off x="9607052" y="1920240"/>
            <a:ext cx="2036003" cy="3017520"/>
          </a:xfrm>
          <a:prstGeom prst="roundRect">
            <a:avLst>
              <a:gd name="adj" fmla="val 3593"/>
            </a:avLst>
          </a:prstGeom>
          <a:solidFill>
            <a:schemeClr val="bg2"/>
          </a:solidFill>
          <a:ln/>
        </p:spPr>
      </p:sp>
      <p:sp>
        <p:nvSpPr>
          <p:cNvPr id="25" name="icon-tile-377"/>
          <p:cNvSpPr/>
          <p:nvPr/>
        </p:nvSpPr>
        <p:spPr>
          <a:xfrm>
            <a:off x="9808220" y="2121408"/>
            <a:ext cx="502920" cy="502920"/>
          </a:xfrm>
          <a:prstGeom prst="roundRect">
            <a:avLst>
              <a:gd name="adj" fmla="val 14545"/>
            </a:avLst>
          </a:prstGeom>
          <a:solidFill>
            <a:schemeClr val="accent6"/>
          </a:solidFill>
          <a:ln/>
        </p:spPr>
      </p:sp>
      <p:pic>
        <p:nvPicPr>
          <p:cNvPr id="26" name="icon-378" descr="preencoded.png">    </p:cNvPr>
          <p:cNvPicPr>
            <a:picLocks noChangeAspect="1"/>
          </p:cNvPicPr>
          <p:nvPr/>
        </p:nvPicPr>
        <p:blipFill>
          <a:blip r:embed="rId5"/>
          <a:stretch>
            <a:fillRect/>
          </a:stretch>
        </p:blipFill>
        <p:spPr>
          <a:xfrm>
            <a:off x="9928921" y="2242109"/>
            <a:ext cx="261518" cy="261518"/>
          </a:xfrm>
          <a:prstGeom prst="rect">
            <a:avLst/>
          </a:prstGeom>
        </p:spPr>
      </p:pic>
      <p:sp>
        <p:nvSpPr>
          <p:cNvPr id="27" name="text-379"/>
          <p:cNvSpPr txBox="1"/>
          <p:nvPr/>
        </p:nvSpPr>
        <p:spPr>
          <a:xfrm>
            <a:off x="9808220" y="2788920"/>
            <a:ext cx="1670243" cy="320040"/>
          </a:xfrm>
          <a:prstGeom prst="rect">
            <a:avLst/>
          </a:prstGeom>
          <a:noFill/>
          <a:ln/>
        </p:spPr>
        <p:txBody>
          <a:bodyPr wrap="square" lIns="0" tIns="0" rIns="0" bIns="0" rtlCol="0" anchor="t"/>
          <a:lstStyle/>
          <a:p>
            <a:pPr indent="0" marL="0">
              <a:buNone/>
            </a:pPr>
            <a:r>
              <a:rPr lang="en-US" sz="1600" b="1" dirty="0">
                <a:solidFill>
                  <a:schemeClr val="tx1"/>
                </a:solidFill>
              </a:rPr>
              <a:t>Dependence</a:t>
            </a:r>
            <a:endParaRPr lang="en-US" sz="1600" dirty="0"/>
          </a:p>
        </p:txBody>
      </p:sp>
      <p:sp>
        <p:nvSpPr>
          <p:cNvPr id="28" name="text-380"/>
          <p:cNvSpPr txBox="1"/>
          <p:nvPr/>
        </p:nvSpPr>
        <p:spPr>
          <a:xfrm>
            <a:off x="9808220" y="3182112"/>
            <a:ext cx="1651955" cy="1645920"/>
          </a:xfrm>
          <a:prstGeom prst="rect">
            <a:avLst/>
          </a:prstGeom>
          <a:noFill/>
          <a:ln/>
        </p:spPr>
        <p:txBody>
          <a:bodyPr wrap="square" lIns="0" tIns="0" rIns="0" bIns="0" rtlCol="0" anchor="t"/>
          <a:lstStyle/>
          <a:p>
            <a:pPr indent="0" marL="0">
              <a:buNone/>
            </a:pPr>
            <a:r>
              <a:rPr lang="en-US" sz="1400" dirty="0">
                <a:solidFill>
                  <a:schemeClr val="tx2"/>
                </a:solidFill>
              </a:rPr>
              <a:t>Vendor lock-in, frequent model changes and data confidentiality</a:t>
            </a:r>
            <a:endParaRPr lang="en-US" sz="1400" dirty="0"/>
          </a:p>
        </p:txBody>
      </p:sp>
      <p:sp>
        <p:nvSpPr>
          <p:cNvPr id="29" name="card-381"/>
          <p:cNvSpPr/>
          <p:nvPr/>
        </p:nvSpPr>
        <p:spPr>
          <a:xfrm>
            <a:off x="548640" y="5212080"/>
            <a:ext cx="11094415" cy="640080"/>
          </a:xfrm>
          <a:prstGeom prst="roundRect">
            <a:avLst>
              <a:gd name="adj" fmla="val 11429"/>
            </a:avLst>
          </a:prstGeom>
          <a:solidFill>
            <a:schemeClr val="bg2"/>
          </a:solidFill>
          <a:ln/>
        </p:spPr>
      </p:sp>
      <p:sp>
        <p:nvSpPr>
          <p:cNvPr id="30" name="icon-tile-382"/>
          <p:cNvSpPr/>
          <p:nvPr/>
        </p:nvSpPr>
        <p:spPr>
          <a:xfrm>
            <a:off x="685800" y="5340096"/>
            <a:ext cx="384048" cy="384048"/>
          </a:xfrm>
          <a:prstGeom prst="roundRect">
            <a:avLst>
              <a:gd name="adj" fmla="val 19048"/>
            </a:avLst>
          </a:prstGeom>
          <a:solidFill>
            <a:schemeClr val="accent1"/>
          </a:solidFill>
          <a:ln/>
        </p:spPr>
      </p:sp>
      <p:pic>
        <p:nvPicPr>
          <p:cNvPr id="31" name="icon-383" descr="preencoded.png">    </p:cNvPr>
          <p:cNvPicPr>
            <a:picLocks noChangeAspect="1"/>
          </p:cNvPicPr>
          <p:nvPr/>
        </p:nvPicPr>
        <p:blipFill>
          <a:blip r:embed="rId6"/>
          <a:stretch>
            <a:fillRect/>
          </a:stretch>
        </p:blipFill>
        <p:spPr>
          <a:xfrm>
            <a:off x="777972" y="5432268"/>
            <a:ext cx="199705" cy="199705"/>
          </a:xfrm>
          <a:prstGeom prst="rect">
            <a:avLst/>
          </a:prstGeom>
        </p:spPr>
      </p:pic>
      <p:sp>
        <p:nvSpPr>
          <p:cNvPr id="32" name="text-384"/>
          <p:cNvSpPr txBox="1"/>
          <p:nvPr/>
        </p:nvSpPr>
        <p:spPr>
          <a:xfrm>
            <a:off x="1234440" y="5212080"/>
            <a:ext cx="10225735" cy="640080"/>
          </a:xfrm>
          <a:prstGeom prst="rect">
            <a:avLst/>
          </a:prstGeom>
          <a:noFill/>
          <a:ln/>
        </p:spPr>
        <p:txBody>
          <a:bodyPr wrap="square" lIns="0" tIns="0" rIns="0" bIns="0" rtlCol="0" anchor="ctr"/>
          <a:lstStyle/>
          <a:p>
            <a:pPr indent="0" marL="0">
              <a:buNone/>
            </a:pPr>
            <a:r>
              <a:rPr lang="en-US" sz="1400" dirty="0">
                <a:solidFill>
                  <a:schemeClr val="tx1"/>
                </a:solidFill>
              </a:rPr>
              <a:t>Common mitigations: least-privilege sandboxing, human review of every diff, and tests as acceptance criteria.</a:t>
            </a:r>
            <a:endParaRPr lang="en-US" sz="1400" dirty="0"/>
          </a:p>
        </p:txBody>
      </p:sp>
      <p:sp>
        <p:nvSpPr>
          <p:cNvPr id="33" name="text-38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SecurityWeek (2026); Dark Reading (Aug 2026); Becker et al. (2025); Doe v. GitHub, N.D. Cal. (filed 2022).</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18</a:t>
            </a:fld>
            <a:endParaRPr lang="en-US"/>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05 / critique</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Ethical and societal questions go beyond the tool</a:t>
            </a:r>
            <a:endParaRPr lang="en-US" sz="3200" dirty="0"/>
          </a:p>
        </p:txBody>
      </p:sp>
      <p:sp>
        <p:nvSpPr>
          <p:cNvPr id="4" name="card-386"/>
          <p:cNvSpPr/>
          <p:nvPr/>
        </p:nvSpPr>
        <p:spPr>
          <a:xfrm>
            <a:off x="548640" y="1920240"/>
            <a:ext cx="4297680" cy="3977640"/>
          </a:xfrm>
          <a:prstGeom prst="roundRect">
            <a:avLst>
              <a:gd name="adj" fmla="val 1839"/>
            </a:avLst>
          </a:prstGeom>
          <a:solidFill>
            <a:schemeClr val="tx1"/>
          </a:solidFill>
          <a:ln/>
        </p:spPr>
      </p:sp>
      <p:sp>
        <p:nvSpPr>
          <p:cNvPr id="5" name="text-387"/>
          <p:cNvSpPr txBox="1"/>
          <p:nvPr/>
        </p:nvSpPr>
        <p:spPr>
          <a:xfrm>
            <a:off x="868680" y="2286000"/>
            <a:ext cx="3657600" cy="1920240"/>
          </a:xfrm>
          <a:prstGeom prst="rect">
            <a:avLst/>
          </a:prstGeom>
          <a:noFill/>
          <a:ln/>
        </p:spPr>
        <p:txBody>
          <a:bodyPr wrap="square" lIns="0" tIns="0" rIns="0" bIns="0" rtlCol="0" anchor="t"/>
          <a:lstStyle/>
          <a:p>
            <a:pPr indent="0" marL="0">
              <a:buNone/>
            </a:pPr>
            <a:r>
              <a:rPr lang="en-US" sz="2400" b="1" dirty="0">
                <a:solidFill>
                  <a:schemeClr val="bg1"/>
                </a:solidFill>
              </a:rPr>
              <a:t>Who is accountable when an agent writes, tests and ships the code?</a:t>
            </a:r>
            <a:endParaRPr lang="en-US" sz="2400" dirty="0"/>
          </a:p>
        </p:txBody>
      </p:sp>
      <p:sp>
        <p:nvSpPr>
          <p:cNvPr id="6" name="text-388"/>
          <p:cNvSpPr txBox="1"/>
          <p:nvPr/>
        </p:nvSpPr>
        <p:spPr>
          <a:xfrm>
            <a:off x="868680" y="4434840"/>
            <a:ext cx="3657600" cy="1188720"/>
          </a:xfrm>
          <a:prstGeom prst="rect">
            <a:avLst/>
          </a:prstGeom>
          <a:noFill/>
          <a:ln/>
        </p:spPr>
        <p:txBody>
          <a:bodyPr wrap="square" lIns="0" tIns="0" rIns="0" bIns="0" rtlCol="0" anchor="t"/>
          <a:lstStyle/>
          <a:p>
            <a:pPr indent="0" marL="0">
              <a:buNone/>
            </a:pPr>
            <a:r>
              <a:rPr lang="en-US" sz="1400" dirty="0">
                <a:solidFill>
                  <a:schemeClr val="accent5"/>
                </a:solidFill>
              </a:rPr>
              <a:t>In current practice a person still reviews and approves each change, so responsibility stays with people.</a:t>
            </a:r>
            <a:endParaRPr lang="en-US" sz="1400" dirty="0"/>
          </a:p>
        </p:txBody>
      </p:sp>
      <p:sp>
        <p:nvSpPr>
          <p:cNvPr id="7" name="icon-tile-389"/>
          <p:cNvSpPr/>
          <p:nvPr/>
        </p:nvSpPr>
        <p:spPr>
          <a:xfrm>
            <a:off x="5257800" y="1956816"/>
            <a:ext cx="548640" cy="548640"/>
          </a:xfrm>
          <a:prstGeom prst="roundRect">
            <a:avLst>
              <a:gd name="adj" fmla="val 13333"/>
            </a:avLst>
          </a:prstGeom>
          <a:solidFill>
            <a:schemeClr val="accent3"/>
          </a:solidFill>
          <a:ln/>
        </p:spPr>
      </p:sp>
      <p:pic>
        <p:nvPicPr>
          <p:cNvPr id="8" name="icon-390" descr="preencoded.png">    </p:cNvPr>
          <p:cNvPicPr>
            <a:picLocks noChangeAspect="1"/>
          </p:cNvPicPr>
          <p:nvPr/>
        </p:nvPicPr>
        <p:blipFill>
          <a:blip r:embed="rId1"/>
          <a:stretch>
            <a:fillRect/>
          </a:stretch>
        </p:blipFill>
        <p:spPr>
          <a:xfrm>
            <a:off x="5389474" y="2088490"/>
            <a:ext cx="285293" cy="285293"/>
          </a:xfrm>
          <a:prstGeom prst="rect">
            <a:avLst/>
          </a:prstGeom>
        </p:spPr>
      </p:pic>
      <p:sp>
        <p:nvSpPr>
          <p:cNvPr id="9" name="text-391"/>
          <p:cNvSpPr txBox="1"/>
          <p:nvPr/>
        </p:nvSpPr>
        <p:spPr>
          <a:xfrm>
            <a:off x="6035040" y="1920240"/>
            <a:ext cx="5608015" cy="292608"/>
          </a:xfrm>
          <a:prstGeom prst="rect">
            <a:avLst/>
          </a:prstGeom>
          <a:noFill/>
          <a:ln/>
        </p:spPr>
        <p:txBody>
          <a:bodyPr wrap="square" lIns="0" tIns="0" rIns="0" bIns="0" rtlCol="0" anchor="t"/>
          <a:lstStyle/>
          <a:p>
            <a:pPr indent="0" marL="0">
              <a:buNone/>
            </a:pPr>
            <a:r>
              <a:rPr lang="en-US" sz="1600" b="1" dirty="0">
                <a:solidFill>
                  <a:schemeClr val="tx1"/>
                </a:solidFill>
              </a:rPr>
              <a:t>Workforce</a:t>
            </a:r>
            <a:endParaRPr lang="en-US" sz="1600" dirty="0"/>
          </a:p>
        </p:txBody>
      </p:sp>
      <p:sp>
        <p:nvSpPr>
          <p:cNvPr id="10" name="text-392"/>
          <p:cNvSpPr txBox="1"/>
          <p:nvPr/>
        </p:nvSpPr>
        <p:spPr>
          <a:xfrm>
            <a:off x="6035040" y="2240280"/>
            <a:ext cx="5608015" cy="548640"/>
          </a:xfrm>
          <a:prstGeom prst="rect">
            <a:avLst/>
          </a:prstGeom>
          <a:noFill/>
          <a:ln/>
        </p:spPr>
        <p:txBody>
          <a:bodyPr wrap="square" lIns="0" tIns="0" rIns="0" bIns="0" rtlCol="0" anchor="t"/>
          <a:lstStyle/>
          <a:p>
            <a:pPr indent="0" marL="0">
              <a:buNone/>
            </a:pPr>
            <a:r>
              <a:rPr lang="en-US" sz="1400" dirty="0">
                <a:solidFill>
                  <a:schemeClr val="tx2"/>
                </a:solidFill>
              </a:rPr>
              <a:t>Work shifts from writing code to specifying and reviewing it; entry-level roles may change most</a:t>
            </a:r>
            <a:endParaRPr lang="en-US" sz="1400" dirty="0"/>
          </a:p>
        </p:txBody>
      </p:sp>
      <p:sp>
        <p:nvSpPr>
          <p:cNvPr id="11" name="icon-tile-393"/>
          <p:cNvSpPr/>
          <p:nvPr/>
        </p:nvSpPr>
        <p:spPr>
          <a:xfrm>
            <a:off x="5257800" y="2962656"/>
            <a:ext cx="548640" cy="548640"/>
          </a:xfrm>
          <a:prstGeom prst="roundRect">
            <a:avLst>
              <a:gd name="adj" fmla="val 13333"/>
            </a:avLst>
          </a:prstGeom>
          <a:solidFill>
            <a:schemeClr val="accent3"/>
          </a:solidFill>
          <a:ln/>
        </p:spPr>
      </p:sp>
      <p:pic>
        <p:nvPicPr>
          <p:cNvPr id="12" name="icon-394" descr="preencoded.png">    </p:cNvPr>
          <p:cNvPicPr>
            <a:picLocks noChangeAspect="1"/>
          </p:cNvPicPr>
          <p:nvPr/>
        </p:nvPicPr>
        <p:blipFill>
          <a:blip r:embed="rId2"/>
          <a:stretch>
            <a:fillRect/>
          </a:stretch>
        </p:blipFill>
        <p:spPr>
          <a:xfrm>
            <a:off x="5389474" y="3094330"/>
            <a:ext cx="285293" cy="285293"/>
          </a:xfrm>
          <a:prstGeom prst="rect">
            <a:avLst/>
          </a:prstGeom>
        </p:spPr>
      </p:pic>
      <p:sp>
        <p:nvSpPr>
          <p:cNvPr id="13" name="text-395"/>
          <p:cNvSpPr txBox="1"/>
          <p:nvPr/>
        </p:nvSpPr>
        <p:spPr>
          <a:xfrm>
            <a:off x="6035040" y="2926080"/>
            <a:ext cx="5608015" cy="292608"/>
          </a:xfrm>
          <a:prstGeom prst="rect">
            <a:avLst/>
          </a:prstGeom>
          <a:noFill/>
          <a:ln/>
        </p:spPr>
        <p:txBody>
          <a:bodyPr wrap="square" lIns="0" tIns="0" rIns="0" bIns="0" rtlCol="0" anchor="t"/>
          <a:lstStyle/>
          <a:p>
            <a:pPr indent="0" marL="0">
              <a:buNone/>
            </a:pPr>
            <a:r>
              <a:rPr lang="en-US" sz="1600" b="1" dirty="0">
                <a:solidFill>
                  <a:schemeClr val="tx1"/>
                </a:solidFill>
              </a:rPr>
              <a:t>Education</a:t>
            </a:r>
            <a:endParaRPr lang="en-US" sz="1600" dirty="0"/>
          </a:p>
        </p:txBody>
      </p:sp>
      <p:sp>
        <p:nvSpPr>
          <p:cNvPr id="14" name="text-396"/>
          <p:cNvSpPr txBox="1"/>
          <p:nvPr/>
        </p:nvSpPr>
        <p:spPr>
          <a:xfrm>
            <a:off x="6035040" y="3246120"/>
            <a:ext cx="5608015" cy="548640"/>
          </a:xfrm>
          <a:prstGeom prst="rect">
            <a:avLst/>
          </a:prstGeom>
          <a:noFill/>
          <a:ln/>
        </p:spPr>
        <p:txBody>
          <a:bodyPr wrap="square" lIns="0" tIns="0" rIns="0" bIns="0" rtlCol="0" anchor="t"/>
          <a:lstStyle/>
          <a:p>
            <a:pPr indent="0" marL="0">
              <a:buNone/>
            </a:pPr>
            <a:r>
              <a:rPr lang="en-US" sz="1400" dirty="0">
                <a:solidFill>
                  <a:schemeClr val="tx2"/>
                </a:solidFill>
              </a:rPr>
              <a:t>Programming courses must rethink assessment and which skills to teach</a:t>
            </a:r>
            <a:endParaRPr lang="en-US" sz="1400" dirty="0"/>
          </a:p>
        </p:txBody>
      </p:sp>
      <p:sp>
        <p:nvSpPr>
          <p:cNvPr id="15" name="icon-tile-397"/>
          <p:cNvSpPr/>
          <p:nvPr/>
        </p:nvSpPr>
        <p:spPr>
          <a:xfrm>
            <a:off x="5257800" y="3968496"/>
            <a:ext cx="548640" cy="548640"/>
          </a:xfrm>
          <a:prstGeom prst="roundRect">
            <a:avLst>
              <a:gd name="adj" fmla="val 13333"/>
            </a:avLst>
          </a:prstGeom>
          <a:solidFill>
            <a:schemeClr val="accent3"/>
          </a:solidFill>
          <a:ln/>
        </p:spPr>
      </p:sp>
      <p:pic>
        <p:nvPicPr>
          <p:cNvPr id="16" name="icon-398" descr="preencoded.png">    </p:cNvPr>
          <p:cNvPicPr>
            <a:picLocks noChangeAspect="1"/>
          </p:cNvPicPr>
          <p:nvPr/>
        </p:nvPicPr>
        <p:blipFill>
          <a:blip r:embed="rId3"/>
          <a:stretch>
            <a:fillRect/>
          </a:stretch>
        </p:blipFill>
        <p:spPr>
          <a:xfrm>
            <a:off x="5389474" y="4100170"/>
            <a:ext cx="285293" cy="285293"/>
          </a:xfrm>
          <a:prstGeom prst="rect">
            <a:avLst/>
          </a:prstGeom>
        </p:spPr>
      </p:pic>
      <p:sp>
        <p:nvSpPr>
          <p:cNvPr id="17" name="text-399"/>
          <p:cNvSpPr txBox="1"/>
          <p:nvPr/>
        </p:nvSpPr>
        <p:spPr>
          <a:xfrm>
            <a:off x="6035040" y="3931920"/>
            <a:ext cx="5608015" cy="292608"/>
          </a:xfrm>
          <a:prstGeom prst="rect">
            <a:avLst/>
          </a:prstGeom>
          <a:noFill/>
          <a:ln/>
        </p:spPr>
        <p:txBody>
          <a:bodyPr wrap="square" lIns="0" tIns="0" rIns="0" bIns="0" rtlCol="0" anchor="t"/>
          <a:lstStyle/>
          <a:p>
            <a:pPr indent="0" marL="0">
              <a:buNone/>
            </a:pPr>
            <a:r>
              <a:rPr lang="en-US" sz="1600" b="1" dirty="0">
                <a:solidFill>
                  <a:schemeClr val="tx1"/>
                </a:solidFill>
              </a:rPr>
              <a:t>Open source</a:t>
            </a:r>
            <a:endParaRPr lang="en-US" sz="1600" dirty="0"/>
          </a:p>
        </p:txBody>
      </p:sp>
      <p:sp>
        <p:nvSpPr>
          <p:cNvPr id="18" name="text-400"/>
          <p:cNvSpPr txBox="1"/>
          <p:nvPr/>
        </p:nvSpPr>
        <p:spPr>
          <a:xfrm>
            <a:off x="6035040" y="4251960"/>
            <a:ext cx="5608015" cy="548640"/>
          </a:xfrm>
          <a:prstGeom prst="rect">
            <a:avLst/>
          </a:prstGeom>
          <a:noFill/>
          <a:ln/>
        </p:spPr>
        <p:txBody>
          <a:bodyPr wrap="square" lIns="0" tIns="0" rIns="0" bIns="0" rtlCol="0" anchor="t"/>
          <a:lstStyle/>
          <a:p>
            <a:pPr indent="0" marL="0">
              <a:buNone/>
            </a:pPr>
            <a:r>
              <a:rPr lang="en-US" sz="1400" dirty="0">
                <a:solidFill>
                  <a:schemeClr val="tx2"/>
                </a:solidFill>
              </a:rPr>
              <a:t>Maintainers receive more AI-generated contributions and AI-found vulnerability reports</a:t>
            </a:r>
            <a:endParaRPr lang="en-US" sz="1400" dirty="0"/>
          </a:p>
        </p:txBody>
      </p:sp>
      <p:sp>
        <p:nvSpPr>
          <p:cNvPr id="19" name="icon-tile-401"/>
          <p:cNvSpPr/>
          <p:nvPr/>
        </p:nvSpPr>
        <p:spPr>
          <a:xfrm>
            <a:off x="5257800" y="4974336"/>
            <a:ext cx="548640" cy="548640"/>
          </a:xfrm>
          <a:prstGeom prst="roundRect">
            <a:avLst>
              <a:gd name="adj" fmla="val 13333"/>
            </a:avLst>
          </a:prstGeom>
          <a:solidFill>
            <a:schemeClr val="accent3"/>
          </a:solidFill>
          <a:ln/>
        </p:spPr>
      </p:sp>
      <p:pic>
        <p:nvPicPr>
          <p:cNvPr id="20" name="icon-402" descr="preencoded.png">    </p:cNvPr>
          <p:cNvPicPr>
            <a:picLocks noChangeAspect="1"/>
          </p:cNvPicPr>
          <p:nvPr/>
        </p:nvPicPr>
        <p:blipFill>
          <a:blip r:embed="rId4"/>
          <a:stretch>
            <a:fillRect/>
          </a:stretch>
        </p:blipFill>
        <p:spPr>
          <a:xfrm>
            <a:off x="5389474" y="5106010"/>
            <a:ext cx="285293" cy="285293"/>
          </a:xfrm>
          <a:prstGeom prst="rect">
            <a:avLst/>
          </a:prstGeom>
        </p:spPr>
      </p:pic>
      <p:sp>
        <p:nvSpPr>
          <p:cNvPr id="21" name="text-403"/>
          <p:cNvSpPr txBox="1"/>
          <p:nvPr/>
        </p:nvSpPr>
        <p:spPr>
          <a:xfrm>
            <a:off x="6035040" y="4937760"/>
            <a:ext cx="5608015" cy="292608"/>
          </a:xfrm>
          <a:prstGeom prst="rect">
            <a:avLst/>
          </a:prstGeom>
          <a:noFill/>
          <a:ln/>
        </p:spPr>
        <p:txBody>
          <a:bodyPr wrap="square" lIns="0" tIns="0" rIns="0" bIns="0" rtlCol="0" anchor="t"/>
          <a:lstStyle/>
          <a:p>
            <a:pPr indent="0" marL="0">
              <a:buNone/>
            </a:pPr>
            <a:r>
              <a:rPr lang="en-US" sz="1600" b="1" dirty="0">
                <a:solidFill>
                  <a:schemeClr val="tx1"/>
                </a:solidFill>
              </a:rPr>
              <a:t>Environment</a:t>
            </a:r>
            <a:endParaRPr lang="en-US" sz="1600" dirty="0"/>
          </a:p>
        </p:txBody>
      </p:sp>
      <p:sp>
        <p:nvSpPr>
          <p:cNvPr id="22" name="text-404"/>
          <p:cNvSpPr txBox="1"/>
          <p:nvPr/>
        </p:nvSpPr>
        <p:spPr>
          <a:xfrm>
            <a:off x="6035040" y="5257800"/>
            <a:ext cx="5608015" cy="548640"/>
          </a:xfrm>
          <a:prstGeom prst="rect">
            <a:avLst/>
          </a:prstGeom>
          <a:noFill/>
          <a:ln/>
        </p:spPr>
        <p:txBody>
          <a:bodyPr wrap="square" lIns="0" tIns="0" rIns="0" bIns="0" rtlCol="0" anchor="t"/>
          <a:lstStyle/>
          <a:p>
            <a:pPr indent="0" marL="0">
              <a:buNone/>
            </a:pPr>
            <a:r>
              <a:rPr lang="en-US" sz="1400" dirty="0">
                <a:solidFill>
                  <a:schemeClr val="tx2"/>
                </a:solidFill>
              </a:rPr>
              <a:t>Long-running agents use far more compute than single code completions</a:t>
            </a:r>
            <a:endParaRPr lang="en-US" sz="14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19</a:t>
            </a:fld>
            <a:endParaRPr lang="en-US"/>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05 / critique</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SWOT: wide reach and openness, offset by churn and strong rivals</a:t>
            </a:r>
            <a:endParaRPr lang="en-US" sz="3200" dirty="0"/>
          </a:p>
        </p:txBody>
      </p:sp>
      <p:sp>
        <p:nvSpPr>
          <p:cNvPr id="4" name="card-405"/>
          <p:cNvSpPr/>
          <p:nvPr/>
        </p:nvSpPr>
        <p:spPr>
          <a:xfrm>
            <a:off x="548640" y="1920240"/>
            <a:ext cx="5410048" cy="1874520"/>
          </a:xfrm>
          <a:prstGeom prst="roundRect">
            <a:avLst>
              <a:gd name="adj" fmla="val 3902"/>
            </a:avLst>
          </a:prstGeom>
          <a:solidFill>
            <a:schemeClr val="bg2"/>
          </a:solidFill>
          <a:ln/>
        </p:spPr>
      </p:sp>
      <p:sp>
        <p:nvSpPr>
          <p:cNvPr id="5" name="letter-tile-406"/>
          <p:cNvSpPr/>
          <p:nvPr/>
        </p:nvSpPr>
        <p:spPr>
          <a:xfrm>
            <a:off x="777240" y="2148840"/>
            <a:ext cx="548640" cy="548640"/>
          </a:xfrm>
          <a:prstGeom prst="roundRect">
            <a:avLst>
              <a:gd name="adj" fmla="val 13333"/>
            </a:avLst>
          </a:prstGeom>
          <a:solidFill>
            <a:schemeClr val="accent1"/>
          </a:solidFill>
          <a:ln/>
        </p:spPr>
      </p:sp>
      <p:sp>
        <p:nvSpPr>
          <p:cNvPr id="6" name="text-407"/>
          <p:cNvSpPr txBox="1"/>
          <p:nvPr/>
        </p:nvSpPr>
        <p:spPr>
          <a:xfrm>
            <a:off x="777240" y="2148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S</a:t>
            </a:r>
            <a:endParaRPr lang="en-US" sz="1800" dirty="0"/>
          </a:p>
        </p:txBody>
      </p:sp>
      <p:sp>
        <p:nvSpPr>
          <p:cNvPr id="7" name="text-408"/>
          <p:cNvSpPr txBox="1"/>
          <p:nvPr/>
        </p:nvSpPr>
        <p:spPr>
          <a:xfrm>
            <a:off x="1554480" y="2121408"/>
            <a:ext cx="4129888" cy="320040"/>
          </a:xfrm>
          <a:prstGeom prst="rect">
            <a:avLst/>
          </a:prstGeom>
          <a:noFill/>
          <a:ln/>
        </p:spPr>
        <p:txBody>
          <a:bodyPr wrap="square" lIns="0" tIns="0" rIns="0" bIns="0" rtlCol="0" anchor="t"/>
          <a:lstStyle/>
          <a:p>
            <a:pPr indent="0" marL="0">
              <a:buNone/>
            </a:pPr>
            <a:r>
              <a:rPr lang="en-US" sz="1800" b="1" dirty="0">
                <a:solidFill>
                  <a:schemeClr val="tx1"/>
                </a:solidFill>
              </a:rPr>
              <a:t>Strengths</a:t>
            </a:r>
            <a:endParaRPr lang="en-US" sz="1800" dirty="0"/>
          </a:p>
        </p:txBody>
      </p:sp>
      <p:sp>
        <p:nvSpPr>
          <p:cNvPr id="8" name="text-409"/>
          <p:cNvSpPr txBox="1"/>
          <p:nvPr/>
        </p:nvSpPr>
        <p:spPr>
          <a:xfrm>
            <a:off x="1554480" y="2542032"/>
            <a:ext cx="4129888"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Bundled with ChatGPT plans for wide reach</a:t>
            </a:r>
            <a:endParaRPr lang="en-US" sz="1400" dirty="0"/>
          </a:p>
          <a:p>
            <a:pPr marL="342900" indent="-342900">
              <a:spcAft>
                <a:spcPts val="400"/>
              </a:spcAft>
              <a:buSzPct val="100000"/>
              <a:buChar char="•"/>
            </a:pPr>
            <a:r>
              <a:rPr lang="en-US" sz="1400" dirty="0">
                <a:solidFill>
                  <a:schemeClr val="tx2"/>
                </a:solidFill>
              </a:rPr>
              <a:t>Open-source CLI with OS-level sandboxing</a:t>
            </a:r>
            <a:endParaRPr lang="en-US" sz="1400" dirty="0"/>
          </a:p>
          <a:p>
            <a:pPr marL="342900" indent="-342900">
              <a:spcAft>
                <a:spcPts val="400"/>
              </a:spcAft>
              <a:buSzPct val="100000"/>
              <a:buChar char="•"/>
            </a:pPr>
            <a:r>
              <a:rPr lang="en-US" sz="1400" dirty="0">
                <a:solidFill>
                  <a:schemeClr val="tx2"/>
                </a:solidFill>
              </a:rPr>
              <a:t>Strong vendor-reported benchmark results</a:t>
            </a:r>
            <a:endParaRPr lang="en-US" sz="1400" dirty="0"/>
          </a:p>
        </p:txBody>
      </p:sp>
      <p:sp>
        <p:nvSpPr>
          <p:cNvPr id="9" name="card-410"/>
          <p:cNvSpPr/>
          <p:nvPr/>
        </p:nvSpPr>
        <p:spPr>
          <a:xfrm>
            <a:off x="6233008" y="1920240"/>
            <a:ext cx="5410048" cy="1874520"/>
          </a:xfrm>
          <a:prstGeom prst="roundRect">
            <a:avLst>
              <a:gd name="adj" fmla="val 3902"/>
            </a:avLst>
          </a:prstGeom>
          <a:solidFill>
            <a:schemeClr val="bg2"/>
          </a:solidFill>
          <a:ln/>
        </p:spPr>
      </p:sp>
      <p:sp>
        <p:nvSpPr>
          <p:cNvPr id="10" name="letter-tile-411"/>
          <p:cNvSpPr/>
          <p:nvPr/>
        </p:nvSpPr>
        <p:spPr>
          <a:xfrm>
            <a:off x="6461608" y="2148840"/>
            <a:ext cx="548640" cy="548640"/>
          </a:xfrm>
          <a:prstGeom prst="roundRect">
            <a:avLst>
              <a:gd name="adj" fmla="val 13333"/>
            </a:avLst>
          </a:prstGeom>
          <a:solidFill>
            <a:schemeClr val="accent2"/>
          </a:solidFill>
          <a:ln/>
        </p:spPr>
      </p:sp>
      <p:sp>
        <p:nvSpPr>
          <p:cNvPr id="11" name="text-412"/>
          <p:cNvSpPr txBox="1"/>
          <p:nvPr/>
        </p:nvSpPr>
        <p:spPr>
          <a:xfrm>
            <a:off x="6461608" y="21488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W</a:t>
            </a:r>
            <a:endParaRPr lang="en-US" sz="1800" dirty="0"/>
          </a:p>
        </p:txBody>
      </p:sp>
      <p:sp>
        <p:nvSpPr>
          <p:cNvPr id="12" name="text-413"/>
          <p:cNvSpPr txBox="1"/>
          <p:nvPr/>
        </p:nvSpPr>
        <p:spPr>
          <a:xfrm>
            <a:off x="7238848" y="2121408"/>
            <a:ext cx="4129888" cy="320040"/>
          </a:xfrm>
          <a:prstGeom prst="rect">
            <a:avLst/>
          </a:prstGeom>
          <a:noFill/>
          <a:ln/>
        </p:spPr>
        <p:txBody>
          <a:bodyPr wrap="square" lIns="0" tIns="0" rIns="0" bIns="0" rtlCol="0" anchor="t"/>
          <a:lstStyle/>
          <a:p>
            <a:pPr indent="0" marL="0">
              <a:buNone/>
            </a:pPr>
            <a:r>
              <a:rPr lang="en-US" sz="1800" b="1" dirty="0">
                <a:solidFill>
                  <a:schemeClr val="tx1"/>
                </a:solidFill>
              </a:rPr>
              <a:t>Weaknesses</a:t>
            </a:r>
            <a:endParaRPr lang="en-US" sz="1800" dirty="0"/>
          </a:p>
        </p:txBody>
      </p:sp>
      <p:sp>
        <p:nvSpPr>
          <p:cNvPr id="13" name="text-414"/>
          <p:cNvSpPr txBox="1"/>
          <p:nvPr/>
        </p:nvSpPr>
        <p:spPr>
          <a:xfrm>
            <a:off x="7238848" y="2542032"/>
            <a:ext cx="4129888"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Rapid model turnover hinders reproducibility</a:t>
            </a:r>
            <a:endParaRPr lang="en-US" sz="1400" dirty="0"/>
          </a:p>
          <a:p>
            <a:pPr marL="342900" indent="-342900">
              <a:spcAft>
                <a:spcPts val="400"/>
              </a:spcAft>
              <a:buSzPct val="100000"/>
              <a:buChar char="•"/>
            </a:pPr>
            <a:r>
              <a:rPr lang="en-US" sz="1400" dirty="0">
                <a:solidFill>
                  <a:schemeClr val="tx2"/>
                </a:solidFill>
              </a:rPr>
              <a:t>Lower user ratings than its closest rival</a:t>
            </a:r>
            <a:endParaRPr lang="en-US" sz="1400" dirty="0"/>
          </a:p>
          <a:p>
            <a:pPr marL="342900" indent="-342900">
              <a:spcAft>
                <a:spcPts val="400"/>
              </a:spcAft>
              <a:buSzPct val="100000"/>
              <a:buChar char="•"/>
            </a:pPr>
            <a:r>
              <a:rPr lang="en-US" sz="1400" dirty="0">
                <a:solidFill>
                  <a:schemeClr val="tx2"/>
                </a:solidFill>
              </a:rPr>
              <a:t>Token billing can make costs hard to predict</a:t>
            </a:r>
            <a:endParaRPr lang="en-US" sz="1400" dirty="0"/>
          </a:p>
        </p:txBody>
      </p:sp>
      <p:sp>
        <p:nvSpPr>
          <p:cNvPr id="14" name="card-415"/>
          <p:cNvSpPr/>
          <p:nvPr/>
        </p:nvSpPr>
        <p:spPr>
          <a:xfrm>
            <a:off x="548640" y="4023360"/>
            <a:ext cx="5410048" cy="1874520"/>
          </a:xfrm>
          <a:prstGeom prst="roundRect">
            <a:avLst>
              <a:gd name="adj" fmla="val 3902"/>
            </a:avLst>
          </a:prstGeom>
          <a:solidFill>
            <a:schemeClr val="bg2"/>
          </a:solidFill>
          <a:ln/>
        </p:spPr>
      </p:sp>
      <p:sp>
        <p:nvSpPr>
          <p:cNvPr id="15" name="letter-tile-416"/>
          <p:cNvSpPr/>
          <p:nvPr/>
        </p:nvSpPr>
        <p:spPr>
          <a:xfrm>
            <a:off x="777240" y="4251960"/>
            <a:ext cx="548640" cy="548640"/>
          </a:xfrm>
          <a:prstGeom prst="roundRect">
            <a:avLst>
              <a:gd name="adj" fmla="val 13333"/>
            </a:avLst>
          </a:prstGeom>
          <a:solidFill>
            <a:schemeClr val="accent3"/>
          </a:solidFill>
          <a:ln/>
        </p:spPr>
      </p:sp>
      <p:sp>
        <p:nvSpPr>
          <p:cNvPr id="16" name="text-417"/>
          <p:cNvSpPr txBox="1"/>
          <p:nvPr/>
        </p:nvSpPr>
        <p:spPr>
          <a:xfrm>
            <a:off x="777240" y="42519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O</a:t>
            </a:r>
            <a:endParaRPr lang="en-US" sz="1800" dirty="0"/>
          </a:p>
        </p:txBody>
      </p:sp>
      <p:sp>
        <p:nvSpPr>
          <p:cNvPr id="17" name="text-418"/>
          <p:cNvSpPr txBox="1"/>
          <p:nvPr/>
        </p:nvSpPr>
        <p:spPr>
          <a:xfrm>
            <a:off x="1554480" y="4224528"/>
            <a:ext cx="4129888" cy="320040"/>
          </a:xfrm>
          <a:prstGeom prst="rect">
            <a:avLst/>
          </a:prstGeom>
          <a:noFill/>
          <a:ln/>
        </p:spPr>
        <p:txBody>
          <a:bodyPr wrap="square" lIns="0" tIns="0" rIns="0" bIns="0" rtlCol="0" anchor="t"/>
          <a:lstStyle/>
          <a:p>
            <a:pPr indent="0" marL="0">
              <a:buNone/>
            </a:pPr>
            <a:r>
              <a:rPr lang="en-US" sz="1800" b="1" dirty="0">
                <a:solidFill>
                  <a:schemeClr val="tx1"/>
                </a:solidFill>
              </a:rPr>
              <a:t>Opportunities</a:t>
            </a:r>
            <a:endParaRPr lang="en-US" sz="1800" dirty="0"/>
          </a:p>
        </p:txBody>
      </p:sp>
      <p:sp>
        <p:nvSpPr>
          <p:cNvPr id="18" name="text-419"/>
          <p:cNvSpPr txBox="1"/>
          <p:nvPr/>
        </p:nvSpPr>
        <p:spPr>
          <a:xfrm>
            <a:off x="1554480" y="4645152"/>
            <a:ext cx="4129888"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Knowledge work beyond software engineering</a:t>
            </a:r>
            <a:endParaRPr lang="en-US" sz="1400" dirty="0"/>
          </a:p>
          <a:p>
            <a:pPr marL="342900" indent="-342900">
              <a:spcAft>
                <a:spcPts val="400"/>
              </a:spcAft>
              <a:buSzPct val="100000"/>
              <a:buChar char="•"/>
            </a:pPr>
            <a:r>
              <a:rPr lang="en-US" sz="1400" dirty="0">
                <a:solidFill>
                  <a:schemeClr val="tx2"/>
                </a:solidFill>
              </a:rPr>
              <a:t>Enterprise demand for security scanning</a:t>
            </a:r>
            <a:endParaRPr lang="en-US" sz="1400" dirty="0"/>
          </a:p>
          <a:p>
            <a:pPr marL="342900" indent="-342900">
              <a:spcAft>
                <a:spcPts val="400"/>
              </a:spcAft>
              <a:buSzPct val="100000"/>
              <a:buChar char="•"/>
            </a:pPr>
            <a:r>
              <a:rPr lang="en-US" sz="1400" dirty="0">
                <a:solidFill>
                  <a:schemeClr val="tx2"/>
                </a:solidFill>
              </a:rPr>
              <a:t>Student and open-source programmes</a:t>
            </a:r>
            <a:endParaRPr lang="en-US" sz="1400" dirty="0"/>
          </a:p>
        </p:txBody>
      </p:sp>
      <p:sp>
        <p:nvSpPr>
          <p:cNvPr id="19" name="card-420"/>
          <p:cNvSpPr/>
          <p:nvPr/>
        </p:nvSpPr>
        <p:spPr>
          <a:xfrm>
            <a:off x="6233008" y="4023360"/>
            <a:ext cx="5410048" cy="1874520"/>
          </a:xfrm>
          <a:prstGeom prst="roundRect">
            <a:avLst>
              <a:gd name="adj" fmla="val 3902"/>
            </a:avLst>
          </a:prstGeom>
          <a:solidFill>
            <a:schemeClr val="bg2"/>
          </a:solidFill>
          <a:ln/>
        </p:spPr>
      </p:sp>
      <p:sp>
        <p:nvSpPr>
          <p:cNvPr id="20" name="letter-tile-421"/>
          <p:cNvSpPr/>
          <p:nvPr/>
        </p:nvSpPr>
        <p:spPr>
          <a:xfrm>
            <a:off x="6461608" y="4251960"/>
            <a:ext cx="548640" cy="548640"/>
          </a:xfrm>
          <a:prstGeom prst="roundRect">
            <a:avLst>
              <a:gd name="adj" fmla="val 13333"/>
            </a:avLst>
          </a:prstGeom>
          <a:solidFill>
            <a:schemeClr val="accent6"/>
          </a:solidFill>
          <a:ln/>
        </p:spPr>
      </p:sp>
      <p:sp>
        <p:nvSpPr>
          <p:cNvPr id="21" name="text-422"/>
          <p:cNvSpPr txBox="1"/>
          <p:nvPr/>
        </p:nvSpPr>
        <p:spPr>
          <a:xfrm>
            <a:off x="6461608" y="425196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T</a:t>
            </a:r>
            <a:endParaRPr lang="en-US" sz="1800" dirty="0"/>
          </a:p>
        </p:txBody>
      </p:sp>
      <p:sp>
        <p:nvSpPr>
          <p:cNvPr id="22" name="text-423"/>
          <p:cNvSpPr txBox="1"/>
          <p:nvPr/>
        </p:nvSpPr>
        <p:spPr>
          <a:xfrm>
            <a:off x="7238848" y="4224528"/>
            <a:ext cx="4129888" cy="320040"/>
          </a:xfrm>
          <a:prstGeom prst="rect">
            <a:avLst/>
          </a:prstGeom>
          <a:noFill/>
          <a:ln/>
        </p:spPr>
        <p:txBody>
          <a:bodyPr wrap="square" lIns="0" tIns="0" rIns="0" bIns="0" rtlCol="0" anchor="t"/>
          <a:lstStyle/>
          <a:p>
            <a:pPr indent="0" marL="0">
              <a:buNone/>
            </a:pPr>
            <a:r>
              <a:rPr lang="en-US" sz="1800" b="1" dirty="0">
                <a:solidFill>
                  <a:schemeClr val="tx1"/>
                </a:solidFill>
              </a:rPr>
              <a:t>Threats</a:t>
            </a:r>
            <a:endParaRPr lang="en-US" sz="1800" dirty="0"/>
          </a:p>
        </p:txBody>
      </p:sp>
      <p:sp>
        <p:nvSpPr>
          <p:cNvPr id="23" name="text-424"/>
          <p:cNvSpPr txBox="1"/>
          <p:nvPr/>
        </p:nvSpPr>
        <p:spPr>
          <a:xfrm>
            <a:off x="7238848" y="4645152"/>
            <a:ext cx="4129888" cy="1143000"/>
          </a:xfrm>
          <a:prstGeom prst="rect">
            <a:avLst/>
          </a:prstGeom>
          <a:noFill/>
          <a:ln/>
        </p:spPr>
        <p:txBody>
          <a:bodyPr wrap="square" lIns="0" tIns="0" rIns="0" bIns="0" rtlCol="0" anchor="t"/>
          <a:lstStyle/>
          <a:p>
            <a:pPr marL="342900" indent="-342900">
              <a:spcAft>
                <a:spcPts val="400"/>
              </a:spcAft>
              <a:buSzPct val="100000"/>
              <a:buChar char="•"/>
            </a:pPr>
            <a:r>
              <a:rPr lang="en-US" sz="1400" dirty="0">
                <a:solidFill>
                  <a:schemeClr val="tx2"/>
                </a:solidFill>
              </a:rPr>
              <a:t>Well-funded rivals with loyal developers</a:t>
            </a:r>
            <a:endParaRPr lang="en-US" sz="1400" dirty="0"/>
          </a:p>
          <a:p>
            <a:pPr marL="342900" indent="-342900">
              <a:spcAft>
                <a:spcPts val="400"/>
              </a:spcAft>
              <a:buSzPct val="100000"/>
              <a:buChar char="•"/>
            </a:pPr>
            <a:r>
              <a:rPr lang="en-US" sz="1400" dirty="0">
                <a:solidFill>
                  <a:schemeClr val="tx2"/>
                </a:solidFill>
              </a:rPr>
              <a:t>Prompt injection and supply-chain attacks</a:t>
            </a:r>
            <a:endParaRPr lang="en-US" sz="1400" dirty="0"/>
          </a:p>
          <a:p>
            <a:pPr marL="342900" indent="-342900">
              <a:spcAft>
                <a:spcPts val="400"/>
              </a:spcAft>
              <a:buSzPct val="100000"/>
              <a:buChar char="•"/>
            </a:pPr>
            <a:r>
              <a:rPr lang="en-US" sz="1400" dirty="0">
                <a:solidFill>
                  <a:schemeClr val="tx2"/>
                </a:solidFill>
              </a:rPr>
              <a:t>IP litigation and emerging AI regulation</a:t>
            </a:r>
            <a:endParaRPr lang="en-US" sz="1400" dirty="0"/>
          </a:p>
        </p:txBody>
      </p:sp>
      <p:sp>
        <p:nvSpPr>
          <p:cNvPr id="24" name="text-425"/>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Author's synthesis of the preceding slides. Ratings: VS Code Marketplace, 3.1 vs 3.7 out of 5 (26 Sept 2026, via gradually.ai).</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20</a:t>
            </a:fld>
            <a:endParaRPr lang="en-US"/>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06 / research</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Open gaps suggest four dissertation questions</a:t>
            </a:r>
            <a:endParaRPr lang="en-US" sz="3200" dirty="0"/>
          </a:p>
        </p:txBody>
      </p:sp>
      <p:sp>
        <p:nvSpPr>
          <p:cNvPr id="4" name="card-426"/>
          <p:cNvSpPr/>
          <p:nvPr/>
        </p:nvSpPr>
        <p:spPr>
          <a:xfrm>
            <a:off x="548640" y="1920240"/>
            <a:ext cx="11094415" cy="804672"/>
          </a:xfrm>
          <a:prstGeom prst="roundRect">
            <a:avLst>
              <a:gd name="adj" fmla="val 9091"/>
            </a:avLst>
          </a:prstGeom>
          <a:solidFill>
            <a:schemeClr val="bg2"/>
          </a:solidFill>
          <a:ln/>
        </p:spPr>
      </p:sp>
      <p:sp>
        <p:nvSpPr>
          <p:cNvPr id="5" name="text-427"/>
          <p:cNvSpPr txBox="1"/>
          <p:nvPr/>
        </p:nvSpPr>
        <p:spPr>
          <a:xfrm>
            <a:off x="822960" y="1920240"/>
            <a:ext cx="8229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RQ1</a:t>
            </a:r>
            <a:endParaRPr lang="en-US" sz="1600" dirty="0"/>
          </a:p>
        </p:txBody>
      </p:sp>
      <p:sp>
        <p:nvSpPr>
          <p:cNvPr id="6" name="text-428"/>
          <p:cNvSpPr txBox="1"/>
          <p:nvPr/>
        </p:nvSpPr>
        <p:spPr>
          <a:xfrm>
            <a:off x="1737360" y="1920240"/>
            <a:ext cx="1828800" cy="804672"/>
          </a:xfrm>
          <a:prstGeom prst="rect">
            <a:avLst/>
          </a:prstGeom>
          <a:noFill/>
          <a:ln/>
        </p:spPr>
        <p:txBody>
          <a:bodyPr wrap="square" lIns="0" tIns="0" rIns="0" bIns="0" rtlCol="0" anchor="ctr"/>
          <a:lstStyle/>
          <a:p>
            <a:pPr indent="0" marL="0">
              <a:buNone/>
            </a:pPr>
            <a:r>
              <a:rPr lang="en-US" sz="1600" b="1" dirty="0">
                <a:solidFill>
                  <a:schemeClr val="tx1"/>
                </a:solidFill>
              </a:rPr>
              <a:t>Effectiveness</a:t>
            </a:r>
            <a:endParaRPr lang="en-US" sz="1600" dirty="0"/>
          </a:p>
        </p:txBody>
      </p:sp>
      <p:sp>
        <p:nvSpPr>
          <p:cNvPr id="7" name="text-429"/>
          <p:cNvSpPr txBox="1"/>
          <p:nvPr/>
        </p:nvSpPr>
        <p:spPr>
          <a:xfrm>
            <a:off x="3657600" y="1920240"/>
            <a:ext cx="7711135" cy="804672"/>
          </a:xfrm>
          <a:prstGeom prst="rect">
            <a:avLst/>
          </a:prstGeom>
          <a:noFill/>
          <a:ln/>
        </p:spPr>
        <p:txBody>
          <a:bodyPr wrap="square" lIns="0" tIns="0" rIns="0" bIns="0" rtlCol="0" anchor="ctr"/>
          <a:lstStyle/>
          <a:p>
            <a:pPr indent="0" marL="0">
              <a:buNone/>
            </a:pPr>
            <a:r>
              <a:rPr lang="en-US" sz="1400" dirty="0">
                <a:solidFill>
                  <a:schemeClr val="tx2"/>
                </a:solidFill>
              </a:rPr>
              <a:t>Does delegating tasks to an agent reduce completion time and defects compared with completion-style assistance?</a:t>
            </a:r>
            <a:endParaRPr lang="en-US" sz="1400" dirty="0"/>
          </a:p>
        </p:txBody>
      </p:sp>
      <p:sp>
        <p:nvSpPr>
          <p:cNvPr id="8" name="card-430"/>
          <p:cNvSpPr/>
          <p:nvPr/>
        </p:nvSpPr>
        <p:spPr>
          <a:xfrm>
            <a:off x="548640" y="2862072"/>
            <a:ext cx="11094415" cy="804672"/>
          </a:xfrm>
          <a:prstGeom prst="roundRect">
            <a:avLst>
              <a:gd name="adj" fmla="val 9091"/>
            </a:avLst>
          </a:prstGeom>
          <a:solidFill>
            <a:schemeClr val="bg2"/>
          </a:solidFill>
          <a:ln/>
        </p:spPr>
      </p:sp>
      <p:sp>
        <p:nvSpPr>
          <p:cNvPr id="9" name="text-431"/>
          <p:cNvSpPr txBox="1"/>
          <p:nvPr/>
        </p:nvSpPr>
        <p:spPr>
          <a:xfrm>
            <a:off x="822960" y="2862072"/>
            <a:ext cx="8229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RQ2</a:t>
            </a:r>
            <a:endParaRPr lang="en-US" sz="1600" dirty="0"/>
          </a:p>
        </p:txBody>
      </p:sp>
      <p:sp>
        <p:nvSpPr>
          <p:cNvPr id="10" name="text-432"/>
          <p:cNvSpPr txBox="1"/>
          <p:nvPr/>
        </p:nvSpPr>
        <p:spPr>
          <a:xfrm>
            <a:off x="1737360" y="2862072"/>
            <a:ext cx="1828800" cy="804672"/>
          </a:xfrm>
          <a:prstGeom prst="rect">
            <a:avLst/>
          </a:prstGeom>
          <a:noFill/>
          <a:ln/>
        </p:spPr>
        <p:txBody>
          <a:bodyPr wrap="square" lIns="0" tIns="0" rIns="0" bIns="0" rtlCol="0" anchor="ctr"/>
          <a:lstStyle/>
          <a:p>
            <a:pPr indent="0" marL="0">
              <a:buNone/>
            </a:pPr>
            <a:r>
              <a:rPr lang="en-US" sz="1600" b="1" dirty="0">
                <a:solidFill>
                  <a:schemeClr val="tx1"/>
                </a:solidFill>
              </a:rPr>
              <a:t>Oversight</a:t>
            </a:r>
            <a:endParaRPr lang="en-US" sz="1600" dirty="0"/>
          </a:p>
        </p:txBody>
      </p:sp>
      <p:sp>
        <p:nvSpPr>
          <p:cNvPr id="11" name="text-433"/>
          <p:cNvSpPr txBox="1"/>
          <p:nvPr/>
        </p:nvSpPr>
        <p:spPr>
          <a:xfrm>
            <a:off x="3657600" y="2862072"/>
            <a:ext cx="7711135" cy="804672"/>
          </a:xfrm>
          <a:prstGeom prst="rect">
            <a:avLst/>
          </a:prstGeom>
          <a:noFill/>
          <a:ln/>
        </p:spPr>
        <p:txBody>
          <a:bodyPr wrap="square" lIns="0" tIns="0" rIns="0" bIns="0" rtlCol="0" anchor="ctr"/>
          <a:lstStyle/>
          <a:p>
            <a:pPr indent="0" marL="0">
              <a:buNone/>
            </a:pPr>
            <a:r>
              <a:rPr lang="en-US" sz="1400" dirty="0">
                <a:solidFill>
                  <a:schemeClr val="tx2"/>
                </a:solidFill>
              </a:rPr>
              <a:t>How do developers decide when to approve, review or override an agent's actions?</a:t>
            </a:r>
            <a:endParaRPr lang="en-US" sz="1400" dirty="0"/>
          </a:p>
        </p:txBody>
      </p:sp>
      <p:sp>
        <p:nvSpPr>
          <p:cNvPr id="12" name="card-434"/>
          <p:cNvSpPr/>
          <p:nvPr/>
        </p:nvSpPr>
        <p:spPr>
          <a:xfrm>
            <a:off x="548640" y="3803904"/>
            <a:ext cx="11094415" cy="804672"/>
          </a:xfrm>
          <a:prstGeom prst="roundRect">
            <a:avLst>
              <a:gd name="adj" fmla="val 9091"/>
            </a:avLst>
          </a:prstGeom>
          <a:solidFill>
            <a:schemeClr val="bg2"/>
          </a:solidFill>
          <a:ln/>
        </p:spPr>
      </p:sp>
      <p:sp>
        <p:nvSpPr>
          <p:cNvPr id="13" name="text-435"/>
          <p:cNvSpPr txBox="1"/>
          <p:nvPr/>
        </p:nvSpPr>
        <p:spPr>
          <a:xfrm>
            <a:off x="822960" y="3803904"/>
            <a:ext cx="8229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RQ3</a:t>
            </a:r>
            <a:endParaRPr lang="en-US" sz="1600" dirty="0"/>
          </a:p>
        </p:txBody>
      </p:sp>
      <p:sp>
        <p:nvSpPr>
          <p:cNvPr id="14" name="text-436"/>
          <p:cNvSpPr txBox="1"/>
          <p:nvPr/>
        </p:nvSpPr>
        <p:spPr>
          <a:xfrm>
            <a:off x="1737360" y="3803904"/>
            <a:ext cx="1828800" cy="804672"/>
          </a:xfrm>
          <a:prstGeom prst="rect">
            <a:avLst/>
          </a:prstGeom>
          <a:noFill/>
          <a:ln/>
        </p:spPr>
        <p:txBody>
          <a:bodyPr wrap="square" lIns="0" tIns="0" rIns="0" bIns="0" rtlCol="0" anchor="ctr"/>
          <a:lstStyle/>
          <a:p>
            <a:pPr indent="0" marL="0">
              <a:buNone/>
            </a:pPr>
            <a:r>
              <a:rPr lang="en-US" sz="1600" b="1" dirty="0">
                <a:solidFill>
                  <a:schemeClr val="tx1"/>
                </a:solidFill>
              </a:rPr>
              <a:t>Security</a:t>
            </a:r>
            <a:endParaRPr lang="en-US" sz="1600" dirty="0"/>
          </a:p>
        </p:txBody>
      </p:sp>
      <p:sp>
        <p:nvSpPr>
          <p:cNvPr id="15" name="text-437"/>
          <p:cNvSpPr txBox="1"/>
          <p:nvPr/>
        </p:nvSpPr>
        <p:spPr>
          <a:xfrm>
            <a:off x="3657600" y="3803904"/>
            <a:ext cx="7711135" cy="804672"/>
          </a:xfrm>
          <a:prstGeom prst="rect">
            <a:avLst/>
          </a:prstGeom>
          <a:noFill/>
          <a:ln/>
        </p:spPr>
        <p:txBody>
          <a:bodyPr wrap="square" lIns="0" tIns="0" rIns="0" bIns="0" rtlCol="0" anchor="ctr"/>
          <a:lstStyle/>
          <a:p>
            <a:pPr indent="0" marL="0">
              <a:buNone/>
            </a:pPr>
            <a:r>
              <a:rPr lang="en-US" sz="1400" dirty="0">
                <a:solidFill>
                  <a:schemeClr val="tx2"/>
                </a:solidFill>
              </a:rPr>
              <a:t>How well do sandbox and approval controls resist prompt injection in real repositories?</a:t>
            </a:r>
            <a:endParaRPr lang="en-US" sz="1400" dirty="0"/>
          </a:p>
        </p:txBody>
      </p:sp>
      <p:sp>
        <p:nvSpPr>
          <p:cNvPr id="16" name="card-438"/>
          <p:cNvSpPr/>
          <p:nvPr/>
        </p:nvSpPr>
        <p:spPr>
          <a:xfrm>
            <a:off x="548640" y="4745736"/>
            <a:ext cx="11094415" cy="804672"/>
          </a:xfrm>
          <a:prstGeom prst="roundRect">
            <a:avLst>
              <a:gd name="adj" fmla="val 9091"/>
            </a:avLst>
          </a:prstGeom>
          <a:solidFill>
            <a:schemeClr val="bg2"/>
          </a:solidFill>
          <a:ln/>
        </p:spPr>
      </p:sp>
      <p:sp>
        <p:nvSpPr>
          <p:cNvPr id="17" name="text-439"/>
          <p:cNvSpPr txBox="1"/>
          <p:nvPr/>
        </p:nvSpPr>
        <p:spPr>
          <a:xfrm>
            <a:off x="822960" y="4745736"/>
            <a:ext cx="822960" cy="804672"/>
          </a:xfrm>
          <a:prstGeom prst="rect">
            <a:avLst/>
          </a:prstGeom>
          <a:noFill/>
          <a:ln/>
        </p:spPr>
        <p:txBody>
          <a:bodyPr wrap="square" lIns="0" tIns="0" rIns="0" bIns="0" rtlCol="0" anchor="ctr"/>
          <a:lstStyle/>
          <a:p>
            <a:pPr indent="0" marL="0">
              <a:buNone/>
            </a:pPr>
            <a:r>
              <a:rPr lang="en-US" sz="1600" b="1" dirty="0">
                <a:solidFill>
                  <a:schemeClr val="accent1"/>
                </a:solidFill>
                <a:latin typeface="Courier New" pitchFamily="34" charset="0"/>
                <a:ea typeface="Courier New" pitchFamily="34" charset="-122"/>
                <a:cs typeface="Courier New" pitchFamily="34" charset="-120"/>
              </a:rPr>
              <a:t>RQ4</a:t>
            </a:r>
            <a:endParaRPr lang="en-US" sz="1600" dirty="0"/>
          </a:p>
        </p:txBody>
      </p:sp>
      <p:sp>
        <p:nvSpPr>
          <p:cNvPr id="18" name="text-440"/>
          <p:cNvSpPr txBox="1"/>
          <p:nvPr/>
        </p:nvSpPr>
        <p:spPr>
          <a:xfrm>
            <a:off x="1737360" y="4745736"/>
            <a:ext cx="1828800" cy="804672"/>
          </a:xfrm>
          <a:prstGeom prst="rect">
            <a:avLst/>
          </a:prstGeom>
          <a:noFill/>
          <a:ln/>
        </p:spPr>
        <p:txBody>
          <a:bodyPr wrap="square" lIns="0" tIns="0" rIns="0" bIns="0" rtlCol="0" anchor="ctr"/>
          <a:lstStyle/>
          <a:p>
            <a:pPr indent="0" marL="0">
              <a:buNone/>
            </a:pPr>
            <a:r>
              <a:rPr lang="en-US" sz="1600" b="1" dirty="0">
                <a:solidFill>
                  <a:schemeClr val="tx1"/>
                </a:solidFill>
              </a:rPr>
              <a:t>Adoption</a:t>
            </a:r>
            <a:endParaRPr lang="en-US" sz="1600" dirty="0"/>
          </a:p>
        </p:txBody>
      </p:sp>
      <p:sp>
        <p:nvSpPr>
          <p:cNvPr id="19" name="text-441"/>
          <p:cNvSpPr txBox="1"/>
          <p:nvPr/>
        </p:nvSpPr>
        <p:spPr>
          <a:xfrm>
            <a:off x="3657600" y="4745736"/>
            <a:ext cx="7711135" cy="804672"/>
          </a:xfrm>
          <a:prstGeom prst="rect">
            <a:avLst/>
          </a:prstGeom>
          <a:noFill/>
          <a:ln/>
        </p:spPr>
        <p:txBody>
          <a:bodyPr wrap="square" lIns="0" tIns="0" rIns="0" bIns="0" rtlCol="0" anchor="ctr"/>
          <a:lstStyle/>
          <a:p>
            <a:pPr indent="0" marL="0">
              <a:buNone/>
            </a:pPr>
            <a:r>
              <a:rPr lang="en-US" sz="1400" dirty="0">
                <a:solidFill>
                  <a:schemeClr val="tx2"/>
                </a:solidFill>
              </a:rPr>
              <a:t>Which team and organisational factors predict sustained, effective use?</a:t>
            </a:r>
            <a:endParaRPr lang="en-US" sz="1400" dirty="0"/>
          </a:p>
        </p:txBody>
      </p:sp>
      <p:sp>
        <p:nvSpPr>
          <p:cNvPr id="20" name="text-442"/>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Candidate questions only; adapt them to your own topic, scope and guide's advice.</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21</a:t>
            </a:fld>
            <a:endParaRPr lang="en-US"/>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06 / research</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A mixed-methods design would fit these questions</a:t>
            </a:r>
            <a:endParaRPr lang="en-US" sz="3200" dirty="0"/>
          </a:p>
        </p:txBody>
      </p:sp>
      <p:sp>
        <p:nvSpPr>
          <p:cNvPr id="4" name="rail-443"/>
          <p:cNvSpPr/>
          <p:nvPr/>
        </p:nvSpPr>
        <p:spPr>
          <a:xfrm>
            <a:off x="822960" y="2194560"/>
            <a:ext cx="8526551" cy="0"/>
          </a:xfrm>
          <a:prstGeom prst="line">
            <a:avLst/>
          </a:prstGeom>
          <a:noFill/>
          <a:ln w="38100">
            <a:solidFill>
              <a:schemeClr val="accent5"/>
            </a:solidFill>
            <a:prstDash val="solid"/>
          </a:ln>
        </p:spPr>
      </p:sp>
      <p:sp>
        <p:nvSpPr>
          <p:cNvPr id="5" name="step-444"/>
          <p:cNvSpPr/>
          <p:nvPr/>
        </p:nvSpPr>
        <p:spPr>
          <a:xfrm>
            <a:off x="548640" y="1920240"/>
            <a:ext cx="548640" cy="548640"/>
          </a:xfrm>
          <a:prstGeom prst="ellipse">
            <a:avLst/>
          </a:prstGeom>
          <a:solidFill>
            <a:schemeClr val="accent1"/>
          </a:solidFill>
          <a:ln/>
        </p:spPr>
      </p:sp>
      <p:sp>
        <p:nvSpPr>
          <p:cNvPr id="6" name="text-445"/>
          <p:cNvSpPr txBox="1"/>
          <p:nvPr/>
        </p:nvSpPr>
        <p:spPr>
          <a:xfrm>
            <a:off x="548640"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1</a:t>
            </a:r>
            <a:endParaRPr lang="en-US" sz="1800" dirty="0"/>
          </a:p>
        </p:txBody>
      </p:sp>
      <p:sp>
        <p:nvSpPr>
          <p:cNvPr id="7" name="text-446"/>
          <p:cNvSpPr txBox="1"/>
          <p:nvPr/>
        </p:nvSpPr>
        <p:spPr>
          <a:xfrm>
            <a:off x="548640" y="2697480"/>
            <a:ext cx="2567864" cy="365760"/>
          </a:xfrm>
          <a:prstGeom prst="rect">
            <a:avLst/>
          </a:prstGeom>
          <a:noFill/>
          <a:ln/>
        </p:spPr>
        <p:txBody>
          <a:bodyPr wrap="square" lIns="0" tIns="0" rIns="0" bIns="0" rtlCol="0" anchor="t"/>
          <a:lstStyle/>
          <a:p>
            <a:pPr indent="0" marL="0">
              <a:buNone/>
            </a:pPr>
            <a:r>
              <a:rPr lang="en-US" sz="1800" b="1" dirty="0">
                <a:solidFill>
                  <a:schemeClr val="tx1"/>
                </a:solidFill>
              </a:rPr>
              <a:t>Literature review</a:t>
            </a:r>
            <a:endParaRPr lang="en-US" sz="1800" dirty="0"/>
          </a:p>
        </p:txBody>
      </p:sp>
      <p:sp>
        <p:nvSpPr>
          <p:cNvPr id="8" name="text-447"/>
          <p:cNvSpPr txBox="1"/>
          <p:nvPr/>
        </p:nvSpPr>
        <p:spPr>
          <a:xfrm>
            <a:off x="548640"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Map prior studies of AI-assisted coding and locate the gap</a:t>
            </a:r>
            <a:endParaRPr lang="en-US" sz="1400" dirty="0"/>
          </a:p>
        </p:txBody>
      </p:sp>
      <p:sp>
        <p:nvSpPr>
          <p:cNvPr id="9" name="card-448"/>
          <p:cNvSpPr/>
          <p:nvPr/>
        </p:nvSpPr>
        <p:spPr>
          <a:xfrm>
            <a:off x="548640" y="4434840"/>
            <a:ext cx="2567864" cy="1051560"/>
          </a:xfrm>
          <a:prstGeom prst="roundRect">
            <a:avLst>
              <a:gd name="adj" fmla="val 6957"/>
            </a:avLst>
          </a:prstGeom>
          <a:solidFill>
            <a:schemeClr val="bg2"/>
          </a:solidFill>
          <a:ln/>
        </p:spPr>
      </p:sp>
      <p:sp>
        <p:nvSpPr>
          <p:cNvPr id="10" name="text-449"/>
          <p:cNvSpPr txBox="1"/>
          <p:nvPr/>
        </p:nvSpPr>
        <p:spPr>
          <a:xfrm>
            <a:off x="777240"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OUTPUT</a:t>
            </a:r>
            <a:endParaRPr lang="en-US" sz="1100" dirty="0"/>
          </a:p>
        </p:txBody>
      </p:sp>
      <p:sp>
        <p:nvSpPr>
          <p:cNvPr id="11" name="text-450"/>
          <p:cNvSpPr txBox="1"/>
          <p:nvPr/>
        </p:nvSpPr>
        <p:spPr>
          <a:xfrm>
            <a:off x="777240"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Conceptual framework</a:t>
            </a:r>
            <a:endParaRPr lang="en-US" sz="1400" dirty="0"/>
          </a:p>
        </p:txBody>
      </p:sp>
      <p:sp>
        <p:nvSpPr>
          <p:cNvPr id="12" name="step-451"/>
          <p:cNvSpPr/>
          <p:nvPr/>
        </p:nvSpPr>
        <p:spPr>
          <a:xfrm>
            <a:off x="3390824" y="1920240"/>
            <a:ext cx="548640" cy="548640"/>
          </a:xfrm>
          <a:prstGeom prst="ellipse">
            <a:avLst/>
          </a:prstGeom>
          <a:solidFill>
            <a:schemeClr val="accent1"/>
          </a:solidFill>
          <a:ln/>
        </p:spPr>
      </p:sp>
      <p:sp>
        <p:nvSpPr>
          <p:cNvPr id="13" name="text-452"/>
          <p:cNvSpPr txBox="1"/>
          <p:nvPr/>
        </p:nvSpPr>
        <p:spPr>
          <a:xfrm>
            <a:off x="3390824"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2</a:t>
            </a:r>
            <a:endParaRPr lang="en-US" sz="1800" dirty="0"/>
          </a:p>
        </p:txBody>
      </p:sp>
      <p:sp>
        <p:nvSpPr>
          <p:cNvPr id="14" name="text-453"/>
          <p:cNvSpPr txBox="1"/>
          <p:nvPr/>
        </p:nvSpPr>
        <p:spPr>
          <a:xfrm>
            <a:off x="3390824" y="2697480"/>
            <a:ext cx="2567864" cy="365760"/>
          </a:xfrm>
          <a:prstGeom prst="rect">
            <a:avLst/>
          </a:prstGeom>
          <a:noFill/>
          <a:ln/>
        </p:spPr>
        <p:txBody>
          <a:bodyPr wrap="square" lIns="0" tIns="0" rIns="0" bIns="0" rtlCol="0" anchor="t"/>
          <a:lstStyle/>
          <a:p>
            <a:pPr indent="0" marL="0">
              <a:buNone/>
            </a:pPr>
            <a:r>
              <a:rPr lang="en-US" sz="1800" b="1" dirty="0">
                <a:solidFill>
                  <a:schemeClr val="tx1"/>
                </a:solidFill>
              </a:rPr>
              <a:t>Controlled experiment</a:t>
            </a:r>
            <a:endParaRPr lang="en-US" sz="1800" dirty="0"/>
          </a:p>
        </p:txBody>
      </p:sp>
      <p:sp>
        <p:nvSpPr>
          <p:cNvPr id="15" name="text-454"/>
          <p:cNvSpPr txBox="1"/>
          <p:nvPr/>
        </p:nvSpPr>
        <p:spPr>
          <a:xfrm>
            <a:off x="3390824"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Compare the same tasks with and without the agent</a:t>
            </a:r>
            <a:endParaRPr lang="en-US" sz="1400" dirty="0"/>
          </a:p>
        </p:txBody>
      </p:sp>
      <p:sp>
        <p:nvSpPr>
          <p:cNvPr id="16" name="card-455"/>
          <p:cNvSpPr/>
          <p:nvPr/>
        </p:nvSpPr>
        <p:spPr>
          <a:xfrm>
            <a:off x="3390824" y="4434840"/>
            <a:ext cx="2567864" cy="1051560"/>
          </a:xfrm>
          <a:prstGeom prst="roundRect">
            <a:avLst>
              <a:gd name="adj" fmla="val 6957"/>
            </a:avLst>
          </a:prstGeom>
          <a:solidFill>
            <a:schemeClr val="bg2"/>
          </a:solidFill>
          <a:ln/>
        </p:spPr>
      </p:sp>
      <p:sp>
        <p:nvSpPr>
          <p:cNvPr id="17" name="text-456"/>
          <p:cNvSpPr txBox="1"/>
          <p:nvPr/>
        </p:nvSpPr>
        <p:spPr>
          <a:xfrm>
            <a:off x="3619424"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OUTPUT</a:t>
            </a:r>
            <a:endParaRPr lang="en-US" sz="1100" dirty="0"/>
          </a:p>
        </p:txBody>
      </p:sp>
      <p:sp>
        <p:nvSpPr>
          <p:cNvPr id="18" name="text-457"/>
          <p:cNvSpPr txBox="1"/>
          <p:nvPr/>
        </p:nvSpPr>
        <p:spPr>
          <a:xfrm>
            <a:off x="3619424"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Time, pass rate, defects</a:t>
            </a:r>
            <a:endParaRPr lang="en-US" sz="1400" dirty="0"/>
          </a:p>
        </p:txBody>
      </p:sp>
      <p:sp>
        <p:nvSpPr>
          <p:cNvPr id="19" name="step-458"/>
          <p:cNvSpPr/>
          <p:nvPr/>
        </p:nvSpPr>
        <p:spPr>
          <a:xfrm>
            <a:off x="6233008" y="1920240"/>
            <a:ext cx="548640" cy="548640"/>
          </a:xfrm>
          <a:prstGeom prst="ellipse">
            <a:avLst/>
          </a:prstGeom>
          <a:solidFill>
            <a:schemeClr val="accent1"/>
          </a:solidFill>
          <a:ln/>
        </p:spPr>
      </p:sp>
      <p:sp>
        <p:nvSpPr>
          <p:cNvPr id="20" name="text-459"/>
          <p:cNvSpPr txBox="1"/>
          <p:nvPr/>
        </p:nvSpPr>
        <p:spPr>
          <a:xfrm>
            <a:off x="6233008"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3</a:t>
            </a:r>
            <a:endParaRPr lang="en-US" sz="1800" dirty="0"/>
          </a:p>
        </p:txBody>
      </p:sp>
      <p:sp>
        <p:nvSpPr>
          <p:cNvPr id="21" name="text-460"/>
          <p:cNvSpPr txBox="1"/>
          <p:nvPr/>
        </p:nvSpPr>
        <p:spPr>
          <a:xfrm>
            <a:off x="6233008" y="2697480"/>
            <a:ext cx="2567864" cy="365760"/>
          </a:xfrm>
          <a:prstGeom prst="rect">
            <a:avLst/>
          </a:prstGeom>
          <a:noFill/>
          <a:ln/>
        </p:spPr>
        <p:txBody>
          <a:bodyPr wrap="square" lIns="0" tIns="0" rIns="0" bIns="0" rtlCol="0" anchor="t"/>
          <a:lstStyle/>
          <a:p>
            <a:pPr indent="0" marL="0">
              <a:buNone/>
            </a:pPr>
            <a:r>
              <a:rPr lang="en-US" sz="1800" b="1" dirty="0">
                <a:solidFill>
                  <a:schemeClr val="tx1"/>
                </a:solidFill>
              </a:rPr>
              <a:t>Survey and interviews</a:t>
            </a:r>
            <a:endParaRPr lang="en-US" sz="1800" dirty="0"/>
          </a:p>
        </p:txBody>
      </p:sp>
      <p:sp>
        <p:nvSpPr>
          <p:cNvPr id="22" name="text-461"/>
          <p:cNvSpPr txBox="1"/>
          <p:nvPr/>
        </p:nvSpPr>
        <p:spPr>
          <a:xfrm>
            <a:off x="6233008"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Capture trust, effort and review behaviour from users</a:t>
            </a:r>
            <a:endParaRPr lang="en-US" sz="1400" dirty="0"/>
          </a:p>
        </p:txBody>
      </p:sp>
      <p:sp>
        <p:nvSpPr>
          <p:cNvPr id="23" name="card-462"/>
          <p:cNvSpPr/>
          <p:nvPr/>
        </p:nvSpPr>
        <p:spPr>
          <a:xfrm>
            <a:off x="6233008" y="4434840"/>
            <a:ext cx="2567864" cy="1051560"/>
          </a:xfrm>
          <a:prstGeom prst="roundRect">
            <a:avLst>
              <a:gd name="adj" fmla="val 6957"/>
            </a:avLst>
          </a:prstGeom>
          <a:solidFill>
            <a:schemeClr val="bg2"/>
          </a:solidFill>
          <a:ln/>
        </p:spPr>
      </p:sp>
      <p:sp>
        <p:nvSpPr>
          <p:cNvPr id="24" name="text-463"/>
          <p:cNvSpPr txBox="1"/>
          <p:nvPr/>
        </p:nvSpPr>
        <p:spPr>
          <a:xfrm>
            <a:off x="6461608"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OUTPUT</a:t>
            </a:r>
            <a:endParaRPr lang="en-US" sz="1100" dirty="0"/>
          </a:p>
        </p:txBody>
      </p:sp>
      <p:sp>
        <p:nvSpPr>
          <p:cNvPr id="25" name="text-464"/>
          <p:cNvSpPr txBox="1"/>
          <p:nvPr/>
        </p:nvSpPr>
        <p:spPr>
          <a:xfrm>
            <a:off x="6461608"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Themes and ratings</a:t>
            </a:r>
            <a:endParaRPr lang="en-US" sz="1400" dirty="0"/>
          </a:p>
        </p:txBody>
      </p:sp>
      <p:sp>
        <p:nvSpPr>
          <p:cNvPr id="26" name="step-465"/>
          <p:cNvSpPr/>
          <p:nvPr/>
        </p:nvSpPr>
        <p:spPr>
          <a:xfrm>
            <a:off x="9075191" y="1920240"/>
            <a:ext cx="548640" cy="548640"/>
          </a:xfrm>
          <a:prstGeom prst="ellipse">
            <a:avLst/>
          </a:prstGeom>
          <a:solidFill>
            <a:schemeClr val="accent1"/>
          </a:solidFill>
          <a:ln/>
        </p:spPr>
      </p:sp>
      <p:sp>
        <p:nvSpPr>
          <p:cNvPr id="27" name="text-466"/>
          <p:cNvSpPr txBox="1"/>
          <p:nvPr/>
        </p:nvSpPr>
        <p:spPr>
          <a:xfrm>
            <a:off x="9075191" y="1920240"/>
            <a:ext cx="548640" cy="548640"/>
          </a:xfrm>
          <a:prstGeom prst="rect">
            <a:avLst/>
          </a:prstGeom>
          <a:noFill/>
          <a:ln/>
        </p:spPr>
        <p:txBody>
          <a:bodyPr wrap="square" lIns="0" tIns="0" rIns="0" bIns="0" rtlCol="0" anchor="ctr"/>
          <a:lstStyle/>
          <a:p>
            <a:pPr algn="ctr" indent="0" marL="0">
              <a:buNone/>
            </a:pPr>
            <a:r>
              <a:rPr lang="en-US" sz="1800" b="1" dirty="0">
                <a:solidFill>
                  <a:schemeClr val="bg1"/>
                </a:solidFill>
                <a:latin typeface="Courier New" pitchFamily="34" charset="0"/>
                <a:ea typeface="Courier New" pitchFamily="34" charset="-122"/>
                <a:cs typeface="Courier New" pitchFamily="34" charset="-120"/>
              </a:rPr>
              <a:t>4</a:t>
            </a:r>
            <a:endParaRPr lang="en-US" sz="1800" dirty="0"/>
          </a:p>
        </p:txBody>
      </p:sp>
      <p:sp>
        <p:nvSpPr>
          <p:cNvPr id="28" name="text-467"/>
          <p:cNvSpPr txBox="1"/>
          <p:nvPr/>
        </p:nvSpPr>
        <p:spPr>
          <a:xfrm>
            <a:off x="9075191" y="2697480"/>
            <a:ext cx="2567864" cy="365760"/>
          </a:xfrm>
          <a:prstGeom prst="rect">
            <a:avLst/>
          </a:prstGeom>
          <a:noFill/>
          <a:ln/>
        </p:spPr>
        <p:txBody>
          <a:bodyPr wrap="square" lIns="0" tIns="0" rIns="0" bIns="0" rtlCol="0" anchor="t"/>
          <a:lstStyle/>
          <a:p>
            <a:pPr indent="0" marL="0">
              <a:buNone/>
            </a:pPr>
            <a:r>
              <a:rPr lang="en-US" sz="1800" b="1" dirty="0">
                <a:solidFill>
                  <a:schemeClr val="tx1"/>
                </a:solidFill>
              </a:rPr>
              <a:t>Triangulation</a:t>
            </a:r>
            <a:endParaRPr lang="en-US" sz="1800" dirty="0"/>
          </a:p>
        </p:txBody>
      </p:sp>
      <p:sp>
        <p:nvSpPr>
          <p:cNvPr id="29" name="text-468"/>
          <p:cNvSpPr txBox="1"/>
          <p:nvPr/>
        </p:nvSpPr>
        <p:spPr>
          <a:xfrm>
            <a:off x="9075191" y="3154680"/>
            <a:ext cx="2476424" cy="1097280"/>
          </a:xfrm>
          <a:prstGeom prst="rect">
            <a:avLst/>
          </a:prstGeom>
          <a:noFill/>
          <a:ln/>
        </p:spPr>
        <p:txBody>
          <a:bodyPr wrap="square" lIns="0" tIns="0" rIns="0" bIns="0" rtlCol="0" anchor="t"/>
          <a:lstStyle/>
          <a:p>
            <a:pPr indent="0" marL="0">
              <a:buNone/>
            </a:pPr>
            <a:r>
              <a:rPr lang="en-US" sz="1400" dirty="0">
                <a:solidFill>
                  <a:schemeClr val="tx2"/>
                </a:solidFill>
              </a:rPr>
              <a:t>Combine both strands and report threats to validity</a:t>
            </a:r>
            <a:endParaRPr lang="en-US" sz="1400" dirty="0"/>
          </a:p>
        </p:txBody>
      </p:sp>
      <p:sp>
        <p:nvSpPr>
          <p:cNvPr id="30" name="card-469"/>
          <p:cNvSpPr/>
          <p:nvPr/>
        </p:nvSpPr>
        <p:spPr>
          <a:xfrm>
            <a:off x="9075191" y="4434840"/>
            <a:ext cx="2567864" cy="1051560"/>
          </a:xfrm>
          <a:prstGeom prst="roundRect">
            <a:avLst>
              <a:gd name="adj" fmla="val 6957"/>
            </a:avLst>
          </a:prstGeom>
          <a:solidFill>
            <a:schemeClr val="bg2"/>
          </a:solidFill>
          <a:ln/>
        </p:spPr>
      </p:sp>
      <p:sp>
        <p:nvSpPr>
          <p:cNvPr id="31" name="text-470"/>
          <p:cNvSpPr txBox="1"/>
          <p:nvPr/>
        </p:nvSpPr>
        <p:spPr>
          <a:xfrm>
            <a:off x="9303791" y="4599432"/>
            <a:ext cx="2110664" cy="228600"/>
          </a:xfrm>
          <a:prstGeom prst="rect">
            <a:avLst/>
          </a:prstGeom>
          <a:noFill/>
          <a:ln/>
        </p:spPr>
        <p:txBody>
          <a:bodyPr wrap="square" lIns="0" tIns="0" rIns="0" bIns="0" rtlCol="0" anchor="t"/>
          <a:lstStyle/>
          <a:p>
            <a:pPr indent="0" marL="0">
              <a:buNone/>
            </a:pPr>
            <a:r>
              <a:rPr lang="en-US" sz="1100" b="1" dirty="0">
                <a:solidFill>
                  <a:schemeClr val="accent1"/>
                </a:solidFill>
                <a:latin typeface="Courier New" pitchFamily="34" charset="0"/>
                <a:ea typeface="Courier New" pitchFamily="34" charset="-122"/>
                <a:cs typeface="Courier New" pitchFamily="34" charset="-120"/>
              </a:rPr>
              <a:t>OUTPUT</a:t>
            </a:r>
            <a:endParaRPr lang="en-US" sz="1100" dirty="0"/>
          </a:p>
        </p:txBody>
      </p:sp>
      <p:sp>
        <p:nvSpPr>
          <p:cNvPr id="32" name="text-471"/>
          <p:cNvSpPr txBox="1"/>
          <p:nvPr/>
        </p:nvSpPr>
        <p:spPr>
          <a:xfrm>
            <a:off x="9303791" y="4892040"/>
            <a:ext cx="2110664" cy="457200"/>
          </a:xfrm>
          <a:prstGeom prst="rect">
            <a:avLst/>
          </a:prstGeom>
          <a:noFill/>
          <a:ln/>
        </p:spPr>
        <p:txBody>
          <a:bodyPr wrap="square" lIns="0" tIns="0" rIns="0" bIns="0" rtlCol="0" anchor="t"/>
          <a:lstStyle/>
          <a:p>
            <a:pPr indent="0" marL="0">
              <a:buNone/>
            </a:pPr>
            <a:r>
              <a:rPr lang="en-US" sz="1400" b="1" dirty="0">
                <a:solidFill>
                  <a:schemeClr val="tx1"/>
                </a:solidFill>
              </a:rPr>
              <a:t>Answers to the RQs</a:t>
            </a:r>
            <a:endParaRPr lang="en-US" sz="1400" dirty="0"/>
          </a:p>
        </p:txBody>
      </p:sp>
      <p:sp>
        <p:nvSpPr>
          <p:cNvPr id="33" name="text-472"/>
          <p:cNvSpPr txBox="1"/>
          <p:nvPr/>
        </p:nvSpPr>
        <p:spPr>
          <a:xfrm>
            <a:off x="548640" y="5760720"/>
            <a:ext cx="11094415" cy="274320"/>
          </a:xfrm>
          <a:prstGeom prst="rect">
            <a:avLst/>
          </a:prstGeom>
          <a:noFill/>
          <a:ln/>
        </p:spPr>
        <p:txBody>
          <a:bodyPr wrap="square" lIns="0" tIns="0" rIns="0" bIns="0" rtlCol="0" anchor="t"/>
          <a:lstStyle/>
          <a:p>
            <a:pPr indent="0" marL="0">
              <a:buNone/>
            </a:pPr>
            <a:r>
              <a:rPr lang="en-US" sz="1200" i="1" dirty="0">
                <a:solidFill>
                  <a:schemeClr val="accent4"/>
                </a:solidFill>
              </a:rPr>
              <a:t>A suggested design; align it with your institution's requirements and ethics approval.</a:t>
            </a:r>
            <a:endParaRPr lang="en-US" sz="12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22</a:t>
            </a:fld>
            <a:endParaRPr lang="en-US"/>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06 / research</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Codex is moving from a coding tool toward a general work agent</a:t>
            </a:r>
            <a:endParaRPr lang="en-US" sz="3200" dirty="0"/>
          </a:p>
        </p:txBody>
      </p:sp>
      <p:sp>
        <p:nvSpPr>
          <p:cNvPr id="4" name="text-473"/>
          <p:cNvSpPr txBox="1"/>
          <p:nvPr/>
        </p:nvSpPr>
        <p:spPr>
          <a:xfrm>
            <a:off x="3017520" y="1920240"/>
            <a:ext cx="3657600" cy="274320"/>
          </a:xfrm>
          <a:prstGeom prst="rect">
            <a:avLst/>
          </a:prstGeom>
          <a:noFill/>
          <a:ln/>
        </p:spPr>
        <p:txBody>
          <a:bodyPr wrap="square" lIns="0" tIns="0" rIns="0" bIns="0" rtlCol="0" anchor="t"/>
          <a:lstStyle/>
          <a:p>
            <a:pPr indent="0" marL="0">
              <a:buNone/>
            </a:pPr>
            <a:r>
              <a:rPr lang="en-US" sz="1200" b="1" dirty="0">
                <a:solidFill>
                  <a:schemeClr val="accent4"/>
                </a:solidFill>
                <a:latin typeface="Courier New" pitchFamily="34" charset="0"/>
                <a:ea typeface="Courier New" pitchFamily="34" charset="-122"/>
                <a:cs typeface="Courier New" pitchFamily="34" charset="-120"/>
              </a:rPr>
              <a:t>STARTED AS</a:t>
            </a:r>
            <a:endParaRPr lang="en-US" sz="1200" dirty="0"/>
          </a:p>
        </p:txBody>
      </p:sp>
      <p:sp>
        <p:nvSpPr>
          <p:cNvPr id="5" name="text-474"/>
          <p:cNvSpPr txBox="1"/>
          <p:nvPr/>
        </p:nvSpPr>
        <p:spPr>
          <a:xfrm>
            <a:off x="7315200" y="1920240"/>
            <a:ext cx="432785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MOVING TOWARD</a:t>
            </a:r>
            <a:endParaRPr lang="en-US" sz="1200" dirty="0"/>
          </a:p>
        </p:txBody>
      </p:sp>
      <p:sp>
        <p:nvSpPr>
          <p:cNvPr id="6" name="text-475"/>
          <p:cNvSpPr txBox="1"/>
          <p:nvPr/>
        </p:nvSpPr>
        <p:spPr>
          <a:xfrm>
            <a:off x="548640" y="2377440"/>
            <a:ext cx="2286000" cy="749808"/>
          </a:xfrm>
          <a:prstGeom prst="rect">
            <a:avLst/>
          </a:prstGeom>
          <a:noFill/>
          <a:ln/>
        </p:spPr>
        <p:txBody>
          <a:bodyPr wrap="square" lIns="0" tIns="0" rIns="0" bIns="0" rtlCol="0" anchor="ctr"/>
          <a:lstStyle/>
          <a:p>
            <a:pPr indent="0" marL="0">
              <a:buNone/>
            </a:pPr>
            <a:r>
              <a:rPr lang="en-US" sz="1600" b="1" dirty="0">
                <a:solidFill>
                  <a:schemeClr val="tx1"/>
                </a:solidFill>
              </a:rPr>
              <a:t>Where it runs</a:t>
            </a:r>
            <a:endParaRPr lang="en-US" sz="1600" dirty="0"/>
          </a:p>
        </p:txBody>
      </p:sp>
      <p:sp>
        <p:nvSpPr>
          <p:cNvPr id="7" name="card-476"/>
          <p:cNvSpPr/>
          <p:nvPr/>
        </p:nvSpPr>
        <p:spPr>
          <a:xfrm>
            <a:off x="3017520" y="2377440"/>
            <a:ext cx="3657600" cy="749808"/>
          </a:xfrm>
          <a:prstGeom prst="roundRect">
            <a:avLst>
              <a:gd name="adj" fmla="val 9756"/>
            </a:avLst>
          </a:prstGeom>
          <a:solidFill>
            <a:schemeClr val="bg2"/>
          </a:solidFill>
          <a:ln/>
        </p:spPr>
      </p:sp>
      <p:sp>
        <p:nvSpPr>
          <p:cNvPr id="8" name="text-477"/>
          <p:cNvSpPr txBox="1"/>
          <p:nvPr/>
        </p:nvSpPr>
        <p:spPr>
          <a:xfrm>
            <a:off x="3246120" y="2377440"/>
            <a:ext cx="3200400" cy="749808"/>
          </a:xfrm>
          <a:prstGeom prst="rect">
            <a:avLst/>
          </a:prstGeom>
          <a:noFill/>
          <a:ln/>
        </p:spPr>
        <p:txBody>
          <a:bodyPr wrap="square" lIns="0" tIns="0" rIns="0" bIns="0" rtlCol="0" anchor="ctr"/>
          <a:lstStyle/>
          <a:p>
            <a:pPr indent="0" marL="0">
              <a:buNone/>
            </a:pPr>
            <a:r>
              <a:rPr lang="en-US" sz="1400" dirty="0">
                <a:solidFill>
                  <a:schemeClr val="tx2"/>
                </a:solidFill>
              </a:rPr>
              <a:t>A local terminal or IDE session</a:t>
            </a:r>
            <a:endParaRPr lang="en-US" sz="1400" dirty="0"/>
          </a:p>
        </p:txBody>
      </p:sp>
      <p:pic>
        <p:nvPicPr>
          <p:cNvPr id="9" name="arrow-478" descr="preencoded.png">    </p:cNvPr>
          <p:cNvPicPr>
            <a:picLocks noChangeAspect="1"/>
          </p:cNvPicPr>
          <p:nvPr/>
        </p:nvPicPr>
        <p:blipFill>
          <a:blip r:embed="rId1"/>
          <a:stretch>
            <a:fillRect/>
          </a:stretch>
        </p:blipFill>
        <p:spPr>
          <a:xfrm>
            <a:off x="6858000" y="2615184"/>
            <a:ext cx="274320" cy="274320"/>
          </a:xfrm>
          <a:prstGeom prst="rect">
            <a:avLst/>
          </a:prstGeom>
        </p:spPr>
      </p:pic>
      <p:sp>
        <p:nvSpPr>
          <p:cNvPr id="10" name="card-479"/>
          <p:cNvSpPr/>
          <p:nvPr/>
        </p:nvSpPr>
        <p:spPr>
          <a:xfrm>
            <a:off x="7315200" y="2377440"/>
            <a:ext cx="4327855" cy="749808"/>
          </a:xfrm>
          <a:prstGeom prst="roundRect">
            <a:avLst>
              <a:gd name="adj" fmla="val 9756"/>
            </a:avLst>
          </a:prstGeom>
          <a:solidFill>
            <a:schemeClr val="accent5"/>
          </a:solidFill>
          <a:ln/>
        </p:spPr>
      </p:sp>
      <p:sp>
        <p:nvSpPr>
          <p:cNvPr id="11" name="text-480"/>
          <p:cNvSpPr txBox="1"/>
          <p:nvPr/>
        </p:nvSpPr>
        <p:spPr>
          <a:xfrm>
            <a:off x="7543800" y="2377440"/>
            <a:ext cx="3870655" cy="749808"/>
          </a:xfrm>
          <a:prstGeom prst="rect">
            <a:avLst/>
          </a:prstGeom>
          <a:noFill/>
          <a:ln/>
        </p:spPr>
        <p:txBody>
          <a:bodyPr wrap="square" lIns="0" tIns="0" rIns="0" bIns="0" rtlCol="0" anchor="ctr"/>
          <a:lstStyle/>
          <a:p>
            <a:pPr indent="0" marL="0">
              <a:buNone/>
            </a:pPr>
            <a:r>
              <a:rPr lang="en-US" sz="1400" dirty="0">
                <a:solidFill>
                  <a:schemeClr val="tx1"/>
                </a:solidFill>
              </a:rPr>
              <a:t>Persistent cloud environments that follow you across devices</a:t>
            </a:r>
            <a:endParaRPr lang="en-US" sz="1400" dirty="0"/>
          </a:p>
        </p:txBody>
      </p:sp>
      <p:sp>
        <p:nvSpPr>
          <p:cNvPr id="12" name="text-481"/>
          <p:cNvSpPr txBox="1"/>
          <p:nvPr/>
        </p:nvSpPr>
        <p:spPr>
          <a:xfrm>
            <a:off x="548640" y="3264408"/>
            <a:ext cx="2286000" cy="749808"/>
          </a:xfrm>
          <a:prstGeom prst="rect">
            <a:avLst/>
          </a:prstGeom>
          <a:noFill/>
          <a:ln/>
        </p:spPr>
        <p:txBody>
          <a:bodyPr wrap="square" lIns="0" tIns="0" rIns="0" bIns="0" rtlCol="0" anchor="ctr"/>
          <a:lstStyle/>
          <a:p>
            <a:pPr indent="0" marL="0">
              <a:buNone/>
            </a:pPr>
            <a:r>
              <a:rPr lang="en-US" sz="1600" b="1" dirty="0">
                <a:solidFill>
                  <a:schemeClr val="tx1"/>
                </a:solidFill>
              </a:rPr>
              <a:t>How it works</a:t>
            </a:r>
            <a:endParaRPr lang="en-US" sz="1600" dirty="0"/>
          </a:p>
        </p:txBody>
      </p:sp>
      <p:sp>
        <p:nvSpPr>
          <p:cNvPr id="13" name="card-482"/>
          <p:cNvSpPr/>
          <p:nvPr/>
        </p:nvSpPr>
        <p:spPr>
          <a:xfrm>
            <a:off x="3017520" y="3264408"/>
            <a:ext cx="3657600" cy="749808"/>
          </a:xfrm>
          <a:prstGeom prst="roundRect">
            <a:avLst>
              <a:gd name="adj" fmla="val 9756"/>
            </a:avLst>
          </a:prstGeom>
          <a:solidFill>
            <a:schemeClr val="bg2"/>
          </a:solidFill>
          <a:ln/>
        </p:spPr>
      </p:sp>
      <p:sp>
        <p:nvSpPr>
          <p:cNvPr id="14" name="text-483"/>
          <p:cNvSpPr txBox="1"/>
          <p:nvPr/>
        </p:nvSpPr>
        <p:spPr>
          <a:xfrm>
            <a:off x="3246120" y="3264408"/>
            <a:ext cx="3200400" cy="749808"/>
          </a:xfrm>
          <a:prstGeom prst="rect">
            <a:avLst/>
          </a:prstGeom>
          <a:noFill/>
          <a:ln/>
        </p:spPr>
        <p:txBody>
          <a:bodyPr wrap="square" lIns="0" tIns="0" rIns="0" bIns="0" rtlCol="0" anchor="ctr"/>
          <a:lstStyle/>
          <a:p>
            <a:pPr indent="0" marL="0">
              <a:buNone/>
            </a:pPr>
            <a:r>
              <a:rPr lang="en-US" sz="1400" dirty="0">
                <a:solidFill>
                  <a:schemeClr val="tx2"/>
                </a:solidFill>
              </a:rPr>
              <a:t>One agent on one task</a:t>
            </a:r>
            <a:endParaRPr lang="en-US" sz="1400" dirty="0"/>
          </a:p>
        </p:txBody>
      </p:sp>
      <p:pic>
        <p:nvPicPr>
          <p:cNvPr id="15" name="arrow-484" descr="preencoded.png">    </p:cNvPr>
          <p:cNvPicPr>
            <a:picLocks noChangeAspect="1"/>
          </p:cNvPicPr>
          <p:nvPr/>
        </p:nvPicPr>
        <p:blipFill>
          <a:blip r:embed="rId2"/>
          <a:stretch>
            <a:fillRect/>
          </a:stretch>
        </p:blipFill>
        <p:spPr>
          <a:xfrm>
            <a:off x="6858000" y="3502152"/>
            <a:ext cx="274320" cy="274320"/>
          </a:xfrm>
          <a:prstGeom prst="rect">
            <a:avLst/>
          </a:prstGeom>
        </p:spPr>
      </p:pic>
      <p:sp>
        <p:nvSpPr>
          <p:cNvPr id="16" name="card-485"/>
          <p:cNvSpPr/>
          <p:nvPr/>
        </p:nvSpPr>
        <p:spPr>
          <a:xfrm>
            <a:off x="7315200" y="3264408"/>
            <a:ext cx="4327855" cy="749808"/>
          </a:xfrm>
          <a:prstGeom prst="roundRect">
            <a:avLst>
              <a:gd name="adj" fmla="val 9756"/>
            </a:avLst>
          </a:prstGeom>
          <a:solidFill>
            <a:schemeClr val="accent5"/>
          </a:solidFill>
          <a:ln/>
        </p:spPr>
      </p:sp>
      <p:sp>
        <p:nvSpPr>
          <p:cNvPr id="17" name="text-486"/>
          <p:cNvSpPr txBox="1"/>
          <p:nvPr/>
        </p:nvSpPr>
        <p:spPr>
          <a:xfrm>
            <a:off x="7543800" y="3264408"/>
            <a:ext cx="3870655" cy="749808"/>
          </a:xfrm>
          <a:prstGeom prst="rect">
            <a:avLst/>
          </a:prstGeom>
          <a:noFill/>
          <a:ln/>
        </p:spPr>
        <p:txBody>
          <a:bodyPr wrap="square" lIns="0" tIns="0" rIns="0" bIns="0" rtlCol="0" anchor="ctr"/>
          <a:lstStyle/>
          <a:p>
            <a:pPr indent="0" marL="0">
              <a:buNone/>
            </a:pPr>
            <a:r>
              <a:rPr lang="en-US" sz="1400" dirty="0">
                <a:solidFill>
                  <a:schemeClr val="tx1"/>
                </a:solidFill>
              </a:rPr>
              <a:t>Parallel subagents; an Ultra mode runs four at once</a:t>
            </a:r>
            <a:endParaRPr lang="en-US" sz="1400" dirty="0"/>
          </a:p>
        </p:txBody>
      </p:sp>
      <p:sp>
        <p:nvSpPr>
          <p:cNvPr id="18" name="text-487"/>
          <p:cNvSpPr txBox="1"/>
          <p:nvPr/>
        </p:nvSpPr>
        <p:spPr>
          <a:xfrm>
            <a:off x="548640" y="4151376"/>
            <a:ext cx="2286000" cy="749808"/>
          </a:xfrm>
          <a:prstGeom prst="rect">
            <a:avLst/>
          </a:prstGeom>
          <a:noFill/>
          <a:ln/>
        </p:spPr>
        <p:txBody>
          <a:bodyPr wrap="square" lIns="0" tIns="0" rIns="0" bIns="0" rtlCol="0" anchor="ctr"/>
          <a:lstStyle/>
          <a:p>
            <a:pPr indent="0" marL="0">
              <a:buNone/>
            </a:pPr>
            <a:r>
              <a:rPr lang="en-US" sz="1600" b="1" dirty="0">
                <a:solidFill>
                  <a:schemeClr val="tx1"/>
                </a:solidFill>
              </a:rPr>
              <a:t>What it touches</a:t>
            </a:r>
            <a:endParaRPr lang="en-US" sz="1600" dirty="0"/>
          </a:p>
        </p:txBody>
      </p:sp>
      <p:sp>
        <p:nvSpPr>
          <p:cNvPr id="19" name="card-488"/>
          <p:cNvSpPr/>
          <p:nvPr/>
        </p:nvSpPr>
        <p:spPr>
          <a:xfrm>
            <a:off x="3017520" y="4151376"/>
            <a:ext cx="3657600" cy="749808"/>
          </a:xfrm>
          <a:prstGeom prst="roundRect">
            <a:avLst>
              <a:gd name="adj" fmla="val 9756"/>
            </a:avLst>
          </a:prstGeom>
          <a:solidFill>
            <a:schemeClr val="bg2"/>
          </a:solidFill>
          <a:ln/>
        </p:spPr>
      </p:sp>
      <p:sp>
        <p:nvSpPr>
          <p:cNvPr id="20" name="text-489"/>
          <p:cNvSpPr txBox="1"/>
          <p:nvPr/>
        </p:nvSpPr>
        <p:spPr>
          <a:xfrm>
            <a:off x="3246120" y="4151376"/>
            <a:ext cx="3200400" cy="749808"/>
          </a:xfrm>
          <a:prstGeom prst="rect">
            <a:avLst/>
          </a:prstGeom>
          <a:noFill/>
          <a:ln/>
        </p:spPr>
        <p:txBody>
          <a:bodyPr wrap="square" lIns="0" tIns="0" rIns="0" bIns="0" rtlCol="0" anchor="ctr"/>
          <a:lstStyle/>
          <a:p>
            <a:pPr indent="0" marL="0">
              <a:buNone/>
            </a:pPr>
            <a:r>
              <a:rPr lang="en-US" sz="1400" dirty="0">
                <a:solidFill>
                  <a:schemeClr val="tx2"/>
                </a:solidFill>
              </a:rPr>
              <a:t>Code, shell and repository files</a:t>
            </a:r>
            <a:endParaRPr lang="en-US" sz="1400" dirty="0"/>
          </a:p>
        </p:txBody>
      </p:sp>
      <p:pic>
        <p:nvPicPr>
          <p:cNvPr id="21" name="arrow-490" descr="preencoded.png">    </p:cNvPr>
          <p:cNvPicPr>
            <a:picLocks noChangeAspect="1"/>
          </p:cNvPicPr>
          <p:nvPr/>
        </p:nvPicPr>
        <p:blipFill>
          <a:blip r:embed="rId3"/>
          <a:stretch>
            <a:fillRect/>
          </a:stretch>
        </p:blipFill>
        <p:spPr>
          <a:xfrm>
            <a:off x="6858000" y="4389120"/>
            <a:ext cx="274320" cy="274320"/>
          </a:xfrm>
          <a:prstGeom prst="rect">
            <a:avLst/>
          </a:prstGeom>
        </p:spPr>
      </p:pic>
      <p:sp>
        <p:nvSpPr>
          <p:cNvPr id="22" name="card-491"/>
          <p:cNvSpPr/>
          <p:nvPr/>
        </p:nvSpPr>
        <p:spPr>
          <a:xfrm>
            <a:off x="7315200" y="4151376"/>
            <a:ext cx="4327855" cy="749808"/>
          </a:xfrm>
          <a:prstGeom prst="roundRect">
            <a:avLst>
              <a:gd name="adj" fmla="val 9756"/>
            </a:avLst>
          </a:prstGeom>
          <a:solidFill>
            <a:schemeClr val="accent5"/>
          </a:solidFill>
          <a:ln/>
        </p:spPr>
      </p:sp>
      <p:sp>
        <p:nvSpPr>
          <p:cNvPr id="23" name="text-492"/>
          <p:cNvSpPr txBox="1"/>
          <p:nvPr/>
        </p:nvSpPr>
        <p:spPr>
          <a:xfrm>
            <a:off x="7543800" y="4151376"/>
            <a:ext cx="3870655" cy="749808"/>
          </a:xfrm>
          <a:prstGeom prst="rect">
            <a:avLst/>
          </a:prstGeom>
          <a:noFill/>
          <a:ln/>
        </p:spPr>
        <p:txBody>
          <a:bodyPr wrap="square" lIns="0" tIns="0" rIns="0" bIns="0" rtlCol="0" anchor="ctr"/>
          <a:lstStyle/>
          <a:p>
            <a:pPr indent="0" marL="0">
              <a:buNone/>
            </a:pPr>
            <a:r>
              <a:rPr lang="en-US" sz="1400" dirty="0">
                <a:solidFill>
                  <a:schemeClr val="tx1"/>
                </a:solidFill>
              </a:rPr>
              <a:t>Desktop applications through computer use</a:t>
            </a:r>
            <a:endParaRPr lang="en-US" sz="1400" dirty="0"/>
          </a:p>
        </p:txBody>
      </p:sp>
      <p:sp>
        <p:nvSpPr>
          <p:cNvPr id="24" name="text-493"/>
          <p:cNvSpPr txBox="1"/>
          <p:nvPr/>
        </p:nvSpPr>
        <p:spPr>
          <a:xfrm>
            <a:off x="548640" y="5038344"/>
            <a:ext cx="2286000" cy="749808"/>
          </a:xfrm>
          <a:prstGeom prst="rect">
            <a:avLst/>
          </a:prstGeom>
          <a:noFill/>
          <a:ln/>
        </p:spPr>
        <p:txBody>
          <a:bodyPr wrap="square" lIns="0" tIns="0" rIns="0" bIns="0" rtlCol="0" anchor="ctr"/>
          <a:lstStyle/>
          <a:p>
            <a:pPr indent="0" marL="0">
              <a:buNone/>
            </a:pPr>
            <a:r>
              <a:rPr lang="en-US" sz="1600" b="1" dirty="0">
                <a:solidFill>
                  <a:schemeClr val="tx1"/>
                </a:solidFill>
              </a:rPr>
              <a:t>Who it serves</a:t>
            </a:r>
            <a:endParaRPr lang="en-US" sz="1600" dirty="0"/>
          </a:p>
        </p:txBody>
      </p:sp>
      <p:sp>
        <p:nvSpPr>
          <p:cNvPr id="25" name="card-494"/>
          <p:cNvSpPr/>
          <p:nvPr/>
        </p:nvSpPr>
        <p:spPr>
          <a:xfrm>
            <a:off x="3017520" y="5038344"/>
            <a:ext cx="3657600" cy="749808"/>
          </a:xfrm>
          <a:prstGeom prst="roundRect">
            <a:avLst>
              <a:gd name="adj" fmla="val 9756"/>
            </a:avLst>
          </a:prstGeom>
          <a:solidFill>
            <a:schemeClr val="bg2"/>
          </a:solidFill>
          <a:ln/>
        </p:spPr>
      </p:sp>
      <p:sp>
        <p:nvSpPr>
          <p:cNvPr id="26" name="text-495"/>
          <p:cNvSpPr txBox="1"/>
          <p:nvPr/>
        </p:nvSpPr>
        <p:spPr>
          <a:xfrm>
            <a:off x="3246120" y="5038344"/>
            <a:ext cx="3200400" cy="749808"/>
          </a:xfrm>
          <a:prstGeom prst="rect">
            <a:avLst/>
          </a:prstGeom>
          <a:noFill/>
          <a:ln/>
        </p:spPr>
        <p:txBody>
          <a:bodyPr wrap="square" lIns="0" tIns="0" rIns="0" bIns="0" rtlCol="0" anchor="ctr"/>
          <a:lstStyle/>
          <a:p>
            <a:pPr indent="0" marL="0">
              <a:buNone/>
            </a:pPr>
            <a:r>
              <a:rPr lang="en-US" sz="1400" dirty="0">
                <a:solidFill>
                  <a:schemeClr val="tx2"/>
                </a:solidFill>
              </a:rPr>
              <a:t>Software developers</a:t>
            </a:r>
            <a:endParaRPr lang="en-US" sz="1400" dirty="0"/>
          </a:p>
        </p:txBody>
      </p:sp>
      <p:pic>
        <p:nvPicPr>
          <p:cNvPr id="27" name="arrow-496" descr="preencoded.png">    </p:cNvPr>
          <p:cNvPicPr>
            <a:picLocks noChangeAspect="1"/>
          </p:cNvPicPr>
          <p:nvPr/>
        </p:nvPicPr>
        <p:blipFill>
          <a:blip r:embed="rId4"/>
          <a:stretch>
            <a:fillRect/>
          </a:stretch>
        </p:blipFill>
        <p:spPr>
          <a:xfrm>
            <a:off x="6858000" y="5276088"/>
            <a:ext cx="274320" cy="274320"/>
          </a:xfrm>
          <a:prstGeom prst="rect">
            <a:avLst/>
          </a:prstGeom>
        </p:spPr>
      </p:pic>
      <p:sp>
        <p:nvSpPr>
          <p:cNvPr id="28" name="card-497"/>
          <p:cNvSpPr/>
          <p:nvPr/>
        </p:nvSpPr>
        <p:spPr>
          <a:xfrm>
            <a:off x="7315200" y="5038344"/>
            <a:ext cx="4327855" cy="749808"/>
          </a:xfrm>
          <a:prstGeom prst="roundRect">
            <a:avLst>
              <a:gd name="adj" fmla="val 9756"/>
            </a:avLst>
          </a:prstGeom>
          <a:solidFill>
            <a:schemeClr val="accent5"/>
          </a:solidFill>
          <a:ln/>
        </p:spPr>
      </p:sp>
      <p:sp>
        <p:nvSpPr>
          <p:cNvPr id="29" name="text-498"/>
          <p:cNvSpPr txBox="1"/>
          <p:nvPr/>
        </p:nvSpPr>
        <p:spPr>
          <a:xfrm>
            <a:off x="7543800" y="5038344"/>
            <a:ext cx="3870655" cy="749808"/>
          </a:xfrm>
          <a:prstGeom prst="rect">
            <a:avLst/>
          </a:prstGeom>
          <a:noFill/>
          <a:ln/>
        </p:spPr>
        <p:txBody>
          <a:bodyPr wrap="square" lIns="0" tIns="0" rIns="0" bIns="0" rtlCol="0" anchor="ctr"/>
          <a:lstStyle/>
          <a:p>
            <a:pPr indent="0" marL="0">
              <a:buNone/>
            </a:pPr>
            <a:r>
              <a:rPr lang="en-US" sz="1400" dirty="0">
                <a:solidFill>
                  <a:schemeClr val="tx1"/>
                </a:solidFill>
              </a:rPr>
              <a:t>Knowledge workers, about 20% of weekly users by June 2026</a:t>
            </a:r>
            <a:endParaRPr lang="en-US" sz="1400" dirty="0"/>
          </a:p>
        </p:txBody>
      </p:sp>
      <p:sp>
        <p:nvSpPr>
          <p:cNvPr id="30" name="text-499"/>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Sources: OpenAI changelog (2026); DevDay 2026 recaps (InfoQ, DevX); OpenAI (June 2026); Fortune (Mar 2026).</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23</a:t>
            </a:fld>
            <a:endParaRPr lang="en-US"/>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5"/>
                </a:solidFill>
                <a:latin typeface="Courier New" pitchFamily="34" charset="0"/>
                <a:ea typeface="Courier New" pitchFamily="34" charset="-122"/>
                <a:cs typeface="Courier New" pitchFamily="34" charset="-120"/>
              </a:rPr>
              <a:t>&gt; 06 / conclusion</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bg1"/>
                </a:solidFill>
              </a:rPr>
              <a:t>Codex moves the developer from writing code to supervising it</a:t>
            </a:r>
            <a:endParaRPr lang="en-US" sz="3200" dirty="0"/>
          </a:p>
        </p:txBody>
      </p:sp>
      <p:sp>
        <p:nvSpPr>
          <p:cNvPr id="4" name="card-500"/>
          <p:cNvSpPr/>
          <p:nvPr/>
        </p:nvSpPr>
        <p:spPr>
          <a:xfrm>
            <a:off x="548640" y="2057400"/>
            <a:ext cx="3454298" cy="2788920"/>
          </a:xfrm>
          <a:prstGeom prst="roundRect">
            <a:avLst>
              <a:gd name="adj" fmla="val 2623"/>
            </a:avLst>
          </a:prstGeom>
          <a:solidFill>
            <a:schemeClr val="tx2"/>
          </a:solidFill>
          <a:ln/>
        </p:spPr>
      </p:sp>
      <p:sp>
        <p:nvSpPr>
          <p:cNvPr id="5" name="text-501"/>
          <p:cNvSpPr txBox="1"/>
          <p:nvPr/>
        </p:nvSpPr>
        <p:spPr>
          <a:xfrm>
            <a:off x="822960"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01</a:t>
            </a:r>
            <a:endParaRPr lang="en-US" sz="2800" dirty="0"/>
          </a:p>
        </p:txBody>
      </p:sp>
      <p:sp>
        <p:nvSpPr>
          <p:cNvPr id="6" name="text-502"/>
          <p:cNvSpPr txBox="1"/>
          <p:nvPr/>
        </p:nvSpPr>
        <p:spPr>
          <a:xfrm>
            <a:off x="822960"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Technology</a:t>
            </a:r>
            <a:endParaRPr lang="en-US" sz="2000" dirty="0"/>
          </a:p>
        </p:txBody>
      </p:sp>
      <p:sp>
        <p:nvSpPr>
          <p:cNvPr id="7" name="text-503"/>
          <p:cNvSpPr txBox="1"/>
          <p:nvPr/>
        </p:nvSpPr>
        <p:spPr>
          <a:xfrm>
            <a:off x="822960"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A reasoning model, an agent loop and an OS-level sandbox let Codex complete whole tasks.</a:t>
            </a:r>
            <a:endParaRPr lang="en-US" sz="1600" dirty="0"/>
          </a:p>
        </p:txBody>
      </p:sp>
      <p:sp>
        <p:nvSpPr>
          <p:cNvPr id="8" name="card-504"/>
          <p:cNvSpPr/>
          <p:nvPr/>
        </p:nvSpPr>
        <p:spPr>
          <a:xfrm>
            <a:off x="4368698" y="2057400"/>
            <a:ext cx="3454298" cy="2788920"/>
          </a:xfrm>
          <a:prstGeom prst="roundRect">
            <a:avLst>
              <a:gd name="adj" fmla="val 2623"/>
            </a:avLst>
          </a:prstGeom>
          <a:solidFill>
            <a:schemeClr val="tx2"/>
          </a:solidFill>
          <a:ln/>
        </p:spPr>
      </p:sp>
      <p:sp>
        <p:nvSpPr>
          <p:cNvPr id="9" name="text-505"/>
          <p:cNvSpPr txBox="1"/>
          <p:nvPr/>
        </p:nvSpPr>
        <p:spPr>
          <a:xfrm>
            <a:off x="4643018"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02</a:t>
            </a:r>
            <a:endParaRPr lang="en-US" sz="2800" dirty="0"/>
          </a:p>
        </p:txBody>
      </p:sp>
      <p:sp>
        <p:nvSpPr>
          <p:cNvPr id="10" name="text-506"/>
          <p:cNvSpPr txBox="1"/>
          <p:nvPr/>
        </p:nvSpPr>
        <p:spPr>
          <a:xfrm>
            <a:off x="4643018"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Evidence</a:t>
            </a:r>
            <a:endParaRPr lang="en-US" sz="2000" dirty="0"/>
          </a:p>
        </p:txBody>
      </p:sp>
      <p:sp>
        <p:nvSpPr>
          <p:cNvPr id="11" name="text-507"/>
          <p:cNvSpPr txBox="1"/>
          <p:nvPr/>
        </p:nvSpPr>
        <p:spPr>
          <a:xfrm>
            <a:off x="4643018"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Adoption and benchmark scores have risen fast, but independent evidence on productivity and security is mixed.</a:t>
            </a:r>
            <a:endParaRPr lang="en-US" sz="1600" dirty="0"/>
          </a:p>
        </p:txBody>
      </p:sp>
      <p:sp>
        <p:nvSpPr>
          <p:cNvPr id="12" name="card-508"/>
          <p:cNvSpPr/>
          <p:nvPr/>
        </p:nvSpPr>
        <p:spPr>
          <a:xfrm>
            <a:off x="8188757" y="2057400"/>
            <a:ext cx="3454298" cy="2788920"/>
          </a:xfrm>
          <a:prstGeom prst="roundRect">
            <a:avLst>
              <a:gd name="adj" fmla="val 2623"/>
            </a:avLst>
          </a:prstGeom>
          <a:solidFill>
            <a:schemeClr val="tx2"/>
          </a:solidFill>
          <a:ln/>
        </p:spPr>
      </p:sp>
      <p:sp>
        <p:nvSpPr>
          <p:cNvPr id="13" name="text-509"/>
          <p:cNvSpPr txBox="1"/>
          <p:nvPr/>
        </p:nvSpPr>
        <p:spPr>
          <a:xfrm>
            <a:off x="8463077" y="2286000"/>
            <a:ext cx="2905658" cy="457200"/>
          </a:xfrm>
          <a:prstGeom prst="rect">
            <a:avLst/>
          </a:prstGeom>
          <a:noFill/>
          <a:ln/>
        </p:spPr>
        <p:txBody>
          <a:bodyPr wrap="square" lIns="0" tIns="0" rIns="0" bIns="0" rtlCol="0" anchor="t"/>
          <a:lstStyle/>
          <a:p>
            <a:pPr indent="0" marL="0">
              <a:buNone/>
            </a:pPr>
            <a:r>
              <a:rPr lang="en-US" sz="2800" b="1" dirty="0">
                <a:solidFill>
                  <a:schemeClr val="accent5"/>
                </a:solidFill>
                <a:latin typeface="Courier New" pitchFamily="34" charset="0"/>
                <a:ea typeface="Courier New" pitchFamily="34" charset="-122"/>
                <a:cs typeface="Courier New" pitchFamily="34" charset="-120"/>
              </a:rPr>
              <a:t>03</a:t>
            </a:r>
            <a:endParaRPr lang="en-US" sz="2800" dirty="0"/>
          </a:p>
        </p:txBody>
      </p:sp>
      <p:sp>
        <p:nvSpPr>
          <p:cNvPr id="14" name="text-510"/>
          <p:cNvSpPr txBox="1"/>
          <p:nvPr/>
        </p:nvSpPr>
        <p:spPr>
          <a:xfrm>
            <a:off x="8463077" y="2834640"/>
            <a:ext cx="2905658" cy="365760"/>
          </a:xfrm>
          <a:prstGeom prst="rect">
            <a:avLst/>
          </a:prstGeom>
          <a:noFill/>
          <a:ln/>
        </p:spPr>
        <p:txBody>
          <a:bodyPr wrap="square" lIns="0" tIns="0" rIns="0" bIns="0" rtlCol="0" anchor="t"/>
          <a:lstStyle/>
          <a:p>
            <a:pPr indent="0" marL="0">
              <a:buNone/>
            </a:pPr>
            <a:r>
              <a:rPr lang="en-US" sz="2000" b="1" dirty="0">
                <a:solidFill>
                  <a:schemeClr val="bg1"/>
                </a:solidFill>
              </a:rPr>
              <a:t>Research</a:t>
            </a:r>
            <a:endParaRPr lang="en-US" sz="2000" dirty="0"/>
          </a:p>
        </p:txBody>
      </p:sp>
      <p:sp>
        <p:nvSpPr>
          <p:cNvPr id="15" name="text-511"/>
          <p:cNvSpPr txBox="1"/>
          <p:nvPr/>
        </p:nvSpPr>
        <p:spPr>
          <a:xfrm>
            <a:off x="8463077" y="3291840"/>
            <a:ext cx="2905658" cy="1371600"/>
          </a:xfrm>
          <a:prstGeom prst="rect">
            <a:avLst/>
          </a:prstGeom>
          <a:noFill/>
          <a:ln/>
        </p:spPr>
        <p:txBody>
          <a:bodyPr wrap="square" lIns="0" tIns="0" rIns="0" bIns="0" rtlCol="0" anchor="t"/>
          <a:lstStyle/>
          <a:p>
            <a:pPr indent="0" marL="0">
              <a:buNone/>
            </a:pPr>
            <a:r>
              <a:rPr lang="en-US" sz="1600" dirty="0">
                <a:solidFill>
                  <a:schemeClr val="accent5"/>
                </a:solidFill>
              </a:rPr>
              <a:t>Oversight, security and accountability are the questions most worth studying next.</a:t>
            </a:r>
            <a:endParaRPr lang="en-US" sz="1600" dirty="0"/>
          </a:p>
        </p:txBody>
      </p:sp>
      <p:sp>
        <p:nvSpPr>
          <p:cNvPr id="16" name="text-512"/>
          <p:cNvSpPr txBox="1"/>
          <p:nvPr/>
        </p:nvSpPr>
        <p:spPr>
          <a:xfrm>
            <a:off x="548640" y="5349240"/>
            <a:ext cx="11094415" cy="411480"/>
          </a:xfrm>
          <a:prstGeom prst="rect">
            <a:avLst/>
          </a:prstGeom>
          <a:noFill/>
          <a:ln/>
        </p:spPr>
        <p:txBody>
          <a:bodyPr wrap="square" lIns="0" tIns="0" rIns="0" bIns="0" rtlCol="0" anchor="t"/>
          <a:lstStyle/>
          <a:p>
            <a:pPr indent="0" marL="0">
              <a:buNone/>
            </a:pPr>
            <a:r>
              <a:rPr lang="en-US" sz="2000" b="1" dirty="0">
                <a:solidFill>
                  <a:schemeClr val="bg1"/>
                </a:solidFill>
                <a:latin typeface="Courier New" pitchFamily="34" charset="0"/>
                <a:ea typeface="Courier New" pitchFamily="34" charset="-122"/>
                <a:cs typeface="Courier New" pitchFamily="34" charset="-120"/>
              </a:rPr>
              <a:t>&gt; thank you. questions?_</a:t>
            </a:r>
            <a:endParaRPr lang="en-US" sz="2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5"/>
                </a:solidFill>
              </a:defRPr>
            </a:lvl1pPr>
          </a:lstStyle>
          <a:p>
            <a:pPr algn="r"/>
            <a:fld id="{F7021451-1387-4CA6-816F-3879F97B5CBC}" type="slidenum">
              <a:rPr b="0" lang="en-US"/>
              <a:t>24</a:t>
            </a:fld>
            <a:endParaRPr lang="en-US"/>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1"/>
          <p:cNvSpPr/>
          <p:nvPr>
            <p:ph idx="101" type="body" hasCustomPrompt="1"/>
          </p:nvPr>
        </p:nvSpPr>
        <p:spPr>
          <a:xfrm>
            <a:off x="548640" y="457200"/>
            <a:ext cx="11094415" cy="274320"/>
          </a:xfrm>
          <a:prstGeom prst="rect">
            <a:avLst/>
          </a:prstGeom>
          <a:noFill/>
          <a:ln/>
        </p:spPr>
        <p:txBody>
          <a:bodyPr wrap="square" lIns="0" tIns="0" rIns="0" bIns="0" rtlCol="0" anchor="t"/>
          <a:lstStyle/>
          <a:p>
            <a:pPr indent="0" marL="0">
              <a:buNone/>
            </a:pPr>
            <a:r>
              <a:rPr lang="en-US" sz="1200" b="1" dirty="0">
                <a:solidFill>
                  <a:schemeClr val="accent1"/>
                </a:solidFill>
                <a:latin typeface="Courier New" pitchFamily="34" charset="0"/>
                <a:ea typeface="Courier New" pitchFamily="34" charset="-122"/>
                <a:cs typeface="Courier New" pitchFamily="34" charset="-120"/>
              </a:rPr>
              <a:t>&gt; references</a:t>
            </a:r>
            <a:endParaRPr lang="en-US" sz="1200" dirty="0"/>
          </a:p>
        </p:txBody>
      </p:sp>
      <p:sp>
        <p:nvSpPr>
          <p:cNvPr id="3" name="Text 1"/>
          <p:cNvSpPr/>
          <p:nvPr>
            <p:ph idx="102" type="title" hasCustomPrompt="1"/>
          </p:nvPr>
        </p:nvSpPr>
        <p:spPr>
          <a:xfrm>
            <a:off x="548640" y="749808"/>
            <a:ext cx="11094415" cy="1005840"/>
          </a:xfrm>
          <a:prstGeom prst="rect">
            <a:avLst/>
          </a:prstGeom>
          <a:noFill/>
          <a:ln/>
        </p:spPr>
        <p:txBody>
          <a:bodyPr wrap="square" lIns="0" tIns="0" rIns="0" bIns="0" rtlCol="0" anchor="t"/>
          <a:lstStyle/>
          <a:p>
            <a:pPr algn="l" indent="0" marL="0">
              <a:buNone/>
            </a:pPr>
            <a:r>
              <a:rPr lang="en-US" sz="3200" b="1" dirty="0">
                <a:solidFill>
                  <a:schemeClr val="tx1"/>
                </a:solidFill>
              </a:rPr>
              <a:t>References</a:t>
            </a:r>
            <a:endParaRPr lang="en-US" sz="3200" dirty="0"/>
          </a:p>
        </p:txBody>
      </p:sp>
      <p:sp>
        <p:nvSpPr>
          <p:cNvPr id="4" name="text-513"/>
          <p:cNvSpPr txBox="1"/>
          <p:nvPr/>
        </p:nvSpPr>
        <p:spPr>
          <a:xfrm>
            <a:off x="548640" y="1463040"/>
            <a:ext cx="5318608" cy="274320"/>
          </a:xfrm>
          <a:prstGeom prst="rect">
            <a:avLst/>
          </a:prstGeom>
          <a:noFill/>
          <a:ln/>
        </p:spPr>
        <p:txBody>
          <a:bodyPr wrap="square" lIns="0" tIns="0" rIns="0" bIns="0" rtlCol="0" anchor="t"/>
          <a:lstStyle/>
          <a:p>
            <a:pPr indent="0" marL="0">
              <a:buNone/>
            </a:pPr>
            <a:r>
              <a:rPr lang="en-US" sz="1400" b="1" dirty="0">
                <a:solidFill>
                  <a:schemeClr val="accent1"/>
                </a:solidFill>
              </a:rPr>
              <a:t>Academic and primary sources</a:t>
            </a:r>
            <a:endParaRPr lang="en-US" sz="1400" dirty="0"/>
          </a:p>
        </p:txBody>
      </p:sp>
      <p:sp>
        <p:nvSpPr>
          <p:cNvPr id="5" name="text-514"/>
          <p:cNvSpPr txBox="1"/>
          <p:nvPr/>
        </p:nvSpPr>
        <p:spPr>
          <a:xfrm>
            <a:off x="548640" y="1783080"/>
            <a:ext cx="5318608" cy="4114800"/>
          </a:xfrm>
          <a:prstGeom prst="rect">
            <a:avLst/>
          </a:prstGeom>
          <a:noFill/>
          <a:ln/>
        </p:spPr>
        <p:txBody>
          <a:bodyPr wrap="square" lIns="0" tIns="0" rIns="0" bIns="0" rtlCol="0" anchor="t"/>
          <a:lstStyle/>
          <a:p>
            <a:pPr indent="0" marL="0">
              <a:spcAft>
                <a:spcPts val="900"/>
              </a:spcAft>
              <a:buNone/>
            </a:pPr>
            <a:r>
              <a:rPr lang="en-US" sz="1200" dirty="0">
                <a:solidFill>
                  <a:schemeClr val="tx1"/>
                </a:solidFill>
              </a:rPr>
              <a:t>Becker, J., et al. (2025). Measuring the impact of early-2025 AI on experienced open-source developer productivity. METR. arXiv:2507.09089.</a:t>
            </a:r>
            <a:endParaRPr lang="en-US" sz="1200" dirty="0"/>
          </a:p>
          <a:p>
            <a:pPr indent="0" marL="0">
              <a:spcAft>
                <a:spcPts val="900"/>
              </a:spcAft>
              <a:buNone/>
            </a:pPr>
            <a:r>
              <a:rPr lang="en-US" sz="1200" dirty="0">
                <a:solidFill>
                  <a:schemeClr val="tx1"/>
                </a:solidFill>
              </a:rPr>
              <a:t>Chen, M., et al. (2021). Evaluating large language models trained on code. arXiv:2107.03374.</a:t>
            </a:r>
            <a:endParaRPr lang="en-US" sz="1200" dirty="0"/>
          </a:p>
          <a:p>
            <a:pPr indent="0" marL="0">
              <a:spcAft>
                <a:spcPts val="900"/>
              </a:spcAft>
              <a:buNone/>
            </a:pPr>
            <a:r>
              <a:rPr lang="en-US" sz="1200" dirty="0">
                <a:solidFill>
                  <a:schemeClr val="tx1"/>
                </a:solidFill>
              </a:rPr>
              <a:t>Jimenez, C. E., et al. (2024). SWE-bench: Can language models resolve real-world GitHub issues? ICLR 2024.</a:t>
            </a:r>
            <a:endParaRPr lang="en-US" sz="1200" dirty="0"/>
          </a:p>
          <a:p>
            <a:pPr indent="0" marL="0">
              <a:spcAft>
                <a:spcPts val="900"/>
              </a:spcAft>
              <a:buNone/>
            </a:pPr>
            <a:r>
              <a:rPr lang="en-US" sz="1200" dirty="0">
                <a:solidFill>
                  <a:schemeClr val="tx1"/>
                </a:solidFill>
              </a:rPr>
              <a:t>Pearce, H., et al. (2022). Asleep at the keyboard? Assessing the security of GitHub Copilot's code contributions. IEEE S&amp;P.</a:t>
            </a:r>
            <a:endParaRPr lang="en-US" sz="1200" dirty="0"/>
          </a:p>
          <a:p>
            <a:pPr indent="0" marL="0">
              <a:spcAft>
                <a:spcPts val="900"/>
              </a:spcAft>
              <a:buNone/>
            </a:pPr>
            <a:r>
              <a:rPr lang="en-US" sz="1200" dirty="0">
                <a:solidFill>
                  <a:schemeClr val="tx1"/>
                </a:solidFill>
              </a:rPr>
              <a:t>Peng, S., et al. (2023). The impact of AI on developer productivity: Evidence from GitHub Copilot. arXiv:2302.06590.</a:t>
            </a:r>
            <a:endParaRPr lang="en-US" sz="1200" dirty="0"/>
          </a:p>
          <a:p>
            <a:pPr indent="0" marL="0">
              <a:spcAft>
                <a:spcPts val="900"/>
              </a:spcAft>
              <a:buNone/>
            </a:pPr>
            <a:r>
              <a:rPr lang="en-US" sz="1200" dirty="0">
                <a:solidFill>
                  <a:schemeClr val="tx1"/>
                </a:solidFill>
              </a:rPr>
              <a:t>OpenAI. (2025, May 16). Introducing Codex. openai.com/index/introducing-codex</a:t>
            </a:r>
            <a:endParaRPr lang="en-US" sz="1200" dirty="0"/>
          </a:p>
          <a:p>
            <a:pPr indent="0" marL="0">
              <a:spcAft>
                <a:spcPts val="900"/>
              </a:spcAft>
              <a:buNone/>
            </a:pPr>
            <a:r>
              <a:rPr lang="en-US" sz="1200" dirty="0">
                <a:solidFill>
                  <a:schemeClr val="tx1"/>
                </a:solidFill>
              </a:rPr>
              <a:t>OpenAI. (2026). Codex documentation and changelog. developers.openai.com/codex</a:t>
            </a:r>
            <a:endParaRPr lang="en-US" sz="1200" dirty="0"/>
          </a:p>
        </p:txBody>
      </p:sp>
      <p:sp>
        <p:nvSpPr>
          <p:cNvPr id="6" name="text-515"/>
          <p:cNvSpPr txBox="1"/>
          <p:nvPr/>
        </p:nvSpPr>
        <p:spPr>
          <a:xfrm>
            <a:off x="6324448" y="1463040"/>
            <a:ext cx="5318608" cy="274320"/>
          </a:xfrm>
          <a:prstGeom prst="rect">
            <a:avLst/>
          </a:prstGeom>
          <a:noFill/>
          <a:ln/>
        </p:spPr>
        <p:txBody>
          <a:bodyPr wrap="square" lIns="0" tIns="0" rIns="0" bIns="0" rtlCol="0" anchor="t"/>
          <a:lstStyle/>
          <a:p>
            <a:pPr indent="0" marL="0">
              <a:buNone/>
            </a:pPr>
            <a:r>
              <a:rPr lang="en-US" sz="1400" b="1" dirty="0">
                <a:solidFill>
                  <a:schemeClr val="accent1"/>
                </a:solidFill>
              </a:rPr>
              <a:t>News and secondary sources</a:t>
            </a:r>
            <a:endParaRPr lang="en-US" sz="1400" dirty="0"/>
          </a:p>
        </p:txBody>
      </p:sp>
      <p:sp>
        <p:nvSpPr>
          <p:cNvPr id="7" name="text-516"/>
          <p:cNvSpPr txBox="1"/>
          <p:nvPr/>
        </p:nvSpPr>
        <p:spPr>
          <a:xfrm>
            <a:off x="6324448" y="1783080"/>
            <a:ext cx="5318608" cy="4114800"/>
          </a:xfrm>
          <a:prstGeom prst="rect">
            <a:avLst/>
          </a:prstGeom>
          <a:noFill/>
          <a:ln/>
        </p:spPr>
        <p:txBody>
          <a:bodyPr wrap="square" lIns="0" tIns="0" rIns="0" bIns="0" rtlCol="0" anchor="t"/>
          <a:lstStyle/>
          <a:p>
            <a:pPr indent="0" marL="0">
              <a:spcAft>
                <a:spcPts val="900"/>
              </a:spcAft>
              <a:buNone/>
            </a:pPr>
            <a:r>
              <a:rPr lang="en-US" sz="1200" dirty="0">
                <a:solidFill>
                  <a:schemeClr val="tx1"/>
                </a:solidFill>
              </a:rPr>
              <a:t>Hillebrandt, F. (2026, Sept 26). OpenAI Codex statistics 2026. gradually.ai.</a:t>
            </a:r>
            <a:endParaRPr lang="en-US" sz="1200" dirty="0"/>
          </a:p>
          <a:p>
            <a:pPr indent="0" marL="0">
              <a:spcAft>
                <a:spcPts val="900"/>
              </a:spcAft>
              <a:buNone/>
            </a:pPr>
            <a:r>
              <a:rPr lang="en-US" sz="1200" dirty="0">
                <a:solidFill>
                  <a:schemeClr val="tx1"/>
                </a:solidFill>
              </a:rPr>
              <a:t>Kahn, J. (2026, Mar 4). OpenAI sees Codex users spike to 1.6 million. Fortune.</a:t>
            </a:r>
            <a:endParaRPr lang="en-US" sz="1200" dirty="0"/>
          </a:p>
          <a:p>
            <a:pPr indent="0" marL="0">
              <a:spcAft>
                <a:spcPts val="900"/>
              </a:spcAft>
              <a:buNone/>
            </a:pPr>
            <a:r>
              <a:rPr lang="en-US" sz="1200" dirty="0">
                <a:solidFill>
                  <a:schemeClr val="tx1"/>
                </a:solidFill>
              </a:rPr>
              <a:t>Kovacs, E. (2026, Mar 10). OpenAI rolls out Codex Security vulnerability scanner. SecurityWeek.</a:t>
            </a:r>
            <a:endParaRPr lang="en-US" sz="1200" dirty="0"/>
          </a:p>
          <a:p>
            <a:pPr indent="0" marL="0">
              <a:spcAft>
                <a:spcPts val="900"/>
              </a:spcAft>
              <a:buNone/>
            </a:pPr>
            <a:r>
              <a:rPr lang="en-US" sz="1200" dirty="0">
                <a:solidFill>
                  <a:schemeClr val="tx1"/>
                </a:solidFill>
              </a:rPr>
              <a:t>Lemos, R. (2026, Aug 7). AI-generated patches fail half the time. Dark Reading.</a:t>
            </a:r>
            <a:endParaRPr lang="en-US" sz="1200" dirty="0"/>
          </a:p>
          <a:p>
            <a:pPr indent="0" marL="0">
              <a:spcAft>
                <a:spcPts val="900"/>
              </a:spcAft>
              <a:buNone/>
            </a:pPr>
            <a:r>
              <a:rPr lang="en-US" sz="1200" dirty="0">
                <a:solidFill>
                  <a:schemeClr val="tx1"/>
                </a:solidFill>
              </a:rPr>
              <a:t>Seetharaman, D. (2026, Feb 2). OpenAI launches Codex app to gain ground in AI coding race. Reuters.</a:t>
            </a:r>
            <a:endParaRPr lang="en-US" sz="1200" dirty="0"/>
          </a:p>
          <a:p>
            <a:pPr indent="0" marL="0">
              <a:spcAft>
                <a:spcPts val="900"/>
              </a:spcAft>
              <a:buNone/>
            </a:pPr>
            <a:r>
              <a:rPr lang="en-US" sz="1200" dirty="0">
                <a:solidFill>
                  <a:schemeClr val="tx1"/>
                </a:solidFill>
              </a:rPr>
              <a:t>Stiller, E. (2026, Feb 17). OpenAI publishes Codex App Server architecture. InfoQ.</a:t>
            </a:r>
            <a:endParaRPr lang="en-US" sz="1200" dirty="0"/>
          </a:p>
          <a:p>
            <a:pPr indent="0" marL="0">
              <a:spcAft>
                <a:spcPts val="900"/>
              </a:spcAft>
              <a:buNone/>
            </a:pPr>
            <a:r>
              <a:rPr lang="en-US" sz="1200" dirty="0">
                <a:solidFill>
                  <a:schemeClr val="tx1"/>
                </a:solidFill>
              </a:rPr>
              <a:t>Townsend, K. (2026). Critical vulnerability in OpenAI Codex allowed GitHub token compromise. SecurityWeek.</a:t>
            </a:r>
            <a:endParaRPr lang="en-US" sz="1200" dirty="0"/>
          </a:p>
          <a:p>
            <a:pPr indent="0" marL="0">
              <a:spcAft>
                <a:spcPts val="900"/>
              </a:spcAft>
              <a:buNone/>
            </a:pPr>
            <a:r>
              <a:rPr lang="en-US" sz="1200" dirty="0">
                <a:solidFill>
                  <a:schemeClr val="tx1"/>
                </a:solidFill>
              </a:rPr>
              <a:t>Wikipedia contributors. (2026). OpenAI Codex (AI agent). Wikipedia.</a:t>
            </a:r>
            <a:endParaRPr lang="en-US" sz="1200" dirty="0"/>
          </a:p>
        </p:txBody>
      </p:sp>
      <p:sp>
        <p:nvSpPr>
          <p:cNvPr id="8" name="text-517"/>
          <p:cNvSpPr txBox="1"/>
          <p:nvPr/>
        </p:nvSpPr>
        <p:spPr>
          <a:xfrm>
            <a:off x="548640" y="6016752"/>
            <a:ext cx="11094415" cy="256032"/>
          </a:xfrm>
          <a:prstGeom prst="rect">
            <a:avLst/>
          </a:prstGeom>
          <a:noFill/>
          <a:ln/>
        </p:spPr>
        <p:txBody>
          <a:bodyPr wrap="square" lIns="0" tIns="0" rIns="0" bIns="0" rtlCol="0" anchor="t"/>
          <a:lstStyle/>
          <a:p>
            <a:pPr indent="0" marL="0">
              <a:buNone/>
            </a:pPr>
            <a:r>
              <a:rPr lang="en-US" sz="1000" dirty="0">
                <a:solidFill>
                  <a:schemeClr val="accent4"/>
                </a:solidFill>
              </a:rPr>
              <a:t>2026 statistics change quickly. Verify every figure against the primary source before submission.</a:t>
            </a:r>
            <a:endParaRPr lang="en-US" sz="1000" dirty="0"/>
          </a:p>
        </p:txBody>
      </p:sp>
      <p:sp>
        <p:nvSpPr>
          <p:cNvPr id="25" name="Slide Number Placeholder 0"/>
          <p:cNvSpPr>
            <a:spLocks noGrp="1"/>
          </p:cNvSpPr>
          <p:nvPr>
            <p:ph type="sldNum" sz="quarter" idx="4294967295"/>
          </p:nvPr>
        </p:nvSpPr>
        <p:spPr>
          <a:xfrm>
            <a:off x="11091672" y="6382512"/>
            <a:ext cx="548640" cy="274320"/>
          </a:xfrm>
          <a:prstGeom prst="rect">
            <a:avLst/>
          </a:prstGeom>
          <a:extLst>
            <a:ext uri="{C572A759-6A51-4108-AA02-DFA0A04FC94B}">
              <ma14:wrappingTextBoxFlag xmlns:ma14="http://schemas.microsoft.com/office/mac/drawingml/2011/main" val="0"/>
            </a:ext>
          </a:extLst>
        </p:spPr>
        <p:txBody>
          <a:bodyPr/>
          <a:lstStyle>
            <a:lvl1pPr>
              <a:defRPr sz="1000">
                <a:solidFill>
                  <a:schemeClr val="accent4"/>
                </a:solidFill>
              </a:defRPr>
            </a:lvl1pPr>
          </a:lstStyle>
          <a:p>
            <a:pPr algn="r"/>
            <a:fld id="{F7021451-1387-4CA6-816F-3879F97B5CBC}" type="slidenum">
              <a:rPr b="0" lang="en-US"/>
              <a:t>25</a:t>
            </a:fld>
            <a:endParaRPr lang="en-US"/>
          </a:p>
        </p:txBody>
      </p:sp>
    </p:spTree>
  </p:cSld>
  <p:clrMapOvr>
    <a:masterClrMapping/>
  </p:clrMapOvr>
</p:sld>
</file>

<file path=ppt/theme/theme1.xml><?xml version="1.0" encoding="utf-8"?>
<a:theme xmlns:a="http://schemas.openxmlformats.org/drawingml/2006/main" name="Codex Dissertation">
  <a:themeElements>
    <a:clrScheme name="Codex Dissertation">
      <a:dk1>
        <a:srgbClr val="0F1A16"/>
      </a:dk1>
      <a:lt1>
        <a:srgbClr val="FFFFFF"/>
      </a:lt1>
      <a:dk2>
        <a:srgbClr val="1C2E27"/>
      </a:dk2>
      <a:lt2>
        <a:srgbClr val="EEF5F1"/>
      </a:lt2>
      <a:accent1>
        <a:srgbClr val="0B7A5E"/>
      </a:accent1>
      <a:accent2>
        <a:srgbClr val="B56A00"/>
      </a:accent2>
      <a:accent3>
        <a:srgbClr val="14574A"/>
      </a:accent3>
      <a:accent4>
        <a:srgbClr val="5B6B64"/>
      </a:accent4>
      <a:accent5>
        <a:srgbClr val="C8E6DA"/>
      </a:accent5>
      <a:accent6>
        <a:srgbClr val="B8433E"/>
      </a:accent6>
      <a:hlink>
        <a:srgbClr val="0B7A5E"/>
      </a:hlink>
      <a:folHlink>
        <a:srgbClr val="5B6B64"/>
      </a:folHlink>
    </a:clrScheme>
    <a:fontScheme name="Codex Dissertation">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25</Slides>
  <Notes>25</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25</vt:i4>
      </vt:variant>
    </vt:vector>
  </HeadingPairs>
  <TitlesOfParts>
    <vt:vector size="28"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vector>
  </TitlesOfParts>
  <Company>PptxGenJS</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OpenAI Codex: from code completion to autonomous software agent</dc:title>
  <dc:subject>PptxGenJS Presentation</dc:subject>
  <dc:creator>Dissertation presentation</dc:creator>
  <cp:lastModifiedBy>Dissertation presentation</cp:lastModifiedBy>
  <cp:revision>1</cp:revision>
  <dcterms:created xsi:type="dcterms:W3CDTF">2026-10-05T11:57:03Z</dcterms:created>
  <dcterms:modified xsi:type="dcterms:W3CDTF">2026-10-05T11:57:03Z</dcterms:modified>
</cp:coreProperties>
</file>