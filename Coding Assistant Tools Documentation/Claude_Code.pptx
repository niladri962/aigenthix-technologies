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802b9d6-18f3-3115-18ae-328e0d1210f3}">
          <p14:sldIdLst>
            <p14:sldId id="256"/>
          </p14:sldIdLst>
        </p14:section>
        <p14:section name="1 What it is" id="{9f4a3a3a-ffa1-1787-1629-f76115856797}">
          <p14:sldIdLst>
            <p14:sldId id="257"/>
            <p14:sldId id="258"/>
            <p14:sldId id="259"/>
            <p14:sldId id="260"/>
          </p14:sldIdLst>
        </p14:section>
        <p14:section name="2 Getting started" id="{e9ff381e-a681-8830-ba0a-cf06c3b4aa22}">
          <p14:sldIdLst>
            <p14:sldId id="261"/>
            <p14:sldId id="262"/>
            <p14:sldId id="263"/>
          </p14:sldIdLst>
        </p14:section>
        <p14:section name="3 Terminology" id="{041eff0d-ffe3-b1b4-c6fe-426a15fed8fd}">
          <p14:sldIdLst>
            <p14:sldId id="264"/>
            <p14:sldId id="265"/>
            <p14:sldId id="266"/>
            <p14:sldId id="267"/>
            <p14:sldId id="268"/>
          </p14:sldIdLst>
        </p14:section>
        <p14:section name="4 Using it" id="{c2448abb-8991-d936-23bf-408f607e6181}">
          <p14:sldIdLst>
            <p14:sldId id="269"/>
            <p14:sldId id="270"/>
            <p14:sldId id="271"/>
            <p14:sldId id="272"/>
            <p14:sldId id="273"/>
          </p14:sldIdLst>
        </p14:section>
        <p14:section name="5 Next steps" id="{0c30c324-1f33-0574-282c-22481e5420d8}">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assumes no prior experience with AI coding tools. By the end you will know what Claude Code is, the vocabulary people use around it, and how to run a first session. The terminal on the right is an illustration of a typical conversation, not a real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definition from the official docs: Claude Code is an agentic coding tool that reads your codebase, edits files, runs commands and integrates with your development tools. The three verbs on this slide, reads, edits and runs, are what separate it from an ordinary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piece of vocabulary: agentic coding. In a chat assistant you do the copying and running. In an agentic tool the AI has tools that let it act directly on your project, while you supervise. The docs describe it as a workflow where the AI can read files, run commands and make changes autonomously while you watch, redirect or step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often mix up these two names. Claude is the language model. Claude Code is what the docs call the agentic harness: it supplies file access, shell execution, permission gating, memory loading and the loop that chains actions together. The brain-and-hands comparison is only an analogy, but it helps: the same model can sit inside different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term: a surface is any place you access Claude Code. All surfaces connect to the same underlying engine, so project instructions and settings carry across. For a complete beginner, the desktop app or the web at claude.ai/code is the gentlest start because neither needs a terminal. The terminal version is the most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prerequisites from the official quickstart. First, an account: a paid Claude subscription, or a Claude Console account that uses pre-paid API credits. Second, a code project to work in. Third, a terminal, unless you choose the desktop app or the web. Plans and prices change, so check claude.com/pricing for the current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paste the install command for your system. On Windows, make sure you are in PowerShell, not the older Command Prompt, for the command shown. Step 2: run claude --version to confirm it installed, move into your project folder with cd, and type claude. Step 3: the first time, Claude Code asks you to log in through the browser; after that your credentials are remembered. Installers and commands can change, so confirm against the quickstart page before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cycle has a name: the agentic loop. For every task Claude gathers context, takes an action, verifies the result and repeats until done. Each action returns information that shapes the next step. For example: it reads the failing test, edits the code, runs the tests again, and keeps going until they pass. You can interrupt at any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these six. A prompt is your instruction. A session is one conversation, linked to the folder you started in. A turn is one full reply, which may include many tool uses. A tool is any action Claude can take. The context window is working memory for the session, and it is limited. When it fills up, compaction summarises the older parts automatically; you can also trigger it yourself with the /compact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does not remember earlier sessions on its own, so these files matter. CLAUDE.md is a plain text file you write, with project conventions and always-do-this rules; the example on the right is illustrative. Auto memory is the counterpart that Claude writes for itself as you correct it. The .claude directory holds project configuration. AGENTS.md is a similar file used by other coding agents, and recent versions of Claude Code can read it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safety words. The permission mode sets how much Claude may do without asking. Plan mode is the safest way to explore: Claude can read and search, then presents a plan before touching anything. In auto mode a separate classifier model reviews actions in place of you. A checkpoint is a restore point; press Esc twice or run /rewind. Sandboxing restricts what shell commands can reach at the operating-system level. Prompt injection is the main security risk to know about: text in a file or web page that tries to give Claude instructions you never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worth a moment because the names appear constantly. Default, also labelled Manual, asks for everything. acceptEdits lets Claude create and edit files without asking but still prompts for other actions. Plan mode proposes before changing. Auto mode uses a classifier and reduces prompts, though the docs are clear that it does not guarantee safety. dontAsk denies anything that would need a prompt, and bypassPermissions skips prompts entirely, so keep it for disposable environments. Shift+Tab cycles through the common modes. The starting mode depends on your version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terms describe ways to extend Claude Code. A command is typed with a slash. A skill is a reusable set of instructions stored in a SKILL.md file; skills are the recommended successor to custom commands. A subagent is a specialised assistant that works on a delegated task in its own context window and reports back. A hook runs automatically at a fixed point in the lifecycle. MCP, the Model Context Protocol, is an open standard for connecting outside tools and data. A plugin packages several of these together. MCP stands for Model Context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The first column is what you type in the ordinary terminal to start Claude Code. The -p flag runs a single request and exits, which the docs call non-interactive mode. The second column is typed inside a running session. The third column lists keyboard shortcuts: Shift+Tab to switch permission mode and Esc twice to rewind are the two most useful. Type /help at any time to see the full, current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first session moves from safe to slightly less safe. The first two prompts only read. The third makes a small edit: Claude shows the change, and depending on your permission mode it may ask you to approve it. The fourth uses git through plain language. Encourage beginners to talk to Claude like a helpful colleague and to describe the outcome they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common workflows listed in the documentation: building features, fixing bugs, writing tests, refactoring, updating documentation and handling git. Each dark box is an example prompt you could type. Notice that none of them names a file: Claude Code finds the relevant code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of the request decides the quality of the result. A vague prompt forces Claude to guess. A specific prompt names the symptom and where it happens. Three further habits from the best-practice guidance: split large jobs into steps, let Claude explore the code before changing it, and give it something it can run to check its own work, such as a test suite. The docs call that last idea a verification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habits for staying safe. Plan mode lets Claude research and propose without editing. Reading the diff keeps you responsible for what goes into your project. Git matters because, as the docs note, checkpoints are separate from git and do not track changes made through shell commands, for example a deleted file or a database change. Rewind with Esc twice for quick recovery. And leave bypassPermissions alone unless you are in an isolated, disposable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suggested order of learning, not an official curriculum. Day one is only about getting comfortable. In the first week, add a CLAUDE.md so Claude knows your project, and practise plan mode and rewinding. In the first month, package something you repeat into a skill and connect one external tool with MCP. Subagents, hooks, cloud sessions and routines can wait until you have a real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reliable places to keep learning: the official documentation, which includes a full glossary; Claude Academy, which offers free courses such as Claude Code 101; and Claude Code itself, which can answer questions about its own features. The table on the right matters because many blog posts and videos use older names. Headless mode is now non-interactive mode, slash commands are simply commands, custom commands have become skills, and web sessions are now called cloud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ideas. One: Claude Code is an agent that acts on your project. Two: you remain in charge through permission modes, plan mode and checkpoints. Three: begin with small, low-risk requests and build up. Then invite the audience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Claude Code from zero  |  A beginner's guide</a:t>
            </a:r>
            <a:endParaRPr lang="en-US" sz="1000" dirty="0"/>
          </a:p>
        </p:txBody>
      </p:sp>
      <p:sp>
        <p:nvSpPr>
          <p:cNvPr id="3" name="Text 1"/>
          <p:cNvSpPr/>
          <p:nvPr>
            <p:ph idx="101" type="body" hasCustomPrompt="1"/>
          </p:nvPr>
        </p:nvSpPr>
        <p:spPr>
          <a:xfrm>
            <a:off x="548640" y="457200"/>
            <a:ext cx="11094415" cy="274320"/>
          </a:xfrm>
          <a:prstGeom prst="rect">
            <a:avLst/>
          </a:prstGeom>
          <a:noFill/>
          <a:ln/>
        </p:spPr>
        <p:txBody>
          <a:bodyPr wrap="square" rtlCol="0"/>
          <a:lstStyle>
            <a:lvl1pPr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1E1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126480" cy="274320"/>
          </a:xfrm>
          <a:prstGeom prst="rect">
            <a:avLst/>
          </a:prstGeom>
          <a:noFill/>
          <a:ln/>
        </p:spPr>
        <p:txBody>
          <a:bodyPr wrap="square" rtlCol="0"/>
          <a:lstStyle>
            <a:lvl1pPr indent="0" marL="0">
              <a:buNone/>
              <a:defRPr lang="en-US" sz="12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1783080"/>
            <a:ext cx="612648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548640" y="3383280"/>
            <a:ext cx="5760720" cy="9144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F1E1D"/>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Claude Code from zero  |  A beginner's guide</a:t>
            </a:r>
            <a:endParaRPr lang="en-US" sz="1000" dirty="0"/>
          </a:p>
        </p:txBody>
      </p:sp>
      <p:sp>
        <p:nvSpPr>
          <p:cNvPr id="3" name="Text 1"/>
          <p:cNvSpPr/>
          <p:nvPr>
            <p:ph idx="101" type="body" hasCustomPrompt="1"/>
          </p:nvPr>
        </p:nvSpPr>
        <p:spPr>
          <a:xfrm>
            <a:off x="548640" y="457200"/>
            <a:ext cx="11094415" cy="274320"/>
          </a:xfrm>
          <a:prstGeom prst="rect">
            <a:avLst/>
          </a:prstGeom>
          <a:noFill/>
          <a:ln/>
        </p:spPr>
        <p:txBody>
          <a:bodyPr wrap="square" rtlCol="0"/>
          <a:lstStyle>
            <a:lvl1pPr indent="0" marL="0">
              <a:buNone/>
              <a:defRPr lang="en-US" sz="12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126480"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A BEGINNER'S GUIDE</a:t>
            </a:r>
            <a:endParaRPr lang="en-US" sz="1200" dirty="0"/>
          </a:p>
        </p:txBody>
      </p:sp>
      <p:sp>
        <p:nvSpPr>
          <p:cNvPr id="3" name="Text 0"/>
          <p:cNvSpPr/>
          <p:nvPr>
            <p:ph idx="101" type="title" hasCustomPrompt="1"/>
          </p:nvPr>
        </p:nvSpPr>
        <p:spPr>
          <a:xfrm>
            <a:off x="548640" y="1783080"/>
            <a:ext cx="6126480" cy="1463040"/>
          </a:xfrm>
          <a:prstGeom prst="rect">
            <a:avLst/>
          </a:prstGeom>
          <a:noFill/>
          <a:ln/>
        </p:spPr>
        <p:txBody>
          <a:bodyPr wrap="square" lIns="0" tIns="0" rIns="0" bIns="0" rtlCol="0" anchor="t"/>
          <a:lstStyle/>
          <a:p>
            <a:pPr algn="l" indent="0" marL="0">
              <a:buNone/>
            </a:pPr>
            <a:r>
              <a:rPr lang="en-US" sz="4800" b="1" dirty="0">
                <a:solidFill>
                  <a:schemeClr val="bg1"/>
                </a:solidFill>
              </a:rPr>
              <a:t>Claude Code from zero</a:t>
            </a:r>
            <a:endParaRPr lang="en-US" sz="4800" dirty="0"/>
          </a:p>
        </p:txBody>
      </p:sp>
      <p:sp>
        <p:nvSpPr>
          <p:cNvPr id="4" name="Text 0"/>
          <p:cNvSpPr/>
          <p:nvPr>
            <p:ph idx="102" type="body" hasCustomPrompt="1"/>
          </p:nvPr>
        </p:nvSpPr>
        <p:spPr>
          <a:xfrm>
            <a:off x="548640" y="3383280"/>
            <a:ext cx="5760720" cy="914400"/>
          </a:xfrm>
          <a:prstGeom prst="rect">
            <a:avLst/>
          </a:prstGeom>
          <a:noFill/>
          <a:ln/>
        </p:spPr>
        <p:txBody>
          <a:bodyPr wrap="square" lIns="0" tIns="0" rIns="0" bIns="0" rtlCol="0" anchor="t"/>
          <a:lstStyle/>
          <a:p>
            <a:pPr indent="0" marL="0">
              <a:buNone/>
            </a:pPr>
            <a:r>
              <a:rPr lang="en-US" sz="1800" dirty="0">
                <a:solidFill>
                  <a:schemeClr val="accent5"/>
                </a:solidFill>
              </a:rPr>
              <a:t>What it is, the words you will hear, and how to run your first session</a:t>
            </a:r>
            <a:endParaRPr lang="en-US" sz="1800" dirty="0"/>
          </a:p>
        </p:txBody>
      </p:sp>
      <p:sp>
        <p:nvSpPr>
          <p:cNvPr id="5" name="text-1"/>
          <p:cNvSpPr txBox="1"/>
          <p:nvPr/>
        </p:nvSpPr>
        <p:spPr>
          <a:xfrm>
            <a:off x="548640" y="5120640"/>
            <a:ext cx="6126480" cy="27432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No coding-agent experience needed</a:t>
            </a:r>
            <a:endParaRPr lang="en-US" sz="1200" dirty="0"/>
          </a:p>
        </p:txBody>
      </p:sp>
      <p:sp>
        <p:nvSpPr>
          <p:cNvPr id="6" name="card-2"/>
          <p:cNvSpPr/>
          <p:nvPr/>
        </p:nvSpPr>
        <p:spPr>
          <a:xfrm>
            <a:off x="7223760" y="1325880"/>
            <a:ext cx="4416552" cy="4114800"/>
          </a:xfrm>
          <a:prstGeom prst="roundRect">
            <a:avLst>
              <a:gd name="adj" fmla="val 1778"/>
            </a:avLst>
          </a:prstGeom>
          <a:solidFill>
            <a:schemeClr val="tx2"/>
          </a:solidFill>
          <a:ln/>
        </p:spPr>
      </p:sp>
      <p:sp>
        <p:nvSpPr>
          <p:cNvPr id="7" name="dot-3"/>
          <p:cNvSpPr/>
          <p:nvPr/>
        </p:nvSpPr>
        <p:spPr>
          <a:xfrm>
            <a:off x="7498080" y="1581912"/>
            <a:ext cx="137160" cy="137160"/>
          </a:xfrm>
          <a:prstGeom prst="ellipse">
            <a:avLst/>
          </a:prstGeom>
          <a:solidFill>
            <a:schemeClr val="accent1"/>
          </a:solidFill>
          <a:ln/>
        </p:spPr>
      </p:sp>
      <p:sp>
        <p:nvSpPr>
          <p:cNvPr id="8" name="dot-4"/>
          <p:cNvSpPr/>
          <p:nvPr/>
        </p:nvSpPr>
        <p:spPr>
          <a:xfrm>
            <a:off x="7735824" y="1581912"/>
            <a:ext cx="137160" cy="137160"/>
          </a:xfrm>
          <a:prstGeom prst="ellipse">
            <a:avLst/>
          </a:prstGeom>
          <a:solidFill>
            <a:schemeClr val="accent5"/>
          </a:solidFill>
          <a:ln/>
        </p:spPr>
      </p:sp>
      <p:sp>
        <p:nvSpPr>
          <p:cNvPr id="9" name="dot-5"/>
          <p:cNvSpPr/>
          <p:nvPr/>
        </p:nvSpPr>
        <p:spPr>
          <a:xfrm>
            <a:off x="7973568" y="1581912"/>
            <a:ext cx="137160" cy="137160"/>
          </a:xfrm>
          <a:prstGeom prst="ellipse">
            <a:avLst/>
          </a:prstGeom>
          <a:solidFill>
            <a:schemeClr val="accent4"/>
          </a:solidFill>
          <a:ln/>
        </p:spPr>
      </p:sp>
      <p:sp>
        <p:nvSpPr>
          <p:cNvPr id="10" name="text-6"/>
          <p:cNvSpPr txBox="1"/>
          <p:nvPr/>
        </p:nvSpPr>
        <p:spPr>
          <a:xfrm>
            <a:off x="7498080" y="2057400"/>
            <a:ext cx="3959352" cy="3108960"/>
          </a:xfrm>
          <a:prstGeom prst="rect">
            <a:avLst/>
          </a:prstGeom>
          <a:noFill/>
          <a:ln/>
        </p:spPr>
        <p:txBody>
          <a:bodyPr wrap="square" lIns="0" tIns="0" rIns="0" bIns="0" rtlCol="0" anchor="t"/>
          <a:lstStyle/>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cd my-project</a:t>
            </a: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 claude</a:t>
            </a:r>
            <a:endParaRPr lang="en-US" sz="1400" dirty="0"/>
          </a:p>
          <a:p>
            <a:pPr indent="0" marL="0">
              <a:spcAft>
                <a:spcPts val="400"/>
              </a:spcAft>
              <a:buNone/>
            </a:pP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&gt; what does this project do?</a:t>
            </a:r>
            <a:endParaRPr lang="en-US" sz="1400" dirty="0"/>
          </a:p>
          <a:p>
            <a:pPr indent="0" marL="0">
              <a:spcAft>
                <a:spcPts val="400"/>
              </a:spcAft>
              <a:buNone/>
            </a:pPr>
            <a:r>
              <a:rPr lang="en-US" sz="1400" dirty="0">
                <a:solidFill>
                  <a:schemeClr val="accent5"/>
                </a:solidFill>
                <a:latin typeface="Courier New" pitchFamily="34" charset="0"/>
                <a:ea typeface="Courier New" pitchFamily="34" charset="-122"/>
                <a:cs typeface="Courier New" pitchFamily="34" charset="-120"/>
              </a:rPr>
              <a:t>  Reading files...</a:t>
            </a:r>
            <a:endParaRPr lang="en-US" sz="1400" dirty="0"/>
          </a:p>
          <a:p>
            <a:pPr indent="0" marL="0">
              <a:spcAft>
                <a:spcPts val="400"/>
              </a:spcAft>
              <a:buNone/>
            </a:pPr>
            <a:r>
              <a:rPr lang="en-US" sz="1400" dirty="0">
                <a:solidFill>
                  <a:schemeClr val="accent5"/>
                </a:solidFill>
                <a:latin typeface="Courier New" pitchFamily="34" charset="0"/>
                <a:ea typeface="Courier New" pitchFamily="34" charset="-122"/>
                <a:cs typeface="Courier New" pitchFamily="34" charset="-120"/>
              </a:rPr>
              <a:t>  It is a to-do app in React.</a:t>
            </a:r>
            <a:endParaRPr lang="en-US" sz="1400" dirty="0"/>
          </a:p>
          <a:p>
            <a:pPr indent="0" marL="0">
              <a:spcAft>
                <a:spcPts val="400"/>
              </a:spcAft>
              <a:buNone/>
            </a:pPr>
            <a:endParaRPr lang="en-US" sz="1400" dirty="0"/>
          </a:p>
          <a:p>
            <a:pPr indent="0" marL="0">
              <a:spcAft>
                <a:spcPts val="400"/>
              </a:spcAft>
              <a:buNone/>
            </a:pPr>
            <a:r>
              <a:rPr lang="en-US" sz="1400" dirty="0">
                <a:solidFill>
                  <a:schemeClr val="bg1"/>
                </a:solidFill>
                <a:latin typeface="Courier New" pitchFamily="34" charset="0"/>
                <a:ea typeface="Courier New" pitchFamily="34" charset="-122"/>
                <a:cs typeface="Courier New" pitchFamily="34" charset="-120"/>
              </a:rPr>
              <a:t>&gt; add a dark mode toggle</a:t>
            </a:r>
            <a:endParaRPr lang="en-US" sz="1400" dirty="0"/>
          </a:p>
          <a:p>
            <a:pPr indent="0" marL="0">
              <a:spcAft>
                <a:spcPts val="400"/>
              </a:spcAft>
              <a:buNone/>
            </a:pPr>
            <a:r>
              <a:rPr lang="en-US" sz="1400" dirty="0">
                <a:solidFill>
                  <a:schemeClr val="accent5"/>
                </a:solidFill>
                <a:latin typeface="Courier New" pitchFamily="34" charset="0"/>
                <a:ea typeface="Courier New" pitchFamily="34" charset="-122"/>
                <a:cs typeface="Courier New" pitchFamily="34" charset="-120"/>
              </a:rPr>
              <a:t>  Editing App.jsx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Claude Code is an AI assistant that works inside your code project</a:t>
            </a:r>
            <a:endParaRPr lang="en-US" sz="3200" dirty="0"/>
          </a:p>
        </p:txBody>
      </p:sp>
      <p:sp>
        <p:nvSpPr>
          <p:cNvPr id="4" name="text-7"/>
          <p:cNvSpPr txBox="1"/>
          <p:nvPr/>
        </p:nvSpPr>
        <p:spPr>
          <a:xfrm>
            <a:off x="548640" y="1920240"/>
            <a:ext cx="11094415" cy="822960"/>
          </a:xfrm>
          <a:prstGeom prst="rect">
            <a:avLst/>
          </a:prstGeom>
          <a:noFill/>
          <a:ln/>
        </p:spPr>
        <p:txBody>
          <a:bodyPr wrap="square" lIns="0" tIns="0" rIns="0" bIns="0" rtlCol="0" anchor="t"/>
          <a:lstStyle/>
          <a:p>
            <a:pPr indent="0" marL="0">
              <a:buNone/>
            </a:pPr>
            <a:r>
              <a:rPr lang="en-US" sz="1800" dirty="0">
                <a:solidFill>
                  <a:schemeClr val="tx2"/>
                </a:solidFill>
              </a:rPr>
              <a:t>You describe what you want in plain language. Claude Code reads your files, makes the changes and runs the commands.</a:t>
            </a:r>
            <a:endParaRPr lang="en-US" sz="1800" dirty="0"/>
          </a:p>
        </p:txBody>
      </p:sp>
      <p:sp>
        <p:nvSpPr>
          <p:cNvPr id="5" name="card-8"/>
          <p:cNvSpPr/>
          <p:nvPr/>
        </p:nvSpPr>
        <p:spPr>
          <a:xfrm>
            <a:off x="548640" y="2926080"/>
            <a:ext cx="3515258" cy="2103120"/>
          </a:xfrm>
          <a:prstGeom prst="roundRect">
            <a:avLst>
              <a:gd name="adj" fmla="val 3478"/>
            </a:avLst>
          </a:prstGeom>
          <a:solidFill>
            <a:schemeClr val="bg2"/>
          </a:solidFill>
          <a:ln/>
        </p:spPr>
      </p:sp>
      <p:sp>
        <p:nvSpPr>
          <p:cNvPr id="6" name="icon-tile-9"/>
          <p:cNvSpPr/>
          <p:nvPr/>
        </p:nvSpPr>
        <p:spPr>
          <a:xfrm>
            <a:off x="822960" y="3200400"/>
            <a:ext cx="548640" cy="548640"/>
          </a:xfrm>
          <a:prstGeom prst="roundRect">
            <a:avLst>
              <a:gd name="adj" fmla="val 13333"/>
            </a:avLst>
          </a:prstGeom>
          <a:solidFill>
            <a:schemeClr val="accent1"/>
          </a:solidFill>
          <a:ln/>
        </p:spPr>
      </p:sp>
      <p:pic>
        <p:nvPicPr>
          <p:cNvPr id="7" name="icon-10" descr="preencoded.png">    </p:cNvPr>
          <p:cNvPicPr>
            <a:picLocks noChangeAspect="1"/>
          </p:cNvPicPr>
          <p:nvPr/>
        </p:nvPicPr>
        <p:blipFill>
          <a:blip r:embed="rId1"/>
          <a:stretch>
            <a:fillRect/>
          </a:stretch>
        </p:blipFill>
        <p:spPr>
          <a:xfrm>
            <a:off x="954634" y="3332074"/>
            <a:ext cx="285293" cy="285293"/>
          </a:xfrm>
          <a:prstGeom prst="rect">
            <a:avLst/>
          </a:prstGeom>
        </p:spPr>
      </p:pic>
      <p:sp>
        <p:nvSpPr>
          <p:cNvPr id="8" name="text-11"/>
          <p:cNvSpPr txBox="1"/>
          <p:nvPr/>
        </p:nvSpPr>
        <p:spPr>
          <a:xfrm>
            <a:off x="1554480" y="3200400"/>
            <a:ext cx="2235098" cy="548640"/>
          </a:xfrm>
          <a:prstGeom prst="rect">
            <a:avLst/>
          </a:prstGeom>
          <a:noFill/>
          <a:ln/>
        </p:spPr>
        <p:txBody>
          <a:bodyPr wrap="square" lIns="0" tIns="0" rIns="0" bIns="0" rtlCol="0" anchor="ctr"/>
          <a:lstStyle/>
          <a:p>
            <a:pPr indent="0" marL="0">
              <a:buNone/>
            </a:pPr>
            <a:r>
              <a:rPr lang="en-US" sz="2000" b="1" dirty="0">
                <a:solidFill>
                  <a:schemeClr val="tx1"/>
                </a:solidFill>
              </a:rPr>
              <a:t>Reads</a:t>
            </a:r>
            <a:endParaRPr lang="en-US" sz="2000" dirty="0"/>
          </a:p>
        </p:txBody>
      </p:sp>
      <p:sp>
        <p:nvSpPr>
          <p:cNvPr id="9" name="text-12"/>
          <p:cNvSpPr txBox="1"/>
          <p:nvPr/>
        </p:nvSpPr>
        <p:spPr>
          <a:xfrm>
            <a:off x="822960" y="3977640"/>
            <a:ext cx="2966618" cy="914400"/>
          </a:xfrm>
          <a:prstGeom prst="rect">
            <a:avLst/>
          </a:prstGeom>
          <a:noFill/>
          <a:ln/>
        </p:spPr>
        <p:txBody>
          <a:bodyPr wrap="square" lIns="0" tIns="0" rIns="0" bIns="0" rtlCol="0" anchor="t"/>
          <a:lstStyle/>
          <a:p>
            <a:pPr indent="0" marL="0">
              <a:buNone/>
            </a:pPr>
            <a:r>
              <a:rPr lang="en-US" sz="1400" dirty="0">
                <a:solidFill>
                  <a:schemeClr val="tx2"/>
                </a:solidFill>
              </a:rPr>
              <a:t>It explores your project files to understand how the code fits together</a:t>
            </a:r>
            <a:endParaRPr lang="en-US" sz="1400" dirty="0"/>
          </a:p>
        </p:txBody>
      </p:sp>
      <p:sp>
        <p:nvSpPr>
          <p:cNvPr id="10" name="card-13"/>
          <p:cNvSpPr/>
          <p:nvPr/>
        </p:nvSpPr>
        <p:spPr>
          <a:xfrm>
            <a:off x="4338218" y="2926080"/>
            <a:ext cx="3515258" cy="2103120"/>
          </a:xfrm>
          <a:prstGeom prst="roundRect">
            <a:avLst>
              <a:gd name="adj" fmla="val 3478"/>
            </a:avLst>
          </a:prstGeom>
          <a:solidFill>
            <a:schemeClr val="bg2"/>
          </a:solidFill>
          <a:ln/>
        </p:spPr>
      </p:sp>
      <p:sp>
        <p:nvSpPr>
          <p:cNvPr id="11" name="icon-tile-14"/>
          <p:cNvSpPr/>
          <p:nvPr/>
        </p:nvSpPr>
        <p:spPr>
          <a:xfrm>
            <a:off x="4612538" y="3200400"/>
            <a:ext cx="548640" cy="548640"/>
          </a:xfrm>
          <a:prstGeom prst="roundRect">
            <a:avLst>
              <a:gd name="adj" fmla="val 13333"/>
            </a:avLst>
          </a:prstGeom>
          <a:solidFill>
            <a:schemeClr val="accent1"/>
          </a:solidFill>
          <a:ln/>
        </p:spPr>
      </p:sp>
      <p:pic>
        <p:nvPicPr>
          <p:cNvPr id="12" name="icon-15" descr="preencoded.png">    </p:cNvPr>
          <p:cNvPicPr>
            <a:picLocks noChangeAspect="1"/>
          </p:cNvPicPr>
          <p:nvPr/>
        </p:nvPicPr>
        <p:blipFill>
          <a:blip r:embed="rId2"/>
          <a:stretch>
            <a:fillRect/>
          </a:stretch>
        </p:blipFill>
        <p:spPr>
          <a:xfrm>
            <a:off x="4744212" y="3332074"/>
            <a:ext cx="285293" cy="285293"/>
          </a:xfrm>
          <a:prstGeom prst="rect">
            <a:avLst/>
          </a:prstGeom>
        </p:spPr>
      </p:pic>
      <p:sp>
        <p:nvSpPr>
          <p:cNvPr id="13" name="text-16"/>
          <p:cNvSpPr txBox="1"/>
          <p:nvPr/>
        </p:nvSpPr>
        <p:spPr>
          <a:xfrm>
            <a:off x="5344058" y="3200400"/>
            <a:ext cx="2235098" cy="548640"/>
          </a:xfrm>
          <a:prstGeom prst="rect">
            <a:avLst/>
          </a:prstGeom>
          <a:noFill/>
          <a:ln/>
        </p:spPr>
        <p:txBody>
          <a:bodyPr wrap="square" lIns="0" tIns="0" rIns="0" bIns="0" rtlCol="0" anchor="ctr"/>
          <a:lstStyle/>
          <a:p>
            <a:pPr indent="0" marL="0">
              <a:buNone/>
            </a:pPr>
            <a:r>
              <a:rPr lang="en-US" sz="2000" b="1" dirty="0">
                <a:solidFill>
                  <a:schemeClr val="tx1"/>
                </a:solidFill>
              </a:rPr>
              <a:t>Edits</a:t>
            </a:r>
            <a:endParaRPr lang="en-US" sz="2000" dirty="0"/>
          </a:p>
        </p:txBody>
      </p:sp>
      <p:sp>
        <p:nvSpPr>
          <p:cNvPr id="14" name="text-17"/>
          <p:cNvSpPr txBox="1"/>
          <p:nvPr/>
        </p:nvSpPr>
        <p:spPr>
          <a:xfrm>
            <a:off x="4612538" y="3977640"/>
            <a:ext cx="2966618" cy="914400"/>
          </a:xfrm>
          <a:prstGeom prst="rect">
            <a:avLst/>
          </a:prstGeom>
          <a:noFill/>
          <a:ln/>
        </p:spPr>
        <p:txBody>
          <a:bodyPr wrap="square" lIns="0" tIns="0" rIns="0" bIns="0" rtlCol="0" anchor="t"/>
          <a:lstStyle/>
          <a:p>
            <a:pPr indent="0" marL="0">
              <a:buNone/>
            </a:pPr>
            <a:r>
              <a:rPr lang="en-US" sz="1400" dirty="0">
                <a:solidFill>
                  <a:schemeClr val="tx2"/>
                </a:solidFill>
              </a:rPr>
              <a:t>It changes one file or many, and shows you exactly what changed</a:t>
            </a:r>
            <a:endParaRPr lang="en-US" sz="1400" dirty="0"/>
          </a:p>
        </p:txBody>
      </p:sp>
      <p:sp>
        <p:nvSpPr>
          <p:cNvPr id="15" name="card-18"/>
          <p:cNvSpPr/>
          <p:nvPr/>
        </p:nvSpPr>
        <p:spPr>
          <a:xfrm>
            <a:off x="8127797" y="2926080"/>
            <a:ext cx="3515258" cy="2103120"/>
          </a:xfrm>
          <a:prstGeom prst="roundRect">
            <a:avLst>
              <a:gd name="adj" fmla="val 3478"/>
            </a:avLst>
          </a:prstGeom>
          <a:solidFill>
            <a:schemeClr val="bg2"/>
          </a:solidFill>
          <a:ln/>
        </p:spPr>
      </p:sp>
      <p:sp>
        <p:nvSpPr>
          <p:cNvPr id="16" name="icon-tile-19"/>
          <p:cNvSpPr/>
          <p:nvPr/>
        </p:nvSpPr>
        <p:spPr>
          <a:xfrm>
            <a:off x="8402117" y="3200400"/>
            <a:ext cx="548640" cy="548640"/>
          </a:xfrm>
          <a:prstGeom prst="roundRect">
            <a:avLst>
              <a:gd name="adj" fmla="val 13333"/>
            </a:avLst>
          </a:prstGeom>
          <a:solidFill>
            <a:schemeClr val="accent1"/>
          </a:solidFill>
          <a:ln/>
        </p:spPr>
      </p:sp>
      <p:pic>
        <p:nvPicPr>
          <p:cNvPr id="17" name="icon-20" descr="preencoded.png">    </p:cNvPr>
          <p:cNvPicPr>
            <a:picLocks noChangeAspect="1"/>
          </p:cNvPicPr>
          <p:nvPr/>
        </p:nvPicPr>
        <p:blipFill>
          <a:blip r:embed="rId3"/>
          <a:stretch>
            <a:fillRect/>
          </a:stretch>
        </p:blipFill>
        <p:spPr>
          <a:xfrm>
            <a:off x="8533790" y="3332074"/>
            <a:ext cx="285293" cy="285293"/>
          </a:xfrm>
          <a:prstGeom prst="rect">
            <a:avLst/>
          </a:prstGeom>
        </p:spPr>
      </p:pic>
      <p:sp>
        <p:nvSpPr>
          <p:cNvPr id="18" name="text-21"/>
          <p:cNvSpPr txBox="1"/>
          <p:nvPr/>
        </p:nvSpPr>
        <p:spPr>
          <a:xfrm>
            <a:off x="9133637" y="3200400"/>
            <a:ext cx="2235098" cy="548640"/>
          </a:xfrm>
          <a:prstGeom prst="rect">
            <a:avLst/>
          </a:prstGeom>
          <a:noFill/>
          <a:ln/>
        </p:spPr>
        <p:txBody>
          <a:bodyPr wrap="square" lIns="0" tIns="0" rIns="0" bIns="0" rtlCol="0" anchor="ctr"/>
          <a:lstStyle/>
          <a:p>
            <a:pPr indent="0" marL="0">
              <a:buNone/>
            </a:pPr>
            <a:r>
              <a:rPr lang="en-US" sz="2000" b="1" dirty="0">
                <a:solidFill>
                  <a:schemeClr val="tx1"/>
                </a:solidFill>
              </a:rPr>
              <a:t>Runs</a:t>
            </a:r>
            <a:endParaRPr lang="en-US" sz="2000" dirty="0"/>
          </a:p>
        </p:txBody>
      </p:sp>
      <p:sp>
        <p:nvSpPr>
          <p:cNvPr id="19" name="text-22"/>
          <p:cNvSpPr txBox="1"/>
          <p:nvPr/>
        </p:nvSpPr>
        <p:spPr>
          <a:xfrm>
            <a:off x="8402117" y="3977640"/>
            <a:ext cx="2966618" cy="914400"/>
          </a:xfrm>
          <a:prstGeom prst="rect">
            <a:avLst/>
          </a:prstGeom>
          <a:noFill/>
          <a:ln/>
        </p:spPr>
        <p:txBody>
          <a:bodyPr wrap="square" lIns="0" tIns="0" rIns="0" bIns="0" rtlCol="0" anchor="t"/>
          <a:lstStyle/>
          <a:p>
            <a:pPr indent="0" marL="0">
              <a:buNone/>
            </a:pPr>
            <a:r>
              <a:rPr lang="en-US" sz="1400" dirty="0">
                <a:solidFill>
                  <a:schemeClr val="tx2"/>
                </a:solidFill>
              </a:rPr>
              <a:t>It executes commands such as tests, builds and git on your behalf</a:t>
            </a:r>
            <a:endParaRPr lang="en-US" sz="1400" dirty="0"/>
          </a:p>
        </p:txBody>
      </p:sp>
      <p:sp>
        <p:nvSpPr>
          <p:cNvPr id="20" name="card-23"/>
          <p:cNvSpPr/>
          <p:nvPr/>
        </p:nvSpPr>
        <p:spPr>
          <a:xfrm>
            <a:off x="548640" y="5257800"/>
            <a:ext cx="11094415" cy="640080"/>
          </a:xfrm>
          <a:prstGeom prst="roundRect">
            <a:avLst>
              <a:gd name="adj" fmla="val 11429"/>
            </a:avLst>
          </a:prstGeom>
          <a:solidFill>
            <a:schemeClr val="bg2"/>
          </a:solidFill>
          <a:ln/>
        </p:spPr>
      </p:sp>
      <p:sp>
        <p:nvSpPr>
          <p:cNvPr id="21" name="icon-tile-24"/>
          <p:cNvSpPr/>
          <p:nvPr/>
        </p:nvSpPr>
        <p:spPr>
          <a:xfrm>
            <a:off x="685800" y="5385816"/>
            <a:ext cx="384048" cy="384048"/>
          </a:xfrm>
          <a:prstGeom prst="roundRect">
            <a:avLst>
              <a:gd name="adj" fmla="val 19048"/>
            </a:avLst>
          </a:prstGeom>
          <a:solidFill>
            <a:schemeClr val="accent2"/>
          </a:solidFill>
          <a:ln/>
        </p:spPr>
      </p:sp>
      <p:pic>
        <p:nvPicPr>
          <p:cNvPr id="22" name="icon-25" descr="preencoded.png">    </p:cNvPr>
          <p:cNvPicPr>
            <a:picLocks noChangeAspect="1"/>
          </p:cNvPicPr>
          <p:nvPr/>
        </p:nvPicPr>
        <p:blipFill>
          <a:blip r:embed="rId4"/>
          <a:stretch>
            <a:fillRect/>
          </a:stretch>
        </p:blipFill>
        <p:spPr>
          <a:xfrm>
            <a:off x="777972" y="5477988"/>
            <a:ext cx="199705" cy="199705"/>
          </a:xfrm>
          <a:prstGeom prst="rect">
            <a:avLst/>
          </a:prstGeom>
        </p:spPr>
      </p:pic>
      <p:sp>
        <p:nvSpPr>
          <p:cNvPr id="23" name="text-26"/>
          <p:cNvSpPr txBox="1"/>
          <p:nvPr/>
        </p:nvSpPr>
        <p:spPr>
          <a:xfrm>
            <a:off x="1234440" y="5257800"/>
            <a:ext cx="10225735" cy="640080"/>
          </a:xfrm>
          <a:prstGeom prst="rect">
            <a:avLst/>
          </a:prstGeom>
          <a:noFill/>
          <a:ln/>
        </p:spPr>
        <p:txBody>
          <a:bodyPr wrap="square" lIns="0" tIns="0" rIns="0" bIns="0" rtlCol="0" anchor="ctr"/>
          <a:lstStyle/>
          <a:p>
            <a:pPr indent="0" marL="0">
              <a:buNone/>
            </a:pPr>
            <a:r>
              <a:rPr lang="en-US" sz="1400" dirty="0">
                <a:solidFill>
                  <a:schemeClr val="tx1"/>
                </a:solidFill>
              </a:rPr>
              <a:t>Claude Code is made by Anthropic. The AI model working inside it is called Claude.</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chat assistant advises; Claude Code acts</a:t>
            </a:r>
            <a:endParaRPr lang="en-US" sz="3200" dirty="0"/>
          </a:p>
        </p:txBody>
      </p:sp>
      <p:sp>
        <p:nvSpPr>
          <p:cNvPr id="4" name="card-27"/>
          <p:cNvSpPr/>
          <p:nvPr/>
        </p:nvSpPr>
        <p:spPr>
          <a:xfrm>
            <a:off x="548640" y="1920240"/>
            <a:ext cx="5212080" cy="3063240"/>
          </a:xfrm>
          <a:prstGeom prst="roundRect">
            <a:avLst>
              <a:gd name="adj" fmla="val 2388"/>
            </a:avLst>
          </a:prstGeom>
          <a:solidFill>
            <a:schemeClr val="bg2"/>
          </a:solidFill>
          <a:ln/>
        </p:spPr>
      </p:sp>
      <p:sp>
        <p:nvSpPr>
          <p:cNvPr id="5" name="icon-tile-28"/>
          <p:cNvSpPr/>
          <p:nvPr/>
        </p:nvSpPr>
        <p:spPr>
          <a:xfrm>
            <a:off x="822960" y="2194560"/>
            <a:ext cx="548640" cy="548640"/>
          </a:xfrm>
          <a:prstGeom prst="roundRect">
            <a:avLst>
              <a:gd name="adj" fmla="val 13333"/>
            </a:avLst>
          </a:prstGeom>
          <a:solidFill>
            <a:schemeClr val="accent4"/>
          </a:solidFill>
          <a:ln/>
        </p:spPr>
      </p:sp>
      <p:pic>
        <p:nvPicPr>
          <p:cNvPr id="6" name="icon-29" descr="preencoded.png">    </p:cNvPr>
          <p:cNvPicPr>
            <a:picLocks noChangeAspect="1"/>
          </p:cNvPicPr>
          <p:nvPr/>
        </p:nvPicPr>
        <p:blipFill>
          <a:blip r:embed="rId1"/>
          <a:stretch>
            <a:fillRect/>
          </a:stretch>
        </p:blipFill>
        <p:spPr>
          <a:xfrm>
            <a:off x="954634" y="2326234"/>
            <a:ext cx="285293" cy="285293"/>
          </a:xfrm>
          <a:prstGeom prst="rect">
            <a:avLst/>
          </a:prstGeom>
        </p:spPr>
      </p:pic>
      <p:sp>
        <p:nvSpPr>
          <p:cNvPr id="7" name="text-30"/>
          <p:cNvSpPr txBox="1"/>
          <p:nvPr/>
        </p:nvSpPr>
        <p:spPr>
          <a:xfrm>
            <a:off x="1554480" y="2194560"/>
            <a:ext cx="3931920" cy="548640"/>
          </a:xfrm>
          <a:prstGeom prst="rect">
            <a:avLst/>
          </a:prstGeom>
          <a:noFill/>
          <a:ln/>
        </p:spPr>
        <p:txBody>
          <a:bodyPr wrap="square" lIns="0" tIns="0" rIns="0" bIns="0" rtlCol="0" anchor="ctr"/>
          <a:lstStyle/>
          <a:p>
            <a:pPr indent="0" marL="0">
              <a:buNone/>
            </a:pPr>
            <a:r>
              <a:rPr lang="en-US" sz="2000" b="1" dirty="0">
                <a:solidFill>
                  <a:schemeClr val="tx1"/>
                </a:solidFill>
              </a:rPr>
              <a:t>A chat assistant</a:t>
            </a:r>
            <a:endParaRPr lang="en-US" sz="2000" dirty="0"/>
          </a:p>
        </p:txBody>
      </p:sp>
      <p:sp>
        <p:nvSpPr>
          <p:cNvPr id="8" name="text-31"/>
          <p:cNvSpPr txBox="1"/>
          <p:nvPr/>
        </p:nvSpPr>
        <p:spPr>
          <a:xfrm>
            <a:off x="822960" y="3017520"/>
            <a:ext cx="4663440" cy="1737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You paste your code into the chat</a:t>
            </a:r>
            <a:endParaRPr lang="en-US" sz="1600" dirty="0"/>
          </a:p>
          <a:p>
            <a:pPr marL="342900" indent="-342900">
              <a:spcAft>
                <a:spcPts val="1000"/>
              </a:spcAft>
              <a:buSzPct val="100000"/>
              <a:buChar char="•"/>
            </a:pPr>
            <a:r>
              <a:rPr lang="en-US" sz="1600" dirty="0">
                <a:solidFill>
                  <a:schemeClr val="tx1"/>
                </a:solidFill>
              </a:rPr>
              <a:t>It replies with text and suggestions</a:t>
            </a:r>
            <a:endParaRPr lang="en-US" sz="1600" dirty="0"/>
          </a:p>
          <a:p>
            <a:pPr marL="342900" indent="-342900">
              <a:spcAft>
                <a:spcPts val="1000"/>
              </a:spcAft>
              <a:buSzPct val="100000"/>
              <a:buChar char="•"/>
            </a:pPr>
            <a:r>
              <a:rPr lang="en-US" sz="1600" dirty="0">
                <a:solidFill>
                  <a:schemeClr val="tx1"/>
                </a:solidFill>
              </a:rPr>
              <a:t>You copy the answer back and run it yourself</a:t>
            </a:r>
            <a:endParaRPr lang="en-US" sz="1600" dirty="0"/>
          </a:p>
        </p:txBody>
      </p:sp>
      <p:sp>
        <p:nvSpPr>
          <p:cNvPr id="9" name="card-32"/>
          <p:cNvSpPr/>
          <p:nvPr/>
        </p:nvSpPr>
        <p:spPr>
          <a:xfrm>
            <a:off x="6430975" y="1920240"/>
            <a:ext cx="5212080" cy="3063240"/>
          </a:xfrm>
          <a:prstGeom prst="roundRect">
            <a:avLst>
              <a:gd name="adj" fmla="val 2388"/>
            </a:avLst>
          </a:prstGeom>
          <a:solidFill>
            <a:schemeClr val="accent5"/>
          </a:solidFill>
          <a:ln/>
        </p:spPr>
      </p:sp>
      <p:sp>
        <p:nvSpPr>
          <p:cNvPr id="10" name="icon-tile-33"/>
          <p:cNvSpPr/>
          <p:nvPr/>
        </p:nvSpPr>
        <p:spPr>
          <a:xfrm>
            <a:off x="6705295" y="2194560"/>
            <a:ext cx="548640" cy="548640"/>
          </a:xfrm>
          <a:prstGeom prst="roundRect">
            <a:avLst>
              <a:gd name="adj" fmla="val 13333"/>
            </a:avLst>
          </a:prstGeom>
          <a:solidFill>
            <a:schemeClr val="accent1"/>
          </a:solidFill>
          <a:ln/>
        </p:spPr>
      </p:sp>
      <p:pic>
        <p:nvPicPr>
          <p:cNvPr id="11" name="icon-34" descr="preencoded.png">    </p:cNvPr>
          <p:cNvPicPr>
            <a:picLocks noChangeAspect="1"/>
          </p:cNvPicPr>
          <p:nvPr/>
        </p:nvPicPr>
        <p:blipFill>
          <a:blip r:embed="rId2"/>
          <a:stretch>
            <a:fillRect/>
          </a:stretch>
        </p:blipFill>
        <p:spPr>
          <a:xfrm>
            <a:off x="6836969" y="2326234"/>
            <a:ext cx="285293" cy="285293"/>
          </a:xfrm>
          <a:prstGeom prst="rect">
            <a:avLst/>
          </a:prstGeom>
        </p:spPr>
      </p:pic>
      <p:sp>
        <p:nvSpPr>
          <p:cNvPr id="12" name="text-35"/>
          <p:cNvSpPr txBox="1"/>
          <p:nvPr/>
        </p:nvSpPr>
        <p:spPr>
          <a:xfrm>
            <a:off x="7436815" y="2194560"/>
            <a:ext cx="3931920" cy="548640"/>
          </a:xfrm>
          <a:prstGeom prst="rect">
            <a:avLst/>
          </a:prstGeom>
          <a:noFill/>
          <a:ln/>
        </p:spPr>
        <p:txBody>
          <a:bodyPr wrap="square" lIns="0" tIns="0" rIns="0" bIns="0" rtlCol="0" anchor="ctr"/>
          <a:lstStyle/>
          <a:p>
            <a:pPr indent="0" marL="0">
              <a:buNone/>
            </a:pPr>
            <a:r>
              <a:rPr lang="en-US" sz="2000" b="1" dirty="0">
                <a:solidFill>
                  <a:schemeClr val="tx1"/>
                </a:solidFill>
              </a:rPr>
              <a:t>Claude Code</a:t>
            </a:r>
            <a:endParaRPr lang="en-US" sz="2000" dirty="0"/>
          </a:p>
        </p:txBody>
      </p:sp>
      <p:sp>
        <p:nvSpPr>
          <p:cNvPr id="13" name="text-36"/>
          <p:cNvSpPr txBox="1"/>
          <p:nvPr/>
        </p:nvSpPr>
        <p:spPr>
          <a:xfrm>
            <a:off x="6705295" y="3017520"/>
            <a:ext cx="4663440" cy="1737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It reads the project files itself</a:t>
            </a:r>
            <a:endParaRPr lang="en-US" sz="1600" dirty="0"/>
          </a:p>
          <a:p>
            <a:pPr marL="342900" indent="-342900">
              <a:spcAft>
                <a:spcPts val="1000"/>
              </a:spcAft>
              <a:buSzPct val="100000"/>
              <a:buChar char="•"/>
            </a:pPr>
            <a:r>
              <a:rPr lang="en-US" sz="1600" dirty="0">
                <a:solidFill>
                  <a:schemeClr val="tx1"/>
                </a:solidFill>
              </a:rPr>
              <a:t>It edits files and runs commands</a:t>
            </a:r>
            <a:endParaRPr lang="en-US" sz="1600" dirty="0"/>
          </a:p>
          <a:p>
            <a:pPr marL="342900" indent="-342900">
              <a:spcAft>
                <a:spcPts val="1000"/>
              </a:spcAft>
              <a:buSzPct val="100000"/>
              <a:buChar char="•"/>
            </a:pPr>
            <a:r>
              <a:rPr lang="en-US" sz="1600" dirty="0">
                <a:solidFill>
                  <a:schemeClr val="tx1"/>
                </a:solidFill>
              </a:rPr>
              <a:t>You watch, redirect or approve</a:t>
            </a:r>
            <a:endParaRPr lang="en-US" sz="1600" dirty="0"/>
          </a:p>
        </p:txBody>
      </p:sp>
      <p:pic>
        <p:nvPicPr>
          <p:cNvPr id="14" name="arrow-37" descr="preencoded.png">    </p:cNvPr>
          <p:cNvPicPr>
            <a:picLocks noChangeAspect="1"/>
          </p:cNvPicPr>
          <p:nvPr/>
        </p:nvPicPr>
        <p:blipFill>
          <a:blip r:embed="rId3"/>
          <a:stretch>
            <a:fillRect/>
          </a:stretch>
        </p:blipFill>
        <p:spPr>
          <a:xfrm>
            <a:off x="5912968" y="3268980"/>
            <a:ext cx="365760" cy="365760"/>
          </a:xfrm>
          <a:prstGeom prst="rect">
            <a:avLst/>
          </a:prstGeom>
        </p:spPr>
      </p:pic>
      <p:sp>
        <p:nvSpPr>
          <p:cNvPr id="15" name="card-38"/>
          <p:cNvSpPr/>
          <p:nvPr/>
        </p:nvSpPr>
        <p:spPr>
          <a:xfrm>
            <a:off x="548640" y="5257800"/>
            <a:ext cx="11094415" cy="640080"/>
          </a:xfrm>
          <a:prstGeom prst="roundRect">
            <a:avLst>
              <a:gd name="adj" fmla="val 11429"/>
            </a:avLst>
          </a:prstGeom>
          <a:solidFill>
            <a:schemeClr val="bg2"/>
          </a:solidFill>
          <a:ln/>
        </p:spPr>
      </p:sp>
      <p:sp>
        <p:nvSpPr>
          <p:cNvPr id="16" name="text-39"/>
          <p:cNvSpPr txBox="1"/>
          <p:nvPr/>
        </p:nvSpPr>
        <p:spPr>
          <a:xfrm>
            <a:off x="822960" y="5257800"/>
            <a:ext cx="10545775" cy="64008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agentic coding</a:t>
            </a:r>
            <a:pPr indent="0" marL="0">
              <a:buNone/>
            </a:pPr>
            <a:r>
              <a:rPr lang="en-US" sz="1400" dirty="0">
                <a:solidFill>
                  <a:schemeClr val="tx1"/>
                </a:solidFill>
              </a:rPr>
              <a:t>   An AI that can read files, run commands and make changes itself, instead of only giving advice.</a:t>
            </a:r>
            <a:endParaRPr lang="en-US" sz="1400" dirty="0"/>
          </a:p>
        </p:txBody>
      </p:sp>
      <p:sp>
        <p:nvSpPr>
          <p:cNvPr id="17" name="text-4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Two names to keep apart: Claude and Claude Code</a:t>
            </a:r>
            <a:endParaRPr lang="en-US" sz="3200" dirty="0"/>
          </a:p>
        </p:txBody>
      </p:sp>
      <p:sp>
        <p:nvSpPr>
          <p:cNvPr id="4" name="card-41"/>
          <p:cNvSpPr/>
          <p:nvPr/>
        </p:nvSpPr>
        <p:spPr>
          <a:xfrm>
            <a:off x="548640" y="1920240"/>
            <a:ext cx="4846320" cy="1188720"/>
          </a:xfrm>
          <a:prstGeom prst="roundRect">
            <a:avLst>
              <a:gd name="adj" fmla="val 6154"/>
            </a:avLst>
          </a:prstGeom>
          <a:solidFill>
            <a:schemeClr val="bg2"/>
          </a:solidFill>
          <a:ln/>
        </p:spPr>
      </p:sp>
      <p:sp>
        <p:nvSpPr>
          <p:cNvPr id="5" name="text-42"/>
          <p:cNvSpPr txBox="1"/>
          <p:nvPr/>
        </p:nvSpPr>
        <p:spPr>
          <a:xfrm>
            <a:off x="822960" y="2103120"/>
            <a:ext cx="4297680" cy="320040"/>
          </a:xfrm>
          <a:prstGeom prst="rect">
            <a:avLst/>
          </a:prstGeom>
          <a:noFill/>
          <a:ln/>
        </p:spPr>
        <p:txBody>
          <a:bodyPr wrap="square" lIns="0" tIns="0" rIns="0" bIns="0" rtlCol="0" anchor="t"/>
          <a:lstStyle/>
          <a:p>
            <a:pPr indent="0" marL="0">
              <a:buNone/>
            </a:pPr>
            <a:r>
              <a:rPr lang="en-US" sz="1800" b="1" dirty="0">
                <a:solidFill>
                  <a:schemeClr val="tx1"/>
                </a:solidFill>
              </a:rPr>
              <a:t>Claude</a:t>
            </a:r>
            <a:pPr indent="0" marL="0">
              <a:buNone/>
            </a:pPr>
            <a:r>
              <a:rPr lang="en-US" sz="1400" b="1" dirty="0">
                <a:solidFill>
                  <a:schemeClr val="accent1"/>
                </a:solidFill>
                <a:latin typeface="Courier New" pitchFamily="34" charset="0"/>
                <a:ea typeface="Courier New" pitchFamily="34" charset="-122"/>
                <a:cs typeface="Courier New" pitchFamily="34" charset="-120"/>
              </a:rPr>
              <a:t>   the model</a:t>
            </a:r>
            <a:endParaRPr lang="en-US" sz="1400" dirty="0"/>
          </a:p>
        </p:txBody>
      </p:sp>
      <p:sp>
        <p:nvSpPr>
          <p:cNvPr id="6" name="text-43"/>
          <p:cNvSpPr txBox="1"/>
          <p:nvPr/>
        </p:nvSpPr>
        <p:spPr>
          <a:xfrm>
            <a:off x="822960" y="2487168"/>
            <a:ext cx="4297680" cy="548640"/>
          </a:xfrm>
          <a:prstGeom prst="rect">
            <a:avLst/>
          </a:prstGeom>
          <a:noFill/>
          <a:ln/>
        </p:spPr>
        <p:txBody>
          <a:bodyPr wrap="square" lIns="0" tIns="0" rIns="0" bIns="0" rtlCol="0" anchor="t"/>
          <a:lstStyle/>
          <a:p>
            <a:pPr indent="0" marL="0">
              <a:buNone/>
            </a:pPr>
            <a:r>
              <a:rPr lang="en-US" sz="1400" dirty="0">
                <a:solidFill>
                  <a:schemeClr val="tx2"/>
                </a:solidFill>
              </a:rPr>
              <a:t>The AI that does the thinking and writing.</a:t>
            </a:r>
            <a:endParaRPr lang="en-US" sz="1400" dirty="0"/>
          </a:p>
        </p:txBody>
      </p:sp>
      <p:sp>
        <p:nvSpPr>
          <p:cNvPr id="7" name="card-44"/>
          <p:cNvSpPr/>
          <p:nvPr/>
        </p:nvSpPr>
        <p:spPr>
          <a:xfrm>
            <a:off x="548640" y="3291840"/>
            <a:ext cx="4846320" cy="1188720"/>
          </a:xfrm>
          <a:prstGeom prst="roundRect">
            <a:avLst>
              <a:gd name="adj" fmla="val 6154"/>
            </a:avLst>
          </a:prstGeom>
          <a:solidFill>
            <a:schemeClr val="bg2"/>
          </a:solidFill>
          <a:ln/>
        </p:spPr>
      </p:sp>
      <p:sp>
        <p:nvSpPr>
          <p:cNvPr id="8" name="text-45"/>
          <p:cNvSpPr txBox="1"/>
          <p:nvPr/>
        </p:nvSpPr>
        <p:spPr>
          <a:xfrm>
            <a:off x="822960" y="3474720"/>
            <a:ext cx="4297680" cy="320040"/>
          </a:xfrm>
          <a:prstGeom prst="rect">
            <a:avLst/>
          </a:prstGeom>
          <a:noFill/>
          <a:ln/>
        </p:spPr>
        <p:txBody>
          <a:bodyPr wrap="square" lIns="0" tIns="0" rIns="0" bIns="0" rtlCol="0" anchor="t"/>
          <a:lstStyle/>
          <a:p>
            <a:pPr indent="0" marL="0">
              <a:buNone/>
            </a:pPr>
            <a:r>
              <a:rPr lang="en-US" sz="1800" b="1" dirty="0">
                <a:solidFill>
                  <a:schemeClr val="tx1"/>
                </a:solidFill>
              </a:rPr>
              <a:t>Claude Code</a:t>
            </a:r>
            <a:pPr indent="0" marL="0">
              <a:buNone/>
            </a:pPr>
            <a:r>
              <a:rPr lang="en-US" sz="1400" b="1" dirty="0">
                <a:solidFill>
                  <a:schemeClr val="accent1"/>
                </a:solidFill>
                <a:latin typeface="Courier New" pitchFamily="34" charset="0"/>
                <a:ea typeface="Courier New" pitchFamily="34" charset="-122"/>
                <a:cs typeface="Courier New" pitchFamily="34" charset="-120"/>
              </a:rPr>
              <a:t>   the harness</a:t>
            </a:r>
            <a:endParaRPr lang="en-US" sz="1400" dirty="0"/>
          </a:p>
        </p:txBody>
      </p:sp>
      <p:sp>
        <p:nvSpPr>
          <p:cNvPr id="9" name="text-46"/>
          <p:cNvSpPr txBox="1"/>
          <p:nvPr/>
        </p:nvSpPr>
        <p:spPr>
          <a:xfrm>
            <a:off x="822960" y="3858768"/>
            <a:ext cx="4297680" cy="548640"/>
          </a:xfrm>
          <a:prstGeom prst="rect">
            <a:avLst/>
          </a:prstGeom>
          <a:noFill/>
          <a:ln/>
        </p:spPr>
        <p:txBody>
          <a:bodyPr wrap="square" lIns="0" tIns="0" rIns="0" bIns="0" rtlCol="0" anchor="t"/>
          <a:lstStyle/>
          <a:p>
            <a:pPr indent="0" marL="0">
              <a:buNone/>
            </a:pPr>
            <a:r>
              <a:rPr lang="en-US" sz="1400" dirty="0">
                <a:solidFill>
                  <a:schemeClr val="tx2"/>
                </a:solidFill>
              </a:rPr>
              <a:t>The tools, memory and safety checks that let the model act on your project.</a:t>
            </a:r>
            <a:endParaRPr lang="en-US" sz="1400" dirty="0"/>
          </a:p>
        </p:txBody>
      </p:sp>
      <p:sp>
        <p:nvSpPr>
          <p:cNvPr id="10" name="text-47"/>
          <p:cNvSpPr txBox="1"/>
          <p:nvPr/>
        </p:nvSpPr>
        <p:spPr>
          <a:xfrm>
            <a:off x="548640" y="4846320"/>
            <a:ext cx="4846320" cy="731520"/>
          </a:xfrm>
          <a:prstGeom prst="rect">
            <a:avLst/>
          </a:prstGeom>
          <a:noFill/>
          <a:ln/>
        </p:spPr>
        <p:txBody>
          <a:bodyPr wrap="square" lIns="0" tIns="0" rIns="0" bIns="0" rtlCol="0" anchor="t"/>
          <a:lstStyle/>
          <a:p>
            <a:pPr indent="0" marL="0">
              <a:buNone/>
            </a:pPr>
            <a:r>
              <a:rPr lang="en-US" sz="1600" i="1" dirty="0">
                <a:solidFill>
                  <a:schemeClr val="accent3"/>
                </a:solidFill>
              </a:rPr>
              <a:t>Think of Claude as the brain, and Claude Code as the hands and the workbench.</a:t>
            </a:r>
            <a:endParaRPr lang="en-US" sz="1600" dirty="0"/>
          </a:p>
        </p:txBody>
      </p:sp>
      <p:sp>
        <p:nvSpPr>
          <p:cNvPr id="11" name="card-48"/>
          <p:cNvSpPr/>
          <p:nvPr/>
        </p:nvSpPr>
        <p:spPr>
          <a:xfrm>
            <a:off x="5852160" y="1920240"/>
            <a:ext cx="5790895" cy="3931920"/>
          </a:xfrm>
          <a:prstGeom prst="roundRect">
            <a:avLst>
              <a:gd name="adj" fmla="val 1860"/>
            </a:avLst>
          </a:prstGeom>
          <a:solidFill>
            <a:schemeClr val="bg2"/>
          </a:solidFill>
          <a:ln/>
        </p:spPr>
      </p:sp>
      <p:sp>
        <p:nvSpPr>
          <p:cNvPr id="12" name="text-49"/>
          <p:cNvSpPr txBox="1"/>
          <p:nvPr/>
        </p:nvSpPr>
        <p:spPr>
          <a:xfrm>
            <a:off x="6126480" y="2148840"/>
            <a:ext cx="524225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CLAUDE CODE  (the harness)</a:t>
            </a:r>
            <a:endParaRPr lang="en-US" sz="1200" dirty="0"/>
          </a:p>
        </p:txBody>
      </p:sp>
      <p:sp>
        <p:nvSpPr>
          <p:cNvPr id="13" name="pill-50"/>
          <p:cNvSpPr/>
          <p:nvPr/>
        </p:nvSpPr>
        <p:spPr>
          <a:xfrm>
            <a:off x="6537960" y="2697480"/>
            <a:ext cx="2011680" cy="457200"/>
          </a:xfrm>
          <a:prstGeom prst="roundRect">
            <a:avLst>
              <a:gd name="adj" fmla="val 50000"/>
            </a:avLst>
          </a:prstGeom>
          <a:solidFill>
            <a:schemeClr val="bg1"/>
          </a:solidFill>
          <a:ln/>
        </p:spPr>
      </p:sp>
      <p:sp>
        <p:nvSpPr>
          <p:cNvPr id="14" name="text-51"/>
          <p:cNvSpPr txBox="1"/>
          <p:nvPr/>
        </p:nvSpPr>
        <p:spPr>
          <a:xfrm>
            <a:off x="6537960" y="2697480"/>
            <a:ext cx="2011680" cy="457200"/>
          </a:xfrm>
          <a:prstGeom prst="rect">
            <a:avLst/>
          </a:prstGeom>
          <a:noFill/>
          <a:ln/>
        </p:spPr>
        <p:txBody>
          <a:bodyPr wrap="square" lIns="0" tIns="0" rIns="0" bIns="0" rtlCol="0" anchor="ctr"/>
          <a:lstStyle/>
          <a:p>
            <a:pPr algn="ctr" indent="0" marL="0">
              <a:buNone/>
            </a:pPr>
            <a:r>
              <a:rPr lang="en-US" sz="1400" dirty="0">
                <a:solidFill>
                  <a:schemeClr val="tx1"/>
                </a:solidFill>
              </a:rPr>
              <a:t>File access</a:t>
            </a:r>
            <a:endParaRPr lang="en-US" sz="1400" dirty="0"/>
          </a:p>
        </p:txBody>
      </p:sp>
      <p:sp>
        <p:nvSpPr>
          <p:cNvPr id="15" name="pill-52"/>
          <p:cNvSpPr/>
          <p:nvPr/>
        </p:nvSpPr>
        <p:spPr>
          <a:xfrm>
            <a:off x="8945575" y="2697480"/>
            <a:ext cx="2011680" cy="457200"/>
          </a:xfrm>
          <a:prstGeom prst="roundRect">
            <a:avLst>
              <a:gd name="adj" fmla="val 50000"/>
            </a:avLst>
          </a:prstGeom>
          <a:solidFill>
            <a:schemeClr val="bg1"/>
          </a:solidFill>
          <a:ln/>
        </p:spPr>
      </p:sp>
      <p:sp>
        <p:nvSpPr>
          <p:cNvPr id="16" name="text-53"/>
          <p:cNvSpPr txBox="1"/>
          <p:nvPr/>
        </p:nvSpPr>
        <p:spPr>
          <a:xfrm>
            <a:off x="8945575" y="2697480"/>
            <a:ext cx="2011680" cy="457200"/>
          </a:xfrm>
          <a:prstGeom prst="rect">
            <a:avLst/>
          </a:prstGeom>
          <a:noFill/>
          <a:ln/>
        </p:spPr>
        <p:txBody>
          <a:bodyPr wrap="square" lIns="0" tIns="0" rIns="0" bIns="0" rtlCol="0" anchor="ctr"/>
          <a:lstStyle/>
          <a:p>
            <a:pPr algn="ctr" indent="0" marL="0">
              <a:buNone/>
            </a:pPr>
            <a:r>
              <a:rPr lang="en-US" sz="1400" dirty="0">
                <a:solidFill>
                  <a:schemeClr val="tx1"/>
                </a:solidFill>
              </a:rPr>
              <a:t>Shell commands</a:t>
            </a:r>
            <a:endParaRPr lang="en-US" sz="1400" dirty="0"/>
          </a:p>
        </p:txBody>
      </p:sp>
      <p:sp>
        <p:nvSpPr>
          <p:cNvPr id="17" name="card-54"/>
          <p:cNvSpPr/>
          <p:nvPr/>
        </p:nvSpPr>
        <p:spPr>
          <a:xfrm>
            <a:off x="7467448" y="3429000"/>
            <a:ext cx="2560320" cy="1188720"/>
          </a:xfrm>
          <a:prstGeom prst="roundRect">
            <a:avLst>
              <a:gd name="adj" fmla="val 6154"/>
            </a:avLst>
          </a:prstGeom>
          <a:solidFill>
            <a:schemeClr val="accent1"/>
          </a:solidFill>
          <a:ln/>
        </p:spPr>
      </p:sp>
      <p:sp>
        <p:nvSpPr>
          <p:cNvPr id="18" name="text-55"/>
          <p:cNvSpPr txBox="1"/>
          <p:nvPr/>
        </p:nvSpPr>
        <p:spPr>
          <a:xfrm>
            <a:off x="7467448" y="3429000"/>
            <a:ext cx="2560320" cy="1188720"/>
          </a:xfrm>
          <a:prstGeom prst="rect">
            <a:avLst/>
          </a:prstGeom>
          <a:noFill/>
          <a:ln/>
        </p:spPr>
        <p:txBody>
          <a:bodyPr wrap="square" lIns="0" tIns="0" rIns="0" bIns="0" rtlCol="0" anchor="ctr"/>
          <a:lstStyle/>
          <a:p>
            <a:pPr algn="ctr" indent="0" marL="0">
              <a:buNone/>
            </a:pPr>
            <a:r>
              <a:rPr lang="en-US" sz="2200" b="1" dirty="0">
                <a:solidFill>
                  <a:schemeClr val="bg1"/>
                </a:solidFill>
              </a:rPr>
              <a:t>Claude</a:t>
            </a:r>
            <a:endParaRPr lang="en-US" sz="14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the model</a:t>
            </a:r>
            <a:endParaRPr lang="en-US" sz="1400" dirty="0"/>
          </a:p>
        </p:txBody>
      </p:sp>
      <p:sp>
        <p:nvSpPr>
          <p:cNvPr id="19" name="pill-56"/>
          <p:cNvSpPr/>
          <p:nvPr/>
        </p:nvSpPr>
        <p:spPr>
          <a:xfrm>
            <a:off x="6126480" y="4937760"/>
            <a:ext cx="1691640" cy="457200"/>
          </a:xfrm>
          <a:prstGeom prst="roundRect">
            <a:avLst>
              <a:gd name="adj" fmla="val 50000"/>
            </a:avLst>
          </a:prstGeom>
          <a:solidFill>
            <a:schemeClr val="bg1"/>
          </a:solidFill>
          <a:ln/>
        </p:spPr>
      </p:sp>
      <p:sp>
        <p:nvSpPr>
          <p:cNvPr id="20" name="text-57"/>
          <p:cNvSpPr txBox="1"/>
          <p:nvPr/>
        </p:nvSpPr>
        <p:spPr>
          <a:xfrm>
            <a:off x="6126480" y="4937760"/>
            <a:ext cx="1691640" cy="457200"/>
          </a:xfrm>
          <a:prstGeom prst="rect">
            <a:avLst/>
          </a:prstGeom>
          <a:noFill/>
          <a:ln/>
        </p:spPr>
        <p:txBody>
          <a:bodyPr wrap="square" lIns="0" tIns="0" rIns="0" bIns="0" rtlCol="0" anchor="ctr"/>
          <a:lstStyle/>
          <a:p>
            <a:pPr algn="ctr" indent="0" marL="0">
              <a:buNone/>
            </a:pPr>
            <a:r>
              <a:rPr lang="en-US" sz="1400" dirty="0">
                <a:solidFill>
                  <a:schemeClr val="tx1"/>
                </a:solidFill>
              </a:rPr>
              <a:t>Permission checks</a:t>
            </a:r>
            <a:endParaRPr lang="en-US" sz="1400" dirty="0"/>
          </a:p>
        </p:txBody>
      </p:sp>
      <p:sp>
        <p:nvSpPr>
          <p:cNvPr id="21" name="pill-58"/>
          <p:cNvSpPr/>
          <p:nvPr/>
        </p:nvSpPr>
        <p:spPr>
          <a:xfrm>
            <a:off x="7901788" y="4937760"/>
            <a:ext cx="1691640" cy="457200"/>
          </a:xfrm>
          <a:prstGeom prst="roundRect">
            <a:avLst>
              <a:gd name="adj" fmla="val 50000"/>
            </a:avLst>
          </a:prstGeom>
          <a:solidFill>
            <a:schemeClr val="bg1"/>
          </a:solidFill>
          <a:ln/>
        </p:spPr>
      </p:sp>
      <p:sp>
        <p:nvSpPr>
          <p:cNvPr id="22" name="text-59"/>
          <p:cNvSpPr txBox="1"/>
          <p:nvPr/>
        </p:nvSpPr>
        <p:spPr>
          <a:xfrm>
            <a:off x="7901788" y="4937760"/>
            <a:ext cx="1691640" cy="457200"/>
          </a:xfrm>
          <a:prstGeom prst="rect">
            <a:avLst/>
          </a:prstGeom>
          <a:noFill/>
          <a:ln/>
        </p:spPr>
        <p:txBody>
          <a:bodyPr wrap="square" lIns="0" tIns="0" rIns="0" bIns="0" rtlCol="0" anchor="ctr"/>
          <a:lstStyle/>
          <a:p>
            <a:pPr algn="ctr" indent="0" marL="0">
              <a:buNone/>
            </a:pPr>
            <a:r>
              <a:rPr lang="en-US" sz="1400" dirty="0">
                <a:solidFill>
                  <a:schemeClr val="tx1"/>
                </a:solidFill>
              </a:rPr>
              <a:t>Memory loading</a:t>
            </a:r>
            <a:endParaRPr lang="en-US" sz="1400" dirty="0"/>
          </a:p>
        </p:txBody>
      </p:sp>
      <p:sp>
        <p:nvSpPr>
          <p:cNvPr id="23" name="pill-60"/>
          <p:cNvSpPr/>
          <p:nvPr/>
        </p:nvSpPr>
        <p:spPr>
          <a:xfrm>
            <a:off x="9677095" y="4937760"/>
            <a:ext cx="1691640" cy="457200"/>
          </a:xfrm>
          <a:prstGeom prst="roundRect">
            <a:avLst>
              <a:gd name="adj" fmla="val 50000"/>
            </a:avLst>
          </a:prstGeom>
          <a:solidFill>
            <a:schemeClr val="bg1"/>
          </a:solidFill>
          <a:ln/>
        </p:spPr>
      </p:sp>
      <p:sp>
        <p:nvSpPr>
          <p:cNvPr id="24" name="text-61"/>
          <p:cNvSpPr txBox="1"/>
          <p:nvPr/>
        </p:nvSpPr>
        <p:spPr>
          <a:xfrm>
            <a:off x="9677095" y="4937760"/>
            <a:ext cx="1691640" cy="457200"/>
          </a:xfrm>
          <a:prstGeom prst="rect">
            <a:avLst/>
          </a:prstGeom>
          <a:noFill/>
          <a:ln/>
        </p:spPr>
        <p:txBody>
          <a:bodyPr wrap="square" lIns="0" tIns="0" rIns="0" bIns="0" rtlCol="0" anchor="ctr"/>
          <a:lstStyle/>
          <a:p>
            <a:pPr algn="ctr" indent="0" marL="0">
              <a:buNone/>
            </a:pPr>
            <a:r>
              <a:rPr lang="en-US" sz="1400" dirty="0">
                <a:solidFill>
                  <a:schemeClr val="tx1"/>
                </a:solidFill>
              </a:rPr>
              <a:t>The agentic loop</a:t>
            </a:r>
            <a:endParaRPr lang="en-US" sz="1400" dirty="0"/>
          </a:p>
        </p:txBody>
      </p:sp>
      <p:sp>
        <p:nvSpPr>
          <p:cNvPr id="25" name="text-62"/>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WHAT IT IS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You can use Claude Code in five places</a:t>
            </a:r>
            <a:endParaRPr lang="en-US" sz="3200" dirty="0"/>
          </a:p>
        </p:txBody>
      </p:sp>
      <p:sp>
        <p:nvSpPr>
          <p:cNvPr id="4" name="card-63"/>
          <p:cNvSpPr/>
          <p:nvPr/>
        </p:nvSpPr>
        <p:spPr>
          <a:xfrm>
            <a:off x="548640" y="1920240"/>
            <a:ext cx="2036003" cy="3017520"/>
          </a:xfrm>
          <a:prstGeom prst="roundRect">
            <a:avLst>
              <a:gd name="adj" fmla="val 3593"/>
            </a:avLst>
          </a:prstGeom>
          <a:solidFill>
            <a:schemeClr val="bg2"/>
          </a:solidFill>
          <a:ln/>
        </p:spPr>
      </p:sp>
      <p:sp>
        <p:nvSpPr>
          <p:cNvPr id="5" name="icon-tile-64"/>
          <p:cNvSpPr/>
          <p:nvPr/>
        </p:nvSpPr>
        <p:spPr>
          <a:xfrm>
            <a:off x="749808" y="2148840"/>
            <a:ext cx="548640" cy="548640"/>
          </a:xfrm>
          <a:prstGeom prst="roundRect">
            <a:avLst>
              <a:gd name="adj" fmla="val 13333"/>
            </a:avLst>
          </a:prstGeom>
          <a:solidFill>
            <a:schemeClr val="accent1"/>
          </a:solidFill>
          <a:ln/>
        </p:spPr>
      </p:sp>
      <p:pic>
        <p:nvPicPr>
          <p:cNvPr id="6" name="icon-65" descr="preencoded.png">    </p:cNvPr>
          <p:cNvPicPr>
            <a:picLocks noChangeAspect="1"/>
          </p:cNvPicPr>
          <p:nvPr/>
        </p:nvPicPr>
        <p:blipFill>
          <a:blip r:embed="rId1"/>
          <a:stretch>
            <a:fillRect/>
          </a:stretch>
        </p:blipFill>
        <p:spPr>
          <a:xfrm>
            <a:off x="881482" y="2280514"/>
            <a:ext cx="285293" cy="285293"/>
          </a:xfrm>
          <a:prstGeom prst="rect">
            <a:avLst/>
          </a:prstGeom>
        </p:spPr>
      </p:pic>
      <p:sp>
        <p:nvSpPr>
          <p:cNvPr id="7" name="text-66"/>
          <p:cNvSpPr txBox="1"/>
          <p:nvPr/>
        </p:nvSpPr>
        <p:spPr>
          <a:xfrm>
            <a:off x="749808" y="2880360"/>
            <a:ext cx="1670243" cy="320040"/>
          </a:xfrm>
          <a:prstGeom prst="rect">
            <a:avLst/>
          </a:prstGeom>
          <a:noFill/>
          <a:ln/>
        </p:spPr>
        <p:txBody>
          <a:bodyPr wrap="square" lIns="0" tIns="0" rIns="0" bIns="0" rtlCol="0" anchor="t"/>
          <a:lstStyle/>
          <a:p>
            <a:pPr indent="0" marL="0">
              <a:buNone/>
            </a:pPr>
            <a:r>
              <a:rPr lang="en-US" sz="1800" b="1" dirty="0">
                <a:solidFill>
                  <a:schemeClr val="tx1"/>
                </a:solidFill>
              </a:rPr>
              <a:t>Terminal</a:t>
            </a:r>
            <a:endParaRPr lang="en-US" sz="1800" dirty="0"/>
          </a:p>
        </p:txBody>
      </p:sp>
      <p:sp>
        <p:nvSpPr>
          <p:cNvPr id="8" name="text-67"/>
          <p:cNvSpPr txBox="1"/>
          <p:nvPr/>
        </p:nvSpPr>
        <p:spPr>
          <a:xfrm>
            <a:off x="749808" y="3291840"/>
            <a:ext cx="1651955" cy="1463040"/>
          </a:xfrm>
          <a:prstGeom prst="rect">
            <a:avLst/>
          </a:prstGeom>
          <a:noFill/>
          <a:ln/>
        </p:spPr>
        <p:txBody>
          <a:bodyPr wrap="square" lIns="0" tIns="0" rIns="0" bIns="0" rtlCol="0" anchor="t"/>
          <a:lstStyle/>
          <a:p>
            <a:pPr indent="0" marL="0">
              <a:buNone/>
            </a:pPr>
            <a:r>
              <a:rPr lang="en-US" sz="1400" dirty="0">
                <a:solidFill>
                  <a:schemeClr val="tx2"/>
                </a:solidFill>
              </a:rPr>
              <a:t>The full command-line version, started by typing claude</a:t>
            </a:r>
            <a:endParaRPr lang="en-US" sz="1400" dirty="0"/>
          </a:p>
        </p:txBody>
      </p:sp>
      <p:sp>
        <p:nvSpPr>
          <p:cNvPr id="9" name="card-68"/>
          <p:cNvSpPr/>
          <p:nvPr/>
        </p:nvSpPr>
        <p:spPr>
          <a:xfrm>
            <a:off x="2813243" y="1920240"/>
            <a:ext cx="2036003" cy="3017520"/>
          </a:xfrm>
          <a:prstGeom prst="roundRect">
            <a:avLst>
              <a:gd name="adj" fmla="val 3593"/>
            </a:avLst>
          </a:prstGeom>
          <a:solidFill>
            <a:schemeClr val="bg2"/>
          </a:solidFill>
          <a:ln/>
        </p:spPr>
      </p:sp>
      <p:sp>
        <p:nvSpPr>
          <p:cNvPr id="10" name="icon-tile-69"/>
          <p:cNvSpPr/>
          <p:nvPr/>
        </p:nvSpPr>
        <p:spPr>
          <a:xfrm>
            <a:off x="3014411" y="2148840"/>
            <a:ext cx="548640" cy="548640"/>
          </a:xfrm>
          <a:prstGeom prst="roundRect">
            <a:avLst>
              <a:gd name="adj" fmla="val 13333"/>
            </a:avLst>
          </a:prstGeom>
          <a:solidFill>
            <a:schemeClr val="accent1"/>
          </a:solidFill>
          <a:ln/>
        </p:spPr>
      </p:sp>
      <p:pic>
        <p:nvPicPr>
          <p:cNvPr id="11" name="icon-70" descr="preencoded.png">    </p:cNvPr>
          <p:cNvPicPr>
            <a:picLocks noChangeAspect="1"/>
          </p:cNvPicPr>
          <p:nvPr/>
        </p:nvPicPr>
        <p:blipFill>
          <a:blip r:embed="rId2"/>
          <a:stretch>
            <a:fillRect/>
          </a:stretch>
        </p:blipFill>
        <p:spPr>
          <a:xfrm>
            <a:off x="3146085" y="2280514"/>
            <a:ext cx="285293" cy="285293"/>
          </a:xfrm>
          <a:prstGeom prst="rect">
            <a:avLst/>
          </a:prstGeom>
        </p:spPr>
      </p:pic>
      <p:sp>
        <p:nvSpPr>
          <p:cNvPr id="12" name="text-71"/>
          <p:cNvSpPr txBox="1"/>
          <p:nvPr/>
        </p:nvSpPr>
        <p:spPr>
          <a:xfrm>
            <a:off x="3014411" y="2880360"/>
            <a:ext cx="1670243" cy="320040"/>
          </a:xfrm>
          <a:prstGeom prst="rect">
            <a:avLst/>
          </a:prstGeom>
          <a:noFill/>
          <a:ln/>
        </p:spPr>
        <p:txBody>
          <a:bodyPr wrap="square" lIns="0" tIns="0" rIns="0" bIns="0" rtlCol="0" anchor="t"/>
          <a:lstStyle/>
          <a:p>
            <a:pPr indent="0" marL="0">
              <a:buNone/>
            </a:pPr>
            <a:r>
              <a:rPr lang="en-US" sz="1800" b="1" dirty="0">
                <a:solidFill>
                  <a:schemeClr val="tx1"/>
                </a:solidFill>
              </a:rPr>
              <a:t>VS Code</a:t>
            </a:r>
            <a:endParaRPr lang="en-US" sz="1800" dirty="0"/>
          </a:p>
        </p:txBody>
      </p:sp>
      <p:sp>
        <p:nvSpPr>
          <p:cNvPr id="13" name="text-72"/>
          <p:cNvSpPr txBox="1"/>
          <p:nvPr/>
        </p:nvSpPr>
        <p:spPr>
          <a:xfrm>
            <a:off x="3014411" y="3291840"/>
            <a:ext cx="1651955" cy="1463040"/>
          </a:xfrm>
          <a:prstGeom prst="rect">
            <a:avLst/>
          </a:prstGeom>
          <a:noFill/>
          <a:ln/>
        </p:spPr>
        <p:txBody>
          <a:bodyPr wrap="square" lIns="0" tIns="0" rIns="0" bIns="0" rtlCol="0" anchor="t"/>
          <a:lstStyle/>
          <a:p>
            <a:pPr indent="0" marL="0">
              <a:buNone/>
            </a:pPr>
            <a:r>
              <a:rPr lang="en-US" sz="1400" dirty="0">
                <a:solidFill>
                  <a:schemeClr val="tx2"/>
                </a:solidFill>
              </a:rPr>
              <a:t>An extension that shows changes inside your editor</a:t>
            </a:r>
            <a:endParaRPr lang="en-US" sz="1400" dirty="0"/>
          </a:p>
        </p:txBody>
      </p:sp>
      <p:sp>
        <p:nvSpPr>
          <p:cNvPr id="14" name="card-73"/>
          <p:cNvSpPr/>
          <p:nvPr/>
        </p:nvSpPr>
        <p:spPr>
          <a:xfrm>
            <a:off x="5077846" y="1920240"/>
            <a:ext cx="2036003" cy="3017520"/>
          </a:xfrm>
          <a:prstGeom prst="roundRect">
            <a:avLst>
              <a:gd name="adj" fmla="val 3593"/>
            </a:avLst>
          </a:prstGeom>
          <a:solidFill>
            <a:schemeClr val="bg2"/>
          </a:solidFill>
          <a:ln/>
        </p:spPr>
      </p:sp>
      <p:sp>
        <p:nvSpPr>
          <p:cNvPr id="15" name="icon-tile-74"/>
          <p:cNvSpPr/>
          <p:nvPr/>
        </p:nvSpPr>
        <p:spPr>
          <a:xfrm>
            <a:off x="5279014" y="2148840"/>
            <a:ext cx="548640" cy="548640"/>
          </a:xfrm>
          <a:prstGeom prst="roundRect">
            <a:avLst>
              <a:gd name="adj" fmla="val 13333"/>
            </a:avLst>
          </a:prstGeom>
          <a:solidFill>
            <a:schemeClr val="accent1"/>
          </a:solidFill>
          <a:ln/>
        </p:spPr>
      </p:sp>
      <p:pic>
        <p:nvPicPr>
          <p:cNvPr id="16" name="icon-75" descr="preencoded.png">    </p:cNvPr>
          <p:cNvPicPr>
            <a:picLocks noChangeAspect="1"/>
          </p:cNvPicPr>
          <p:nvPr/>
        </p:nvPicPr>
        <p:blipFill>
          <a:blip r:embed="rId3"/>
          <a:stretch>
            <a:fillRect/>
          </a:stretch>
        </p:blipFill>
        <p:spPr>
          <a:xfrm>
            <a:off x="5410688" y="2280514"/>
            <a:ext cx="285293" cy="285293"/>
          </a:xfrm>
          <a:prstGeom prst="rect">
            <a:avLst/>
          </a:prstGeom>
        </p:spPr>
      </p:pic>
      <p:sp>
        <p:nvSpPr>
          <p:cNvPr id="17" name="text-76"/>
          <p:cNvSpPr txBox="1"/>
          <p:nvPr/>
        </p:nvSpPr>
        <p:spPr>
          <a:xfrm>
            <a:off x="5279014" y="2880360"/>
            <a:ext cx="1670243" cy="320040"/>
          </a:xfrm>
          <a:prstGeom prst="rect">
            <a:avLst/>
          </a:prstGeom>
          <a:noFill/>
          <a:ln/>
        </p:spPr>
        <p:txBody>
          <a:bodyPr wrap="square" lIns="0" tIns="0" rIns="0" bIns="0" rtlCol="0" anchor="t"/>
          <a:lstStyle/>
          <a:p>
            <a:pPr indent="0" marL="0">
              <a:buNone/>
            </a:pPr>
            <a:r>
              <a:rPr lang="en-US" sz="1800" b="1" dirty="0">
                <a:solidFill>
                  <a:schemeClr val="tx1"/>
                </a:solidFill>
              </a:rPr>
              <a:t>JetBrains</a:t>
            </a:r>
            <a:endParaRPr lang="en-US" sz="1800" dirty="0"/>
          </a:p>
        </p:txBody>
      </p:sp>
      <p:sp>
        <p:nvSpPr>
          <p:cNvPr id="18" name="text-77"/>
          <p:cNvSpPr txBox="1"/>
          <p:nvPr/>
        </p:nvSpPr>
        <p:spPr>
          <a:xfrm>
            <a:off x="5279014" y="3291840"/>
            <a:ext cx="1651955" cy="1463040"/>
          </a:xfrm>
          <a:prstGeom prst="rect">
            <a:avLst/>
          </a:prstGeom>
          <a:noFill/>
          <a:ln/>
        </p:spPr>
        <p:txBody>
          <a:bodyPr wrap="square" lIns="0" tIns="0" rIns="0" bIns="0" rtlCol="0" anchor="t"/>
          <a:lstStyle/>
          <a:p>
            <a:pPr indent="0" marL="0">
              <a:buNone/>
            </a:pPr>
            <a:r>
              <a:rPr lang="en-US" sz="1400" dirty="0">
                <a:solidFill>
                  <a:schemeClr val="tx2"/>
                </a:solidFill>
              </a:rPr>
              <a:t>A plugin for IntelliJ, PyCharm and WebStorm</a:t>
            </a:r>
            <a:endParaRPr lang="en-US" sz="1400" dirty="0"/>
          </a:p>
        </p:txBody>
      </p:sp>
      <p:sp>
        <p:nvSpPr>
          <p:cNvPr id="19" name="card-78"/>
          <p:cNvSpPr/>
          <p:nvPr/>
        </p:nvSpPr>
        <p:spPr>
          <a:xfrm>
            <a:off x="7342449" y="1920240"/>
            <a:ext cx="2036003" cy="3017520"/>
          </a:xfrm>
          <a:prstGeom prst="roundRect">
            <a:avLst>
              <a:gd name="adj" fmla="val 3593"/>
            </a:avLst>
          </a:prstGeom>
          <a:solidFill>
            <a:schemeClr val="bg2"/>
          </a:solidFill>
          <a:ln/>
        </p:spPr>
      </p:sp>
      <p:sp>
        <p:nvSpPr>
          <p:cNvPr id="20" name="icon-tile-79"/>
          <p:cNvSpPr/>
          <p:nvPr/>
        </p:nvSpPr>
        <p:spPr>
          <a:xfrm>
            <a:off x="7543617" y="2148840"/>
            <a:ext cx="548640" cy="548640"/>
          </a:xfrm>
          <a:prstGeom prst="roundRect">
            <a:avLst>
              <a:gd name="adj" fmla="val 13333"/>
            </a:avLst>
          </a:prstGeom>
          <a:solidFill>
            <a:schemeClr val="accent1"/>
          </a:solidFill>
          <a:ln/>
        </p:spPr>
      </p:sp>
      <p:pic>
        <p:nvPicPr>
          <p:cNvPr id="21" name="icon-80" descr="preencoded.png">    </p:cNvPr>
          <p:cNvPicPr>
            <a:picLocks noChangeAspect="1"/>
          </p:cNvPicPr>
          <p:nvPr/>
        </p:nvPicPr>
        <p:blipFill>
          <a:blip r:embed="rId4"/>
          <a:stretch>
            <a:fillRect/>
          </a:stretch>
        </p:blipFill>
        <p:spPr>
          <a:xfrm>
            <a:off x="7675291" y="2280514"/>
            <a:ext cx="285293" cy="285293"/>
          </a:xfrm>
          <a:prstGeom prst="rect">
            <a:avLst/>
          </a:prstGeom>
        </p:spPr>
      </p:pic>
      <p:sp>
        <p:nvSpPr>
          <p:cNvPr id="22" name="text-81"/>
          <p:cNvSpPr txBox="1"/>
          <p:nvPr/>
        </p:nvSpPr>
        <p:spPr>
          <a:xfrm>
            <a:off x="7543617" y="2880360"/>
            <a:ext cx="1670243" cy="320040"/>
          </a:xfrm>
          <a:prstGeom prst="rect">
            <a:avLst/>
          </a:prstGeom>
          <a:noFill/>
          <a:ln/>
        </p:spPr>
        <p:txBody>
          <a:bodyPr wrap="square" lIns="0" tIns="0" rIns="0" bIns="0" rtlCol="0" anchor="t"/>
          <a:lstStyle/>
          <a:p>
            <a:pPr indent="0" marL="0">
              <a:buNone/>
            </a:pPr>
            <a:r>
              <a:rPr lang="en-US" sz="1800" b="1" dirty="0">
                <a:solidFill>
                  <a:schemeClr val="tx1"/>
                </a:solidFill>
              </a:rPr>
              <a:t>Desktop app</a:t>
            </a:r>
            <a:endParaRPr lang="en-US" sz="1800" dirty="0"/>
          </a:p>
        </p:txBody>
      </p:sp>
      <p:sp>
        <p:nvSpPr>
          <p:cNvPr id="23" name="text-82"/>
          <p:cNvSpPr txBox="1"/>
          <p:nvPr/>
        </p:nvSpPr>
        <p:spPr>
          <a:xfrm>
            <a:off x="7543617" y="3291840"/>
            <a:ext cx="1651955" cy="1463040"/>
          </a:xfrm>
          <a:prstGeom prst="rect">
            <a:avLst/>
          </a:prstGeom>
          <a:noFill/>
          <a:ln/>
        </p:spPr>
        <p:txBody>
          <a:bodyPr wrap="square" lIns="0" tIns="0" rIns="0" bIns="0" rtlCol="0" anchor="t"/>
          <a:lstStyle/>
          <a:p>
            <a:pPr indent="0" marL="0">
              <a:buNone/>
            </a:pPr>
            <a:r>
              <a:rPr lang="en-US" sz="1400" dirty="0">
                <a:solidFill>
                  <a:schemeClr val="tx2"/>
                </a:solidFill>
              </a:rPr>
              <a:t>A standalone app; open the Code tab to begin</a:t>
            </a:r>
            <a:endParaRPr lang="en-US" sz="1400" dirty="0"/>
          </a:p>
        </p:txBody>
      </p:sp>
      <p:sp>
        <p:nvSpPr>
          <p:cNvPr id="24" name="card-83"/>
          <p:cNvSpPr/>
          <p:nvPr/>
        </p:nvSpPr>
        <p:spPr>
          <a:xfrm>
            <a:off x="9607052" y="1920240"/>
            <a:ext cx="2036003" cy="3017520"/>
          </a:xfrm>
          <a:prstGeom prst="roundRect">
            <a:avLst>
              <a:gd name="adj" fmla="val 3593"/>
            </a:avLst>
          </a:prstGeom>
          <a:solidFill>
            <a:schemeClr val="bg2"/>
          </a:solidFill>
          <a:ln/>
        </p:spPr>
      </p:sp>
      <p:sp>
        <p:nvSpPr>
          <p:cNvPr id="25" name="icon-tile-84"/>
          <p:cNvSpPr/>
          <p:nvPr/>
        </p:nvSpPr>
        <p:spPr>
          <a:xfrm>
            <a:off x="9808220" y="2148840"/>
            <a:ext cx="548640" cy="548640"/>
          </a:xfrm>
          <a:prstGeom prst="roundRect">
            <a:avLst>
              <a:gd name="adj" fmla="val 13333"/>
            </a:avLst>
          </a:prstGeom>
          <a:solidFill>
            <a:schemeClr val="accent1"/>
          </a:solidFill>
          <a:ln/>
        </p:spPr>
      </p:sp>
      <p:pic>
        <p:nvPicPr>
          <p:cNvPr id="26" name="icon-85" descr="preencoded.png">    </p:cNvPr>
          <p:cNvPicPr>
            <a:picLocks noChangeAspect="1"/>
          </p:cNvPicPr>
          <p:nvPr/>
        </p:nvPicPr>
        <p:blipFill>
          <a:blip r:embed="rId5"/>
          <a:stretch>
            <a:fillRect/>
          </a:stretch>
        </p:blipFill>
        <p:spPr>
          <a:xfrm>
            <a:off x="9939894" y="2280514"/>
            <a:ext cx="285293" cy="285293"/>
          </a:xfrm>
          <a:prstGeom prst="rect">
            <a:avLst/>
          </a:prstGeom>
        </p:spPr>
      </p:pic>
      <p:sp>
        <p:nvSpPr>
          <p:cNvPr id="27" name="text-86"/>
          <p:cNvSpPr txBox="1"/>
          <p:nvPr/>
        </p:nvSpPr>
        <p:spPr>
          <a:xfrm>
            <a:off x="9808220" y="2880360"/>
            <a:ext cx="1670243" cy="320040"/>
          </a:xfrm>
          <a:prstGeom prst="rect">
            <a:avLst/>
          </a:prstGeom>
          <a:noFill/>
          <a:ln/>
        </p:spPr>
        <p:txBody>
          <a:bodyPr wrap="square" lIns="0" tIns="0" rIns="0" bIns="0" rtlCol="0" anchor="t"/>
          <a:lstStyle/>
          <a:p>
            <a:pPr indent="0" marL="0">
              <a:buNone/>
            </a:pPr>
            <a:r>
              <a:rPr lang="en-US" sz="1800" b="1" dirty="0">
                <a:solidFill>
                  <a:schemeClr val="tx1"/>
                </a:solidFill>
              </a:rPr>
              <a:t>Web and mobile</a:t>
            </a:r>
            <a:endParaRPr lang="en-US" sz="1800" dirty="0"/>
          </a:p>
        </p:txBody>
      </p:sp>
      <p:sp>
        <p:nvSpPr>
          <p:cNvPr id="28" name="text-87"/>
          <p:cNvSpPr txBox="1"/>
          <p:nvPr/>
        </p:nvSpPr>
        <p:spPr>
          <a:xfrm>
            <a:off x="9808220" y="3291840"/>
            <a:ext cx="1651955" cy="1463040"/>
          </a:xfrm>
          <a:prstGeom prst="rect">
            <a:avLst/>
          </a:prstGeom>
          <a:noFill/>
          <a:ln/>
        </p:spPr>
        <p:txBody>
          <a:bodyPr wrap="square" lIns="0" tIns="0" rIns="0" bIns="0" rtlCol="0" anchor="t"/>
          <a:lstStyle/>
          <a:p>
            <a:pPr indent="0" marL="0">
              <a:buNone/>
            </a:pPr>
            <a:r>
              <a:rPr lang="en-US" sz="1400" dirty="0">
                <a:solidFill>
                  <a:schemeClr val="tx2"/>
                </a:solidFill>
              </a:rPr>
              <a:t>Runs in a browser at claude.ai/code with no setup</a:t>
            </a:r>
            <a:endParaRPr lang="en-US" sz="1400" dirty="0"/>
          </a:p>
        </p:txBody>
      </p:sp>
      <p:sp>
        <p:nvSpPr>
          <p:cNvPr id="29" name="card-88"/>
          <p:cNvSpPr/>
          <p:nvPr/>
        </p:nvSpPr>
        <p:spPr>
          <a:xfrm>
            <a:off x="548640" y="5212080"/>
            <a:ext cx="11094415" cy="640080"/>
          </a:xfrm>
          <a:prstGeom prst="roundRect">
            <a:avLst>
              <a:gd name="adj" fmla="val 11429"/>
            </a:avLst>
          </a:prstGeom>
          <a:solidFill>
            <a:schemeClr val="bg2"/>
          </a:solidFill>
          <a:ln/>
        </p:spPr>
      </p:sp>
      <p:sp>
        <p:nvSpPr>
          <p:cNvPr id="30" name="icon-tile-89"/>
          <p:cNvSpPr/>
          <p:nvPr/>
        </p:nvSpPr>
        <p:spPr>
          <a:xfrm>
            <a:off x="685800" y="5340096"/>
            <a:ext cx="384048" cy="384048"/>
          </a:xfrm>
          <a:prstGeom prst="roundRect">
            <a:avLst>
              <a:gd name="adj" fmla="val 19048"/>
            </a:avLst>
          </a:prstGeom>
          <a:solidFill>
            <a:schemeClr val="accent2"/>
          </a:solidFill>
          <a:ln/>
        </p:spPr>
      </p:sp>
      <p:pic>
        <p:nvPicPr>
          <p:cNvPr id="31" name="icon-90" descr="preencoded.png">    </p:cNvPr>
          <p:cNvPicPr>
            <a:picLocks noChangeAspect="1"/>
          </p:cNvPicPr>
          <p:nvPr/>
        </p:nvPicPr>
        <p:blipFill>
          <a:blip r:embed="rId6"/>
          <a:stretch>
            <a:fillRect/>
          </a:stretch>
        </p:blipFill>
        <p:spPr>
          <a:xfrm>
            <a:off x="777972" y="5432268"/>
            <a:ext cx="199705" cy="199705"/>
          </a:xfrm>
          <a:prstGeom prst="rect">
            <a:avLst/>
          </a:prstGeom>
        </p:spPr>
      </p:pic>
      <p:sp>
        <p:nvSpPr>
          <p:cNvPr id="32" name="text-91"/>
          <p:cNvSpPr txBox="1"/>
          <p:nvPr/>
        </p:nvSpPr>
        <p:spPr>
          <a:xfrm>
            <a:off x="1234440" y="5212080"/>
            <a:ext cx="10225735" cy="640080"/>
          </a:xfrm>
          <a:prstGeom prst="rect">
            <a:avLst/>
          </a:prstGeom>
          <a:noFill/>
          <a:ln/>
        </p:spPr>
        <p:txBody>
          <a:bodyPr wrap="square" lIns="0" tIns="0" rIns="0" bIns="0" rtlCol="0" anchor="ctr"/>
          <a:lstStyle/>
          <a:p>
            <a:pPr indent="0" marL="0">
              <a:buNone/>
            </a:pPr>
            <a:r>
              <a:rPr lang="en-US" sz="1400" dirty="0">
                <a:solidFill>
                  <a:schemeClr val="tx1"/>
                </a:solidFill>
              </a:rPr>
              <a:t>New to terminals? The desktop app and the web version need no terminal at all.</a:t>
            </a:r>
            <a:endParaRPr lang="en-US" sz="1400" dirty="0"/>
          </a:p>
        </p:txBody>
      </p:sp>
      <p:sp>
        <p:nvSpPr>
          <p:cNvPr id="33" name="text-92"/>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Each of these places is called a surface, and all of them share the same engine. 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You need three things before you start</a:t>
            </a:r>
            <a:endParaRPr lang="en-US" sz="3200" dirty="0"/>
          </a:p>
        </p:txBody>
      </p:sp>
      <p:sp>
        <p:nvSpPr>
          <p:cNvPr id="4" name="card-93"/>
          <p:cNvSpPr/>
          <p:nvPr/>
        </p:nvSpPr>
        <p:spPr>
          <a:xfrm>
            <a:off x="548640" y="1920240"/>
            <a:ext cx="3515258" cy="3017520"/>
          </a:xfrm>
          <a:prstGeom prst="roundRect">
            <a:avLst>
              <a:gd name="adj" fmla="val 2424"/>
            </a:avLst>
          </a:prstGeom>
          <a:solidFill>
            <a:schemeClr val="bg2"/>
          </a:solidFill>
          <a:ln/>
        </p:spPr>
      </p:sp>
      <p:sp>
        <p:nvSpPr>
          <p:cNvPr id="5" name="text-94"/>
          <p:cNvSpPr txBox="1"/>
          <p:nvPr/>
        </p:nvSpPr>
        <p:spPr>
          <a:xfrm>
            <a:off x="822960"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01</a:t>
            </a:r>
            <a:endParaRPr lang="en-US" sz="3200" dirty="0"/>
          </a:p>
        </p:txBody>
      </p:sp>
      <p:sp>
        <p:nvSpPr>
          <p:cNvPr id="6" name="icon-tile-95"/>
          <p:cNvSpPr/>
          <p:nvPr/>
        </p:nvSpPr>
        <p:spPr>
          <a:xfrm>
            <a:off x="3240938" y="2194560"/>
            <a:ext cx="548640" cy="548640"/>
          </a:xfrm>
          <a:prstGeom prst="roundRect">
            <a:avLst>
              <a:gd name="adj" fmla="val 13333"/>
            </a:avLst>
          </a:prstGeom>
          <a:solidFill>
            <a:schemeClr val="accent3"/>
          </a:solidFill>
          <a:ln/>
        </p:spPr>
      </p:sp>
      <p:pic>
        <p:nvPicPr>
          <p:cNvPr id="7" name="icon-96" descr="preencoded.png">    </p:cNvPr>
          <p:cNvPicPr>
            <a:picLocks noChangeAspect="1"/>
          </p:cNvPicPr>
          <p:nvPr/>
        </p:nvPicPr>
        <p:blipFill>
          <a:blip r:embed="rId1"/>
          <a:stretch>
            <a:fillRect/>
          </a:stretch>
        </p:blipFill>
        <p:spPr>
          <a:xfrm>
            <a:off x="3372612" y="2326234"/>
            <a:ext cx="285293" cy="285293"/>
          </a:xfrm>
          <a:prstGeom prst="rect">
            <a:avLst/>
          </a:prstGeom>
        </p:spPr>
      </p:pic>
      <p:sp>
        <p:nvSpPr>
          <p:cNvPr id="8" name="text-97"/>
          <p:cNvSpPr txBox="1"/>
          <p:nvPr/>
        </p:nvSpPr>
        <p:spPr>
          <a:xfrm>
            <a:off x="822960" y="301752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An account</a:t>
            </a:r>
            <a:endParaRPr lang="en-US" sz="2000" dirty="0"/>
          </a:p>
        </p:txBody>
      </p:sp>
      <p:sp>
        <p:nvSpPr>
          <p:cNvPr id="9" name="text-98"/>
          <p:cNvSpPr txBox="1"/>
          <p:nvPr/>
        </p:nvSpPr>
        <p:spPr>
          <a:xfrm>
            <a:off x="822960" y="3520440"/>
            <a:ext cx="2966618" cy="1188720"/>
          </a:xfrm>
          <a:prstGeom prst="rect">
            <a:avLst/>
          </a:prstGeom>
          <a:noFill/>
          <a:ln/>
        </p:spPr>
        <p:txBody>
          <a:bodyPr wrap="square" lIns="0" tIns="0" rIns="0" bIns="0" rtlCol="0" anchor="t"/>
          <a:lstStyle/>
          <a:p>
            <a:pPr indent="0" marL="0">
              <a:buNone/>
            </a:pPr>
            <a:r>
              <a:rPr lang="en-US" sz="1400" dirty="0">
                <a:solidFill>
                  <a:schemeClr val="tx2"/>
                </a:solidFill>
              </a:rPr>
              <a:t>A Claude Pro, Max, Team or Enterprise plan, or a Claude Console account with API credits</a:t>
            </a:r>
            <a:endParaRPr lang="en-US" sz="1400" dirty="0"/>
          </a:p>
        </p:txBody>
      </p:sp>
      <p:sp>
        <p:nvSpPr>
          <p:cNvPr id="10" name="card-99"/>
          <p:cNvSpPr/>
          <p:nvPr/>
        </p:nvSpPr>
        <p:spPr>
          <a:xfrm>
            <a:off x="4338218" y="1920240"/>
            <a:ext cx="3515258" cy="3017520"/>
          </a:xfrm>
          <a:prstGeom prst="roundRect">
            <a:avLst>
              <a:gd name="adj" fmla="val 2424"/>
            </a:avLst>
          </a:prstGeom>
          <a:solidFill>
            <a:schemeClr val="bg2"/>
          </a:solidFill>
          <a:ln/>
        </p:spPr>
      </p:sp>
      <p:sp>
        <p:nvSpPr>
          <p:cNvPr id="11" name="text-100"/>
          <p:cNvSpPr txBox="1"/>
          <p:nvPr/>
        </p:nvSpPr>
        <p:spPr>
          <a:xfrm>
            <a:off x="4612538"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02</a:t>
            </a:r>
            <a:endParaRPr lang="en-US" sz="3200" dirty="0"/>
          </a:p>
        </p:txBody>
      </p:sp>
      <p:sp>
        <p:nvSpPr>
          <p:cNvPr id="12" name="icon-tile-101"/>
          <p:cNvSpPr/>
          <p:nvPr/>
        </p:nvSpPr>
        <p:spPr>
          <a:xfrm>
            <a:off x="7030517" y="2194560"/>
            <a:ext cx="548640" cy="548640"/>
          </a:xfrm>
          <a:prstGeom prst="roundRect">
            <a:avLst>
              <a:gd name="adj" fmla="val 13333"/>
            </a:avLst>
          </a:prstGeom>
          <a:solidFill>
            <a:schemeClr val="accent3"/>
          </a:solidFill>
          <a:ln/>
        </p:spPr>
      </p:sp>
      <p:pic>
        <p:nvPicPr>
          <p:cNvPr id="13" name="icon-102" descr="preencoded.png">    </p:cNvPr>
          <p:cNvPicPr>
            <a:picLocks noChangeAspect="1"/>
          </p:cNvPicPr>
          <p:nvPr/>
        </p:nvPicPr>
        <p:blipFill>
          <a:blip r:embed="rId2"/>
          <a:stretch>
            <a:fillRect/>
          </a:stretch>
        </p:blipFill>
        <p:spPr>
          <a:xfrm>
            <a:off x="7162190" y="2326234"/>
            <a:ext cx="285293" cy="285293"/>
          </a:xfrm>
          <a:prstGeom prst="rect">
            <a:avLst/>
          </a:prstGeom>
        </p:spPr>
      </p:pic>
      <p:sp>
        <p:nvSpPr>
          <p:cNvPr id="14" name="text-103"/>
          <p:cNvSpPr txBox="1"/>
          <p:nvPr/>
        </p:nvSpPr>
        <p:spPr>
          <a:xfrm>
            <a:off x="4612538" y="301752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project folder</a:t>
            </a:r>
            <a:endParaRPr lang="en-US" sz="2000" dirty="0"/>
          </a:p>
        </p:txBody>
      </p:sp>
      <p:sp>
        <p:nvSpPr>
          <p:cNvPr id="15" name="text-104"/>
          <p:cNvSpPr txBox="1"/>
          <p:nvPr/>
        </p:nvSpPr>
        <p:spPr>
          <a:xfrm>
            <a:off x="4612538" y="3520440"/>
            <a:ext cx="2966618" cy="1188720"/>
          </a:xfrm>
          <a:prstGeom prst="rect">
            <a:avLst/>
          </a:prstGeom>
          <a:noFill/>
          <a:ln/>
        </p:spPr>
        <p:txBody>
          <a:bodyPr wrap="square" lIns="0" tIns="0" rIns="0" bIns="0" rtlCol="0" anchor="t"/>
          <a:lstStyle/>
          <a:p>
            <a:pPr indent="0" marL="0">
              <a:buNone/>
            </a:pPr>
            <a:r>
              <a:rPr lang="en-US" sz="1400" dirty="0">
                <a:solidFill>
                  <a:schemeClr val="tx2"/>
                </a:solidFill>
              </a:rPr>
              <a:t>Any folder that holds the code you want to work on</a:t>
            </a:r>
            <a:endParaRPr lang="en-US" sz="1400" dirty="0"/>
          </a:p>
        </p:txBody>
      </p:sp>
      <p:sp>
        <p:nvSpPr>
          <p:cNvPr id="16" name="card-105"/>
          <p:cNvSpPr/>
          <p:nvPr/>
        </p:nvSpPr>
        <p:spPr>
          <a:xfrm>
            <a:off x="8127797" y="1920240"/>
            <a:ext cx="3515258" cy="3017520"/>
          </a:xfrm>
          <a:prstGeom prst="roundRect">
            <a:avLst>
              <a:gd name="adj" fmla="val 2424"/>
            </a:avLst>
          </a:prstGeom>
          <a:solidFill>
            <a:schemeClr val="bg2"/>
          </a:solidFill>
          <a:ln/>
        </p:spPr>
      </p:sp>
      <p:sp>
        <p:nvSpPr>
          <p:cNvPr id="17" name="text-106"/>
          <p:cNvSpPr txBox="1"/>
          <p:nvPr/>
        </p:nvSpPr>
        <p:spPr>
          <a:xfrm>
            <a:off x="8402117" y="2194560"/>
            <a:ext cx="1097280" cy="548640"/>
          </a:xfrm>
          <a:prstGeom prst="rect">
            <a:avLst/>
          </a:prstGeom>
          <a:noFill/>
          <a:ln/>
        </p:spPr>
        <p:txBody>
          <a:bodyPr wrap="square" lIns="0" tIns="0" rIns="0" bIns="0" rtlCol="0" anchor="t"/>
          <a:lstStyle/>
          <a:p>
            <a:pPr indent="0" marL="0">
              <a:buNone/>
            </a:pPr>
            <a:r>
              <a:rPr lang="en-US" sz="3200" b="1" dirty="0">
                <a:solidFill>
                  <a:schemeClr val="accent1"/>
                </a:solidFill>
                <a:latin typeface="Courier New" pitchFamily="34" charset="0"/>
                <a:ea typeface="Courier New" pitchFamily="34" charset="-122"/>
                <a:cs typeface="Courier New" pitchFamily="34" charset="-120"/>
              </a:rPr>
              <a:t>03</a:t>
            </a:r>
            <a:endParaRPr lang="en-US" sz="3200" dirty="0"/>
          </a:p>
        </p:txBody>
      </p:sp>
      <p:sp>
        <p:nvSpPr>
          <p:cNvPr id="18" name="icon-tile-107"/>
          <p:cNvSpPr/>
          <p:nvPr/>
        </p:nvSpPr>
        <p:spPr>
          <a:xfrm>
            <a:off x="10820095" y="2194560"/>
            <a:ext cx="548640" cy="548640"/>
          </a:xfrm>
          <a:prstGeom prst="roundRect">
            <a:avLst>
              <a:gd name="adj" fmla="val 13333"/>
            </a:avLst>
          </a:prstGeom>
          <a:solidFill>
            <a:schemeClr val="accent3"/>
          </a:solidFill>
          <a:ln/>
        </p:spPr>
      </p:sp>
      <p:pic>
        <p:nvPicPr>
          <p:cNvPr id="19" name="icon-108" descr="preencoded.png">    </p:cNvPr>
          <p:cNvPicPr>
            <a:picLocks noChangeAspect="1"/>
          </p:cNvPicPr>
          <p:nvPr/>
        </p:nvPicPr>
        <p:blipFill>
          <a:blip r:embed="rId3"/>
          <a:stretch>
            <a:fillRect/>
          </a:stretch>
        </p:blipFill>
        <p:spPr>
          <a:xfrm>
            <a:off x="10951769" y="2326234"/>
            <a:ext cx="285293" cy="285293"/>
          </a:xfrm>
          <a:prstGeom prst="rect">
            <a:avLst/>
          </a:prstGeom>
        </p:spPr>
      </p:pic>
      <p:sp>
        <p:nvSpPr>
          <p:cNvPr id="20" name="text-109"/>
          <p:cNvSpPr txBox="1"/>
          <p:nvPr/>
        </p:nvSpPr>
        <p:spPr>
          <a:xfrm>
            <a:off x="8402117" y="3017520"/>
            <a:ext cx="2966618" cy="365760"/>
          </a:xfrm>
          <a:prstGeom prst="rect">
            <a:avLst/>
          </a:prstGeom>
          <a:noFill/>
          <a:ln/>
        </p:spPr>
        <p:txBody>
          <a:bodyPr wrap="square" lIns="0" tIns="0" rIns="0" bIns="0" rtlCol="0" anchor="t"/>
          <a:lstStyle/>
          <a:p>
            <a:pPr indent="0" marL="0">
              <a:buNone/>
            </a:pPr>
            <a:r>
              <a:rPr lang="en-US" sz="2000" b="1" dirty="0">
                <a:solidFill>
                  <a:schemeClr val="tx1"/>
                </a:solidFill>
              </a:rPr>
              <a:t>A terminal</a:t>
            </a:r>
            <a:endParaRPr lang="en-US" sz="2000" dirty="0"/>
          </a:p>
        </p:txBody>
      </p:sp>
      <p:sp>
        <p:nvSpPr>
          <p:cNvPr id="21" name="text-110"/>
          <p:cNvSpPr txBox="1"/>
          <p:nvPr/>
        </p:nvSpPr>
        <p:spPr>
          <a:xfrm>
            <a:off x="8402117" y="3520440"/>
            <a:ext cx="2966618" cy="1188720"/>
          </a:xfrm>
          <a:prstGeom prst="rect">
            <a:avLst/>
          </a:prstGeom>
          <a:noFill/>
          <a:ln/>
        </p:spPr>
        <p:txBody>
          <a:bodyPr wrap="square" lIns="0" tIns="0" rIns="0" bIns="0" rtlCol="0" anchor="t"/>
          <a:lstStyle/>
          <a:p>
            <a:pPr indent="0" marL="0">
              <a:buNone/>
            </a:pPr>
            <a:r>
              <a:rPr lang="en-US" sz="1400" dirty="0">
                <a:solidFill>
                  <a:schemeClr val="tx2"/>
                </a:solidFill>
              </a:rPr>
              <a:t>Terminal on a Mac or PowerShell on Windows. The desktop app and web need none</a:t>
            </a:r>
            <a:endParaRPr lang="en-US" sz="1400" dirty="0"/>
          </a:p>
        </p:txBody>
      </p:sp>
      <p:sp>
        <p:nvSpPr>
          <p:cNvPr id="22" name="card-111"/>
          <p:cNvSpPr/>
          <p:nvPr/>
        </p:nvSpPr>
        <p:spPr>
          <a:xfrm>
            <a:off x="548640" y="5212080"/>
            <a:ext cx="11094415" cy="640080"/>
          </a:xfrm>
          <a:prstGeom prst="roundRect">
            <a:avLst>
              <a:gd name="adj" fmla="val 11429"/>
            </a:avLst>
          </a:prstGeom>
          <a:solidFill>
            <a:schemeClr val="bg2"/>
          </a:solidFill>
          <a:ln/>
        </p:spPr>
      </p:sp>
      <p:sp>
        <p:nvSpPr>
          <p:cNvPr id="23" name="icon-tile-112"/>
          <p:cNvSpPr/>
          <p:nvPr/>
        </p:nvSpPr>
        <p:spPr>
          <a:xfrm>
            <a:off x="685800" y="5340096"/>
            <a:ext cx="384048" cy="384048"/>
          </a:xfrm>
          <a:prstGeom prst="roundRect">
            <a:avLst>
              <a:gd name="adj" fmla="val 19048"/>
            </a:avLst>
          </a:prstGeom>
          <a:solidFill>
            <a:schemeClr val="accent2"/>
          </a:solidFill>
          <a:ln/>
        </p:spPr>
      </p:sp>
      <p:pic>
        <p:nvPicPr>
          <p:cNvPr id="24" name="icon-113" descr="preencoded.png">    </p:cNvPr>
          <p:cNvPicPr>
            <a:picLocks noChangeAspect="1"/>
          </p:cNvPicPr>
          <p:nvPr/>
        </p:nvPicPr>
        <p:blipFill>
          <a:blip r:embed="rId4"/>
          <a:stretch>
            <a:fillRect/>
          </a:stretch>
        </p:blipFill>
        <p:spPr>
          <a:xfrm>
            <a:off x="777972" y="5432268"/>
            <a:ext cx="199705" cy="199705"/>
          </a:xfrm>
          <a:prstGeom prst="rect">
            <a:avLst/>
          </a:prstGeom>
        </p:spPr>
      </p:pic>
      <p:sp>
        <p:nvSpPr>
          <p:cNvPr id="25" name="text-114"/>
          <p:cNvSpPr txBox="1"/>
          <p:nvPr/>
        </p:nvSpPr>
        <p:spPr>
          <a:xfrm>
            <a:off x="1234440" y="5212080"/>
            <a:ext cx="10225735" cy="640080"/>
          </a:xfrm>
          <a:prstGeom prst="rect">
            <a:avLst/>
          </a:prstGeom>
          <a:noFill/>
          <a:ln/>
        </p:spPr>
        <p:txBody>
          <a:bodyPr wrap="square" lIns="0" tIns="0" rIns="0" bIns="0" rtlCol="0" anchor="ctr"/>
          <a:lstStyle/>
          <a:p>
            <a:pPr indent="0" marL="0">
              <a:buNone/>
            </a:pPr>
            <a:r>
              <a:rPr lang="en-US" sz="1400" dirty="0">
                <a:solidFill>
                  <a:schemeClr val="tx1"/>
                </a:solidFill>
              </a:rPr>
              <a:t>Organisations can also connect through Amazon Bedrock, Google Cloud or Microsoft Foundry.</a:t>
            </a:r>
            <a:endParaRPr lang="en-US" sz="1400" dirty="0"/>
          </a:p>
        </p:txBody>
      </p:sp>
      <p:sp>
        <p:nvSpPr>
          <p:cNvPr id="26" name="text-115"/>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Install and start in three steps</a:t>
            </a:r>
            <a:endParaRPr lang="en-US" sz="3200" dirty="0"/>
          </a:p>
        </p:txBody>
      </p:sp>
      <p:sp>
        <p:nvSpPr>
          <p:cNvPr id="4" name="step-116"/>
          <p:cNvSpPr/>
          <p:nvPr/>
        </p:nvSpPr>
        <p:spPr>
          <a:xfrm>
            <a:off x="548640" y="2011680"/>
            <a:ext cx="548640" cy="548640"/>
          </a:xfrm>
          <a:prstGeom prst="ellipse">
            <a:avLst/>
          </a:prstGeom>
          <a:solidFill>
            <a:schemeClr val="accent1"/>
          </a:solidFill>
          <a:ln/>
        </p:spPr>
      </p:sp>
      <p:sp>
        <p:nvSpPr>
          <p:cNvPr id="5" name="text-117"/>
          <p:cNvSpPr txBox="1"/>
          <p:nvPr/>
        </p:nvSpPr>
        <p:spPr>
          <a:xfrm>
            <a:off x="548640" y="2011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6" name="text-118"/>
          <p:cNvSpPr txBox="1"/>
          <p:nvPr/>
        </p:nvSpPr>
        <p:spPr>
          <a:xfrm>
            <a:off x="1325880" y="2011680"/>
            <a:ext cx="3291840" cy="365760"/>
          </a:xfrm>
          <a:prstGeom prst="rect">
            <a:avLst/>
          </a:prstGeom>
          <a:noFill/>
          <a:ln/>
        </p:spPr>
        <p:txBody>
          <a:bodyPr wrap="square" lIns="0" tIns="0" rIns="0" bIns="0" rtlCol="0" anchor="t"/>
          <a:lstStyle/>
          <a:p>
            <a:pPr indent="0" marL="0">
              <a:buNone/>
            </a:pPr>
            <a:r>
              <a:rPr lang="en-US" sz="1800" b="1" dirty="0">
                <a:solidFill>
                  <a:schemeClr val="tx1"/>
                </a:solidFill>
              </a:rPr>
              <a:t>Install</a:t>
            </a:r>
            <a:endParaRPr lang="en-US" sz="1800" dirty="0"/>
          </a:p>
        </p:txBody>
      </p:sp>
      <p:sp>
        <p:nvSpPr>
          <p:cNvPr id="7" name="text-119"/>
          <p:cNvSpPr txBox="1"/>
          <p:nvPr/>
        </p:nvSpPr>
        <p:spPr>
          <a:xfrm>
            <a:off x="1325880" y="2423160"/>
            <a:ext cx="3291840" cy="640080"/>
          </a:xfrm>
          <a:prstGeom prst="rect">
            <a:avLst/>
          </a:prstGeom>
          <a:noFill/>
          <a:ln/>
        </p:spPr>
        <p:txBody>
          <a:bodyPr wrap="square" lIns="0" tIns="0" rIns="0" bIns="0" rtlCol="0" anchor="t"/>
          <a:lstStyle/>
          <a:p>
            <a:pPr indent="0" marL="0">
              <a:buNone/>
            </a:pPr>
            <a:r>
              <a:rPr lang="en-US" sz="1400" dirty="0">
                <a:solidFill>
                  <a:schemeClr val="tx2"/>
                </a:solidFill>
              </a:rPr>
              <a:t>Paste one command into your terminal</a:t>
            </a:r>
            <a:endParaRPr lang="en-US" sz="1400" dirty="0"/>
          </a:p>
        </p:txBody>
      </p:sp>
      <p:sp>
        <p:nvSpPr>
          <p:cNvPr id="8" name="card-120"/>
          <p:cNvSpPr/>
          <p:nvPr/>
        </p:nvSpPr>
        <p:spPr>
          <a:xfrm>
            <a:off x="4846320" y="1920240"/>
            <a:ext cx="6796735" cy="1188720"/>
          </a:xfrm>
          <a:prstGeom prst="roundRect">
            <a:avLst>
              <a:gd name="adj" fmla="val 6154"/>
            </a:avLst>
          </a:prstGeom>
          <a:solidFill>
            <a:schemeClr val="tx1"/>
          </a:solidFill>
          <a:ln/>
        </p:spPr>
      </p:sp>
      <p:sp>
        <p:nvSpPr>
          <p:cNvPr id="9" name="text-121"/>
          <p:cNvSpPr txBox="1"/>
          <p:nvPr/>
        </p:nvSpPr>
        <p:spPr>
          <a:xfrm>
            <a:off x="5120640" y="1920240"/>
            <a:ext cx="6339535" cy="1188720"/>
          </a:xfrm>
          <a:prstGeom prst="rect">
            <a:avLst/>
          </a:prstGeom>
          <a:noFill/>
          <a:ln/>
        </p:spPr>
        <p:txBody>
          <a:bodyPr wrap="square" lIns="0" tIns="0" rIns="0" bIns="0" rtlCol="0" anchor="ctr"/>
          <a:lstStyle/>
          <a:p>
            <a:pPr indent="0" marL="0">
              <a:buNone/>
            </a:pPr>
            <a:r>
              <a:rPr lang="en-US" sz="1400" dirty="0">
                <a:solidFill>
                  <a:schemeClr val="accent5"/>
                </a:solidFill>
                <a:latin typeface="Courier New" pitchFamily="34" charset="0"/>
                <a:ea typeface="Courier New" pitchFamily="34" charset="-122"/>
                <a:cs typeface="Courier New" pitchFamily="34" charset="-120"/>
              </a:rPr>
              <a:t># macOS, Linux or WSL</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curl -fsSL https://claude.ai/install.sh | bash</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Windows PowerShell</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irm https://claude.ai/install.ps1 | iex</a:t>
            </a:r>
            <a:endParaRPr lang="en-US" sz="1400" dirty="0"/>
          </a:p>
        </p:txBody>
      </p:sp>
      <p:sp>
        <p:nvSpPr>
          <p:cNvPr id="10" name="step-122"/>
          <p:cNvSpPr/>
          <p:nvPr/>
        </p:nvSpPr>
        <p:spPr>
          <a:xfrm>
            <a:off x="548640" y="3337560"/>
            <a:ext cx="548640" cy="548640"/>
          </a:xfrm>
          <a:prstGeom prst="ellipse">
            <a:avLst/>
          </a:prstGeom>
          <a:solidFill>
            <a:schemeClr val="accent1"/>
          </a:solidFill>
          <a:ln/>
        </p:spPr>
      </p:sp>
      <p:sp>
        <p:nvSpPr>
          <p:cNvPr id="11" name="text-123"/>
          <p:cNvSpPr txBox="1"/>
          <p:nvPr/>
        </p:nvSpPr>
        <p:spPr>
          <a:xfrm>
            <a:off x="548640"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2" name="text-124"/>
          <p:cNvSpPr txBox="1"/>
          <p:nvPr/>
        </p:nvSpPr>
        <p:spPr>
          <a:xfrm>
            <a:off x="1325880" y="3337560"/>
            <a:ext cx="3291840" cy="365760"/>
          </a:xfrm>
          <a:prstGeom prst="rect">
            <a:avLst/>
          </a:prstGeom>
          <a:noFill/>
          <a:ln/>
        </p:spPr>
        <p:txBody>
          <a:bodyPr wrap="square" lIns="0" tIns="0" rIns="0" bIns="0" rtlCol="0" anchor="t"/>
          <a:lstStyle/>
          <a:p>
            <a:pPr indent="0" marL="0">
              <a:buNone/>
            </a:pPr>
            <a:r>
              <a:rPr lang="en-US" sz="1800" b="1" dirty="0">
                <a:solidFill>
                  <a:schemeClr val="tx1"/>
                </a:solidFill>
              </a:rPr>
              <a:t>Open your project</a:t>
            </a:r>
            <a:endParaRPr lang="en-US" sz="1800" dirty="0"/>
          </a:p>
        </p:txBody>
      </p:sp>
      <p:sp>
        <p:nvSpPr>
          <p:cNvPr id="13" name="text-125"/>
          <p:cNvSpPr txBox="1"/>
          <p:nvPr/>
        </p:nvSpPr>
        <p:spPr>
          <a:xfrm>
            <a:off x="1325880" y="3749040"/>
            <a:ext cx="3291840" cy="640080"/>
          </a:xfrm>
          <a:prstGeom prst="rect">
            <a:avLst/>
          </a:prstGeom>
          <a:noFill/>
          <a:ln/>
        </p:spPr>
        <p:txBody>
          <a:bodyPr wrap="square" lIns="0" tIns="0" rIns="0" bIns="0" rtlCol="0" anchor="t"/>
          <a:lstStyle/>
          <a:p>
            <a:pPr indent="0" marL="0">
              <a:buNone/>
            </a:pPr>
            <a:r>
              <a:rPr lang="en-US" sz="1400" dirty="0">
                <a:solidFill>
                  <a:schemeClr val="tx2"/>
                </a:solidFill>
              </a:rPr>
              <a:t>Check the install, go to your folder and start</a:t>
            </a:r>
            <a:endParaRPr lang="en-US" sz="1400" dirty="0"/>
          </a:p>
        </p:txBody>
      </p:sp>
      <p:sp>
        <p:nvSpPr>
          <p:cNvPr id="14" name="card-126"/>
          <p:cNvSpPr/>
          <p:nvPr/>
        </p:nvSpPr>
        <p:spPr>
          <a:xfrm>
            <a:off x="4846320" y="3246120"/>
            <a:ext cx="6796735" cy="1188720"/>
          </a:xfrm>
          <a:prstGeom prst="roundRect">
            <a:avLst>
              <a:gd name="adj" fmla="val 6154"/>
            </a:avLst>
          </a:prstGeom>
          <a:solidFill>
            <a:schemeClr val="tx1"/>
          </a:solidFill>
          <a:ln/>
        </p:spPr>
      </p:sp>
      <p:sp>
        <p:nvSpPr>
          <p:cNvPr id="15" name="text-127"/>
          <p:cNvSpPr txBox="1"/>
          <p:nvPr/>
        </p:nvSpPr>
        <p:spPr>
          <a:xfrm>
            <a:off x="5120640" y="3246120"/>
            <a:ext cx="6339535" cy="118872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claude --version</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cd your-project</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claude</a:t>
            </a:r>
            <a:endParaRPr lang="en-US" sz="1400" dirty="0"/>
          </a:p>
        </p:txBody>
      </p:sp>
      <p:sp>
        <p:nvSpPr>
          <p:cNvPr id="16" name="step-128"/>
          <p:cNvSpPr/>
          <p:nvPr/>
        </p:nvSpPr>
        <p:spPr>
          <a:xfrm>
            <a:off x="548640" y="4663440"/>
            <a:ext cx="548640" cy="548640"/>
          </a:xfrm>
          <a:prstGeom prst="ellipse">
            <a:avLst/>
          </a:prstGeom>
          <a:solidFill>
            <a:schemeClr val="accent1"/>
          </a:solidFill>
          <a:ln/>
        </p:spPr>
      </p:sp>
      <p:sp>
        <p:nvSpPr>
          <p:cNvPr id="17" name="text-129"/>
          <p:cNvSpPr txBox="1"/>
          <p:nvPr/>
        </p:nvSpPr>
        <p:spPr>
          <a:xfrm>
            <a:off x="548640" y="46634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18" name="text-130"/>
          <p:cNvSpPr txBox="1"/>
          <p:nvPr/>
        </p:nvSpPr>
        <p:spPr>
          <a:xfrm>
            <a:off x="1325880" y="4663440"/>
            <a:ext cx="3291840" cy="365760"/>
          </a:xfrm>
          <a:prstGeom prst="rect">
            <a:avLst/>
          </a:prstGeom>
          <a:noFill/>
          <a:ln/>
        </p:spPr>
        <p:txBody>
          <a:bodyPr wrap="square" lIns="0" tIns="0" rIns="0" bIns="0" rtlCol="0" anchor="t"/>
          <a:lstStyle/>
          <a:p>
            <a:pPr indent="0" marL="0">
              <a:buNone/>
            </a:pPr>
            <a:r>
              <a:rPr lang="en-US" sz="1800" b="1" dirty="0">
                <a:solidFill>
                  <a:schemeClr val="tx1"/>
                </a:solidFill>
              </a:rPr>
              <a:t>Log in</a:t>
            </a:r>
            <a:endParaRPr lang="en-US" sz="1800" dirty="0"/>
          </a:p>
        </p:txBody>
      </p:sp>
      <p:sp>
        <p:nvSpPr>
          <p:cNvPr id="19" name="text-131"/>
          <p:cNvSpPr txBox="1"/>
          <p:nvPr/>
        </p:nvSpPr>
        <p:spPr>
          <a:xfrm>
            <a:off x="1325880" y="5074920"/>
            <a:ext cx="3291840" cy="640080"/>
          </a:xfrm>
          <a:prstGeom prst="rect">
            <a:avLst/>
          </a:prstGeom>
          <a:noFill/>
          <a:ln/>
        </p:spPr>
        <p:txBody>
          <a:bodyPr wrap="square" lIns="0" tIns="0" rIns="0" bIns="0" rtlCol="0" anchor="t"/>
          <a:lstStyle/>
          <a:p>
            <a:pPr indent="0" marL="0">
              <a:buNone/>
            </a:pPr>
            <a:r>
              <a:rPr lang="en-US" sz="1400" dirty="0">
                <a:solidFill>
                  <a:schemeClr val="tx2"/>
                </a:solidFill>
              </a:rPr>
              <a:t>The first run opens your browser to sign in</a:t>
            </a:r>
            <a:endParaRPr lang="en-US" sz="1400" dirty="0"/>
          </a:p>
        </p:txBody>
      </p:sp>
      <p:sp>
        <p:nvSpPr>
          <p:cNvPr id="20" name="card-132"/>
          <p:cNvSpPr/>
          <p:nvPr/>
        </p:nvSpPr>
        <p:spPr>
          <a:xfrm>
            <a:off x="4846320" y="4572000"/>
            <a:ext cx="6796735" cy="1188720"/>
          </a:xfrm>
          <a:prstGeom prst="roundRect">
            <a:avLst>
              <a:gd name="adj" fmla="val 6154"/>
            </a:avLst>
          </a:prstGeom>
          <a:solidFill>
            <a:schemeClr val="tx1"/>
          </a:solidFill>
          <a:ln/>
        </p:spPr>
      </p:sp>
      <p:sp>
        <p:nvSpPr>
          <p:cNvPr id="21" name="text-133"/>
          <p:cNvSpPr txBox="1"/>
          <p:nvPr/>
        </p:nvSpPr>
        <p:spPr>
          <a:xfrm>
            <a:off x="5120640" y="4572000"/>
            <a:ext cx="6339535" cy="1188720"/>
          </a:xfrm>
          <a:prstGeom prst="rect">
            <a:avLst/>
          </a:prstGeom>
          <a:noFill/>
          <a:ln/>
        </p:spPr>
        <p:txBody>
          <a:bodyPr wrap="square" lIns="0" tIns="0" rIns="0" bIns="0" rtlCol="0" anchor="ctr"/>
          <a:lstStyle/>
          <a:p>
            <a:pPr indent="0" marL="0">
              <a:buNone/>
            </a:pPr>
            <a:r>
              <a:rPr lang="en-US" sz="1400" dirty="0">
                <a:solidFill>
                  <a:schemeClr val="accent5"/>
                </a:solidFill>
                <a:latin typeface="Courier New" pitchFamily="34" charset="0"/>
                <a:ea typeface="Courier New" pitchFamily="34" charset="-122"/>
                <a:cs typeface="Courier New" pitchFamily="34" charset="-120"/>
              </a:rPr>
              <a:t># to sign in again or switch account,</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type this inside Claude Code:</a:t>
            </a: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/login</a:t>
            </a:r>
            <a:endParaRPr lang="en-US" sz="1400" dirty="0"/>
          </a:p>
        </p:txBody>
      </p:sp>
      <p:sp>
        <p:nvSpPr>
          <p:cNvPr id="22" name="text-13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Other install options: Homebrew, WinGet and Linux package managers. 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2  |  GETTING STARTED</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Claude Code works in a loop until the job is done</a:t>
            </a:r>
            <a:endParaRPr lang="en-US" sz="3200" dirty="0"/>
          </a:p>
        </p:txBody>
      </p:sp>
      <p:sp>
        <p:nvSpPr>
          <p:cNvPr id="4" name="card-135"/>
          <p:cNvSpPr/>
          <p:nvPr/>
        </p:nvSpPr>
        <p:spPr>
          <a:xfrm>
            <a:off x="548640" y="1965960"/>
            <a:ext cx="3200400" cy="1737360"/>
          </a:xfrm>
          <a:prstGeom prst="roundRect">
            <a:avLst>
              <a:gd name="adj" fmla="val 4211"/>
            </a:avLst>
          </a:prstGeom>
          <a:solidFill>
            <a:schemeClr val="accent5"/>
          </a:solidFill>
          <a:ln/>
        </p:spPr>
      </p:sp>
      <p:sp>
        <p:nvSpPr>
          <p:cNvPr id="5" name="icon-tile-136"/>
          <p:cNvSpPr/>
          <p:nvPr/>
        </p:nvSpPr>
        <p:spPr>
          <a:xfrm>
            <a:off x="822960" y="2240280"/>
            <a:ext cx="548640" cy="548640"/>
          </a:xfrm>
          <a:prstGeom prst="roundRect">
            <a:avLst>
              <a:gd name="adj" fmla="val 13333"/>
            </a:avLst>
          </a:prstGeom>
          <a:solidFill>
            <a:schemeClr val="accent1"/>
          </a:solidFill>
          <a:ln/>
        </p:spPr>
      </p:sp>
      <p:pic>
        <p:nvPicPr>
          <p:cNvPr id="6" name="icon-137" descr="preencoded.png">    </p:cNvPr>
          <p:cNvPicPr>
            <a:picLocks noChangeAspect="1"/>
          </p:cNvPicPr>
          <p:nvPr/>
        </p:nvPicPr>
        <p:blipFill>
          <a:blip r:embed="rId1"/>
          <a:stretch>
            <a:fillRect/>
          </a:stretch>
        </p:blipFill>
        <p:spPr>
          <a:xfrm>
            <a:off x="954634" y="2371954"/>
            <a:ext cx="285293" cy="285293"/>
          </a:xfrm>
          <a:prstGeom prst="rect">
            <a:avLst/>
          </a:prstGeom>
        </p:spPr>
      </p:pic>
      <p:sp>
        <p:nvSpPr>
          <p:cNvPr id="7" name="text-138"/>
          <p:cNvSpPr txBox="1"/>
          <p:nvPr/>
        </p:nvSpPr>
        <p:spPr>
          <a:xfrm>
            <a:off x="1554480" y="2240280"/>
            <a:ext cx="2011680" cy="548640"/>
          </a:xfrm>
          <a:prstGeom prst="rect">
            <a:avLst/>
          </a:prstGeom>
          <a:noFill/>
          <a:ln/>
        </p:spPr>
        <p:txBody>
          <a:bodyPr wrap="square" lIns="0" tIns="0" rIns="0" bIns="0" rtlCol="0" anchor="ctr"/>
          <a:lstStyle/>
          <a:p>
            <a:pPr indent="0" marL="0">
              <a:buNone/>
            </a:pPr>
            <a:r>
              <a:rPr lang="en-US" sz="2000" b="1" dirty="0">
                <a:solidFill>
                  <a:schemeClr val="tx1"/>
                </a:solidFill>
              </a:rPr>
              <a:t>Gather context</a:t>
            </a:r>
            <a:endParaRPr lang="en-US" sz="2000" dirty="0"/>
          </a:p>
        </p:txBody>
      </p:sp>
      <p:sp>
        <p:nvSpPr>
          <p:cNvPr id="8" name="text-139"/>
          <p:cNvSpPr txBox="1"/>
          <p:nvPr/>
        </p:nvSpPr>
        <p:spPr>
          <a:xfrm>
            <a:off x="822960" y="3017520"/>
            <a:ext cx="2651760" cy="548640"/>
          </a:xfrm>
          <a:prstGeom prst="rect">
            <a:avLst/>
          </a:prstGeom>
          <a:noFill/>
          <a:ln/>
        </p:spPr>
        <p:txBody>
          <a:bodyPr wrap="square" lIns="0" tIns="0" rIns="0" bIns="0" rtlCol="0" anchor="t"/>
          <a:lstStyle/>
          <a:p>
            <a:pPr indent="0" marL="0">
              <a:buNone/>
            </a:pPr>
            <a:r>
              <a:rPr lang="en-US" sz="1400" dirty="0">
                <a:solidFill>
                  <a:schemeClr val="tx2"/>
                </a:solidFill>
              </a:rPr>
              <a:t>Reads files and searches the code</a:t>
            </a:r>
            <a:endParaRPr lang="en-US" sz="1400" dirty="0"/>
          </a:p>
        </p:txBody>
      </p:sp>
      <p:pic>
        <p:nvPicPr>
          <p:cNvPr id="9" name="chevron-140" descr="preencoded.png">    </p:cNvPr>
          <p:cNvPicPr>
            <a:picLocks noChangeAspect="1"/>
          </p:cNvPicPr>
          <p:nvPr/>
        </p:nvPicPr>
        <p:blipFill>
          <a:blip r:embed="rId2"/>
          <a:stretch>
            <a:fillRect/>
          </a:stretch>
        </p:blipFill>
        <p:spPr>
          <a:xfrm>
            <a:off x="3985184" y="2697480"/>
            <a:ext cx="274320" cy="274320"/>
          </a:xfrm>
          <a:prstGeom prst="rect">
            <a:avLst/>
          </a:prstGeom>
        </p:spPr>
      </p:pic>
      <p:sp>
        <p:nvSpPr>
          <p:cNvPr id="10" name="card-141"/>
          <p:cNvSpPr/>
          <p:nvPr/>
        </p:nvSpPr>
        <p:spPr>
          <a:xfrm>
            <a:off x="4495648" y="1965960"/>
            <a:ext cx="3200400" cy="1737360"/>
          </a:xfrm>
          <a:prstGeom prst="roundRect">
            <a:avLst>
              <a:gd name="adj" fmla="val 4211"/>
            </a:avLst>
          </a:prstGeom>
          <a:solidFill>
            <a:schemeClr val="accent5"/>
          </a:solidFill>
          <a:ln/>
        </p:spPr>
      </p:sp>
      <p:sp>
        <p:nvSpPr>
          <p:cNvPr id="11" name="icon-tile-142"/>
          <p:cNvSpPr/>
          <p:nvPr/>
        </p:nvSpPr>
        <p:spPr>
          <a:xfrm>
            <a:off x="4769968" y="2240280"/>
            <a:ext cx="548640" cy="548640"/>
          </a:xfrm>
          <a:prstGeom prst="roundRect">
            <a:avLst>
              <a:gd name="adj" fmla="val 13333"/>
            </a:avLst>
          </a:prstGeom>
          <a:solidFill>
            <a:schemeClr val="accent1"/>
          </a:solidFill>
          <a:ln/>
        </p:spPr>
      </p:sp>
      <p:pic>
        <p:nvPicPr>
          <p:cNvPr id="12" name="icon-143" descr="preencoded.png">    </p:cNvPr>
          <p:cNvPicPr>
            <a:picLocks noChangeAspect="1"/>
          </p:cNvPicPr>
          <p:nvPr/>
        </p:nvPicPr>
        <p:blipFill>
          <a:blip r:embed="rId3"/>
          <a:stretch>
            <a:fillRect/>
          </a:stretch>
        </p:blipFill>
        <p:spPr>
          <a:xfrm>
            <a:off x="4901641" y="2371954"/>
            <a:ext cx="285293" cy="285293"/>
          </a:xfrm>
          <a:prstGeom prst="rect">
            <a:avLst/>
          </a:prstGeom>
        </p:spPr>
      </p:pic>
      <p:sp>
        <p:nvSpPr>
          <p:cNvPr id="13" name="text-144"/>
          <p:cNvSpPr txBox="1"/>
          <p:nvPr/>
        </p:nvSpPr>
        <p:spPr>
          <a:xfrm>
            <a:off x="5501488" y="2240280"/>
            <a:ext cx="2011680" cy="548640"/>
          </a:xfrm>
          <a:prstGeom prst="rect">
            <a:avLst/>
          </a:prstGeom>
          <a:noFill/>
          <a:ln/>
        </p:spPr>
        <p:txBody>
          <a:bodyPr wrap="square" lIns="0" tIns="0" rIns="0" bIns="0" rtlCol="0" anchor="ctr"/>
          <a:lstStyle/>
          <a:p>
            <a:pPr indent="0" marL="0">
              <a:buNone/>
            </a:pPr>
            <a:r>
              <a:rPr lang="en-US" sz="2000" b="1" dirty="0">
                <a:solidFill>
                  <a:schemeClr val="tx1"/>
                </a:solidFill>
              </a:rPr>
              <a:t>Take action</a:t>
            </a:r>
            <a:endParaRPr lang="en-US" sz="2000" dirty="0"/>
          </a:p>
        </p:txBody>
      </p:sp>
      <p:sp>
        <p:nvSpPr>
          <p:cNvPr id="14" name="text-145"/>
          <p:cNvSpPr txBox="1"/>
          <p:nvPr/>
        </p:nvSpPr>
        <p:spPr>
          <a:xfrm>
            <a:off x="4769968" y="3017520"/>
            <a:ext cx="2651760" cy="548640"/>
          </a:xfrm>
          <a:prstGeom prst="rect">
            <a:avLst/>
          </a:prstGeom>
          <a:noFill/>
          <a:ln/>
        </p:spPr>
        <p:txBody>
          <a:bodyPr wrap="square" lIns="0" tIns="0" rIns="0" bIns="0" rtlCol="0" anchor="t"/>
          <a:lstStyle/>
          <a:p>
            <a:pPr indent="0" marL="0">
              <a:buNone/>
            </a:pPr>
            <a:r>
              <a:rPr lang="en-US" sz="1400" dirty="0">
                <a:solidFill>
                  <a:schemeClr val="tx2"/>
                </a:solidFill>
              </a:rPr>
              <a:t>Edits files and runs commands</a:t>
            </a:r>
            <a:endParaRPr lang="en-US" sz="1400" dirty="0"/>
          </a:p>
        </p:txBody>
      </p:sp>
      <p:pic>
        <p:nvPicPr>
          <p:cNvPr id="15" name="chevron-146" descr="preencoded.png">    </p:cNvPr>
          <p:cNvPicPr>
            <a:picLocks noChangeAspect="1"/>
          </p:cNvPicPr>
          <p:nvPr/>
        </p:nvPicPr>
        <p:blipFill>
          <a:blip r:embed="rId4"/>
          <a:stretch>
            <a:fillRect/>
          </a:stretch>
        </p:blipFill>
        <p:spPr>
          <a:xfrm>
            <a:off x="7932191" y="2697480"/>
            <a:ext cx="274320" cy="274320"/>
          </a:xfrm>
          <a:prstGeom prst="rect">
            <a:avLst/>
          </a:prstGeom>
        </p:spPr>
      </p:pic>
      <p:sp>
        <p:nvSpPr>
          <p:cNvPr id="16" name="card-147"/>
          <p:cNvSpPr/>
          <p:nvPr/>
        </p:nvSpPr>
        <p:spPr>
          <a:xfrm>
            <a:off x="8442655" y="1965960"/>
            <a:ext cx="3200400" cy="1737360"/>
          </a:xfrm>
          <a:prstGeom prst="roundRect">
            <a:avLst>
              <a:gd name="adj" fmla="val 4211"/>
            </a:avLst>
          </a:prstGeom>
          <a:solidFill>
            <a:schemeClr val="accent5"/>
          </a:solidFill>
          <a:ln/>
        </p:spPr>
      </p:sp>
      <p:sp>
        <p:nvSpPr>
          <p:cNvPr id="17" name="icon-tile-148"/>
          <p:cNvSpPr/>
          <p:nvPr/>
        </p:nvSpPr>
        <p:spPr>
          <a:xfrm>
            <a:off x="8716975" y="2240280"/>
            <a:ext cx="548640" cy="548640"/>
          </a:xfrm>
          <a:prstGeom prst="roundRect">
            <a:avLst>
              <a:gd name="adj" fmla="val 13333"/>
            </a:avLst>
          </a:prstGeom>
          <a:solidFill>
            <a:schemeClr val="accent1"/>
          </a:solidFill>
          <a:ln/>
        </p:spPr>
      </p:sp>
      <p:pic>
        <p:nvPicPr>
          <p:cNvPr id="18" name="icon-149" descr="preencoded.png">    </p:cNvPr>
          <p:cNvPicPr>
            <a:picLocks noChangeAspect="1"/>
          </p:cNvPicPr>
          <p:nvPr/>
        </p:nvPicPr>
        <p:blipFill>
          <a:blip r:embed="rId5"/>
          <a:stretch>
            <a:fillRect/>
          </a:stretch>
        </p:blipFill>
        <p:spPr>
          <a:xfrm>
            <a:off x="8848649" y="2371954"/>
            <a:ext cx="285293" cy="285293"/>
          </a:xfrm>
          <a:prstGeom prst="rect">
            <a:avLst/>
          </a:prstGeom>
        </p:spPr>
      </p:pic>
      <p:sp>
        <p:nvSpPr>
          <p:cNvPr id="19" name="text-150"/>
          <p:cNvSpPr txBox="1"/>
          <p:nvPr/>
        </p:nvSpPr>
        <p:spPr>
          <a:xfrm>
            <a:off x="9448495" y="2240280"/>
            <a:ext cx="2011680" cy="548640"/>
          </a:xfrm>
          <a:prstGeom prst="rect">
            <a:avLst/>
          </a:prstGeom>
          <a:noFill/>
          <a:ln/>
        </p:spPr>
        <p:txBody>
          <a:bodyPr wrap="square" lIns="0" tIns="0" rIns="0" bIns="0" rtlCol="0" anchor="ctr"/>
          <a:lstStyle/>
          <a:p>
            <a:pPr indent="0" marL="0">
              <a:buNone/>
            </a:pPr>
            <a:r>
              <a:rPr lang="en-US" sz="2000" b="1" dirty="0">
                <a:solidFill>
                  <a:schemeClr val="tx1"/>
                </a:solidFill>
              </a:rPr>
              <a:t>Verify results</a:t>
            </a:r>
            <a:endParaRPr lang="en-US" sz="2000" dirty="0"/>
          </a:p>
        </p:txBody>
      </p:sp>
      <p:sp>
        <p:nvSpPr>
          <p:cNvPr id="20" name="text-151"/>
          <p:cNvSpPr txBox="1"/>
          <p:nvPr/>
        </p:nvSpPr>
        <p:spPr>
          <a:xfrm>
            <a:off x="8716975" y="3017520"/>
            <a:ext cx="2651760" cy="548640"/>
          </a:xfrm>
          <a:prstGeom prst="rect">
            <a:avLst/>
          </a:prstGeom>
          <a:noFill/>
          <a:ln/>
        </p:spPr>
        <p:txBody>
          <a:bodyPr wrap="square" lIns="0" tIns="0" rIns="0" bIns="0" rtlCol="0" anchor="t"/>
          <a:lstStyle/>
          <a:p>
            <a:pPr indent="0" marL="0">
              <a:buNone/>
            </a:pPr>
            <a:r>
              <a:rPr lang="en-US" sz="1400" dirty="0">
                <a:solidFill>
                  <a:schemeClr val="tx2"/>
                </a:solidFill>
              </a:rPr>
              <a:t>Runs tests and checks the output</a:t>
            </a:r>
            <a:endParaRPr lang="en-US" sz="1400" dirty="0"/>
          </a:p>
        </p:txBody>
      </p:sp>
      <p:sp>
        <p:nvSpPr>
          <p:cNvPr id="21" name="loop-152"/>
          <p:cNvSpPr/>
          <p:nvPr/>
        </p:nvSpPr>
        <p:spPr>
          <a:xfrm>
            <a:off x="10042855" y="3703320"/>
            <a:ext cx="0" cy="502920"/>
          </a:xfrm>
          <a:prstGeom prst="line">
            <a:avLst/>
          </a:prstGeom>
          <a:noFill/>
          <a:ln w="25400">
            <a:solidFill>
              <a:schemeClr val="accent1"/>
            </a:solidFill>
            <a:prstDash val="solid"/>
          </a:ln>
        </p:spPr>
      </p:sp>
      <p:sp>
        <p:nvSpPr>
          <p:cNvPr id="22" name="loop-153"/>
          <p:cNvSpPr/>
          <p:nvPr/>
        </p:nvSpPr>
        <p:spPr>
          <a:xfrm>
            <a:off x="2148840" y="4206240"/>
            <a:ext cx="7894015" cy="0"/>
          </a:xfrm>
          <a:prstGeom prst="line">
            <a:avLst/>
          </a:prstGeom>
          <a:noFill/>
          <a:ln w="25400">
            <a:solidFill>
              <a:schemeClr val="accent1"/>
            </a:solidFill>
            <a:prstDash val="solid"/>
          </a:ln>
        </p:spPr>
      </p:sp>
      <p:sp>
        <p:nvSpPr>
          <p:cNvPr id="23" name="loop-154"/>
          <p:cNvSpPr/>
          <p:nvPr/>
        </p:nvSpPr>
        <p:spPr>
          <a:xfrm>
            <a:off x="2148840" y="3739896"/>
            <a:ext cx="0" cy="466344"/>
          </a:xfrm>
          <a:prstGeom prst="line">
            <a:avLst/>
          </a:prstGeom>
          <a:noFill/>
          <a:ln w="25400">
            <a:solidFill>
              <a:schemeClr val="accent1"/>
            </a:solidFill>
            <a:prstDash val="solid"/>
            <a:headEnd type="triangle"/>
          </a:ln>
        </p:spPr>
      </p:sp>
      <p:sp>
        <p:nvSpPr>
          <p:cNvPr id="24" name="text-155"/>
          <p:cNvSpPr txBox="1"/>
          <p:nvPr/>
        </p:nvSpPr>
        <p:spPr>
          <a:xfrm>
            <a:off x="2148840" y="4297680"/>
            <a:ext cx="7894015" cy="274320"/>
          </a:xfrm>
          <a:prstGeom prst="rect">
            <a:avLst/>
          </a:prstGeom>
          <a:noFill/>
          <a:ln/>
        </p:spPr>
        <p:txBody>
          <a:bodyPr wrap="square" lIns="0" tIns="0" rIns="0" bIns="0" rtlCol="0" anchor="t"/>
          <a:lstStyle/>
          <a:p>
            <a:pPr algn="ctr" indent="0" marL="0">
              <a:buNone/>
            </a:pPr>
            <a:r>
              <a:rPr lang="en-US" sz="1400" i="1" dirty="0">
                <a:solidFill>
                  <a:schemeClr val="accent3"/>
                </a:solidFill>
              </a:rPr>
              <a:t>repeat until done</a:t>
            </a:r>
            <a:endParaRPr lang="en-US" sz="1400" dirty="0"/>
          </a:p>
        </p:txBody>
      </p:sp>
      <p:sp>
        <p:nvSpPr>
          <p:cNvPr id="25" name="card-156"/>
          <p:cNvSpPr/>
          <p:nvPr/>
        </p:nvSpPr>
        <p:spPr>
          <a:xfrm>
            <a:off x="548640" y="5212080"/>
            <a:ext cx="11094415" cy="640080"/>
          </a:xfrm>
          <a:prstGeom prst="roundRect">
            <a:avLst>
              <a:gd name="adj" fmla="val 11429"/>
            </a:avLst>
          </a:prstGeom>
          <a:solidFill>
            <a:schemeClr val="bg2"/>
          </a:solidFill>
          <a:ln/>
        </p:spPr>
      </p:sp>
      <p:sp>
        <p:nvSpPr>
          <p:cNvPr id="26" name="icon-tile-157"/>
          <p:cNvSpPr/>
          <p:nvPr/>
        </p:nvSpPr>
        <p:spPr>
          <a:xfrm>
            <a:off x="685800" y="5340096"/>
            <a:ext cx="384048" cy="384048"/>
          </a:xfrm>
          <a:prstGeom prst="roundRect">
            <a:avLst>
              <a:gd name="adj" fmla="val 19048"/>
            </a:avLst>
          </a:prstGeom>
          <a:solidFill>
            <a:schemeClr val="accent2"/>
          </a:solidFill>
          <a:ln/>
        </p:spPr>
      </p:sp>
      <p:pic>
        <p:nvPicPr>
          <p:cNvPr id="27" name="icon-158" descr="preencoded.png">    </p:cNvPr>
          <p:cNvPicPr>
            <a:picLocks noChangeAspect="1"/>
          </p:cNvPicPr>
          <p:nvPr/>
        </p:nvPicPr>
        <p:blipFill>
          <a:blip r:embed="rId6"/>
          <a:stretch>
            <a:fillRect/>
          </a:stretch>
        </p:blipFill>
        <p:spPr>
          <a:xfrm>
            <a:off x="777972" y="5432268"/>
            <a:ext cx="199705" cy="199705"/>
          </a:xfrm>
          <a:prstGeom prst="rect">
            <a:avLst/>
          </a:prstGeom>
        </p:spPr>
      </p:pic>
      <p:sp>
        <p:nvSpPr>
          <p:cNvPr id="28" name="text-159"/>
          <p:cNvSpPr txBox="1"/>
          <p:nvPr/>
        </p:nvSpPr>
        <p:spPr>
          <a:xfrm>
            <a:off x="1234440" y="5212080"/>
            <a:ext cx="10225735" cy="640080"/>
          </a:xfrm>
          <a:prstGeom prst="rect">
            <a:avLst/>
          </a:prstGeom>
          <a:noFill/>
          <a:ln/>
        </p:spPr>
        <p:txBody>
          <a:bodyPr wrap="square" lIns="0" tIns="0" rIns="0" bIns="0" rtlCol="0" anchor="ctr"/>
          <a:lstStyle/>
          <a:p>
            <a:pPr indent="0" marL="0">
              <a:buNone/>
            </a:pPr>
            <a:r>
              <a:rPr lang="en-US" sz="1400" dirty="0">
                <a:solidFill>
                  <a:schemeClr val="tx1"/>
                </a:solidFill>
              </a:rPr>
              <a:t>You stay in control: you can interrupt the loop at any point to redirect Claude.</a:t>
            </a:r>
            <a:endParaRPr lang="en-US" sz="1400" dirty="0"/>
          </a:p>
        </p:txBody>
      </p:sp>
      <p:sp>
        <p:nvSpPr>
          <p:cNvPr id="29" name="text-16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This cycle is called the agentic loop. 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Six basic words describe every session</a:t>
            </a:r>
            <a:endParaRPr lang="en-US" sz="3200" dirty="0"/>
          </a:p>
        </p:txBody>
      </p:sp>
      <p:sp>
        <p:nvSpPr>
          <p:cNvPr id="4" name="card-161"/>
          <p:cNvSpPr/>
          <p:nvPr/>
        </p:nvSpPr>
        <p:spPr>
          <a:xfrm>
            <a:off x="548640" y="1920240"/>
            <a:ext cx="11094415" cy="566928"/>
          </a:xfrm>
          <a:prstGeom prst="roundRect">
            <a:avLst>
              <a:gd name="adj" fmla="val 12903"/>
            </a:avLst>
          </a:prstGeom>
          <a:solidFill>
            <a:schemeClr val="bg2"/>
          </a:solidFill>
          <a:ln/>
        </p:spPr>
      </p:sp>
      <p:sp>
        <p:nvSpPr>
          <p:cNvPr id="5" name="text-162"/>
          <p:cNvSpPr txBox="1"/>
          <p:nvPr/>
        </p:nvSpPr>
        <p:spPr>
          <a:xfrm>
            <a:off x="822960" y="1920240"/>
            <a:ext cx="246888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prompt</a:t>
            </a:r>
            <a:endParaRPr lang="en-US" sz="1400" dirty="0"/>
          </a:p>
        </p:txBody>
      </p:sp>
      <p:sp>
        <p:nvSpPr>
          <p:cNvPr id="6" name="text-163"/>
          <p:cNvSpPr txBox="1"/>
          <p:nvPr/>
        </p:nvSpPr>
        <p:spPr>
          <a:xfrm>
            <a:off x="3383280" y="1920240"/>
            <a:ext cx="7985455" cy="566928"/>
          </a:xfrm>
          <a:prstGeom prst="rect">
            <a:avLst/>
          </a:prstGeom>
          <a:noFill/>
          <a:ln/>
        </p:spPr>
        <p:txBody>
          <a:bodyPr wrap="square" lIns="0" tIns="0" rIns="0" bIns="0" rtlCol="0" anchor="ctr"/>
          <a:lstStyle/>
          <a:p>
            <a:pPr indent="0" marL="0">
              <a:buNone/>
            </a:pPr>
            <a:r>
              <a:rPr lang="en-US" sz="1400" dirty="0">
                <a:solidFill>
                  <a:schemeClr val="tx1"/>
                </a:solidFill>
              </a:rPr>
              <a:t>What you type to tell Claude what you want</a:t>
            </a:r>
            <a:endParaRPr lang="en-US" sz="1400" dirty="0"/>
          </a:p>
        </p:txBody>
      </p:sp>
      <p:sp>
        <p:nvSpPr>
          <p:cNvPr id="7" name="card-164"/>
          <p:cNvSpPr/>
          <p:nvPr/>
        </p:nvSpPr>
        <p:spPr>
          <a:xfrm>
            <a:off x="548640" y="2596896"/>
            <a:ext cx="11094415" cy="566928"/>
          </a:xfrm>
          <a:prstGeom prst="roundRect">
            <a:avLst>
              <a:gd name="adj" fmla="val 12903"/>
            </a:avLst>
          </a:prstGeom>
          <a:solidFill>
            <a:schemeClr val="bg2"/>
          </a:solidFill>
          <a:ln/>
        </p:spPr>
      </p:sp>
      <p:sp>
        <p:nvSpPr>
          <p:cNvPr id="8" name="text-165"/>
          <p:cNvSpPr txBox="1"/>
          <p:nvPr/>
        </p:nvSpPr>
        <p:spPr>
          <a:xfrm>
            <a:off x="822960" y="2596896"/>
            <a:ext cx="246888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session</a:t>
            </a:r>
            <a:endParaRPr lang="en-US" sz="1400" dirty="0"/>
          </a:p>
        </p:txBody>
      </p:sp>
      <p:sp>
        <p:nvSpPr>
          <p:cNvPr id="9" name="text-166"/>
          <p:cNvSpPr txBox="1"/>
          <p:nvPr/>
        </p:nvSpPr>
        <p:spPr>
          <a:xfrm>
            <a:off x="3383280" y="2596896"/>
            <a:ext cx="7985455" cy="566928"/>
          </a:xfrm>
          <a:prstGeom prst="rect">
            <a:avLst/>
          </a:prstGeom>
          <a:noFill/>
          <a:ln/>
        </p:spPr>
        <p:txBody>
          <a:bodyPr wrap="square" lIns="0" tIns="0" rIns="0" bIns="0" rtlCol="0" anchor="ctr"/>
          <a:lstStyle/>
          <a:p>
            <a:pPr indent="0" marL="0">
              <a:buNone/>
            </a:pPr>
            <a:r>
              <a:rPr lang="en-US" sz="1400" dirty="0">
                <a:solidFill>
                  <a:schemeClr val="tx1"/>
                </a:solidFill>
              </a:rPr>
              <a:t>One conversation with Claude, tied to the folder you started it in</a:t>
            </a:r>
            <a:endParaRPr lang="en-US" sz="1400" dirty="0"/>
          </a:p>
        </p:txBody>
      </p:sp>
      <p:sp>
        <p:nvSpPr>
          <p:cNvPr id="10" name="card-167"/>
          <p:cNvSpPr/>
          <p:nvPr/>
        </p:nvSpPr>
        <p:spPr>
          <a:xfrm>
            <a:off x="548640" y="3273552"/>
            <a:ext cx="11094415" cy="566928"/>
          </a:xfrm>
          <a:prstGeom prst="roundRect">
            <a:avLst>
              <a:gd name="adj" fmla="val 12903"/>
            </a:avLst>
          </a:prstGeom>
          <a:solidFill>
            <a:schemeClr val="bg2"/>
          </a:solidFill>
          <a:ln/>
        </p:spPr>
      </p:sp>
      <p:sp>
        <p:nvSpPr>
          <p:cNvPr id="11" name="text-168"/>
          <p:cNvSpPr txBox="1"/>
          <p:nvPr/>
        </p:nvSpPr>
        <p:spPr>
          <a:xfrm>
            <a:off x="822960" y="3273552"/>
            <a:ext cx="246888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turn</a:t>
            </a:r>
            <a:endParaRPr lang="en-US" sz="1400" dirty="0"/>
          </a:p>
        </p:txBody>
      </p:sp>
      <p:sp>
        <p:nvSpPr>
          <p:cNvPr id="12" name="text-169"/>
          <p:cNvSpPr txBox="1"/>
          <p:nvPr/>
        </p:nvSpPr>
        <p:spPr>
          <a:xfrm>
            <a:off x="3383280" y="3273552"/>
            <a:ext cx="7985455" cy="566928"/>
          </a:xfrm>
          <a:prstGeom prst="rect">
            <a:avLst/>
          </a:prstGeom>
          <a:noFill/>
          <a:ln/>
        </p:spPr>
        <p:txBody>
          <a:bodyPr wrap="square" lIns="0" tIns="0" rIns="0" bIns="0" rtlCol="0" anchor="ctr"/>
          <a:lstStyle/>
          <a:p>
            <a:pPr indent="0" marL="0">
              <a:buNone/>
            </a:pPr>
            <a:r>
              <a:rPr lang="en-US" sz="1400" dirty="0">
                <a:solidFill>
                  <a:schemeClr val="tx1"/>
                </a:solidFill>
              </a:rPr>
              <a:t>One complete response from Claude, from your message until it stops</a:t>
            </a:r>
            <a:endParaRPr lang="en-US" sz="1400" dirty="0"/>
          </a:p>
        </p:txBody>
      </p:sp>
      <p:sp>
        <p:nvSpPr>
          <p:cNvPr id="13" name="card-170"/>
          <p:cNvSpPr/>
          <p:nvPr/>
        </p:nvSpPr>
        <p:spPr>
          <a:xfrm>
            <a:off x="548640" y="3950208"/>
            <a:ext cx="11094415" cy="566928"/>
          </a:xfrm>
          <a:prstGeom prst="roundRect">
            <a:avLst>
              <a:gd name="adj" fmla="val 12903"/>
            </a:avLst>
          </a:prstGeom>
          <a:solidFill>
            <a:schemeClr val="bg2"/>
          </a:solidFill>
          <a:ln/>
        </p:spPr>
      </p:sp>
      <p:sp>
        <p:nvSpPr>
          <p:cNvPr id="14" name="text-171"/>
          <p:cNvSpPr txBox="1"/>
          <p:nvPr/>
        </p:nvSpPr>
        <p:spPr>
          <a:xfrm>
            <a:off x="822960" y="3950208"/>
            <a:ext cx="246888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tool</a:t>
            </a:r>
            <a:endParaRPr lang="en-US" sz="1400" dirty="0"/>
          </a:p>
        </p:txBody>
      </p:sp>
      <p:sp>
        <p:nvSpPr>
          <p:cNvPr id="15" name="text-172"/>
          <p:cNvSpPr txBox="1"/>
          <p:nvPr/>
        </p:nvSpPr>
        <p:spPr>
          <a:xfrm>
            <a:off x="3383280" y="3950208"/>
            <a:ext cx="7985455" cy="566928"/>
          </a:xfrm>
          <a:prstGeom prst="rect">
            <a:avLst/>
          </a:prstGeom>
          <a:noFill/>
          <a:ln/>
        </p:spPr>
        <p:txBody>
          <a:bodyPr wrap="square" lIns="0" tIns="0" rIns="0" bIns="0" rtlCol="0" anchor="ctr"/>
          <a:lstStyle/>
          <a:p>
            <a:pPr indent="0" marL="0">
              <a:buNone/>
            </a:pPr>
            <a:r>
              <a:rPr lang="en-US" sz="1400" dirty="0">
                <a:solidFill>
                  <a:schemeClr val="tx1"/>
                </a:solidFill>
              </a:rPr>
              <a:t>An action Claude can take, such as reading a file, editing code or running a command</a:t>
            </a:r>
            <a:endParaRPr lang="en-US" sz="1400" dirty="0"/>
          </a:p>
        </p:txBody>
      </p:sp>
      <p:sp>
        <p:nvSpPr>
          <p:cNvPr id="16" name="card-173"/>
          <p:cNvSpPr/>
          <p:nvPr/>
        </p:nvSpPr>
        <p:spPr>
          <a:xfrm>
            <a:off x="548640" y="4626864"/>
            <a:ext cx="11094415" cy="566928"/>
          </a:xfrm>
          <a:prstGeom prst="roundRect">
            <a:avLst>
              <a:gd name="adj" fmla="val 12903"/>
            </a:avLst>
          </a:prstGeom>
          <a:solidFill>
            <a:schemeClr val="bg2"/>
          </a:solidFill>
          <a:ln/>
        </p:spPr>
      </p:sp>
      <p:sp>
        <p:nvSpPr>
          <p:cNvPr id="17" name="text-174"/>
          <p:cNvSpPr txBox="1"/>
          <p:nvPr/>
        </p:nvSpPr>
        <p:spPr>
          <a:xfrm>
            <a:off x="822960" y="4626864"/>
            <a:ext cx="246888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context window</a:t>
            </a:r>
            <a:endParaRPr lang="en-US" sz="1400" dirty="0"/>
          </a:p>
        </p:txBody>
      </p:sp>
      <p:sp>
        <p:nvSpPr>
          <p:cNvPr id="18" name="text-175"/>
          <p:cNvSpPr txBox="1"/>
          <p:nvPr/>
        </p:nvSpPr>
        <p:spPr>
          <a:xfrm>
            <a:off x="3383280" y="4626864"/>
            <a:ext cx="7985455" cy="566928"/>
          </a:xfrm>
          <a:prstGeom prst="rect">
            <a:avLst/>
          </a:prstGeom>
          <a:noFill/>
          <a:ln/>
        </p:spPr>
        <p:txBody>
          <a:bodyPr wrap="square" lIns="0" tIns="0" rIns="0" bIns="0" rtlCol="0" anchor="ctr"/>
          <a:lstStyle/>
          <a:p>
            <a:pPr indent="0" marL="0">
              <a:buNone/>
            </a:pPr>
            <a:r>
              <a:rPr lang="en-US" sz="1400" dirty="0">
                <a:solidFill>
                  <a:schemeClr val="tx1"/>
                </a:solidFill>
              </a:rPr>
              <a:t>The session's working memory: the conversation, files read and command output</a:t>
            </a:r>
            <a:endParaRPr lang="en-US" sz="1400" dirty="0"/>
          </a:p>
        </p:txBody>
      </p:sp>
      <p:sp>
        <p:nvSpPr>
          <p:cNvPr id="19" name="card-176"/>
          <p:cNvSpPr/>
          <p:nvPr/>
        </p:nvSpPr>
        <p:spPr>
          <a:xfrm>
            <a:off x="548640" y="5303520"/>
            <a:ext cx="11094415" cy="566928"/>
          </a:xfrm>
          <a:prstGeom prst="roundRect">
            <a:avLst>
              <a:gd name="adj" fmla="val 12903"/>
            </a:avLst>
          </a:prstGeom>
          <a:solidFill>
            <a:schemeClr val="bg2"/>
          </a:solidFill>
          <a:ln/>
        </p:spPr>
      </p:sp>
      <p:sp>
        <p:nvSpPr>
          <p:cNvPr id="20" name="text-177"/>
          <p:cNvSpPr txBox="1"/>
          <p:nvPr/>
        </p:nvSpPr>
        <p:spPr>
          <a:xfrm>
            <a:off x="822960" y="5303520"/>
            <a:ext cx="2468880" cy="566928"/>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compaction</a:t>
            </a:r>
            <a:endParaRPr lang="en-US" sz="1400" dirty="0"/>
          </a:p>
        </p:txBody>
      </p:sp>
      <p:sp>
        <p:nvSpPr>
          <p:cNvPr id="21" name="text-178"/>
          <p:cNvSpPr txBox="1"/>
          <p:nvPr/>
        </p:nvSpPr>
        <p:spPr>
          <a:xfrm>
            <a:off x="3383280" y="5303520"/>
            <a:ext cx="7985455" cy="566928"/>
          </a:xfrm>
          <a:prstGeom prst="rect">
            <a:avLst/>
          </a:prstGeom>
          <a:noFill/>
          <a:ln/>
        </p:spPr>
        <p:txBody>
          <a:bodyPr wrap="square" lIns="0" tIns="0" rIns="0" bIns="0" rtlCol="0" anchor="ctr"/>
          <a:lstStyle/>
          <a:p>
            <a:pPr indent="0" marL="0">
              <a:buNone/>
            </a:pPr>
            <a:r>
              <a:rPr lang="en-US" sz="1400" dirty="0">
                <a:solidFill>
                  <a:schemeClr val="tx1"/>
                </a:solidFill>
              </a:rPr>
              <a:t>Automatic summarising of older conversation when the context window fills up</a:t>
            </a:r>
            <a:endParaRPr lang="en-US" sz="1400" dirty="0"/>
          </a:p>
        </p:txBody>
      </p:sp>
      <p:sp>
        <p:nvSpPr>
          <p:cNvPr id="22" name="text-17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Four terms explain how Claude remembers your project</a:t>
            </a:r>
            <a:endParaRPr lang="en-US" sz="3200" dirty="0"/>
          </a:p>
        </p:txBody>
      </p:sp>
      <p:sp>
        <p:nvSpPr>
          <p:cNvPr id="4" name="icon-tile-180"/>
          <p:cNvSpPr/>
          <p:nvPr/>
        </p:nvSpPr>
        <p:spPr>
          <a:xfrm>
            <a:off x="548640" y="1956816"/>
            <a:ext cx="548640" cy="548640"/>
          </a:xfrm>
          <a:prstGeom prst="roundRect">
            <a:avLst>
              <a:gd name="adj" fmla="val 13333"/>
            </a:avLst>
          </a:prstGeom>
          <a:solidFill>
            <a:schemeClr val="accent1"/>
          </a:solidFill>
          <a:ln/>
        </p:spPr>
      </p:sp>
      <p:pic>
        <p:nvPicPr>
          <p:cNvPr id="5" name="icon-181" descr="preencoded.png">    </p:cNvPr>
          <p:cNvPicPr>
            <a:picLocks noChangeAspect="1"/>
          </p:cNvPicPr>
          <p:nvPr/>
        </p:nvPicPr>
        <p:blipFill>
          <a:blip r:embed="rId1"/>
          <a:stretch>
            <a:fillRect/>
          </a:stretch>
        </p:blipFill>
        <p:spPr>
          <a:xfrm>
            <a:off x="680314" y="2088490"/>
            <a:ext cx="285293" cy="285293"/>
          </a:xfrm>
          <a:prstGeom prst="rect">
            <a:avLst/>
          </a:prstGeom>
        </p:spPr>
      </p:pic>
      <p:sp>
        <p:nvSpPr>
          <p:cNvPr id="6" name="text-182"/>
          <p:cNvSpPr txBox="1"/>
          <p:nvPr/>
        </p:nvSpPr>
        <p:spPr>
          <a:xfrm>
            <a:off x="1325880" y="1920240"/>
            <a:ext cx="5394960" cy="292608"/>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CLAUDE.md</a:t>
            </a:r>
            <a:endParaRPr lang="en-US" sz="1600" dirty="0"/>
          </a:p>
        </p:txBody>
      </p:sp>
      <p:sp>
        <p:nvSpPr>
          <p:cNvPr id="7" name="text-183"/>
          <p:cNvSpPr txBox="1"/>
          <p:nvPr/>
        </p:nvSpPr>
        <p:spPr>
          <a:xfrm>
            <a:off x="1325880" y="2258568"/>
            <a:ext cx="5394960" cy="548640"/>
          </a:xfrm>
          <a:prstGeom prst="rect">
            <a:avLst/>
          </a:prstGeom>
          <a:noFill/>
          <a:ln/>
        </p:spPr>
        <p:txBody>
          <a:bodyPr wrap="square" lIns="0" tIns="0" rIns="0" bIns="0" rtlCol="0" anchor="t"/>
          <a:lstStyle/>
          <a:p>
            <a:pPr indent="0" marL="0">
              <a:buNone/>
            </a:pPr>
            <a:r>
              <a:rPr lang="en-US" sz="1400" dirty="0">
                <a:solidFill>
                  <a:schemeClr val="tx2"/>
                </a:solidFill>
              </a:rPr>
              <a:t>Instructions you write for Claude. It reads this file at the start of every session</a:t>
            </a:r>
            <a:endParaRPr lang="en-US" sz="1400" dirty="0"/>
          </a:p>
        </p:txBody>
      </p:sp>
      <p:sp>
        <p:nvSpPr>
          <p:cNvPr id="8" name="icon-tile-184"/>
          <p:cNvSpPr/>
          <p:nvPr/>
        </p:nvSpPr>
        <p:spPr>
          <a:xfrm>
            <a:off x="548640" y="2962656"/>
            <a:ext cx="548640" cy="548640"/>
          </a:xfrm>
          <a:prstGeom prst="roundRect">
            <a:avLst>
              <a:gd name="adj" fmla="val 13333"/>
            </a:avLst>
          </a:prstGeom>
          <a:solidFill>
            <a:schemeClr val="accent1"/>
          </a:solidFill>
          <a:ln/>
        </p:spPr>
      </p:sp>
      <p:pic>
        <p:nvPicPr>
          <p:cNvPr id="9" name="icon-185" descr="preencoded.png">    </p:cNvPr>
          <p:cNvPicPr>
            <a:picLocks noChangeAspect="1"/>
          </p:cNvPicPr>
          <p:nvPr/>
        </p:nvPicPr>
        <p:blipFill>
          <a:blip r:embed="rId2"/>
          <a:stretch>
            <a:fillRect/>
          </a:stretch>
        </p:blipFill>
        <p:spPr>
          <a:xfrm>
            <a:off x="680314" y="3094330"/>
            <a:ext cx="285293" cy="285293"/>
          </a:xfrm>
          <a:prstGeom prst="rect">
            <a:avLst/>
          </a:prstGeom>
        </p:spPr>
      </p:pic>
      <p:sp>
        <p:nvSpPr>
          <p:cNvPr id="10" name="text-186"/>
          <p:cNvSpPr txBox="1"/>
          <p:nvPr/>
        </p:nvSpPr>
        <p:spPr>
          <a:xfrm>
            <a:off x="1325880" y="2926080"/>
            <a:ext cx="5394960" cy="292608"/>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auto memory</a:t>
            </a:r>
            <a:endParaRPr lang="en-US" sz="1600" dirty="0"/>
          </a:p>
        </p:txBody>
      </p:sp>
      <p:sp>
        <p:nvSpPr>
          <p:cNvPr id="11" name="text-187"/>
          <p:cNvSpPr txBox="1"/>
          <p:nvPr/>
        </p:nvSpPr>
        <p:spPr>
          <a:xfrm>
            <a:off x="1325880" y="3264408"/>
            <a:ext cx="5394960" cy="548640"/>
          </a:xfrm>
          <a:prstGeom prst="rect">
            <a:avLst/>
          </a:prstGeom>
          <a:noFill/>
          <a:ln/>
        </p:spPr>
        <p:txBody>
          <a:bodyPr wrap="square" lIns="0" tIns="0" rIns="0" bIns="0" rtlCol="0" anchor="t"/>
          <a:lstStyle/>
          <a:p>
            <a:pPr indent="0" marL="0">
              <a:buNone/>
            </a:pPr>
            <a:r>
              <a:rPr lang="en-US" sz="1400" dirty="0">
                <a:solidFill>
                  <a:schemeClr val="tx2"/>
                </a:solidFill>
              </a:rPr>
              <a:t>Notes Claude writes for itself, based on your corrections and preferences</a:t>
            </a:r>
            <a:endParaRPr lang="en-US" sz="1400" dirty="0"/>
          </a:p>
        </p:txBody>
      </p:sp>
      <p:sp>
        <p:nvSpPr>
          <p:cNvPr id="12" name="icon-tile-188"/>
          <p:cNvSpPr/>
          <p:nvPr/>
        </p:nvSpPr>
        <p:spPr>
          <a:xfrm>
            <a:off x="548640" y="3968496"/>
            <a:ext cx="548640" cy="548640"/>
          </a:xfrm>
          <a:prstGeom prst="roundRect">
            <a:avLst>
              <a:gd name="adj" fmla="val 13333"/>
            </a:avLst>
          </a:prstGeom>
          <a:solidFill>
            <a:schemeClr val="accent1"/>
          </a:solidFill>
          <a:ln/>
        </p:spPr>
      </p:sp>
      <p:pic>
        <p:nvPicPr>
          <p:cNvPr id="13" name="icon-189" descr="preencoded.png">    </p:cNvPr>
          <p:cNvPicPr>
            <a:picLocks noChangeAspect="1"/>
          </p:cNvPicPr>
          <p:nvPr/>
        </p:nvPicPr>
        <p:blipFill>
          <a:blip r:embed="rId3"/>
          <a:stretch>
            <a:fillRect/>
          </a:stretch>
        </p:blipFill>
        <p:spPr>
          <a:xfrm>
            <a:off x="680314" y="4100170"/>
            <a:ext cx="285293" cy="285293"/>
          </a:xfrm>
          <a:prstGeom prst="rect">
            <a:avLst/>
          </a:prstGeom>
        </p:spPr>
      </p:pic>
      <p:sp>
        <p:nvSpPr>
          <p:cNvPr id="14" name="text-190"/>
          <p:cNvSpPr txBox="1"/>
          <p:nvPr/>
        </p:nvSpPr>
        <p:spPr>
          <a:xfrm>
            <a:off x="1325880" y="3931920"/>
            <a:ext cx="5394960" cy="292608"/>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.claude directory</a:t>
            </a:r>
            <a:endParaRPr lang="en-US" sz="1600" dirty="0"/>
          </a:p>
        </p:txBody>
      </p:sp>
      <p:sp>
        <p:nvSpPr>
          <p:cNvPr id="15" name="text-191"/>
          <p:cNvSpPr txBox="1"/>
          <p:nvPr/>
        </p:nvSpPr>
        <p:spPr>
          <a:xfrm>
            <a:off x="1325880" y="4270248"/>
            <a:ext cx="5394960" cy="548640"/>
          </a:xfrm>
          <a:prstGeom prst="rect">
            <a:avLst/>
          </a:prstGeom>
          <a:noFill/>
          <a:ln/>
        </p:spPr>
        <p:txBody>
          <a:bodyPr wrap="square" lIns="0" tIns="0" rIns="0" bIns="0" rtlCol="0" anchor="t"/>
          <a:lstStyle/>
          <a:p>
            <a:pPr indent="0" marL="0">
              <a:buNone/>
            </a:pPr>
            <a:r>
              <a:rPr lang="en-US" sz="1400" dirty="0">
                <a:solidFill>
                  <a:schemeClr val="tx2"/>
                </a:solidFill>
              </a:rPr>
              <a:t>The folder where project settings, skills, hooks and rules live</a:t>
            </a:r>
            <a:endParaRPr lang="en-US" sz="1400" dirty="0"/>
          </a:p>
        </p:txBody>
      </p:sp>
      <p:sp>
        <p:nvSpPr>
          <p:cNvPr id="16" name="icon-tile-192"/>
          <p:cNvSpPr/>
          <p:nvPr/>
        </p:nvSpPr>
        <p:spPr>
          <a:xfrm>
            <a:off x="548640" y="4974336"/>
            <a:ext cx="548640" cy="548640"/>
          </a:xfrm>
          <a:prstGeom prst="roundRect">
            <a:avLst>
              <a:gd name="adj" fmla="val 13333"/>
            </a:avLst>
          </a:prstGeom>
          <a:solidFill>
            <a:schemeClr val="accent1"/>
          </a:solidFill>
          <a:ln/>
        </p:spPr>
      </p:sp>
      <p:pic>
        <p:nvPicPr>
          <p:cNvPr id="17" name="icon-193" descr="preencoded.png">    </p:cNvPr>
          <p:cNvPicPr>
            <a:picLocks noChangeAspect="1"/>
          </p:cNvPicPr>
          <p:nvPr/>
        </p:nvPicPr>
        <p:blipFill>
          <a:blip r:embed="rId4"/>
          <a:stretch>
            <a:fillRect/>
          </a:stretch>
        </p:blipFill>
        <p:spPr>
          <a:xfrm>
            <a:off x="680314" y="5106010"/>
            <a:ext cx="285293" cy="285293"/>
          </a:xfrm>
          <a:prstGeom prst="rect">
            <a:avLst/>
          </a:prstGeom>
        </p:spPr>
      </p:pic>
      <p:sp>
        <p:nvSpPr>
          <p:cNvPr id="18" name="text-194"/>
          <p:cNvSpPr txBox="1"/>
          <p:nvPr/>
        </p:nvSpPr>
        <p:spPr>
          <a:xfrm>
            <a:off x="1325880" y="4937760"/>
            <a:ext cx="5394960" cy="292608"/>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AGENTS.md</a:t>
            </a:r>
            <a:endParaRPr lang="en-US" sz="1600" dirty="0"/>
          </a:p>
        </p:txBody>
      </p:sp>
      <p:sp>
        <p:nvSpPr>
          <p:cNvPr id="19" name="text-195"/>
          <p:cNvSpPr txBox="1"/>
          <p:nvPr/>
        </p:nvSpPr>
        <p:spPr>
          <a:xfrm>
            <a:off x="1325880" y="5276088"/>
            <a:ext cx="5394960" cy="548640"/>
          </a:xfrm>
          <a:prstGeom prst="rect">
            <a:avLst/>
          </a:prstGeom>
          <a:noFill/>
          <a:ln/>
        </p:spPr>
        <p:txBody>
          <a:bodyPr wrap="square" lIns="0" tIns="0" rIns="0" bIns="0" rtlCol="0" anchor="t"/>
          <a:lstStyle/>
          <a:p>
            <a:pPr indent="0" marL="0">
              <a:buNone/>
            </a:pPr>
            <a:r>
              <a:rPr lang="en-US" sz="1400" dirty="0">
                <a:solidFill>
                  <a:schemeClr val="tx2"/>
                </a:solidFill>
              </a:rPr>
              <a:t>An instructions file used by other coding agents. Claude Code can read it too</a:t>
            </a:r>
            <a:endParaRPr lang="en-US" sz="1400" dirty="0"/>
          </a:p>
        </p:txBody>
      </p:sp>
      <p:sp>
        <p:nvSpPr>
          <p:cNvPr id="20" name="card-196"/>
          <p:cNvSpPr/>
          <p:nvPr/>
        </p:nvSpPr>
        <p:spPr>
          <a:xfrm>
            <a:off x="7223760" y="1920240"/>
            <a:ext cx="4419295" cy="3931920"/>
          </a:xfrm>
          <a:prstGeom prst="roundRect">
            <a:avLst>
              <a:gd name="adj" fmla="val 1860"/>
            </a:avLst>
          </a:prstGeom>
          <a:solidFill>
            <a:schemeClr val="tx1"/>
          </a:solidFill>
          <a:ln/>
        </p:spPr>
      </p:sp>
      <p:sp>
        <p:nvSpPr>
          <p:cNvPr id="21" name="dot-197"/>
          <p:cNvSpPr/>
          <p:nvPr/>
        </p:nvSpPr>
        <p:spPr>
          <a:xfrm>
            <a:off x="7498080" y="2176272"/>
            <a:ext cx="137160" cy="137160"/>
          </a:xfrm>
          <a:prstGeom prst="ellipse">
            <a:avLst/>
          </a:prstGeom>
          <a:solidFill>
            <a:schemeClr val="accent1"/>
          </a:solidFill>
          <a:ln/>
        </p:spPr>
      </p:sp>
      <p:sp>
        <p:nvSpPr>
          <p:cNvPr id="22" name="dot-198"/>
          <p:cNvSpPr/>
          <p:nvPr/>
        </p:nvSpPr>
        <p:spPr>
          <a:xfrm>
            <a:off x="7735824" y="2176272"/>
            <a:ext cx="137160" cy="137160"/>
          </a:xfrm>
          <a:prstGeom prst="ellipse">
            <a:avLst/>
          </a:prstGeom>
          <a:solidFill>
            <a:schemeClr val="accent5"/>
          </a:solidFill>
          <a:ln/>
        </p:spPr>
      </p:sp>
      <p:sp>
        <p:nvSpPr>
          <p:cNvPr id="23" name="dot-199"/>
          <p:cNvSpPr/>
          <p:nvPr/>
        </p:nvSpPr>
        <p:spPr>
          <a:xfrm>
            <a:off x="7973568" y="2176272"/>
            <a:ext cx="137160" cy="137160"/>
          </a:xfrm>
          <a:prstGeom prst="ellipse">
            <a:avLst/>
          </a:prstGeom>
          <a:solidFill>
            <a:schemeClr val="accent4"/>
          </a:solidFill>
          <a:ln/>
        </p:spPr>
      </p:sp>
      <p:sp>
        <p:nvSpPr>
          <p:cNvPr id="24" name="text-200"/>
          <p:cNvSpPr txBox="1"/>
          <p:nvPr/>
        </p:nvSpPr>
        <p:spPr>
          <a:xfrm>
            <a:off x="8412480" y="2103120"/>
            <a:ext cx="2956255" cy="274320"/>
          </a:xfrm>
          <a:prstGeom prst="rect">
            <a:avLst/>
          </a:prstGeom>
          <a:noFill/>
          <a:ln/>
        </p:spPr>
        <p:txBody>
          <a:bodyPr wrap="square" lIns="0" tIns="0" rIns="0" bIns="0" rtlCol="0" anchor="t"/>
          <a:lstStyle/>
          <a:p>
            <a:pPr algn="r" indent="0" marL="0">
              <a:buNone/>
            </a:pPr>
            <a:r>
              <a:rPr lang="en-US" sz="1200" dirty="0">
                <a:solidFill>
                  <a:schemeClr val="accent5"/>
                </a:solidFill>
                <a:latin typeface="Courier New" pitchFamily="34" charset="0"/>
                <a:ea typeface="Courier New" pitchFamily="34" charset="-122"/>
                <a:cs typeface="Courier New" pitchFamily="34" charset="-120"/>
              </a:rPr>
              <a:t>CLAUDE.md (example)</a:t>
            </a:r>
            <a:endParaRPr lang="en-US" sz="1200" dirty="0"/>
          </a:p>
        </p:txBody>
      </p:sp>
      <p:sp>
        <p:nvSpPr>
          <p:cNvPr id="25" name="text-201"/>
          <p:cNvSpPr txBox="1"/>
          <p:nvPr/>
        </p:nvSpPr>
        <p:spPr>
          <a:xfrm>
            <a:off x="7498080" y="2651760"/>
            <a:ext cx="3962095" cy="3017520"/>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 CLAUDE.md</a:t>
            </a:r>
            <a:endParaRPr lang="en-US" sz="1400" dirty="0"/>
          </a:p>
          <a:p>
            <a:pPr indent="0" marL="0">
              <a:buNone/>
            </a:pP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Project</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A to-do app built with React.</a:t>
            </a:r>
            <a:endParaRPr lang="en-US" sz="1400" dirty="0"/>
          </a:p>
          <a:p>
            <a:pPr indent="0" marL="0">
              <a:buNone/>
            </a:pP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Rules</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Use TypeScript</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Run `npm test` before commits</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Keep functions small</a:t>
            </a:r>
            <a:endParaRPr lang="en-US" sz="1400" dirty="0"/>
          </a:p>
        </p:txBody>
      </p:sp>
      <p:sp>
        <p:nvSpPr>
          <p:cNvPr id="26" name="text-202"/>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Six terms describe how you stay in control</a:t>
            </a:r>
            <a:endParaRPr lang="en-US" sz="3200" dirty="0"/>
          </a:p>
        </p:txBody>
      </p:sp>
      <p:sp>
        <p:nvSpPr>
          <p:cNvPr id="4" name="card-203"/>
          <p:cNvSpPr/>
          <p:nvPr/>
        </p:nvSpPr>
        <p:spPr>
          <a:xfrm>
            <a:off x="548640" y="1920240"/>
            <a:ext cx="3515258" cy="1828800"/>
          </a:xfrm>
          <a:prstGeom prst="roundRect">
            <a:avLst>
              <a:gd name="adj" fmla="val 4000"/>
            </a:avLst>
          </a:prstGeom>
          <a:solidFill>
            <a:schemeClr val="bg2"/>
          </a:solidFill>
          <a:ln/>
        </p:spPr>
      </p:sp>
      <p:sp>
        <p:nvSpPr>
          <p:cNvPr id="5" name="icon-tile-204"/>
          <p:cNvSpPr/>
          <p:nvPr/>
        </p:nvSpPr>
        <p:spPr>
          <a:xfrm>
            <a:off x="822960" y="2194560"/>
            <a:ext cx="502920" cy="502920"/>
          </a:xfrm>
          <a:prstGeom prst="roundRect">
            <a:avLst>
              <a:gd name="adj" fmla="val 14545"/>
            </a:avLst>
          </a:prstGeom>
          <a:solidFill>
            <a:schemeClr val="accent1"/>
          </a:solidFill>
          <a:ln/>
        </p:spPr>
      </p:sp>
      <p:pic>
        <p:nvPicPr>
          <p:cNvPr id="6" name="icon-205" descr="preencoded.png">    </p:cNvPr>
          <p:cNvPicPr>
            <a:picLocks noChangeAspect="1"/>
          </p:cNvPicPr>
          <p:nvPr/>
        </p:nvPicPr>
        <p:blipFill>
          <a:blip r:embed="rId1"/>
          <a:stretch>
            <a:fillRect/>
          </a:stretch>
        </p:blipFill>
        <p:spPr>
          <a:xfrm>
            <a:off x="943661" y="2315261"/>
            <a:ext cx="261518" cy="261518"/>
          </a:xfrm>
          <a:prstGeom prst="rect">
            <a:avLst/>
          </a:prstGeom>
        </p:spPr>
      </p:pic>
      <p:sp>
        <p:nvSpPr>
          <p:cNvPr id="7" name="text-206"/>
          <p:cNvSpPr txBox="1"/>
          <p:nvPr/>
        </p:nvSpPr>
        <p:spPr>
          <a:xfrm>
            <a:off x="1508760" y="219456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Permission mode</a:t>
            </a:r>
            <a:endParaRPr lang="en-US" sz="1800" dirty="0"/>
          </a:p>
        </p:txBody>
      </p:sp>
      <p:sp>
        <p:nvSpPr>
          <p:cNvPr id="8" name="text-207"/>
          <p:cNvSpPr txBox="1"/>
          <p:nvPr/>
        </p:nvSpPr>
        <p:spPr>
          <a:xfrm>
            <a:off x="822960" y="2880360"/>
            <a:ext cx="2966618" cy="777240"/>
          </a:xfrm>
          <a:prstGeom prst="rect">
            <a:avLst/>
          </a:prstGeom>
          <a:noFill/>
          <a:ln/>
        </p:spPr>
        <p:txBody>
          <a:bodyPr wrap="square" lIns="0" tIns="0" rIns="0" bIns="0" rtlCol="0" anchor="t"/>
          <a:lstStyle/>
          <a:p>
            <a:pPr indent="0" marL="0">
              <a:buNone/>
            </a:pPr>
            <a:r>
              <a:rPr lang="en-US" sz="1400" dirty="0">
                <a:solidFill>
                  <a:schemeClr val="tx2"/>
                </a:solidFill>
              </a:rPr>
              <a:t>The baseline for how often Claude must ask before it acts</a:t>
            </a:r>
            <a:endParaRPr lang="en-US" sz="1400" dirty="0"/>
          </a:p>
        </p:txBody>
      </p:sp>
      <p:sp>
        <p:nvSpPr>
          <p:cNvPr id="9" name="card-208"/>
          <p:cNvSpPr/>
          <p:nvPr/>
        </p:nvSpPr>
        <p:spPr>
          <a:xfrm>
            <a:off x="4338218" y="1920240"/>
            <a:ext cx="3515258" cy="1828800"/>
          </a:xfrm>
          <a:prstGeom prst="roundRect">
            <a:avLst>
              <a:gd name="adj" fmla="val 4000"/>
            </a:avLst>
          </a:prstGeom>
          <a:solidFill>
            <a:schemeClr val="bg2"/>
          </a:solidFill>
          <a:ln/>
        </p:spPr>
      </p:sp>
      <p:sp>
        <p:nvSpPr>
          <p:cNvPr id="10" name="icon-tile-209"/>
          <p:cNvSpPr/>
          <p:nvPr/>
        </p:nvSpPr>
        <p:spPr>
          <a:xfrm>
            <a:off x="4612538" y="2194560"/>
            <a:ext cx="502920" cy="502920"/>
          </a:xfrm>
          <a:prstGeom prst="roundRect">
            <a:avLst>
              <a:gd name="adj" fmla="val 14545"/>
            </a:avLst>
          </a:prstGeom>
          <a:solidFill>
            <a:schemeClr val="accent1"/>
          </a:solidFill>
          <a:ln/>
        </p:spPr>
      </p:sp>
      <p:pic>
        <p:nvPicPr>
          <p:cNvPr id="11" name="icon-210" descr="preencoded.png">    </p:cNvPr>
          <p:cNvPicPr>
            <a:picLocks noChangeAspect="1"/>
          </p:cNvPicPr>
          <p:nvPr/>
        </p:nvPicPr>
        <p:blipFill>
          <a:blip r:embed="rId2"/>
          <a:stretch>
            <a:fillRect/>
          </a:stretch>
        </p:blipFill>
        <p:spPr>
          <a:xfrm>
            <a:off x="4733239" y="2315261"/>
            <a:ext cx="261518" cy="261518"/>
          </a:xfrm>
          <a:prstGeom prst="rect">
            <a:avLst/>
          </a:prstGeom>
        </p:spPr>
      </p:pic>
      <p:sp>
        <p:nvSpPr>
          <p:cNvPr id="12" name="text-211"/>
          <p:cNvSpPr txBox="1"/>
          <p:nvPr/>
        </p:nvSpPr>
        <p:spPr>
          <a:xfrm>
            <a:off x="5298338" y="219456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Plan mode</a:t>
            </a:r>
            <a:endParaRPr lang="en-US" sz="1800" dirty="0"/>
          </a:p>
        </p:txBody>
      </p:sp>
      <p:sp>
        <p:nvSpPr>
          <p:cNvPr id="13" name="text-212"/>
          <p:cNvSpPr txBox="1"/>
          <p:nvPr/>
        </p:nvSpPr>
        <p:spPr>
          <a:xfrm>
            <a:off x="4612538" y="2880360"/>
            <a:ext cx="2966618" cy="777240"/>
          </a:xfrm>
          <a:prstGeom prst="rect">
            <a:avLst/>
          </a:prstGeom>
          <a:noFill/>
          <a:ln/>
        </p:spPr>
        <p:txBody>
          <a:bodyPr wrap="square" lIns="0" tIns="0" rIns="0" bIns="0" rtlCol="0" anchor="t"/>
          <a:lstStyle/>
          <a:p>
            <a:pPr indent="0" marL="0">
              <a:buNone/>
            </a:pPr>
            <a:r>
              <a:rPr lang="en-US" sz="1400" dirty="0">
                <a:solidFill>
                  <a:schemeClr val="tx2"/>
                </a:solidFill>
              </a:rPr>
              <a:t>Claude researches and proposes a plan without editing your files</a:t>
            </a:r>
            <a:endParaRPr lang="en-US" sz="1400" dirty="0"/>
          </a:p>
        </p:txBody>
      </p:sp>
      <p:sp>
        <p:nvSpPr>
          <p:cNvPr id="14" name="card-213"/>
          <p:cNvSpPr/>
          <p:nvPr/>
        </p:nvSpPr>
        <p:spPr>
          <a:xfrm>
            <a:off x="8127797" y="1920240"/>
            <a:ext cx="3515258" cy="1828800"/>
          </a:xfrm>
          <a:prstGeom prst="roundRect">
            <a:avLst>
              <a:gd name="adj" fmla="val 4000"/>
            </a:avLst>
          </a:prstGeom>
          <a:solidFill>
            <a:schemeClr val="bg2"/>
          </a:solidFill>
          <a:ln/>
        </p:spPr>
      </p:sp>
      <p:sp>
        <p:nvSpPr>
          <p:cNvPr id="15" name="icon-tile-214"/>
          <p:cNvSpPr/>
          <p:nvPr/>
        </p:nvSpPr>
        <p:spPr>
          <a:xfrm>
            <a:off x="8402117" y="2194560"/>
            <a:ext cx="502920" cy="502920"/>
          </a:xfrm>
          <a:prstGeom prst="roundRect">
            <a:avLst>
              <a:gd name="adj" fmla="val 14545"/>
            </a:avLst>
          </a:prstGeom>
          <a:solidFill>
            <a:schemeClr val="accent1"/>
          </a:solidFill>
          <a:ln/>
        </p:spPr>
      </p:sp>
      <p:pic>
        <p:nvPicPr>
          <p:cNvPr id="16" name="icon-215" descr="preencoded.png">    </p:cNvPr>
          <p:cNvPicPr>
            <a:picLocks noChangeAspect="1"/>
          </p:cNvPicPr>
          <p:nvPr/>
        </p:nvPicPr>
        <p:blipFill>
          <a:blip r:embed="rId3"/>
          <a:stretch>
            <a:fillRect/>
          </a:stretch>
        </p:blipFill>
        <p:spPr>
          <a:xfrm>
            <a:off x="8522818" y="2315261"/>
            <a:ext cx="261518" cy="261518"/>
          </a:xfrm>
          <a:prstGeom prst="rect">
            <a:avLst/>
          </a:prstGeom>
        </p:spPr>
      </p:pic>
      <p:sp>
        <p:nvSpPr>
          <p:cNvPr id="17" name="text-216"/>
          <p:cNvSpPr txBox="1"/>
          <p:nvPr/>
        </p:nvSpPr>
        <p:spPr>
          <a:xfrm>
            <a:off x="9087917" y="219456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Auto mode</a:t>
            </a:r>
            <a:endParaRPr lang="en-US" sz="1800" dirty="0"/>
          </a:p>
        </p:txBody>
      </p:sp>
      <p:sp>
        <p:nvSpPr>
          <p:cNvPr id="18" name="text-217"/>
          <p:cNvSpPr txBox="1"/>
          <p:nvPr/>
        </p:nvSpPr>
        <p:spPr>
          <a:xfrm>
            <a:off x="8402117" y="2880360"/>
            <a:ext cx="2966618" cy="777240"/>
          </a:xfrm>
          <a:prstGeom prst="rect">
            <a:avLst/>
          </a:prstGeom>
          <a:noFill/>
          <a:ln/>
        </p:spPr>
        <p:txBody>
          <a:bodyPr wrap="square" lIns="0" tIns="0" rIns="0" bIns="0" rtlCol="0" anchor="t"/>
          <a:lstStyle/>
          <a:p>
            <a:pPr indent="0" marL="0">
              <a:buNone/>
            </a:pPr>
            <a:r>
              <a:rPr lang="en-US" sz="1400" dirty="0">
                <a:solidFill>
                  <a:schemeClr val="tx2"/>
                </a:solidFill>
              </a:rPr>
              <a:t>A separate classifier model reviews actions, so most run without asking you</a:t>
            </a:r>
            <a:endParaRPr lang="en-US" sz="1400" dirty="0"/>
          </a:p>
        </p:txBody>
      </p:sp>
      <p:sp>
        <p:nvSpPr>
          <p:cNvPr id="19" name="card-218"/>
          <p:cNvSpPr/>
          <p:nvPr/>
        </p:nvSpPr>
        <p:spPr>
          <a:xfrm>
            <a:off x="548640" y="4023360"/>
            <a:ext cx="3515258" cy="1828800"/>
          </a:xfrm>
          <a:prstGeom prst="roundRect">
            <a:avLst>
              <a:gd name="adj" fmla="val 4000"/>
            </a:avLst>
          </a:prstGeom>
          <a:solidFill>
            <a:schemeClr val="bg2"/>
          </a:solidFill>
          <a:ln/>
        </p:spPr>
      </p:sp>
      <p:sp>
        <p:nvSpPr>
          <p:cNvPr id="20" name="icon-tile-219"/>
          <p:cNvSpPr/>
          <p:nvPr/>
        </p:nvSpPr>
        <p:spPr>
          <a:xfrm>
            <a:off x="822960" y="4297680"/>
            <a:ext cx="502920" cy="502920"/>
          </a:xfrm>
          <a:prstGeom prst="roundRect">
            <a:avLst>
              <a:gd name="adj" fmla="val 14545"/>
            </a:avLst>
          </a:prstGeom>
          <a:solidFill>
            <a:schemeClr val="accent1"/>
          </a:solidFill>
          <a:ln/>
        </p:spPr>
      </p:sp>
      <p:pic>
        <p:nvPicPr>
          <p:cNvPr id="21" name="icon-220" descr="preencoded.png">    </p:cNvPr>
          <p:cNvPicPr>
            <a:picLocks noChangeAspect="1"/>
          </p:cNvPicPr>
          <p:nvPr/>
        </p:nvPicPr>
        <p:blipFill>
          <a:blip r:embed="rId4"/>
          <a:stretch>
            <a:fillRect/>
          </a:stretch>
        </p:blipFill>
        <p:spPr>
          <a:xfrm>
            <a:off x="943661" y="4418381"/>
            <a:ext cx="261518" cy="261518"/>
          </a:xfrm>
          <a:prstGeom prst="rect">
            <a:avLst/>
          </a:prstGeom>
        </p:spPr>
      </p:pic>
      <p:sp>
        <p:nvSpPr>
          <p:cNvPr id="22" name="text-221"/>
          <p:cNvSpPr txBox="1"/>
          <p:nvPr/>
        </p:nvSpPr>
        <p:spPr>
          <a:xfrm>
            <a:off x="1508760" y="42976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Checkpoint</a:t>
            </a:r>
            <a:endParaRPr lang="en-US" sz="1800" dirty="0"/>
          </a:p>
        </p:txBody>
      </p:sp>
      <p:sp>
        <p:nvSpPr>
          <p:cNvPr id="23" name="text-222"/>
          <p:cNvSpPr txBox="1"/>
          <p:nvPr/>
        </p:nvSpPr>
        <p:spPr>
          <a:xfrm>
            <a:off x="822960" y="4983480"/>
            <a:ext cx="2966618" cy="777240"/>
          </a:xfrm>
          <a:prstGeom prst="rect">
            <a:avLst/>
          </a:prstGeom>
          <a:noFill/>
          <a:ln/>
        </p:spPr>
        <p:txBody>
          <a:bodyPr wrap="square" lIns="0" tIns="0" rIns="0" bIns="0" rtlCol="0" anchor="t"/>
          <a:lstStyle/>
          <a:p>
            <a:pPr indent="0" marL="0">
              <a:buNone/>
            </a:pPr>
            <a:r>
              <a:rPr lang="en-US" sz="1400" dirty="0">
                <a:solidFill>
                  <a:schemeClr val="tx2"/>
                </a:solidFill>
              </a:rPr>
              <a:t>A restore point made at each prompt. Press Esc twice to go back</a:t>
            </a:r>
            <a:endParaRPr lang="en-US" sz="1400" dirty="0"/>
          </a:p>
        </p:txBody>
      </p:sp>
      <p:sp>
        <p:nvSpPr>
          <p:cNvPr id="24" name="card-223"/>
          <p:cNvSpPr/>
          <p:nvPr/>
        </p:nvSpPr>
        <p:spPr>
          <a:xfrm>
            <a:off x="4338218" y="4023360"/>
            <a:ext cx="3515258" cy="1828800"/>
          </a:xfrm>
          <a:prstGeom prst="roundRect">
            <a:avLst>
              <a:gd name="adj" fmla="val 4000"/>
            </a:avLst>
          </a:prstGeom>
          <a:solidFill>
            <a:schemeClr val="bg2"/>
          </a:solidFill>
          <a:ln/>
        </p:spPr>
      </p:sp>
      <p:sp>
        <p:nvSpPr>
          <p:cNvPr id="25" name="icon-tile-224"/>
          <p:cNvSpPr/>
          <p:nvPr/>
        </p:nvSpPr>
        <p:spPr>
          <a:xfrm>
            <a:off x="4612538" y="4297680"/>
            <a:ext cx="502920" cy="502920"/>
          </a:xfrm>
          <a:prstGeom prst="roundRect">
            <a:avLst>
              <a:gd name="adj" fmla="val 14545"/>
            </a:avLst>
          </a:prstGeom>
          <a:solidFill>
            <a:schemeClr val="accent1"/>
          </a:solidFill>
          <a:ln/>
        </p:spPr>
      </p:sp>
      <p:pic>
        <p:nvPicPr>
          <p:cNvPr id="26" name="icon-225" descr="preencoded.png">    </p:cNvPr>
          <p:cNvPicPr>
            <a:picLocks noChangeAspect="1"/>
          </p:cNvPicPr>
          <p:nvPr/>
        </p:nvPicPr>
        <p:blipFill>
          <a:blip r:embed="rId5"/>
          <a:stretch>
            <a:fillRect/>
          </a:stretch>
        </p:blipFill>
        <p:spPr>
          <a:xfrm>
            <a:off x="4733239" y="4418381"/>
            <a:ext cx="261518" cy="261518"/>
          </a:xfrm>
          <a:prstGeom prst="rect">
            <a:avLst/>
          </a:prstGeom>
        </p:spPr>
      </p:pic>
      <p:sp>
        <p:nvSpPr>
          <p:cNvPr id="27" name="text-226"/>
          <p:cNvSpPr txBox="1"/>
          <p:nvPr/>
        </p:nvSpPr>
        <p:spPr>
          <a:xfrm>
            <a:off x="5298338" y="42976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Sandboxing</a:t>
            </a:r>
            <a:endParaRPr lang="en-US" sz="1800" dirty="0"/>
          </a:p>
        </p:txBody>
      </p:sp>
      <p:sp>
        <p:nvSpPr>
          <p:cNvPr id="28" name="text-227"/>
          <p:cNvSpPr txBox="1"/>
          <p:nvPr/>
        </p:nvSpPr>
        <p:spPr>
          <a:xfrm>
            <a:off x="4612538" y="4983480"/>
            <a:ext cx="2966618" cy="777240"/>
          </a:xfrm>
          <a:prstGeom prst="rect">
            <a:avLst/>
          </a:prstGeom>
          <a:noFill/>
          <a:ln/>
        </p:spPr>
        <p:txBody>
          <a:bodyPr wrap="square" lIns="0" tIns="0" rIns="0" bIns="0" rtlCol="0" anchor="t"/>
          <a:lstStyle/>
          <a:p>
            <a:pPr indent="0" marL="0">
              <a:buNone/>
            </a:pPr>
            <a:r>
              <a:rPr lang="en-US" sz="1400" dirty="0">
                <a:solidFill>
                  <a:schemeClr val="tx2"/>
                </a:solidFill>
              </a:rPr>
              <a:t>Operating-system limits on which files and network a command can reach</a:t>
            </a:r>
            <a:endParaRPr lang="en-US" sz="1400" dirty="0"/>
          </a:p>
        </p:txBody>
      </p:sp>
      <p:sp>
        <p:nvSpPr>
          <p:cNvPr id="29" name="card-228"/>
          <p:cNvSpPr/>
          <p:nvPr/>
        </p:nvSpPr>
        <p:spPr>
          <a:xfrm>
            <a:off x="8127797" y="4023360"/>
            <a:ext cx="3515258" cy="1828800"/>
          </a:xfrm>
          <a:prstGeom prst="roundRect">
            <a:avLst>
              <a:gd name="adj" fmla="val 4000"/>
            </a:avLst>
          </a:prstGeom>
          <a:solidFill>
            <a:schemeClr val="bg2"/>
          </a:solidFill>
          <a:ln/>
        </p:spPr>
      </p:sp>
      <p:sp>
        <p:nvSpPr>
          <p:cNvPr id="30" name="icon-tile-229"/>
          <p:cNvSpPr/>
          <p:nvPr/>
        </p:nvSpPr>
        <p:spPr>
          <a:xfrm>
            <a:off x="8402117" y="4297680"/>
            <a:ext cx="502920" cy="502920"/>
          </a:xfrm>
          <a:prstGeom prst="roundRect">
            <a:avLst>
              <a:gd name="adj" fmla="val 14545"/>
            </a:avLst>
          </a:prstGeom>
          <a:solidFill>
            <a:schemeClr val="accent3"/>
          </a:solidFill>
          <a:ln/>
        </p:spPr>
      </p:sp>
      <p:pic>
        <p:nvPicPr>
          <p:cNvPr id="31" name="icon-230" descr="preencoded.png">    </p:cNvPr>
          <p:cNvPicPr>
            <a:picLocks noChangeAspect="1"/>
          </p:cNvPicPr>
          <p:nvPr/>
        </p:nvPicPr>
        <p:blipFill>
          <a:blip r:embed="rId6"/>
          <a:stretch>
            <a:fillRect/>
          </a:stretch>
        </p:blipFill>
        <p:spPr>
          <a:xfrm>
            <a:off x="8522818" y="4418381"/>
            <a:ext cx="261518" cy="261518"/>
          </a:xfrm>
          <a:prstGeom prst="rect">
            <a:avLst/>
          </a:prstGeom>
        </p:spPr>
      </p:pic>
      <p:sp>
        <p:nvSpPr>
          <p:cNvPr id="32" name="text-231"/>
          <p:cNvSpPr txBox="1"/>
          <p:nvPr/>
        </p:nvSpPr>
        <p:spPr>
          <a:xfrm>
            <a:off x="9087917" y="42976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Prompt injection</a:t>
            </a:r>
            <a:endParaRPr lang="en-US" sz="1800" dirty="0"/>
          </a:p>
        </p:txBody>
      </p:sp>
      <p:sp>
        <p:nvSpPr>
          <p:cNvPr id="33" name="text-232"/>
          <p:cNvSpPr txBox="1"/>
          <p:nvPr/>
        </p:nvSpPr>
        <p:spPr>
          <a:xfrm>
            <a:off x="8402117" y="4983480"/>
            <a:ext cx="2966618" cy="777240"/>
          </a:xfrm>
          <a:prstGeom prst="rect">
            <a:avLst/>
          </a:prstGeom>
          <a:noFill/>
          <a:ln/>
        </p:spPr>
        <p:txBody>
          <a:bodyPr wrap="square" lIns="0" tIns="0" rIns="0" bIns="0" rtlCol="0" anchor="t"/>
          <a:lstStyle/>
          <a:p>
            <a:pPr indent="0" marL="0">
              <a:buNone/>
            </a:pPr>
            <a:r>
              <a:rPr lang="en-US" sz="1400" dirty="0">
                <a:solidFill>
                  <a:schemeClr val="tx2"/>
                </a:solidFill>
              </a:rPr>
              <a:t>Hostile instructions hidden in a file or web page that try to redirect Claude</a:t>
            </a:r>
            <a:endParaRPr lang="en-US" sz="1400" dirty="0"/>
          </a:p>
        </p:txBody>
      </p:sp>
      <p:sp>
        <p:nvSpPr>
          <p:cNvPr id="34" name="text-23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Six permission modes set how often Claude asks</a:t>
            </a:r>
            <a:endParaRPr lang="en-US" sz="3200" dirty="0"/>
          </a:p>
        </p:txBody>
      </p:sp>
      <p:graphicFrame>
        <p:nvGraphicFramePr>
          <p:cNvPr id="13" name="table-234"/>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651760"/>
                <a:gridCol w="4754880"/>
                <a:gridCol w="3687775"/>
              </a:tblGrid>
              <a:tr h="493776">
                <a:tc>
                  <a:txBody>
                    <a:bodyPr/>
                    <a:lstStyle/>
                    <a:p>
                      <a:pPr indent="0" marL="0">
                        <a:buNone/>
                      </a:pPr>
                      <a:r>
                        <a:rPr lang="en-US" sz="1400" b="1" dirty="0">
                          <a:solidFill>
                            <a:schemeClr val="bg1"/>
                          </a:solidFill>
                        </a:rPr>
                        <a:t>Mode</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What Claude does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Good for</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accent3"/>
                    </a:solidFill>
                  </a:tcPr>
                </a:tc>
              </a:tr>
              <a:tr h="493776">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default (Manual)</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Asks before editing files or running commands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Sensitive or unfamiliar code</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acceptEdits</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Edits files freely; still asks for other actions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Everyday coding you review</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r>
              <a:tr h="493776">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plan</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Proposes a plan; makes no edits until you approve</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Exploring before any change</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auto</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classifier reviews actions instead of you</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Longer tasks, fewer interruptions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r>
              <a:tr h="493776">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dontAsk</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Denies anything that would need your approval</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Locked-down scripted runs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r>
              <a:tr h="493776">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bypassPermissions</a:t>
                      </a:r>
                      <a:endParaRPr lang="en-US" sz="1400" dirty="0">
                        <a:latin typeface="Courier New" charset="0"/>
                        <a:ea typeface="Courier New" charset="0"/>
                        <a:cs typeface="Courier New" charset="0"/>
                      </a:endParaRPr>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Skips permission prompts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Throwaway, isolated setups only</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r>
            </a:tbl>
          </a:graphicData>
        </a:graphic>
      </p:graphicFrame>
      <p:sp>
        <p:nvSpPr>
          <p:cNvPr id="5" name="text-235"/>
          <p:cNvSpPr txBox="1"/>
          <p:nvPr/>
        </p:nvSpPr>
        <p:spPr>
          <a:xfrm>
            <a:off x="548640" y="5577840"/>
            <a:ext cx="11094415"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Shift+Tab</a:t>
            </a:r>
            <a:pPr indent="0" marL="0">
              <a:buNone/>
            </a:pPr>
            <a:r>
              <a:rPr lang="en-US" sz="1400" dirty="0">
                <a:solidFill>
                  <a:schemeClr val="tx1"/>
                </a:solidFill>
              </a:rPr>
              <a:t>  switches mode during a session. Recent versions start new terminal sessions in auto mode.</a:t>
            </a:r>
            <a:endParaRPr lang="en-US" sz="1400" dirty="0"/>
          </a:p>
        </p:txBody>
      </p:sp>
      <p:sp>
        <p:nvSpPr>
          <p:cNvPr id="6" name="text-23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3  |  TERMINOLOGY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Six more terms cover how Claude Code is extended</a:t>
            </a:r>
            <a:endParaRPr lang="en-US" sz="3200" dirty="0"/>
          </a:p>
        </p:txBody>
      </p:sp>
      <p:sp>
        <p:nvSpPr>
          <p:cNvPr id="4" name="card-237"/>
          <p:cNvSpPr/>
          <p:nvPr/>
        </p:nvSpPr>
        <p:spPr>
          <a:xfrm>
            <a:off x="548640" y="1920240"/>
            <a:ext cx="5396332" cy="1143000"/>
          </a:xfrm>
          <a:prstGeom prst="roundRect">
            <a:avLst>
              <a:gd name="adj" fmla="val 6400"/>
            </a:avLst>
          </a:prstGeom>
          <a:solidFill>
            <a:schemeClr val="bg2"/>
          </a:solidFill>
          <a:ln/>
        </p:spPr>
      </p:sp>
      <p:sp>
        <p:nvSpPr>
          <p:cNvPr id="5" name="icon-tile-238"/>
          <p:cNvSpPr/>
          <p:nvPr/>
        </p:nvSpPr>
        <p:spPr>
          <a:xfrm>
            <a:off x="822960" y="2212848"/>
            <a:ext cx="548640" cy="548640"/>
          </a:xfrm>
          <a:prstGeom prst="roundRect">
            <a:avLst>
              <a:gd name="adj" fmla="val 13333"/>
            </a:avLst>
          </a:prstGeom>
          <a:solidFill>
            <a:schemeClr val="accent2"/>
          </a:solidFill>
          <a:ln/>
        </p:spPr>
      </p:sp>
      <p:pic>
        <p:nvPicPr>
          <p:cNvPr id="6" name="icon-239" descr="preencoded.png">    </p:cNvPr>
          <p:cNvPicPr>
            <a:picLocks noChangeAspect="1"/>
          </p:cNvPicPr>
          <p:nvPr/>
        </p:nvPicPr>
        <p:blipFill>
          <a:blip r:embed="rId1"/>
          <a:stretch>
            <a:fillRect/>
          </a:stretch>
        </p:blipFill>
        <p:spPr>
          <a:xfrm>
            <a:off x="954634" y="2344522"/>
            <a:ext cx="285293" cy="285293"/>
          </a:xfrm>
          <a:prstGeom prst="rect">
            <a:avLst/>
          </a:prstGeom>
        </p:spPr>
      </p:pic>
      <p:sp>
        <p:nvSpPr>
          <p:cNvPr id="7" name="text-240"/>
          <p:cNvSpPr txBox="1"/>
          <p:nvPr/>
        </p:nvSpPr>
        <p:spPr>
          <a:xfrm>
            <a:off x="1600200" y="2075688"/>
            <a:ext cx="4116172" cy="320040"/>
          </a:xfrm>
          <a:prstGeom prst="rect">
            <a:avLst/>
          </a:prstGeom>
          <a:noFill/>
          <a:ln/>
        </p:spPr>
        <p:txBody>
          <a:bodyPr wrap="square" lIns="0" tIns="0" rIns="0" bIns="0" rtlCol="0" anchor="t"/>
          <a:lstStyle/>
          <a:p>
            <a:pPr indent="0" marL="0">
              <a:buNone/>
            </a:pPr>
            <a:r>
              <a:rPr lang="en-US" sz="1800" b="1" dirty="0">
                <a:solidFill>
                  <a:schemeClr val="tx1"/>
                </a:solidFill>
              </a:rPr>
              <a:t>Command</a:t>
            </a:r>
            <a:endParaRPr lang="en-US" sz="1800" dirty="0"/>
          </a:p>
        </p:txBody>
      </p:sp>
      <p:sp>
        <p:nvSpPr>
          <p:cNvPr id="8" name="text-241"/>
          <p:cNvSpPr txBox="1"/>
          <p:nvPr/>
        </p:nvSpPr>
        <p:spPr>
          <a:xfrm>
            <a:off x="1600200" y="2423160"/>
            <a:ext cx="4116172" cy="548640"/>
          </a:xfrm>
          <a:prstGeom prst="rect">
            <a:avLst/>
          </a:prstGeom>
          <a:noFill/>
          <a:ln/>
        </p:spPr>
        <p:txBody>
          <a:bodyPr wrap="square" lIns="0" tIns="0" rIns="0" bIns="0" rtlCol="0" anchor="t"/>
          <a:lstStyle/>
          <a:p>
            <a:pPr indent="0" marL="0">
              <a:buNone/>
            </a:pPr>
            <a:r>
              <a:rPr lang="en-US" sz="1400" dirty="0">
                <a:solidFill>
                  <a:schemeClr val="tx2"/>
                </a:solidFill>
              </a:rPr>
              <a:t>A shortcut you run by typing /name, such as /help or /clear</a:t>
            </a:r>
            <a:endParaRPr lang="en-US" sz="1400" dirty="0"/>
          </a:p>
        </p:txBody>
      </p:sp>
      <p:sp>
        <p:nvSpPr>
          <p:cNvPr id="9" name="card-242"/>
          <p:cNvSpPr/>
          <p:nvPr/>
        </p:nvSpPr>
        <p:spPr>
          <a:xfrm>
            <a:off x="548640" y="3200400"/>
            <a:ext cx="5396332" cy="1143000"/>
          </a:xfrm>
          <a:prstGeom prst="roundRect">
            <a:avLst>
              <a:gd name="adj" fmla="val 6400"/>
            </a:avLst>
          </a:prstGeom>
          <a:solidFill>
            <a:schemeClr val="bg2"/>
          </a:solidFill>
          <a:ln/>
        </p:spPr>
      </p:sp>
      <p:sp>
        <p:nvSpPr>
          <p:cNvPr id="10" name="icon-tile-243"/>
          <p:cNvSpPr/>
          <p:nvPr/>
        </p:nvSpPr>
        <p:spPr>
          <a:xfrm>
            <a:off x="822960" y="3493008"/>
            <a:ext cx="548640" cy="548640"/>
          </a:xfrm>
          <a:prstGeom prst="roundRect">
            <a:avLst>
              <a:gd name="adj" fmla="val 13333"/>
            </a:avLst>
          </a:prstGeom>
          <a:solidFill>
            <a:schemeClr val="accent2"/>
          </a:solidFill>
          <a:ln/>
        </p:spPr>
      </p:sp>
      <p:pic>
        <p:nvPicPr>
          <p:cNvPr id="11" name="icon-244" descr="preencoded.png">    </p:cNvPr>
          <p:cNvPicPr>
            <a:picLocks noChangeAspect="1"/>
          </p:cNvPicPr>
          <p:nvPr/>
        </p:nvPicPr>
        <p:blipFill>
          <a:blip r:embed="rId2"/>
          <a:stretch>
            <a:fillRect/>
          </a:stretch>
        </p:blipFill>
        <p:spPr>
          <a:xfrm>
            <a:off x="954634" y="3624682"/>
            <a:ext cx="285293" cy="285293"/>
          </a:xfrm>
          <a:prstGeom prst="rect">
            <a:avLst/>
          </a:prstGeom>
        </p:spPr>
      </p:pic>
      <p:sp>
        <p:nvSpPr>
          <p:cNvPr id="12" name="text-245"/>
          <p:cNvSpPr txBox="1"/>
          <p:nvPr/>
        </p:nvSpPr>
        <p:spPr>
          <a:xfrm>
            <a:off x="1600200" y="3355848"/>
            <a:ext cx="4116172" cy="320040"/>
          </a:xfrm>
          <a:prstGeom prst="rect">
            <a:avLst/>
          </a:prstGeom>
          <a:noFill/>
          <a:ln/>
        </p:spPr>
        <p:txBody>
          <a:bodyPr wrap="square" lIns="0" tIns="0" rIns="0" bIns="0" rtlCol="0" anchor="t"/>
          <a:lstStyle/>
          <a:p>
            <a:pPr indent="0" marL="0">
              <a:buNone/>
            </a:pPr>
            <a:r>
              <a:rPr lang="en-US" sz="1800" b="1" dirty="0">
                <a:solidFill>
                  <a:schemeClr val="tx1"/>
                </a:solidFill>
              </a:rPr>
              <a:t>Skill</a:t>
            </a:r>
            <a:endParaRPr lang="en-US" sz="1800" dirty="0"/>
          </a:p>
        </p:txBody>
      </p:sp>
      <p:sp>
        <p:nvSpPr>
          <p:cNvPr id="13" name="text-246"/>
          <p:cNvSpPr txBox="1"/>
          <p:nvPr/>
        </p:nvSpPr>
        <p:spPr>
          <a:xfrm>
            <a:off x="1600200" y="3703320"/>
            <a:ext cx="4116172" cy="548640"/>
          </a:xfrm>
          <a:prstGeom prst="rect">
            <a:avLst/>
          </a:prstGeom>
          <a:noFill/>
          <a:ln/>
        </p:spPr>
        <p:txBody>
          <a:bodyPr wrap="square" lIns="0" tIns="0" rIns="0" bIns="0" rtlCol="0" anchor="t"/>
          <a:lstStyle/>
          <a:p>
            <a:pPr indent="0" marL="0">
              <a:buNone/>
            </a:pPr>
            <a:r>
              <a:rPr lang="en-US" sz="1400" dirty="0">
                <a:solidFill>
                  <a:schemeClr val="tx2"/>
                </a:solidFill>
              </a:rPr>
              <a:t>A SKILL.md file of instructions or a workflow Claude loads when relevant</a:t>
            </a:r>
            <a:endParaRPr lang="en-US" sz="1400" dirty="0"/>
          </a:p>
        </p:txBody>
      </p:sp>
      <p:sp>
        <p:nvSpPr>
          <p:cNvPr id="14" name="card-247"/>
          <p:cNvSpPr/>
          <p:nvPr/>
        </p:nvSpPr>
        <p:spPr>
          <a:xfrm>
            <a:off x="548640" y="4480560"/>
            <a:ext cx="5396332" cy="1143000"/>
          </a:xfrm>
          <a:prstGeom prst="roundRect">
            <a:avLst>
              <a:gd name="adj" fmla="val 6400"/>
            </a:avLst>
          </a:prstGeom>
          <a:solidFill>
            <a:schemeClr val="bg2"/>
          </a:solidFill>
          <a:ln/>
        </p:spPr>
      </p:sp>
      <p:sp>
        <p:nvSpPr>
          <p:cNvPr id="15" name="icon-tile-248"/>
          <p:cNvSpPr/>
          <p:nvPr/>
        </p:nvSpPr>
        <p:spPr>
          <a:xfrm>
            <a:off x="822960" y="4773168"/>
            <a:ext cx="548640" cy="548640"/>
          </a:xfrm>
          <a:prstGeom prst="roundRect">
            <a:avLst>
              <a:gd name="adj" fmla="val 13333"/>
            </a:avLst>
          </a:prstGeom>
          <a:solidFill>
            <a:schemeClr val="accent2"/>
          </a:solidFill>
          <a:ln/>
        </p:spPr>
      </p:sp>
      <p:pic>
        <p:nvPicPr>
          <p:cNvPr id="16" name="icon-249" descr="preencoded.png">    </p:cNvPr>
          <p:cNvPicPr>
            <a:picLocks noChangeAspect="1"/>
          </p:cNvPicPr>
          <p:nvPr/>
        </p:nvPicPr>
        <p:blipFill>
          <a:blip r:embed="rId3"/>
          <a:stretch>
            <a:fillRect/>
          </a:stretch>
        </p:blipFill>
        <p:spPr>
          <a:xfrm>
            <a:off x="954634" y="4904842"/>
            <a:ext cx="285293" cy="285293"/>
          </a:xfrm>
          <a:prstGeom prst="rect">
            <a:avLst/>
          </a:prstGeom>
        </p:spPr>
      </p:pic>
      <p:sp>
        <p:nvSpPr>
          <p:cNvPr id="17" name="text-250"/>
          <p:cNvSpPr txBox="1"/>
          <p:nvPr/>
        </p:nvSpPr>
        <p:spPr>
          <a:xfrm>
            <a:off x="1600200" y="4636008"/>
            <a:ext cx="4116172" cy="320040"/>
          </a:xfrm>
          <a:prstGeom prst="rect">
            <a:avLst/>
          </a:prstGeom>
          <a:noFill/>
          <a:ln/>
        </p:spPr>
        <p:txBody>
          <a:bodyPr wrap="square" lIns="0" tIns="0" rIns="0" bIns="0" rtlCol="0" anchor="t"/>
          <a:lstStyle/>
          <a:p>
            <a:pPr indent="0" marL="0">
              <a:buNone/>
            </a:pPr>
            <a:r>
              <a:rPr lang="en-US" sz="1800" b="1" dirty="0">
                <a:solidFill>
                  <a:schemeClr val="tx1"/>
                </a:solidFill>
              </a:rPr>
              <a:t>Subagent</a:t>
            </a:r>
            <a:endParaRPr lang="en-US" sz="1800" dirty="0"/>
          </a:p>
        </p:txBody>
      </p:sp>
      <p:sp>
        <p:nvSpPr>
          <p:cNvPr id="18" name="text-251"/>
          <p:cNvSpPr txBox="1"/>
          <p:nvPr/>
        </p:nvSpPr>
        <p:spPr>
          <a:xfrm>
            <a:off x="1600200" y="4983480"/>
            <a:ext cx="4116172" cy="548640"/>
          </a:xfrm>
          <a:prstGeom prst="rect">
            <a:avLst/>
          </a:prstGeom>
          <a:noFill/>
          <a:ln/>
        </p:spPr>
        <p:txBody>
          <a:bodyPr wrap="square" lIns="0" tIns="0" rIns="0" bIns="0" rtlCol="0" anchor="t"/>
          <a:lstStyle/>
          <a:p>
            <a:pPr indent="0" marL="0">
              <a:buNone/>
            </a:pPr>
            <a:r>
              <a:rPr lang="en-US" sz="1400" dirty="0">
                <a:solidFill>
                  <a:schemeClr val="tx2"/>
                </a:solidFill>
              </a:rPr>
              <a:t>A helper with its own context window that handles a delegated task</a:t>
            </a:r>
            <a:endParaRPr lang="en-US" sz="1400" dirty="0"/>
          </a:p>
        </p:txBody>
      </p:sp>
      <p:sp>
        <p:nvSpPr>
          <p:cNvPr id="19" name="card-252"/>
          <p:cNvSpPr/>
          <p:nvPr/>
        </p:nvSpPr>
        <p:spPr>
          <a:xfrm>
            <a:off x="6246724" y="1920240"/>
            <a:ext cx="5396332" cy="1143000"/>
          </a:xfrm>
          <a:prstGeom prst="roundRect">
            <a:avLst>
              <a:gd name="adj" fmla="val 6400"/>
            </a:avLst>
          </a:prstGeom>
          <a:solidFill>
            <a:schemeClr val="bg2"/>
          </a:solidFill>
          <a:ln/>
        </p:spPr>
      </p:sp>
      <p:sp>
        <p:nvSpPr>
          <p:cNvPr id="20" name="icon-tile-253"/>
          <p:cNvSpPr/>
          <p:nvPr/>
        </p:nvSpPr>
        <p:spPr>
          <a:xfrm>
            <a:off x="6521044" y="2212848"/>
            <a:ext cx="548640" cy="548640"/>
          </a:xfrm>
          <a:prstGeom prst="roundRect">
            <a:avLst>
              <a:gd name="adj" fmla="val 13333"/>
            </a:avLst>
          </a:prstGeom>
          <a:solidFill>
            <a:schemeClr val="accent2"/>
          </a:solidFill>
          <a:ln/>
        </p:spPr>
      </p:sp>
      <p:pic>
        <p:nvPicPr>
          <p:cNvPr id="21" name="icon-254" descr="preencoded.png">    </p:cNvPr>
          <p:cNvPicPr>
            <a:picLocks noChangeAspect="1"/>
          </p:cNvPicPr>
          <p:nvPr/>
        </p:nvPicPr>
        <p:blipFill>
          <a:blip r:embed="rId4"/>
          <a:stretch>
            <a:fillRect/>
          </a:stretch>
        </p:blipFill>
        <p:spPr>
          <a:xfrm>
            <a:off x="6652717" y="2344522"/>
            <a:ext cx="285293" cy="285293"/>
          </a:xfrm>
          <a:prstGeom prst="rect">
            <a:avLst/>
          </a:prstGeom>
        </p:spPr>
      </p:pic>
      <p:sp>
        <p:nvSpPr>
          <p:cNvPr id="22" name="text-255"/>
          <p:cNvSpPr txBox="1"/>
          <p:nvPr/>
        </p:nvSpPr>
        <p:spPr>
          <a:xfrm>
            <a:off x="7298284" y="2075688"/>
            <a:ext cx="4116172" cy="320040"/>
          </a:xfrm>
          <a:prstGeom prst="rect">
            <a:avLst/>
          </a:prstGeom>
          <a:noFill/>
          <a:ln/>
        </p:spPr>
        <p:txBody>
          <a:bodyPr wrap="square" lIns="0" tIns="0" rIns="0" bIns="0" rtlCol="0" anchor="t"/>
          <a:lstStyle/>
          <a:p>
            <a:pPr indent="0" marL="0">
              <a:buNone/>
            </a:pPr>
            <a:r>
              <a:rPr lang="en-US" sz="1800" b="1" dirty="0">
                <a:solidFill>
                  <a:schemeClr val="tx1"/>
                </a:solidFill>
              </a:rPr>
              <a:t>Hook</a:t>
            </a:r>
            <a:endParaRPr lang="en-US" sz="1800" dirty="0"/>
          </a:p>
        </p:txBody>
      </p:sp>
      <p:sp>
        <p:nvSpPr>
          <p:cNvPr id="23" name="text-256"/>
          <p:cNvSpPr txBox="1"/>
          <p:nvPr/>
        </p:nvSpPr>
        <p:spPr>
          <a:xfrm>
            <a:off x="7298284" y="2423160"/>
            <a:ext cx="4116172" cy="548640"/>
          </a:xfrm>
          <a:prstGeom prst="rect">
            <a:avLst/>
          </a:prstGeom>
          <a:noFill/>
          <a:ln/>
        </p:spPr>
        <p:txBody>
          <a:bodyPr wrap="square" lIns="0" tIns="0" rIns="0" bIns="0" rtlCol="0" anchor="t"/>
          <a:lstStyle/>
          <a:p>
            <a:pPr indent="0" marL="0">
              <a:buNone/>
            </a:pPr>
            <a:r>
              <a:rPr lang="en-US" sz="1400" dirty="0">
                <a:solidFill>
                  <a:schemeClr val="tx2"/>
                </a:solidFill>
              </a:rPr>
              <a:t>A handler that runs automatically at a fixed point, such as after each edit</a:t>
            </a:r>
            <a:endParaRPr lang="en-US" sz="1400" dirty="0"/>
          </a:p>
        </p:txBody>
      </p:sp>
      <p:sp>
        <p:nvSpPr>
          <p:cNvPr id="24" name="card-257"/>
          <p:cNvSpPr/>
          <p:nvPr/>
        </p:nvSpPr>
        <p:spPr>
          <a:xfrm>
            <a:off x="6246724" y="3200400"/>
            <a:ext cx="5396332" cy="1143000"/>
          </a:xfrm>
          <a:prstGeom prst="roundRect">
            <a:avLst>
              <a:gd name="adj" fmla="val 6400"/>
            </a:avLst>
          </a:prstGeom>
          <a:solidFill>
            <a:schemeClr val="bg2"/>
          </a:solidFill>
          <a:ln/>
        </p:spPr>
      </p:sp>
      <p:sp>
        <p:nvSpPr>
          <p:cNvPr id="25" name="icon-tile-258"/>
          <p:cNvSpPr/>
          <p:nvPr/>
        </p:nvSpPr>
        <p:spPr>
          <a:xfrm>
            <a:off x="6521044" y="3493008"/>
            <a:ext cx="548640" cy="548640"/>
          </a:xfrm>
          <a:prstGeom prst="roundRect">
            <a:avLst>
              <a:gd name="adj" fmla="val 13333"/>
            </a:avLst>
          </a:prstGeom>
          <a:solidFill>
            <a:schemeClr val="accent2"/>
          </a:solidFill>
          <a:ln/>
        </p:spPr>
      </p:sp>
      <p:pic>
        <p:nvPicPr>
          <p:cNvPr id="26" name="icon-259" descr="preencoded.png">    </p:cNvPr>
          <p:cNvPicPr>
            <a:picLocks noChangeAspect="1"/>
          </p:cNvPicPr>
          <p:nvPr/>
        </p:nvPicPr>
        <p:blipFill>
          <a:blip r:embed="rId5"/>
          <a:stretch>
            <a:fillRect/>
          </a:stretch>
        </p:blipFill>
        <p:spPr>
          <a:xfrm>
            <a:off x="6652717" y="3624682"/>
            <a:ext cx="285293" cy="285293"/>
          </a:xfrm>
          <a:prstGeom prst="rect">
            <a:avLst/>
          </a:prstGeom>
        </p:spPr>
      </p:pic>
      <p:sp>
        <p:nvSpPr>
          <p:cNvPr id="27" name="text-260"/>
          <p:cNvSpPr txBox="1"/>
          <p:nvPr/>
        </p:nvSpPr>
        <p:spPr>
          <a:xfrm>
            <a:off x="7298284" y="3355848"/>
            <a:ext cx="4116172" cy="320040"/>
          </a:xfrm>
          <a:prstGeom prst="rect">
            <a:avLst/>
          </a:prstGeom>
          <a:noFill/>
          <a:ln/>
        </p:spPr>
        <p:txBody>
          <a:bodyPr wrap="square" lIns="0" tIns="0" rIns="0" bIns="0" rtlCol="0" anchor="t"/>
          <a:lstStyle/>
          <a:p>
            <a:pPr indent="0" marL="0">
              <a:buNone/>
            </a:pPr>
            <a:r>
              <a:rPr lang="en-US" sz="1800" b="1" dirty="0">
                <a:solidFill>
                  <a:schemeClr val="tx1"/>
                </a:solidFill>
              </a:rPr>
              <a:t>MCP</a:t>
            </a:r>
            <a:endParaRPr lang="en-US" sz="1800" dirty="0"/>
          </a:p>
        </p:txBody>
      </p:sp>
      <p:sp>
        <p:nvSpPr>
          <p:cNvPr id="28" name="text-261"/>
          <p:cNvSpPr txBox="1"/>
          <p:nvPr/>
        </p:nvSpPr>
        <p:spPr>
          <a:xfrm>
            <a:off x="7298284" y="3703320"/>
            <a:ext cx="4116172" cy="548640"/>
          </a:xfrm>
          <a:prstGeom prst="rect">
            <a:avLst/>
          </a:prstGeom>
          <a:noFill/>
          <a:ln/>
        </p:spPr>
        <p:txBody>
          <a:bodyPr wrap="square" lIns="0" tIns="0" rIns="0" bIns="0" rtlCol="0" anchor="t"/>
          <a:lstStyle/>
          <a:p>
            <a:pPr indent="0" marL="0">
              <a:buNone/>
            </a:pPr>
            <a:r>
              <a:rPr lang="en-US" sz="1400" dirty="0">
                <a:solidFill>
                  <a:schemeClr val="tx2"/>
                </a:solidFill>
              </a:rPr>
              <a:t>An open standard that connects Claude to tools like Slack, Jira or databases</a:t>
            </a:r>
            <a:endParaRPr lang="en-US" sz="1400" dirty="0"/>
          </a:p>
        </p:txBody>
      </p:sp>
      <p:sp>
        <p:nvSpPr>
          <p:cNvPr id="29" name="card-262"/>
          <p:cNvSpPr/>
          <p:nvPr/>
        </p:nvSpPr>
        <p:spPr>
          <a:xfrm>
            <a:off x="6246724" y="4480560"/>
            <a:ext cx="5396332" cy="1143000"/>
          </a:xfrm>
          <a:prstGeom prst="roundRect">
            <a:avLst>
              <a:gd name="adj" fmla="val 6400"/>
            </a:avLst>
          </a:prstGeom>
          <a:solidFill>
            <a:schemeClr val="bg2"/>
          </a:solidFill>
          <a:ln/>
        </p:spPr>
      </p:sp>
      <p:sp>
        <p:nvSpPr>
          <p:cNvPr id="30" name="icon-tile-263"/>
          <p:cNvSpPr/>
          <p:nvPr/>
        </p:nvSpPr>
        <p:spPr>
          <a:xfrm>
            <a:off x="6521044" y="4773168"/>
            <a:ext cx="548640" cy="548640"/>
          </a:xfrm>
          <a:prstGeom prst="roundRect">
            <a:avLst>
              <a:gd name="adj" fmla="val 13333"/>
            </a:avLst>
          </a:prstGeom>
          <a:solidFill>
            <a:schemeClr val="accent2"/>
          </a:solidFill>
          <a:ln/>
        </p:spPr>
      </p:sp>
      <p:pic>
        <p:nvPicPr>
          <p:cNvPr id="31" name="icon-264" descr="preencoded.png">    </p:cNvPr>
          <p:cNvPicPr>
            <a:picLocks noChangeAspect="1"/>
          </p:cNvPicPr>
          <p:nvPr/>
        </p:nvPicPr>
        <p:blipFill>
          <a:blip r:embed="rId6"/>
          <a:stretch>
            <a:fillRect/>
          </a:stretch>
        </p:blipFill>
        <p:spPr>
          <a:xfrm>
            <a:off x="6652717" y="4904842"/>
            <a:ext cx="285293" cy="285293"/>
          </a:xfrm>
          <a:prstGeom prst="rect">
            <a:avLst/>
          </a:prstGeom>
        </p:spPr>
      </p:pic>
      <p:sp>
        <p:nvSpPr>
          <p:cNvPr id="32" name="text-265"/>
          <p:cNvSpPr txBox="1"/>
          <p:nvPr/>
        </p:nvSpPr>
        <p:spPr>
          <a:xfrm>
            <a:off x="7298284" y="4636008"/>
            <a:ext cx="4116172" cy="320040"/>
          </a:xfrm>
          <a:prstGeom prst="rect">
            <a:avLst/>
          </a:prstGeom>
          <a:noFill/>
          <a:ln/>
        </p:spPr>
        <p:txBody>
          <a:bodyPr wrap="square" lIns="0" tIns="0" rIns="0" bIns="0" rtlCol="0" anchor="t"/>
          <a:lstStyle/>
          <a:p>
            <a:pPr indent="0" marL="0">
              <a:buNone/>
            </a:pPr>
            <a:r>
              <a:rPr lang="en-US" sz="1800" b="1" dirty="0">
                <a:solidFill>
                  <a:schemeClr val="tx1"/>
                </a:solidFill>
              </a:rPr>
              <a:t>Plugin</a:t>
            </a:r>
            <a:endParaRPr lang="en-US" sz="1800" dirty="0"/>
          </a:p>
        </p:txBody>
      </p:sp>
      <p:sp>
        <p:nvSpPr>
          <p:cNvPr id="33" name="text-266"/>
          <p:cNvSpPr txBox="1"/>
          <p:nvPr/>
        </p:nvSpPr>
        <p:spPr>
          <a:xfrm>
            <a:off x="7298284" y="4983480"/>
            <a:ext cx="4116172" cy="548640"/>
          </a:xfrm>
          <a:prstGeom prst="rect">
            <a:avLst/>
          </a:prstGeom>
          <a:noFill/>
          <a:ln/>
        </p:spPr>
        <p:txBody>
          <a:bodyPr wrap="square" lIns="0" tIns="0" rIns="0" bIns="0" rtlCol="0" anchor="t"/>
          <a:lstStyle/>
          <a:p>
            <a:pPr indent="0" marL="0">
              <a:buNone/>
            </a:pPr>
            <a:r>
              <a:rPr lang="en-US" sz="1400" dirty="0">
                <a:solidFill>
                  <a:schemeClr val="tx2"/>
                </a:solidFill>
              </a:rPr>
              <a:t>A bundle of skills, hooks, subagents and MCP servers installed as one unit</a:t>
            </a:r>
            <a:endParaRPr lang="en-US" sz="1400" dirty="0"/>
          </a:p>
        </p:txBody>
      </p:sp>
      <p:sp>
        <p:nvSpPr>
          <p:cNvPr id="34" name="text-267"/>
          <p:cNvSpPr txBox="1"/>
          <p:nvPr/>
        </p:nvSpPr>
        <p:spPr>
          <a:xfrm>
            <a:off x="548640" y="5870448"/>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You do not need any of these on day one. Learn them when a task calls for them.</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one-page cheat sheet covers the daily commands</a:t>
            </a:r>
            <a:endParaRPr lang="en-US" sz="3200" dirty="0"/>
          </a:p>
        </p:txBody>
      </p:sp>
      <p:sp>
        <p:nvSpPr>
          <p:cNvPr id="4" name="card-268"/>
          <p:cNvSpPr/>
          <p:nvPr/>
        </p:nvSpPr>
        <p:spPr>
          <a:xfrm>
            <a:off x="548640" y="1920240"/>
            <a:ext cx="3515258" cy="3977640"/>
          </a:xfrm>
          <a:prstGeom prst="roundRect">
            <a:avLst>
              <a:gd name="adj" fmla="val 2081"/>
            </a:avLst>
          </a:prstGeom>
          <a:solidFill>
            <a:schemeClr val="bg2"/>
          </a:solidFill>
          <a:ln/>
        </p:spPr>
      </p:sp>
      <p:sp>
        <p:nvSpPr>
          <p:cNvPr id="5" name="text-269"/>
          <p:cNvSpPr txBox="1"/>
          <p:nvPr/>
        </p:nvSpPr>
        <p:spPr>
          <a:xfrm>
            <a:off x="822960"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 your terminal</a:t>
            </a:r>
            <a:endParaRPr lang="en-US" sz="1800" dirty="0"/>
          </a:p>
        </p:txBody>
      </p:sp>
      <p:sp>
        <p:nvSpPr>
          <p:cNvPr id="6" name="text-270"/>
          <p:cNvSpPr txBox="1"/>
          <p:nvPr/>
        </p:nvSpPr>
        <p:spPr>
          <a:xfrm>
            <a:off x="822960"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claude</a:t>
            </a:r>
            <a:endParaRPr lang="en-US" sz="1400" dirty="0"/>
          </a:p>
        </p:txBody>
      </p:sp>
      <p:sp>
        <p:nvSpPr>
          <p:cNvPr id="7" name="text-271"/>
          <p:cNvSpPr txBox="1"/>
          <p:nvPr/>
        </p:nvSpPr>
        <p:spPr>
          <a:xfrm>
            <a:off x="822960"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an interactive session</a:t>
            </a:r>
            <a:endParaRPr lang="en-US" sz="1400" dirty="0"/>
          </a:p>
        </p:txBody>
      </p:sp>
      <p:sp>
        <p:nvSpPr>
          <p:cNvPr id="8" name="text-272"/>
          <p:cNvSpPr txBox="1"/>
          <p:nvPr/>
        </p:nvSpPr>
        <p:spPr>
          <a:xfrm>
            <a:off x="822960"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claude "task"</a:t>
            </a:r>
            <a:endParaRPr lang="en-US" sz="1400" dirty="0"/>
          </a:p>
        </p:txBody>
      </p:sp>
      <p:sp>
        <p:nvSpPr>
          <p:cNvPr id="9" name="text-273"/>
          <p:cNvSpPr txBox="1"/>
          <p:nvPr/>
        </p:nvSpPr>
        <p:spPr>
          <a:xfrm>
            <a:off x="822960"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with a first request</a:t>
            </a:r>
            <a:endParaRPr lang="en-US" sz="1400" dirty="0"/>
          </a:p>
        </p:txBody>
      </p:sp>
      <p:sp>
        <p:nvSpPr>
          <p:cNvPr id="10" name="text-274"/>
          <p:cNvSpPr txBox="1"/>
          <p:nvPr/>
        </p:nvSpPr>
        <p:spPr>
          <a:xfrm>
            <a:off x="822960"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claude -p "query"</a:t>
            </a:r>
            <a:endParaRPr lang="en-US" sz="1400" dirty="0"/>
          </a:p>
        </p:txBody>
      </p:sp>
      <p:sp>
        <p:nvSpPr>
          <p:cNvPr id="11" name="text-275"/>
          <p:cNvSpPr txBox="1"/>
          <p:nvPr/>
        </p:nvSpPr>
        <p:spPr>
          <a:xfrm>
            <a:off x="822960"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Answer once, then exit</a:t>
            </a:r>
            <a:endParaRPr lang="en-US" sz="1400" dirty="0"/>
          </a:p>
        </p:txBody>
      </p:sp>
      <p:sp>
        <p:nvSpPr>
          <p:cNvPr id="12" name="text-276"/>
          <p:cNvSpPr txBox="1"/>
          <p:nvPr/>
        </p:nvSpPr>
        <p:spPr>
          <a:xfrm>
            <a:off x="822960"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claude -c</a:t>
            </a:r>
            <a:endParaRPr lang="en-US" sz="1400" dirty="0"/>
          </a:p>
        </p:txBody>
      </p:sp>
      <p:sp>
        <p:nvSpPr>
          <p:cNvPr id="13" name="text-277"/>
          <p:cNvSpPr txBox="1"/>
          <p:nvPr/>
        </p:nvSpPr>
        <p:spPr>
          <a:xfrm>
            <a:off x="822960"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Continue the last conversation</a:t>
            </a:r>
            <a:endParaRPr lang="en-US" sz="1400" dirty="0"/>
          </a:p>
        </p:txBody>
      </p:sp>
      <p:sp>
        <p:nvSpPr>
          <p:cNvPr id="14" name="text-278"/>
          <p:cNvSpPr txBox="1"/>
          <p:nvPr/>
        </p:nvSpPr>
        <p:spPr>
          <a:xfrm>
            <a:off x="822960"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claude -r</a:t>
            </a:r>
            <a:endParaRPr lang="en-US" sz="1400" dirty="0"/>
          </a:p>
        </p:txBody>
      </p:sp>
      <p:sp>
        <p:nvSpPr>
          <p:cNvPr id="15" name="text-279"/>
          <p:cNvSpPr txBox="1"/>
          <p:nvPr/>
        </p:nvSpPr>
        <p:spPr>
          <a:xfrm>
            <a:off x="822960"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Pick an earlier one to resume</a:t>
            </a:r>
            <a:endParaRPr lang="en-US" sz="1400" dirty="0"/>
          </a:p>
        </p:txBody>
      </p:sp>
      <p:sp>
        <p:nvSpPr>
          <p:cNvPr id="16" name="card-280"/>
          <p:cNvSpPr/>
          <p:nvPr/>
        </p:nvSpPr>
        <p:spPr>
          <a:xfrm>
            <a:off x="4338218" y="1920240"/>
            <a:ext cx="3515258" cy="3977640"/>
          </a:xfrm>
          <a:prstGeom prst="roundRect">
            <a:avLst>
              <a:gd name="adj" fmla="val 2081"/>
            </a:avLst>
          </a:prstGeom>
          <a:solidFill>
            <a:schemeClr val="bg2"/>
          </a:solidFill>
          <a:ln/>
        </p:spPr>
      </p:sp>
      <p:sp>
        <p:nvSpPr>
          <p:cNvPr id="17" name="text-281"/>
          <p:cNvSpPr txBox="1"/>
          <p:nvPr/>
        </p:nvSpPr>
        <p:spPr>
          <a:xfrm>
            <a:off x="4612538"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Inside a session</a:t>
            </a:r>
            <a:endParaRPr lang="en-US" sz="1800" dirty="0"/>
          </a:p>
        </p:txBody>
      </p:sp>
      <p:sp>
        <p:nvSpPr>
          <p:cNvPr id="18" name="text-282"/>
          <p:cNvSpPr txBox="1"/>
          <p:nvPr/>
        </p:nvSpPr>
        <p:spPr>
          <a:xfrm>
            <a:off x="4612538"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/help</a:t>
            </a:r>
            <a:endParaRPr lang="en-US" sz="1400" dirty="0"/>
          </a:p>
        </p:txBody>
      </p:sp>
      <p:sp>
        <p:nvSpPr>
          <p:cNvPr id="19" name="text-283"/>
          <p:cNvSpPr txBox="1"/>
          <p:nvPr/>
        </p:nvSpPr>
        <p:spPr>
          <a:xfrm>
            <a:off x="4612538"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Show available commands</a:t>
            </a:r>
            <a:endParaRPr lang="en-US" sz="1400" dirty="0"/>
          </a:p>
        </p:txBody>
      </p:sp>
      <p:sp>
        <p:nvSpPr>
          <p:cNvPr id="20" name="text-284"/>
          <p:cNvSpPr txBox="1"/>
          <p:nvPr/>
        </p:nvSpPr>
        <p:spPr>
          <a:xfrm>
            <a:off x="4612538"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/clear</a:t>
            </a:r>
            <a:endParaRPr lang="en-US" sz="1400" dirty="0"/>
          </a:p>
        </p:txBody>
      </p:sp>
      <p:sp>
        <p:nvSpPr>
          <p:cNvPr id="21" name="text-285"/>
          <p:cNvSpPr txBox="1"/>
          <p:nvPr/>
        </p:nvSpPr>
        <p:spPr>
          <a:xfrm>
            <a:off x="4612538"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Start a fresh conversation</a:t>
            </a:r>
            <a:endParaRPr lang="en-US" sz="1400" dirty="0"/>
          </a:p>
        </p:txBody>
      </p:sp>
      <p:sp>
        <p:nvSpPr>
          <p:cNvPr id="22" name="text-286"/>
          <p:cNvSpPr txBox="1"/>
          <p:nvPr/>
        </p:nvSpPr>
        <p:spPr>
          <a:xfrm>
            <a:off x="4612538"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/compact</a:t>
            </a:r>
            <a:endParaRPr lang="en-US" sz="1400" dirty="0"/>
          </a:p>
        </p:txBody>
      </p:sp>
      <p:sp>
        <p:nvSpPr>
          <p:cNvPr id="23" name="text-287"/>
          <p:cNvSpPr txBox="1"/>
          <p:nvPr/>
        </p:nvSpPr>
        <p:spPr>
          <a:xfrm>
            <a:off x="4612538"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Summarise to free up context</a:t>
            </a:r>
            <a:endParaRPr lang="en-US" sz="1400" dirty="0"/>
          </a:p>
        </p:txBody>
      </p:sp>
      <p:sp>
        <p:nvSpPr>
          <p:cNvPr id="24" name="text-288"/>
          <p:cNvSpPr txBox="1"/>
          <p:nvPr/>
        </p:nvSpPr>
        <p:spPr>
          <a:xfrm>
            <a:off x="4612538"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/context</a:t>
            </a:r>
            <a:endParaRPr lang="en-US" sz="1400" dirty="0"/>
          </a:p>
        </p:txBody>
      </p:sp>
      <p:sp>
        <p:nvSpPr>
          <p:cNvPr id="25" name="text-289"/>
          <p:cNvSpPr txBox="1"/>
          <p:nvPr/>
        </p:nvSpPr>
        <p:spPr>
          <a:xfrm>
            <a:off x="4612538"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See what is using context</a:t>
            </a:r>
            <a:endParaRPr lang="en-US" sz="1400" dirty="0"/>
          </a:p>
        </p:txBody>
      </p:sp>
      <p:sp>
        <p:nvSpPr>
          <p:cNvPr id="26" name="text-290"/>
          <p:cNvSpPr txBox="1"/>
          <p:nvPr/>
        </p:nvSpPr>
        <p:spPr>
          <a:xfrm>
            <a:off x="4612538"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/rewind</a:t>
            </a:r>
            <a:endParaRPr lang="en-US" sz="1400" dirty="0"/>
          </a:p>
        </p:txBody>
      </p:sp>
      <p:sp>
        <p:nvSpPr>
          <p:cNvPr id="27" name="text-291"/>
          <p:cNvSpPr txBox="1"/>
          <p:nvPr/>
        </p:nvSpPr>
        <p:spPr>
          <a:xfrm>
            <a:off x="4612538"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Go back to a checkpoint</a:t>
            </a:r>
            <a:endParaRPr lang="en-US" sz="1400" dirty="0"/>
          </a:p>
        </p:txBody>
      </p:sp>
      <p:sp>
        <p:nvSpPr>
          <p:cNvPr id="28" name="card-292"/>
          <p:cNvSpPr/>
          <p:nvPr/>
        </p:nvSpPr>
        <p:spPr>
          <a:xfrm>
            <a:off x="8127797" y="1920240"/>
            <a:ext cx="3515258" cy="3977640"/>
          </a:xfrm>
          <a:prstGeom prst="roundRect">
            <a:avLst>
              <a:gd name="adj" fmla="val 2081"/>
            </a:avLst>
          </a:prstGeom>
          <a:solidFill>
            <a:schemeClr val="bg2"/>
          </a:solidFill>
          <a:ln/>
        </p:spPr>
      </p:sp>
      <p:sp>
        <p:nvSpPr>
          <p:cNvPr id="29" name="text-293"/>
          <p:cNvSpPr txBox="1"/>
          <p:nvPr/>
        </p:nvSpPr>
        <p:spPr>
          <a:xfrm>
            <a:off x="8402117" y="2148840"/>
            <a:ext cx="2966618" cy="365760"/>
          </a:xfrm>
          <a:prstGeom prst="rect">
            <a:avLst/>
          </a:prstGeom>
          <a:noFill/>
          <a:ln/>
        </p:spPr>
        <p:txBody>
          <a:bodyPr wrap="square" lIns="0" tIns="0" rIns="0" bIns="0" rtlCol="0" anchor="t"/>
          <a:lstStyle/>
          <a:p>
            <a:pPr indent="0" marL="0">
              <a:buNone/>
            </a:pPr>
            <a:r>
              <a:rPr lang="en-US" sz="1800" b="1" dirty="0">
                <a:solidFill>
                  <a:schemeClr val="tx1"/>
                </a:solidFill>
              </a:rPr>
              <a:t>On the keyboard</a:t>
            </a:r>
            <a:endParaRPr lang="en-US" sz="1800" dirty="0"/>
          </a:p>
        </p:txBody>
      </p:sp>
      <p:sp>
        <p:nvSpPr>
          <p:cNvPr id="30" name="text-294"/>
          <p:cNvSpPr txBox="1"/>
          <p:nvPr/>
        </p:nvSpPr>
        <p:spPr>
          <a:xfrm>
            <a:off x="8402117" y="2697480"/>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Shift+Tab</a:t>
            </a:r>
            <a:endParaRPr lang="en-US" sz="1400" dirty="0"/>
          </a:p>
        </p:txBody>
      </p:sp>
      <p:sp>
        <p:nvSpPr>
          <p:cNvPr id="31" name="text-295"/>
          <p:cNvSpPr txBox="1"/>
          <p:nvPr/>
        </p:nvSpPr>
        <p:spPr>
          <a:xfrm>
            <a:off x="8402117" y="2962656"/>
            <a:ext cx="2966618" cy="256032"/>
          </a:xfrm>
          <a:prstGeom prst="rect">
            <a:avLst/>
          </a:prstGeom>
          <a:noFill/>
          <a:ln/>
        </p:spPr>
        <p:txBody>
          <a:bodyPr wrap="square" lIns="0" tIns="0" rIns="0" bIns="0" rtlCol="0" anchor="t"/>
          <a:lstStyle/>
          <a:p>
            <a:pPr indent="0" marL="0">
              <a:buNone/>
            </a:pPr>
            <a:r>
              <a:rPr lang="en-US" sz="1400" dirty="0">
                <a:solidFill>
                  <a:schemeClr val="tx2"/>
                </a:solidFill>
              </a:rPr>
              <a:t>Switch permission mode</a:t>
            </a:r>
            <a:endParaRPr lang="en-US" sz="1400" dirty="0"/>
          </a:p>
        </p:txBody>
      </p:sp>
      <p:sp>
        <p:nvSpPr>
          <p:cNvPr id="32" name="text-296"/>
          <p:cNvSpPr txBox="1"/>
          <p:nvPr/>
        </p:nvSpPr>
        <p:spPr>
          <a:xfrm>
            <a:off x="8402117" y="3319272"/>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Esc Esc</a:t>
            </a:r>
            <a:endParaRPr lang="en-US" sz="1400" dirty="0"/>
          </a:p>
        </p:txBody>
      </p:sp>
      <p:sp>
        <p:nvSpPr>
          <p:cNvPr id="33" name="text-297"/>
          <p:cNvSpPr txBox="1"/>
          <p:nvPr/>
        </p:nvSpPr>
        <p:spPr>
          <a:xfrm>
            <a:off x="8402117" y="3584448"/>
            <a:ext cx="2966618" cy="256032"/>
          </a:xfrm>
          <a:prstGeom prst="rect">
            <a:avLst/>
          </a:prstGeom>
          <a:noFill/>
          <a:ln/>
        </p:spPr>
        <p:txBody>
          <a:bodyPr wrap="square" lIns="0" tIns="0" rIns="0" bIns="0" rtlCol="0" anchor="t"/>
          <a:lstStyle/>
          <a:p>
            <a:pPr indent="0" marL="0">
              <a:buNone/>
            </a:pPr>
            <a:r>
              <a:rPr lang="en-US" sz="1400" dirty="0">
                <a:solidFill>
                  <a:schemeClr val="tx2"/>
                </a:solidFill>
              </a:rPr>
              <a:t>Rewind to a checkpoint</a:t>
            </a:r>
            <a:endParaRPr lang="en-US" sz="1400" dirty="0"/>
          </a:p>
        </p:txBody>
      </p:sp>
      <p:sp>
        <p:nvSpPr>
          <p:cNvPr id="34" name="text-298"/>
          <p:cNvSpPr txBox="1"/>
          <p:nvPr/>
        </p:nvSpPr>
        <p:spPr>
          <a:xfrm>
            <a:off x="8402117" y="3941064"/>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Up arrow</a:t>
            </a:r>
            <a:endParaRPr lang="en-US" sz="1400" dirty="0"/>
          </a:p>
        </p:txBody>
      </p:sp>
      <p:sp>
        <p:nvSpPr>
          <p:cNvPr id="35" name="text-299"/>
          <p:cNvSpPr txBox="1"/>
          <p:nvPr/>
        </p:nvSpPr>
        <p:spPr>
          <a:xfrm>
            <a:off x="8402117" y="4206240"/>
            <a:ext cx="2966618" cy="256032"/>
          </a:xfrm>
          <a:prstGeom prst="rect">
            <a:avLst/>
          </a:prstGeom>
          <a:noFill/>
          <a:ln/>
        </p:spPr>
        <p:txBody>
          <a:bodyPr wrap="square" lIns="0" tIns="0" rIns="0" bIns="0" rtlCol="0" anchor="t"/>
          <a:lstStyle/>
          <a:p>
            <a:pPr indent="0" marL="0">
              <a:buNone/>
            </a:pPr>
            <a:r>
              <a:rPr lang="en-US" sz="1400" dirty="0">
                <a:solidFill>
                  <a:schemeClr val="tx2"/>
                </a:solidFill>
              </a:rPr>
              <a:t>Recall earlier input</a:t>
            </a:r>
            <a:endParaRPr lang="en-US" sz="1400" dirty="0"/>
          </a:p>
        </p:txBody>
      </p:sp>
      <p:sp>
        <p:nvSpPr>
          <p:cNvPr id="36" name="text-300"/>
          <p:cNvSpPr txBox="1"/>
          <p:nvPr/>
        </p:nvSpPr>
        <p:spPr>
          <a:xfrm>
            <a:off x="8402117" y="4562856"/>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Tab</a:t>
            </a:r>
            <a:endParaRPr lang="en-US" sz="1400" dirty="0"/>
          </a:p>
        </p:txBody>
      </p:sp>
      <p:sp>
        <p:nvSpPr>
          <p:cNvPr id="37" name="text-301"/>
          <p:cNvSpPr txBox="1"/>
          <p:nvPr/>
        </p:nvSpPr>
        <p:spPr>
          <a:xfrm>
            <a:off x="8402117" y="4828032"/>
            <a:ext cx="2966618" cy="256032"/>
          </a:xfrm>
          <a:prstGeom prst="rect">
            <a:avLst/>
          </a:prstGeom>
          <a:noFill/>
          <a:ln/>
        </p:spPr>
        <p:txBody>
          <a:bodyPr wrap="square" lIns="0" tIns="0" rIns="0" bIns="0" rtlCol="0" anchor="t"/>
          <a:lstStyle/>
          <a:p>
            <a:pPr indent="0" marL="0">
              <a:buNone/>
            </a:pPr>
            <a:r>
              <a:rPr lang="en-US" sz="1400" dirty="0">
                <a:solidFill>
                  <a:schemeClr val="tx2"/>
                </a:solidFill>
              </a:rPr>
              <a:t>Complete a command</a:t>
            </a:r>
            <a:endParaRPr lang="en-US" sz="1400" dirty="0"/>
          </a:p>
        </p:txBody>
      </p:sp>
      <p:sp>
        <p:nvSpPr>
          <p:cNvPr id="38" name="text-302"/>
          <p:cNvSpPr txBox="1"/>
          <p:nvPr/>
        </p:nvSpPr>
        <p:spPr>
          <a:xfrm>
            <a:off x="8402117" y="5184648"/>
            <a:ext cx="2966618" cy="256032"/>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t>
            </a:r>
            <a:endParaRPr lang="en-US" sz="1400" dirty="0"/>
          </a:p>
        </p:txBody>
      </p:sp>
      <p:sp>
        <p:nvSpPr>
          <p:cNvPr id="39" name="text-303"/>
          <p:cNvSpPr txBox="1"/>
          <p:nvPr/>
        </p:nvSpPr>
        <p:spPr>
          <a:xfrm>
            <a:off x="8402117" y="5449824"/>
            <a:ext cx="2966618" cy="256032"/>
          </a:xfrm>
          <a:prstGeom prst="rect">
            <a:avLst/>
          </a:prstGeom>
          <a:noFill/>
          <a:ln/>
        </p:spPr>
        <p:txBody>
          <a:bodyPr wrap="square" lIns="0" tIns="0" rIns="0" bIns="0" rtlCol="0" anchor="t"/>
          <a:lstStyle/>
          <a:p>
            <a:pPr indent="0" marL="0">
              <a:buNone/>
            </a:pPr>
            <a:r>
              <a:rPr lang="en-US" sz="1400" dirty="0">
                <a:solidFill>
                  <a:schemeClr val="tx2"/>
                </a:solidFill>
              </a:rPr>
              <a:t>List commands and skills</a:t>
            </a:r>
            <a:endParaRPr lang="en-US" sz="1400" dirty="0"/>
          </a:p>
        </p:txBody>
      </p:sp>
      <p:sp>
        <p:nvSpPr>
          <p:cNvPr id="40" name="text-30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Four prompts make a good first session</a:t>
            </a:r>
            <a:endParaRPr lang="en-US" sz="3200" dirty="0"/>
          </a:p>
        </p:txBody>
      </p:sp>
      <p:sp>
        <p:nvSpPr>
          <p:cNvPr id="4" name="step-305"/>
          <p:cNvSpPr/>
          <p:nvPr/>
        </p:nvSpPr>
        <p:spPr>
          <a:xfrm>
            <a:off x="548640" y="1975104"/>
            <a:ext cx="548640" cy="548640"/>
          </a:xfrm>
          <a:prstGeom prst="ellipse">
            <a:avLst/>
          </a:prstGeom>
          <a:solidFill>
            <a:schemeClr val="accent1"/>
          </a:solidFill>
          <a:ln/>
        </p:spPr>
      </p:sp>
      <p:sp>
        <p:nvSpPr>
          <p:cNvPr id="5" name="text-306"/>
          <p:cNvSpPr txBox="1"/>
          <p:nvPr/>
        </p:nvSpPr>
        <p:spPr>
          <a:xfrm>
            <a:off x="548640" y="197510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6" name="card-307"/>
          <p:cNvSpPr/>
          <p:nvPr/>
        </p:nvSpPr>
        <p:spPr>
          <a:xfrm>
            <a:off x="1325880" y="1920240"/>
            <a:ext cx="5760720" cy="658368"/>
          </a:xfrm>
          <a:prstGeom prst="roundRect">
            <a:avLst>
              <a:gd name="adj" fmla="val 11111"/>
            </a:avLst>
          </a:prstGeom>
          <a:solidFill>
            <a:schemeClr val="tx1"/>
          </a:solidFill>
          <a:ln/>
        </p:spPr>
      </p:sp>
      <p:sp>
        <p:nvSpPr>
          <p:cNvPr id="7" name="text-308"/>
          <p:cNvSpPr txBox="1"/>
          <p:nvPr/>
        </p:nvSpPr>
        <p:spPr>
          <a:xfrm>
            <a:off x="1554480" y="1920240"/>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what does this project do?</a:t>
            </a:r>
            <a:endParaRPr lang="en-US" sz="1400" dirty="0"/>
          </a:p>
        </p:txBody>
      </p:sp>
      <p:pic>
        <p:nvPicPr>
          <p:cNvPr id="8" name="arrow-309" descr="preencoded.png">    </p:cNvPr>
          <p:cNvPicPr>
            <a:picLocks noChangeAspect="1"/>
          </p:cNvPicPr>
          <p:nvPr/>
        </p:nvPicPr>
        <p:blipFill>
          <a:blip r:embed="rId1"/>
          <a:stretch>
            <a:fillRect/>
          </a:stretch>
        </p:blipFill>
        <p:spPr>
          <a:xfrm>
            <a:off x="7269480" y="2112264"/>
            <a:ext cx="274320" cy="274320"/>
          </a:xfrm>
          <a:prstGeom prst="rect">
            <a:avLst/>
          </a:prstGeom>
        </p:spPr>
      </p:pic>
      <p:sp>
        <p:nvSpPr>
          <p:cNvPr id="9" name="text-310"/>
          <p:cNvSpPr txBox="1"/>
          <p:nvPr/>
        </p:nvSpPr>
        <p:spPr>
          <a:xfrm>
            <a:off x="7772400" y="1920240"/>
            <a:ext cx="3870655" cy="658368"/>
          </a:xfrm>
          <a:prstGeom prst="rect">
            <a:avLst/>
          </a:prstGeom>
          <a:noFill/>
          <a:ln/>
        </p:spPr>
        <p:txBody>
          <a:bodyPr wrap="square" lIns="0" tIns="0" rIns="0" bIns="0" rtlCol="0" anchor="ctr"/>
          <a:lstStyle/>
          <a:p>
            <a:pPr indent="0" marL="0">
              <a:buNone/>
            </a:pPr>
            <a:r>
              <a:rPr lang="en-US" sz="1400" dirty="0">
                <a:solidFill>
                  <a:schemeClr val="tx2"/>
                </a:solidFill>
              </a:rPr>
              <a:t>Claude reads your files and summarises the project</a:t>
            </a:r>
            <a:endParaRPr lang="en-US" sz="1400" dirty="0"/>
          </a:p>
        </p:txBody>
      </p:sp>
      <p:sp>
        <p:nvSpPr>
          <p:cNvPr id="10" name="step-311"/>
          <p:cNvSpPr/>
          <p:nvPr/>
        </p:nvSpPr>
        <p:spPr>
          <a:xfrm>
            <a:off x="548640" y="2779776"/>
            <a:ext cx="548640" cy="548640"/>
          </a:xfrm>
          <a:prstGeom prst="ellipse">
            <a:avLst/>
          </a:prstGeom>
          <a:solidFill>
            <a:schemeClr val="accent1"/>
          </a:solidFill>
          <a:ln/>
        </p:spPr>
      </p:sp>
      <p:sp>
        <p:nvSpPr>
          <p:cNvPr id="11" name="text-312"/>
          <p:cNvSpPr txBox="1"/>
          <p:nvPr/>
        </p:nvSpPr>
        <p:spPr>
          <a:xfrm>
            <a:off x="548640" y="27797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2" name="card-313"/>
          <p:cNvSpPr/>
          <p:nvPr/>
        </p:nvSpPr>
        <p:spPr>
          <a:xfrm>
            <a:off x="1325880" y="2724912"/>
            <a:ext cx="5760720" cy="658368"/>
          </a:xfrm>
          <a:prstGeom prst="roundRect">
            <a:avLst>
              <a:gd name="adj" fmla="val 11111"/>
            </a:avLst>
          </a:prstGeom>
          <a:solidFill>
            <a:schemeClr val="tx1"/>
          </a:solidFill>
          <a:ln/>
        </p:spPr>
      </p:sp>
      <p:sp>
        <p:nvSpPr>
          <p:cNvPr id="13" name="text-314"/>
          <p:cNvSpPr txBox="1"/>
          <p:nvPr/>
        </p:nvSpPr>
        <p:spPr>
          <a:xfrm>
            <a:off x="1554480" y="2724912"/>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explain the folder structure</a:t>
            </a:r>
            <a:endParaRPr lang="en-US" sz="1400" dirty="0"/>
          </a:p>
        </p:txBody>
      </p:sp>
      <p:pic>
        <p:nvPicPr>
          <p:cNvPr id="14" name="arrow-315" descr="preencoded.png">    </p:cNvPr>
          <p:cNvPicPr>
            <a:picLocks noChangeAspect="1"/>
          </p:cNvPicPr>
          <p:nvPr/>
        </p:nvPicPr>
        <p:blipFill>
          <a:blip r:embed="rId2"/>
          <a:stretch>
            <a:fillRect/>
          </a:stretch>
        </p:blipFill>
        <p:spPr>
          <a:xfrm>
            <a:off x="7269480" y="2916936"/>
            <a:ext cx="274320" cy="274320"/>
          </a:xfrm>
          <a:prstGeom prst="rect">
            <a:avLst/>
          </a:prstGeom>
        </p:spPr>
      </p:pic>
      <p:sp>
        <p:nvSpPr>
          <p:cNvPr id="15" name="text-316"/>
          <p:cNvSpPr txBox="1"/>
          <p:nvPr/>
        </p:nvSpPr>
        <p:spPr>
          <a:xfrm>
            <a:off x="7772400" y="2724912"/>
            <a:ext cx="3870655" cy="658368"/>
          </a:xfrm>
          <a:prstGeom prst="rect">
            <a:avLst/>
          </a:prstGeom>
          <a:noFill/>
          <a:ln/>
        </p:spPr>
        <p:txBody>
          <a:bodyPr wrap="square" lIns="0" tIns="0" rIns="0" bIns="0" rtlCol="0" anchor="ctr"/>
          <a:lstStyle/>
          <a:p>
            <a:pPr indent="0" marL="0">
              <a:buNone/>
            </a:pPr>
            <a:r>
              <a:rPr lang="en-US" sz="1400" dirty="0">
                <a:solidFill>
                  <a:schemeClr val="tx2"/>
                </a:solidFill>
              </a:rPr>
              <a:t>You get a map of where things live</a:t>
            </a:r>
            <a:endParaRPr lang="en-US" sz="1400" dirty="0"/>
          </a:p>
        </p:txBody>
      </p:sp>
      <p:sp>
        <p:nvSpPr>
          <p:cNvPr id="16" name="step-317"/>
          <p:cNvSpPr/>
          <p:nvPr/>
        </p:nvSpPr>
        <p:spPr>
          <a:xfrm>
            <a:off x="548640" y="3584448"/>
            <a:ext cx="548640" cy="548640"/>
          </a:xfrm>
          <a:prstGeom prst="ellipse">
            <a:avLst/>
          </a:prstGeom>
          <a:solidFill>
            <a:schemeClr val="accent1"/>
          </a:solidFill>
          <a:ln/>
        </p:spPr>
      </p:sp>
      <p:sp>
        <p:nvSpPr>
          <p:cNvPr id="17" name="text-318"/>
          <p:cNvSpPr txBox="1"/>
          <p:nvPr/>
        </p:nvSpPr>
        <p:spPr>
          <a:xfrm>
            <a:off x="548640" y="358444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18" name="card-319"/>
          <p:cNvSpPr/>
          <p:nvPr/>
        </p:nvSpPr>
        <p:spPr>
          <a:xfrm>
            <a:off x="1325880" y="3529584"/>
            <a:ext cx="5760720" cy="658368"/>
          </a:xfrm>
          <a:prstGeom prst="roundRect">
            <a:avLst>
              <a:gd name="adj" fmla="val 11111"/>
            </a:avLst>
          </a:prstGeom>
          <a:solidFill>
            <a:schemeClr val="tx1"/>
          </a:solidFill>
          <a:ln/>
        </p:spPr>
      </p:sp>
      <p:sp>
        <p:nvSpPr>
          <p:cNvPr id="19" name="text-320"/>
          <p:cNvSpPr txBox="1"/>
          <p:nvPr/>
        </p:nvSpPr>
        <p:spPr>
          <a:xfrm>
            <a:off x="1554480" y="3529584"/>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add a hello world function to the main file</a:t>
            </a:r>
            <a:endParaRPr lang="en-US" sz="1400" dirty="0"/>
          </a:p>
        </p:txBody>
      </p:sp>
      <p:pic>
        <p:nvPicPr>
          <p:cNvPr id="20" name="arrow-321" descr="preencoded.png">    </p:cNvPr>
          <p:cNvPicPr>
            <a:picLocks noChangeAspect="1"/>
          </p:cNvPicPr>
          <p:nvPr/>
        </p:nvPicPr>
        <p:blipFill>
          <a:blip r:embed="rId3"/>
          <a:stretch>
            <a:fillRect/>
          </a:stretch>
        </p:blipFill>
        <p:spPr>
          <a:xfrm>
            <a:off x="7269480" y="3721608"/>
            <a:ext cx="274320" cy="274320"/>
          </a:xfrm>
          <a:prstGeom prst="rect">
            <a:avLst/>
          </a:prstGeom>
        </p:spPr>
      </p:pic>
      <p:sp>
        <p:nvSpPr>
          <p:cNvPr id="21" name="text-322"/>
          <p:cNvSpPr txBox="1"/>
          <p:nvPr/>
        </p:nvSpPr>
        <p:spPr>
          <a:xfrm>
            <a:off x="7772400" y="3529584"/>
            <a:ext cx="3870655" cy="658368"/>
          </a:xfrm>
          <a:prstGeom prst="rect">
            <a:avLst/>
          </a:prstGeom>
          <a:noFill/>
          <a:ln/>
        </p:spPr>
        <p:txBody>
          <a:bodyPr wrap="square" lIns="0" tIns="0" rIns="0" bIns="0" rtlCol="0" anchor="ctr"/>
          <a:lstStyle/>
          <a:p>
            <a:pPr indent="0" marL="0">
              <a:buNone/>
            </a:pPr>
            <a:r>
              <a:rPr lang="en-US" sz="1400" dirty="0">
                <a:solidFill>
                  <a:schemeClr val="tx2"/>
                </a:solidFill>
              </a:rPr>
              <a:t>Claude finds the right file and shows you the change</a:t>
            </a:r>
            <a:endParaRPr lang="en-US" sz="1400" dirty="0"/>
          </a:p>
        </p:txBody>
      </p:sp>
      <p:sp>
        <p:nvSpPr>
          <p:cNvPr id="22" name="step-323"/>
          <p:cNvSpPr/>
          <p:nvPr/>
        </p:nvSpPr>
        <p:spPr>
          <a:xfrm>
            <a:off x="548640" y="4389120"/>
            <a:ext cx="548640" cy="548640"/>
          </a:xfrm>
          <a:prstGeom prst="ellipse">
            <a:avLst/>
          </a:prstGeom>
          <a:solidFill>
            <a:schemeClr val="accent1"/>
          </a:solidFill>
          <a:ln/>
        </p:spPr>
      </p:sp>
      <p:sp>
        <p:nvSpPr>
          <p:cNvPr id="23" name="text-324"/>
          <p:cNvSpPr txBox="1"/>
          <p:nvPr/>
        </p:nvSpPr>
        <p:spPr>
          <a:xfrm>
            <a:off x="548640" y="43891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4" name="card-325"/>
          <p:cNvSpPr/>
          <p:nvPr/>
        </p:nvSpPr>
        <p:spPr>
          <a:xfrm>
            <a:off x="1325880" y="4334256"/>
            <a:ext cx="5760720" cy="658368"/>
          </a:xfrm>
          <a:prstGeom prst="roundRect">
            <a:avLst>
              <a:gd name="adj" fmla="val 11111"/>
            </a:avLst>
          </a:prstGeom>
          <a:solidFill>
            <a:schemeClr val="tx1"/>
          </a:solidFill>
          <a:ln/>
        </p:spPr>
      </p:sp>
      <p:sp>
        <p:nvSpPr>
          <p:cNvPr id="25" name="text-326"/>
          <p:cNvSpPr txBox="1"/>
          <p:nvPr/>
        </p:nvSpPr>
        <p:spPr>
          <a:xfrm>
            <a:off x="1554480" y="4334256"/>
            <a:ext cx="5394960" cy="658368"/>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&gt; commit my changes with a descriptive message</a:t>
            </a:r>
            <a:endParaRPr lang="en-US" sz="1400" dirty="0"/>
          </a:p>
        </p:txBody>
      </p:sp>
      <p:pic>
        <p:nvPicPr>
          <p:cNvPr id="26" name="arrow-327" descr="preencoded.png">    </p:cNvPr>
          <p:cNvPicPr>
            <a:picLocks noChangeAspect="1"/>
          </p:cNvPicPr>
          <p:nvPr/>
        </p:nvPicPr>
        <p:blipFill>
          <a:blip r:embed="rId4"/>
          <a:stretch>
            <a:fillRect/>
          </a:stretch>
        </p:blipFill>
        <p:spPr>
          <a:xfrm>
            <a:off x="7269480" y="4526280"/>
            <a:ext cx="274320" cy="274320"/>
          </a:xfrm>
          <a:prstGeom prst="rect">
            <a:avLst/>
          </a:prstGeom>
        </p:spPr>
      </p:pic>
      <p:sp>
        <p:nvSpPr>
          <p:cNvPr id="27" name="text-328"/>
          <p:cNvSpPr txBox="1"/>
          <p:nvPr/>
        </p:nvSpPr>
        <p:spPr>
          <a:xfrm>
            <a:off x="7772400" y="4334256"/>
            <a:ext cx="3870655" cy="658368"/>
          </a:xfrm>
          <a:prstGeom prst="rect">
            <a:avLst/>
          </a:prstGeom>
          <a:noFill/>
          <a:ln/>
        </p:spPr>
        <p:txBody>
          <a:bodyPr wrap="square" lIns="0" tIns="0" rIns="0" bIns="0" rtlCol="0" anchor="ctr"/>
          <a:lstStyle/>
          <a:p>
            <a:pPr indent="0" marL="0">
              <a:buNone/>
            </a:pPr>
            <a:r>
              <a:rPr lang="en-US" sz="1400" dirty="0">
                <a:solidFill>
                  <a:schemeClr val="tx2"/>
                </a:solidFill>
              </a:rPr>
              <a:t>Claude stages the changes and writes the commit message</a:t>
            </a:r>
            <a:endParaRPr lang="en-US" sz="1400" dirty="0"/>
          </a:p>
        </p:txBody>
      </p:sp>
      <p:sp>
        <p:nvSpPr>
          <p:cNvPr id="28" name="card-329"/>
          <p:cNvSpPr/>
          <p:nvPr/>
        </p:nvSpPr>
        <p:spPr>
          <a:xfrm>
            <a:off x="548640" y="5303520"/>
            <a:ext cx="11094415" cy="594360"/>
          </a:xfrm>
          <a:prstGeom prst="roundRect">
            <a:avLst>
              <a:gd name="adj" fmla="val 12308"/>
            </a:avLst>
          </a:prstGeom>
          <a:solidFill>
            <a:schemeClr val="bg2"/>
          </a:solidFill>
          <a:ln/>
        </p:spPr>
      </p:sp>
      <p:sp>
        <p:nvSpPr>
          <p:cNvPr id="29" name="icon-tile-330"/>
          <p:cNvSpPr/>
          <p:nvPr/>
        </p:nvSpPr>
        <p:spPr>
          <a:xfrm>
            <a:off x="685800" y="5408676"/>
            <a:ext cx="384048" cy="384048"/>
          </a:xfrm>
          <a:prstGeom prst="roundRect">
            <a:avLst>
              <a:gd name="adj" fmla="val 19048"/>
            </a:avLst>
          </a:prstGeom>
          <a:solidFill>
            <a:schemeClr val="accent2"/>
          </a:solidFill>
          <a:ln/>
        </p:spPr>
      </p:sp>
      <p:pic>
        <p:nvPicPr>
          <p:cNvPr id="30" name="icon-331" descr="preencoded.png">    </p:cNvPr>
          <p:cNvPicPr>
            <a:picLocks noChangeAspect="1"/>
          </p:cNvPicPr>
          <p:nvPr/>
        </p:nvPicPr>
        <p:blipFill>
          <a:blip r:embed="rId5"/>
          <a:stretch>
            <a:fillRect/>
          </a:stretch>
        </p:blipFill>
        <p:spPr>
          <a:xfrm>
            <a:off x="777972" y="5500848"/>
            <a:ext cx="199705" cy="199705"/>
          </a:xfrm>
          <a:prstGeom prst="rect">
            <a:avLst/>
          </a:prstGeom>
        </p:spPr>
      </p:pic>
      <p:sp>
        <p:nvSpPr>
          <p:cNvPr id="31" name="text-332"/>
          <p:cNvSpPr txBox="1"/>
          <p:nvPr/>
        </p:nvSpPr>
        <p:spPr>
          <a:xfrm>
            <a:off x="1234440" y="5303520"/>
            <a:ext cx="10225735" cy="594360"/>
          </a:xfrm>
          <a:prstGeom prst="rect">
            <a:avLst/>
          </a:prstGeom>
          <a:noFill/>
          <a:ln/>
        </p:spPr>
        <p:txBody>
          <a:bodyPr wrap="square" lIns="0" tIns="0" rIns="0" bIns="0" rtlCol="0" anchor="ctr"/>
          <a:lstStyle/>
          <a:p>
            <a:pPr indent="0" marL="0">
              <a:buNone/>
            </a:pPr>
            <a:r>
              <a:rPr lang="en-US" sz="1400" dirty="0">
                <a:solidFill>
                  <a:schemeClr val="tx1"/>
                </a:solidFill>
              </a:rPr>
              <a:t>You do not attach files yourself. Claude Code reads project files as it needs them.</a:t>
            </a:r>
            <a:endParaRPr lang="en-US" sz="1400" dirty="0"/>
          </a:p>
        </p:txBody>
      </p:sp>
      <p:sp>
        <p:nvSpPr>
          <p:cNvPr id="32" name="text-33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Six everyday jobs you can hand over</a:t>
            </a:r>
            <a:endParaRPr lang="en-US" sz="3200" dirty="0"/>
          </a:p>
        </p:txBody>
      </p:sp>
      <p:sp>
        <p:nvSpPr>
          <p:cNvPr id="4" name="card-334"/>
          <p:cNvSpPr/>
          <p:nvPr/>
        </p:nvSpPr>
        <p:spPr>
          <a:xfrm>
            <a:off x="548640" y="1920240"/>
            <a:ext cx="3515258" cy="1828800"/>
          </a:xfrm>
          <a:prstGeom prst="roundRect">
            <a:avLst>
              <a:gd name="adj" fmla="val 4000"/>
            </a:avLst>
          </a:prstGeom>
          <a:solidFill>
            <a:schemeClr val="bg2"/>
          </a:solidFill>
          <a:ln/>
        </p:spPr>
      </p:sp>
      <p:sp>
        <p:nvSpPr>
          <p:cNvPr id="5" name="icon-tile-335"/>
          <p:cNvSpPr/>
          <p:nvPr/>
        </p:nvSpPr>
        <p:spPr>
          <a:xfrm>
            <a:off x="777240" y="2148840"/>
            <a:ext cx="502920" cy="502920"/>
          </a:xfrm>
          <a:prstGeom prst="roundRect">
            <a:avLst>
              <a:gd name="adj" fmla="val 14545"/>
            </a:avLst>
          </a:prstGeom>
          <a:solidFill>
            <a:schemeClr val="accent1"/>
          </a:solidFill>
          <a:ln/>
        </p:spPr>
      </p:sp>
      <p:pic>
        <p:nvPicPr>
          <p:cNvPr id="6" name="icon-336" descr="preencoded.png">    </p:cNvPr>
          <p:cNvPicPr>
            <a:picLocks noChangeAspect="1"/>
          </p:cNvPicPr>
          <p:nvPr/>
        </p:nvPicPr>
        <p:blipFill>
          <a:blip r:embed="rId1"/>
          <a:stretch>
            <a:fillRect/>
          </a:stretch>
        </p:blipFill>
        <p:spPr>
          <a:xfrm>
            <a:off x="897941" y="2269541"/>
            <a:ext cx="261518" cy="261518"/>
          </a:xfrm>
          <a:prstGeom prst="rect">
            <a:avLst/>
          </a:prstGeom>
        </p:spPr>
      </p:pic>
      <p:sp>
        <p:nvSpPr>
          <p:cNvPr id="7" name="text-337"/>
          <p:cNvSpPr txBox="1"/>
          <p:nvPr/>
        </p:nvSpPr>
        <p:spPr>
          <a:xfrm>
            <a:off x="1463040" y="2148840"/>
            <a:ext cx="2372258" cy="502920"/>
          </a:xfrm>
          <a:prstGeom prst="rect">
            <a:avLst/>
          </a:prstGeom>
          <a:noFill/>
          <a:ln/>
        </p:spPr>
        <p:txBody>
          <a:bodyPr wrap="square" lIns="0" tIns="0" rIns="0" bIns="0" rtlCol="0" anchor="ctr"/>
          <a:lstStyle/>
          <a:p>
            <a:pPr indent="0" marL="0">
              <a:buNone/>
            </a:pPr>
            <a:r>
              <a:rPr lang="en-US" sz="1800" b="1" dirty="0">
                <a:solidFill>
                  <a:schemeClr val="tx1"/>
                </a:solidFill>
              </a:rPr>
              <a:t>Build features</a:t>
            </a:r>
            <a:endParaRPr lang="en-US" sz="1800" dirty="0"/>
          </a:p>
        </p:txBody>
      </p:sp>
      <p:sp>
        <p:nvSpPr>
          <p:cNvPr id="8" name="card-338"/>
          <p:cNvSpPr/>
          <p:nvPr/>
        </p:nvSpPr>
        <p:spPr>
          <a:xfrm>
            <a:off x="777240" y="2834640"/>
            <a:ext cx="3058058" cy="713232"/>
          </a:xfrm>
          <a:prstGeom prst="roundRect">
            <a:avLst>
              <a:gd name="adj" fmla="val 10256"/>
            </a:avLst>
          </a:prstGeom>
          <a:solidFill>
            <a:schemeClr val="tx1"/>
          </a:solidFill>
          <a:ln/>
        </p:spPr>
      </p:sp>
      <p:sp>
        <p:nvSpPr>
          <p:cNvPr id="9" name="text-339"/>
          <p:cNvSpPr txBox="1"/>
          <p:nvPr/>
        </p:nvSpPr>
        <p:spPr>
          <a:xfrm>
            <a:off x="914400" y="2834640"/>
            <a:ext cx="2783738"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add search to the product list page</a:t>
            </a:r>
            <a:endParaRPr lang="en-US" sz="1400" dirty="0"/>
          </a:p>
        </p:txBody>
      </p:sp>
      <p:sp>
        <p:nvSpPr>
          <p:cNvPr id="10" name="card-340"/>
          <p:cNvSpPr/>
          <p:nvPr/>
        </p:nvSpPr>
        <p:spPr>
          <a:xfrm>
            <a:off x="4338218" y="1920240"/>
            <a:ext cx="3515258" cy="1828800"/>
          </a:xfrm>
          <a:prstGeom prst="roundRect">
            <a:avLst>
              <a:gd name="adj" fmla="val 4000"/>
            </a:avLst>
          </a:prstGeom>
          <a:solidFill>
            <a:schemeClr val="bg2"/>
          </a:solidFill>
          <a:ln/>
        </p:spPr>
      </p:sp>
      <p:sp>
        <p:nvSpPr>
          <p:cNvPr id="11" name="icon-tile-341"/>
          <p:cNvSpPr/>
          <p:nvPr/>
        </p:nvSpPr>
        <p:spPr>
          <a:xfrm>
            <a:off x="4566818" y="2148840"/>
            <a:ext cx="502920" cy="502920"/>
          </a:xfrm>
          <a:prstGeom prst="roundRect">
            <a:avLst>
              <a:gd name="adj" fmla="val 14545"/>
            </a:avLst>
          </a:prstGeom>
          <a:solidFill>
            <a:schemeClr val="accent1"/>
          </a:solidFill>
          <a:ln/>
        </p:spPr>
      </p:sp>
      <p:pic>
        <p:nvPicPr>
          <p:cNvPr id="12" name="icon-342" descr="preencoded.png">    </p:cNvPr>
          <p:cNvPicPr>
            <a:picLocks noChangeAspect="1"/>
          </p:cNvPicPr>
          <p:nvPr/>
        </p:nvPicPr>
        <p:blipFill>
          <a:blip r:embed="rId2"/>
          <a:stretch>
            <a:fillRect/>
          </a:stretch>
        </p:blipFill>
        <p:spPr>
          <a:xfrm>
            <a:off x="4687519" y="2269541"/>
            <a:ext cx="261518" cy="261518"/>
          </a:xfrm>
          <a:prstGeom prst="rect">
            <a:avLst/>
          </a:prstGeom>
        </p:spPr>
      </p:pic>
      <p:sp>
        <p:nvSpPr>
          <p:cNvPr id="13" name="text-343"/>
          <p:cNvSpPr txBox="1"/>
          <p:nvPr/>
        </p:nvSpPr>
        <p:spPr>
          <a:xfrm>
            <a:off x="5252618" y="2148840"/>
            <a:ext cx="2372258" cy="502920"/>
          </a:xfrm>
          <a:prstGeom prst="rect">
            <a:avLst/>
          </a:prstGeom>
          <a:noFill/>
          <a:ln/>
        </p:spPr>
        <p:txBody>
          <a:bodyPr wrap="square" lIns="0" tIns="0" rIns="0" bIns="0" rtlCol="0" anchor="ctr"/>
          <a:lstStyle/>
          <a:p>
            <a:pPr indent="0" marL="0">
              <a:buNone/>
            </a:pPr>
            <a:r>
              <a:rPr lang="en-US" sz="1800" b="1" dirty="0">
                <a:solidFill>
                  <a:schemeClr val="tx1"/>
                </a:solidFill>
              </a:rPr>
              <a:t>Fix bugs</a:t>
            </a:r>
            <a:endParaRPr lang="en-US" sz="1800" dirty="0"/>
          </a:p>
        </p:txBody>
      </p:sp>
      <p:sp>
        <p:nvSpPr>
          <p:cNvPr id="14" name="card-344"/>
          <p:cNvSpPr/>
          <p:nvPr/>
        </p:nvSpPr>
        <p:spPr>
          <a:xfrm>
            <a:off x="4566818" y="2834640"/>
            <a:ext cx="3058058" cy="713232"/>
          </a:xfrm>
          <a:prstGeom prst="roundRect">
            <a:avLst>
              <a:gd name="adj" fmla="val 10256"/>
            </a:avLst>
          </a:prstGeom>
          <a:solidFill>
            <a:schemeClr val="tx1"/>
          </a:solidFill>
          <a:ln/>
        </p:spPr>
      </p:sp>
      <p:sp>
        <p:nvSpPr>
          <p:cNvPr id="15" name="text-345"/>
          <p:cNvSpPr txBox="1"/>
          <p:nvPr/>
        </p:nvSpPr>
        <p:spPr>
          <a:xfrm>
            <a:off x="4703978" y="2834640"/>
            <a:ext cx="2783738"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users can submit empty forms, fix it</a:t>
            </a:r>
            <a:endParaRPr lang="en-US" sz="1400" dirty="0"/>
          </a:p>
        </p:txBody>
      </p:sp>
      <p:sp>
        <p:nvSpPr>
          <p:cNvPr id="16" name="card-346"/>
          <p:cNvSpPr/>
          <p:nvPr/>
        </p:nvSpPr>
        <p:spPr>
          <a:xfrm>
            <a:off x="8127797" y="1920240"/>
            <a:ext cx="3515258" cy="1828800"/>
          </a:xfrm>
          <a:prstGeom prst="roundRect">
            <a:avLst>
              <a:gd name="adj" fmla="val 4000"/>
            </a:avLst>
          </a:prstGeom>
          <a:solidFill>
            <a:schemeClr val="bg2"/>
          </a:solidFill>
          <a:ln/>
        </p:spPr>
      </p:sp>
      <p:sp>
        <p:nvSpPr>
          <p:cNvPr id="17" name="icon-tile-347"/>
          <p:cNvSpPr/>
          <p:nvPr/>
        </p:nvSpPr>
        <p:spPr>
          <a:xfrm>
            <a:off x="8356397" y="2148840"/>
            <a:ext cx="502920" cy="502920"/>
          </a:xfrm>
          <a:prstGeom prst="roundRect">
            <a:avLst>
              <a:gd name="adj" fmla="val 14545"/>
            </a:avLst>
          </a:prstGeom>
          <a:solidFill>
            <a:schemeClr val="accent1"/>
          </a:solidFill>
          <a:ln/>
        </p:spPr>
      </p:sp>
      <p:pic>
        <p:nvPicPr>
          <p:cNvPr id="18" name="icon-348" descr="preencoded.png">    </p:cNvPr>
          <p:cNvPicPr>
            <a:picLocks noChangeAspect="1"/>
          </p:cNvPicPr>
          <p:nvPr/>
        </p:nvPicPr>
        <p:blipFill>
          <a:blip r:embed="rId3"/>
          <a:stretch>
            <a:fillRect/>
          </a:stretch>
        </p:blipFill>
        <p:spPr>
          <a:xfrm>
            <a:off x="8477098" y="2269541"/>
            <a:ext cx="261518" cy="261518"/>
          </a:xfrm>
          <a:prstGeom prst="rect">
            <a:avLst/>
          </a:prstGeom>
        </p:spPr>
      </p:pic>
      <p:sp>
        <p:nvSpPr>
          <p:cNvPr id="19" name="text-349"/>
          <p:cNvSpPr txBox="1"/>
          <p:nvPr/>
        </p:nvSpPr>
        <p:spPr>
          <a:xfrm>
            <a:off x="9042197" y="2148840"/>
            <a:ext cx="2372258" cy="502920"/>
          </a:xfrm>
          <a:prstGeom prst="rect">
            <a:avLst/>
          </a:prstGeom>
          <a:noFill/>
          <a:ln/>
        </p:spPr>
        <p:txBody>
          <a:bodyPr wrap="square" lIns="0" tIns="0" rIns="0" bIns="0" rtlCol="0" anchor="ctr"/>
          <a:lstStyle/>
          <a:p>
            <a:pPr indent="0" marL="0">
              <a:buNone/>
            </a:pPr>
            <a:r>
              <a:rPr lang="en-US" sz="1800" b="1" dirty="0">
                <a:solidFill>
                  <a:schemeClr val="tx1"/>
                </a:solidFill>
              </a:rPr>
              <a:t>Write tests</a:t>
            </a:r>
            <a:endParaRPr lang="en-US" sz="1800" dirty="0"/>
          </a:p>
        </p:txBody>
      </p:sp>
      <p:sp>
        <p:nvSpPr>
          <p:cNvPr id="20" name="card-350"/>
          <p:cNvSpPr/>
          <p:nvPr/>
        </p:nvSpPr>
        <p:spPr>
          <a:xfrm>
            <a:off x="8356397" y="2834640"/>
            <a:ext cx="3058058" cy="713232"/>
          </a:xfrm>
          <a:prstGeom prst="roundRect">
            <a:avLst>
              <a:gd name="adj" fmla="val 10256"/>
            </a:avLst>
          </a:prstGeom>
          <a:solidFill>
            <a:schemeClr val="tx1"/>
          </a:solidFill>
          <a:ln/>
        </p:spPr>
      </p:sp>
      <p:sp>
        <p:nvSpPr>
          <p:cNvPr id="21" name="text-351"/>
          <p:cNvSpPr txBox="1"/>
          <p:nvPr/>
        </p:nvSpPr>
        <p:spPr>
          <a:xfrm>
            <a:off x="8493557" y="2834640"/>
            <a:ext cx="2783738"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write unit tests for the cart module</a:t>
            </a:r>
            <a:endParaRPr lang="en-US" sz="1400" dirty="0"/>
          </a:p>
        </p:txBody>
      </p:sp>
      <p:sp>
        <p:nvSpPr>
          <p:cNvPr id="22" name="card-352"/>
          <p:cNvSpPr/>
          <p:nvPr/>
        </p:nvSpPr>
        <p:spPr>
          <a:xfrm>
            <a:off x="548640" y="4023360"/>
            <a:ext cx="3515258" cy="1828800"/>
          </a:xfrm>
          <a:prstGeom prst="roundRect">
            <a:avLst>
              <a:gd name="adj" fmla="val 4000"/>
            </a:avLst>
          </a:prstGeom>
          <a:solidFill>
            <a:schemeClr val="bg2"/>
          </a:solidFill>
          <a:ln/>
        </p:spPr>
      </p:sp>
      <p:sp>
        <p:nvSpPr>
          <p:cNvPr id="23" name="icon-tile-353"/>
          <p:cNvSpPr/>
          <p:nvPr/>
        </p:nvSpPr>
        <p:spPr>
          <a:xfrm>
            <a:off x="777240" y="4251960"/>
            <a:ext cx="502920" cy="502920"/>
          </a:xfrm>
          <a:prstGeom prst="roundRect">
            <a:avLst>
              <a:gd name="adj" fmla="val 14545"/>
            </a:avLst>
          </a:prstGeom>
          <a:solidFill>
            <a:schemeClr val="accent1"/>
          </a:solidFill>
          <a:ln/>
        </p:spPr>
      </p:sp>
      <p:pic>
        <p:nvPicPr>
          <p:cNvPr id="24" name="icon-354" descr="preencoded.png">    </p:cNvPr>
          <p:cNvPicPr>
            <a:picLocks noChangeAspect="1"/>
          </p:cNvPicPr>
          <p:nvPr/>
        </p:nvPicPr>
        <p:blipFill>
          <a:blip r:embed="rId4"/>
          <a:stretch>
            <a:fillRect/>
          </a:stretch>
        </p:blipFill>
        <p:spPr>
          <a:xfrm>
            <a:off x="897941" y="4372661"/>
            <a:ext cx="261518" cy="261518"/>
          </a:xfrm>
          <a:prstGeom prst="rect">
            <a:avLst/>
          </a:prstGeom>
        </p:spPr>
      </p:pic>
      <p:sp>
        <p:nvSpPr>
          <p:cNvPr id="25" name="text-355"/>
          <p:cNvSpPr txBox="1"/>
          <p:nvPr/>
        </p:nvSpPr>
        <p:spPr>
          <a:xfrm>
            <a:off x="1463040" y="4251960"/>
            <a:ext cx="2372258" cy="502920"/>
          </a:xfrm>
          <a:prstGeom prst="rect">
            <a:avLst/>
          </a:prstGeom>
          <a:noFill/>
          <a:ln/>
        </p:spPr>
        <p:txBody>
          <a:bodyPr wrap="square" lIns="0" tIns="0" rIns="0" bIns="0" rtlCol="0" anchor="ctr"/>
          <a:lstStyle/>
          <a:p>
            <a:pPr indent="0" marL="0">
              <a:buNone/>
            </a:pPr>
            <a:r>
              <a:rPr lang="en-US" sz="1800" b="1" dirty="0">
                <a:solidFill>
                  <a:schemeClr val="tx1"/>
                </a:solidFill>
              </a:rPr>
              <a:t>Refactor code</a:t>
            </a:r>
            <a:endParaRPr lang="en-US" sz="1800" dirty="0"/>
          </a:p>
        </p:txBody>
      </p:sp>
      <p:sp>
        <p:nvSpPr>
          <p:cNvPr id="26" name="card-356"/>
          <p:cNvSpPr/>
          <p:nvPr/>
        </p:nvSpPr>
        <p:spPr>
          <a:xfrm>
            <a:off x="777240" y="4937760"/>
            <a:ext cx="3058058" cy="713232"/>
          </a:xfrm>
          <a:prstGeom prst="roundRect">
            <a:avLst>
              <a:gd name="adj" fmla="val 10256"/>
            </a:avLst>
          </a:prstGeom>
          <a:solidFill>
            <a:schemeClr val="tx1"/>
          </a:solidFill>
          <a:ln/>
        </p:spPr>
      </p:sp>
      <p:sp>
        <p:nvSpPr>
          <p:cNvPr id="27" name="text-357"/>
          <p:cNvSpPr txBox="1"/>
          <p:nvPr/>
        </p:nvSpPr>
        <p:spPr>
          <a:xfrm>
            <a:off x="914400" y="4937760"/>
            <a:ext cx="2783738"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convert this module to async/await</a:t>
            </a:r>
            <a:endParaRPr lang="en-US" sz="1400" dirty="0"/>
          </a:p>
        </p:txBody>
      </p:sp>
      <p:sp>
        <p:nvSpPr>
          <p:cNvPr id="28" name="card-358"/>
          <p:cNvSpPr/>
          <p:nvPr/>
        </p:nvSpPr>
        <p:spPr>
          <a:xfrm>
            <a:off x="4338218" y="4023360"/>
            <a:ext cx="3515258" cy="1828800"/>
          </a:xfrm>
          <a:prstGeom prst="roundRect">
            <a:avLst>
              <a:gd name="adj" fmla="val 4000"/>
            </a:avLst>
          </a:prstGeom>
          <a:solidFill>
            <a:schemeClr val="bg2"/>
          </a:solidFill>
          <a:ln/>
        </p:spPr>
      </p:sp>
      <p:sp>
        <p:nvSpPr>
          <p:cNvPr id="29" name="icon-tile-359"/>
          <p:cNvSpPr/>
          <p:nvPr/>
        </p:nvSpPr>
        <p:spPr>
          <a:xfrm>
            <a:off x="4566818" y="4251960"/>
            <a:ext cx="502920" cy="502920"/>
          </a:xfrm>
          <a:prstGeom prst="roundRect">
            <a:avLst>
              <a:gd name="adj" fmla="val 14545"/>
            </a:avLst>
          </a:prstGeom>
          <a:solidFill>
            <a:schemeClr val="accent1"/>
          </a:solidFill>
          <a:ln/>
        </p:spPr>
      </p:sp>
      <p:pic>
        <p:nvPicPr>
          <p:cNvPr id="30" name="icon-360" descr="preencoded.png">    </p:cNvPr>
          <p:cNvPicPr>
            <a:picLocks noChangeAspect="1"/>
          </p:cNvPicPr>
          <p:nvPr/>
        </p:nvPicPr>
        <p:blipFill>
          <a:blip r:embed="rId5"/>
          <a:stretch>
            <a:fillRect/>
          </a:stretch>
        </p:blipFill>
        <p:spPr>
          <a:xfrm>
            <a:off x="4687519" y="4372661"/>
            <a:ext cx="261518" cy="261518"/>
          </a:xfrm>
          <a:prstGeom prst="rect">
            <a:avLst/>
          </a:prstGeom>
        </p:spPr>
      </p:pic>
      <p:sp>
        <p:nvSpPr>
          <p:cNvPr id="31" name="text-361"/>
          <p:cNvSpPr txBox="1"/>
          <p:nvPr/>
        </p:nvSpPr>
        <p:spPr>
          <a:xfrm>
            <a:off x="5252618" y="4251960"/>
            <a:ext cx="2372258" cy="502920"/>
          </a:xfrm>
          <a:prstGeom prst="rect">
            <a:avLst/>
          </a:prstGeom>
          <a:noFill/>
          <a:ln/>
        </p:spPr>
        <p:txBody>
          <a:bodyPr wrap="square" lIns="0" tIns="0" rIns="0" bIns="0" rtlCol="0" anchor="ctr"/>
          <a:lstStyle/>
          <a:p>
            <a:pPr indent="0" marL="0">
              <a:buNone/>
            </a:pPr>
            <a:r>
              <a:rPr lang="en-US" sz="1800" b="1" dirty="0">
                <a:solidFill>
                  <a:schemeClr val="tx1"/>
                </a:solidFill>
              </a:rPr>
              <a:t>Update docs</a:t>
            </a:r>
            <a:endParaRPr lang="en-US" sz="1800" dirty="0"/>
          </a:p>
        </p:txBody>
      </p:sp>
      <p:sp>
        <p:nvSpPr>
          <p:cNvPr id="32" name="card-362"/>
          <p:cNvSpPr/>
          <p:nvPr/>
        </p:nvSpPr>
        <p:spPr>
          <a:xfrm>
            <a:off x="4566818" y="4937760"/>
            <a:ext cx="3058058" cy="713232"/>
          </a:xfrm>
          <a:prstGeom prst="roundRect">
            <a:avLst>
              <a:gd name="adj" fmla="val 10256"/>
            </a:avLst>
          </a:prstGeom>
          <a:solidFill>
            <a:schemeClr val="tx1"/>
          </a:solidFill>
          <a:ln/>
        </p:spPr>
      </p:sp>
      <p:sp>
        <p:nvSpPr>
          <p:cNvPr id="33" name="text-363"/>
          <p:cNvSpPr txBox="1"/>
          <p:nvPr/>
        </p:nvSpPr>
        <p:spPr>
          <a:xfrm>
            <a:off x="4703978" y="4937760"/>
            <a:ext cx="2783738"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update the README with setup steps</a:t>
            </a:r>
            <a:endParaRPr lang="en-US" sz="1400" dirty="0"/>
          </a:p>
        </p:txBody>
      </p:sp>
      <p:sp>
        <p:nvSpPr>
          <p:cNvPr id="34" name="card-364"/>
          <p:cNvSpPr/>
          <p:nvPr/>
        </p:nvSpPr>
        <p:spPr>
          <a:xfrm>
            <a:off x="8127797" y="4023360"/>
            <a:ext cx="3515258" cy="1828800"/>
          </a:xfrm>
          <a:prstGeom prst="roundRect">
            <a:avLst>
              <a:gd name="adj" fmla="val 4000"/>
            </a:avLst>
          </a:prstGeom>
          <a:solidFill>
            <a:schemeClr val="bg2"/>
          </a:solidFill>
          <a:ln/>
        </p:spPr>
      </p:sp>
      <p:sp>
        <p:nvSpPr>
          <p:cNvPr id="35" name="icon-tile-365"/>
          <p:cNvSpPr/>
          <p:nvPr/>
        </p:nvSpPr>
        <p:spPr>
          <a:xfrm>
            <a:off x="8356397" y="4251960"/>
            <a:ext cx="502920" cy="502920"/>
          </a:xfrm>
          <a:prstGeom prst="roundRect">
            <a:avLst>
              <a:gd name="adj" fmla="val 14545"/>
            </a:avLst>
          </a:prstGeom>
          <a:solidFill>
            <a:schemeClr val="accent1"/>
          </a:solidFill>
          <a:ln/>
        </p:spPr>
      </p:sp>
      <p:pic>
        <p:nvPicPr>
          <p:cNvPr id="36" name="icon-366" descr="preencoded.png">    </p:cNvPr>
          <p:cNvPicPr>
            <a:picLocks noChangeAspect="1"/>
          </p:cNvPicPr>
          <p:nvPr/>
        </p:nvPicPr>
        <p:blipFill>
          <a:blip r:embed="rId6"/>
          <a:stretch>
            <a:fillRect/>
          </a:stretch>
        </p:blipFill>
        <p:spPr>
          <a:xfrm>
            <a:off x="8477098" y="4372661"/>
            <a:ext cx="261518" cy="261518"/>
          </a:xfrm>
          <a:prstGeom prst="rect">
            <a:avLst/>
          </a:prstGeom>
        </p:spPr>
      </p:pic>
      <p:sp>
        <p:nvSpPr>
          <p:cNvPr id="37" name="text-367"/>
          <p:cNvSpPr txBox="1"/>
          <p:nvPr/>
        </p:nvSpPr>
        <p:spPr>
          <a:xfrm>
            <a:off x="9042197" y="4251960"/>
            <a:ext cx="2372258" cy="502920"/>
          </a:xfrm>
          <a:prstGeom prst="rect">
            <a:avLst/>
          </a:prstGeom>
          <a:noFill/>
          <a:ln/>
        </p:spPr>
        <p:txBody>
          <a:bodyPr wrap="square" lIns="0" tIns="0" rIns="0" bIns="0" rtlCol="0" anchor="ctr"/>
          <a:lstStyle/>
          <a:p>
            <a:pPr indent="0" marL="0">
              <a:buNone/>
            </a:pPr>
            <a:r>
              <a:rPr lang="en-US" sz="1800" b="1" dirty="0">
                <a:solidFill>
                  <a:schemeClr val="tx1"/>
                </a:solidFill>
              </a:rPr>
              <a:t>Use git</a:t>
            </a:r>
            <a:endParaRPr lang="en-US" sz="1800" dirty="0"/>
          </a:p>
        </p:txBody>
      </p:sp>
      <p:sp>
        <p:nvSpPr>
          <p:cNvPr id="38" name="card-368"/>
          <p:cNvSpPr/>
          <p:nvPr/>
        </p:nvSpPr>
        <p:spPr>
          <a:xfrm>
            <a:off x="8356397" y="4937760"/>
            <a:ext cx="3058058" cy="713232"/>
          </a:xfrm>
          <a:prstGeom prst="roundRect">
            <a:avLst>
              <a:gd name="adj" fmla="val 10256"/>
            </a:avLst>
          </a:prstGeom>
          <a:solidFill>
            <a:schemeClr val="tx1"/>
          </a:solidFill>
          <a:ln/>
        </p:spPr>
      </p:sp>
      <p:sp>
        <p:nvSpPr>
          <p:cNvPr id="39" name="text-369"/>
          <p:cNvSpPr txBox="1"/>
          <p:nvPr/>
        </p:nvSpPr>
        <p:spPr>
          <a:xfrm>
            <a:off x="8493557" y="4937760"/>
            <a:ext cx="2783738" cy="713232"/>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create a branch and open a pull request</a:t>
            </a:r>
            <a:endParaRPr lang="en-US" sz="1400" dirty="0"/>
          </a:p>
        </p:txBody>
      </p:sp>
      <p:sp>
        <p:nvSpPr>
          <p:cNvPr id="40" name="text-37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The dark boxes show example prompts. 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Specific prompts get better results than vague ones</a:t>
            </a:r>
            <a:endParaRPr lang="en-US" sz="3200" dirty="0"/>
          </a:p>
        </p:txBody>
      </p:sp>
      <p:sp>
        <p:nvSpPr>
          <p:cNvPr id="4" name="card-371"/>
          <p:cNvSpPr/>
          <p:nvPr/>
        </p:nvSpPr>
        <p:spPr>
          <a:xfrm>
            <a:off x="548640" y="1920240"/>
            <a:ext cx="5396332" cy="1600200"/>
          </a:xfrm>
          <a:prstGeom prst="roundRect">
            <a:avLst>
              <a:gd name="adj" fmla="val 4571"/>
            </a:avLst>
          </a:prstGeom>
          <a:solidFill>
            <a:schemeClr val="bg2"/>
          </a:solidFill>
          <a:ln/>
        </p:spPr>
      </p:sp>
      <p:sp>
        <p:nvSpPr>
          <p:cNvPr id="5" name="pill-372"/>
          <p:cNvSpPr/>
          <p:nvPr/>
        </p:nvSpPr>
        <p:spPr>
          <a:xfrm>
            <a:off x="822960" y="2148840"/>
            <a:ext cx="1188720" cy="310896"/>
          </a:xfrm>
          <a:prstGeom prst="roundRect">
            <a:avLst>
              <a:gd name="adj" fmla="val 50000"/>
            </a:avLst>
          </a:prstGeom>
          <a:solidFill>
            <a:schemeClr val="accent4"/>
          </a:solidFill>
          <a:ln/>
        </p:spPr>
      </p:sp>
      <p:sp>
        <p:nvSpPr>
          <p:cNvPr id="6" name="text-373"/>
          <p:cNvSpPr txBox="1"/>
          <p:nvPr/>
        </p:nvSpPr>
        <p:spPr>
          <a:xfrm>
            <a:off x="822960" y="214884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VAGUE</a:t>
            </a:r>
            <a:endParaRPr lang="en-US" sz="1100" dirty="0"/>
          </a:p>
        </p:txBody>
      </p:sp>
      <p:sp>
        <p:nvSpPr>
          <p:cNvPr id="7" name="text-374"/>
          <p:cNvSpPr txBox="1"/>
          <p:nvPr/>
        </p:nvSpPr>
        <p:spPr>
          <a:xfrm>
            <a:off x="822960" y="2651760"/>
            <a:ext cx="4847692" cy="7315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fix the bug</a:t>
            </a:r>
            <a:endParaRPr lang="en-US" sz="1400" dirty="0"/>
          </a:p>
        </p:txBody>
      </p:sp>
      <p:sp>
        <p:nvSpPr>
          <p:cNvPr id="8" name="card-375"/>
          <p:cNvSpPr/>
          <p:nvPr/>
        </p:nvSpPr>
        <p:spPr>
          <a:xfrm>
            <a:off x="6246724" y="1920240"/>
            <a:ext cx="5396332" cy="1600200"/>
          </a:xfrm>
          <a:prstGeom prst="roundRect">
            <a:avLst>
              <a:gd name="adj" fmla="val 4571"/>
            </a:avLst>
          </a:prstGeom>
          <a:solidFill>
            <a:schemeClr val="bg2"/>
          </a:solidFill>
          <a:ln/>
        </p:spPr>
      </p:sp>
      <p:sp>
        <p:nvSpPr>
          <p:cNvPr id="9" name="pill-376"/>
          <p:cNvSpPr/>
          <p:nvPr/>
        </p:nvSpPr>
        <p:spPr>
          <a:xfrm>
            <a:off x="6521044" y="2148840"/>
            <a:ext cx="1188720" cy="310896"/>
          </a:xfrm>
          <a:prstGeom prst="roundRect">
            <a:avLst>
              <a:gd name="adj" fmla="val 50000"/>
            </a:avLst>
          </a:prstGeom>
          <a:solidFill>
            <a:schemeClr val="accent6"/>
          </a:solidFill>
          <a:ln/>
        </p:spPr>
      </p:sp>
      <p:sp>
        <p:nvSpPr>
          <p:cNvPr id="10" name="text-377"/>
          <p:cNvSpPr txBox="1"/>
          <p:nvPr/>
        </p:nvSpPr>
        <p:spPr>
          <a:xfrm>
            <a:off x="6521044" y="2148840"/>
            <a:ext cx="1188720"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SPECIFIC</a:t>
            </a:r>
            <a:endParaRPr lang="en-US" sz="1100" dirty="0"/>
          </a:p>
        </p:txBody>
      </p:sp>
      <p:sp>
        <p:nvSpPr>
          <p:cNvPr id="11" name="text-378"/>
          <p:cNvSpPr txBox="1"/>
          <p:nvPr/>
        </p:nvSpPr>
        <p:spPr>
          <a:xfrm>
            <a:off x="6521044" y="2651760"/>
            <a:ext cx="4847692" cy="7315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fix the login bug: a blank page appears after a wrong password</a:t>
            </a:r>
            <a:endParaRPr lang="en-US" sz="1400" dirty="0"/>
          </a:p>
        </p:txBody>
      </p:sp>
      <p:sp>
        <p:nvSpPr>
          <p:cNvPr id="12" name="card-379"/>
          <p:cNvSpPr/>
          <p:nvPr/>
        </p:nvSpPr>
        <p:spPr>
          <a:xfrm>
            <a:off x="548640" y="3794760"/>
            <a:ext cx="3515258" cy="2057400"/>
          </a:xfrm>
          <a:prstGeom prst="roundRect">
            <a:avLst>
              <a:gd name="adj" fmla="val 3556"/>
            </a:avLst>
          </a:prstGeom>
          <a:solidFill>
            <a:schemeClr val="bg2"/>
          </a:solidFill>
          <a:ln/>
        </p:spPr>
      </p:sp>
      <p:sp>
        <p:nvSpPr>
          <p:cNvPr id="13" name="icon-tile-380"/>
          <p:cNvSpPr/>
          <p:nvPr/>
        </p:nvSpPr>
        <p:spPr>
          <a:xfrm>
            <a:off x="822960" y="4069080"/>
            <a:ext cx="502920" cy="502920"/>
          </a:xfrm>
          <a:prstGeom prst="roundRect">
            <a:avLst>
              <a:gd name="adj" fmla="val 14545"/>
            </a:avLst>
          </a:prstGeom>
          <a:solidFill>
            <a:schemeClr val="accent2"/>
          </a:solidFill>
          <a:ln/>
        </p:spPr>
      </p:sp>
      <p:pic>
        <p:nvPicPr>
          <p:cNvPr id="14" name="icon-381" descr="preencoded.png">    </p:cNvPr>
          <p:cNvPicPr>
            <a:picLocks noChangeAspect="1"/>
          </p:cNvPicPr>
          <p:nvPr/>
        </p:nvPicPr>
        <p:blipFill>
          <a:blip r:embed="rId1"/>
          <a:stretch>
            <a:fillRect/>
          </a:stretch>
        </p:blipFill>
        <p:spPr>
          <a:xfrm>
            <a:off x="943661" y="4189781"/>
            <a:ext cx="261518" cy="261518"/>
          </a:xfrm>
          <a:prstGeom prst="rect">
            <a:avLst/>
          </a:prstGeom>
        </p:spPr>
      </p:pic>
      <p:sp>
        <p:nvSpPr>
          <p:cNvPr id="15" name="text-382"/>
          <p:cNvSpPr txBox="1"/>
          <p:nvPr/>
        </p:nvSpPr>
        <p:spPr>
          <a:xfrm>
            <a:off x="1508760" y="40690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Break it into steps</a:t>
            </a:r>
            <a:endParaRPr lang="en-US" sz="1800" dirty="0"/>
          </a:p>
        </p:txBody>
      </p:sp>
      <p:sp>
        <p:nvSpPr>
          <p:cNvPr id="16" name="text-383"/>
          <p:cNvSpPr txBox="1"/>
          <p:nvPr/>
        </p:nvSpPr>
        <p:spPr>
          <a:xfrm>
            <a:off x="822960" y="4800600"/>
            <a:ext cx="2966618" cy="868680"/>
          </a:xfrm>
          <a:prstGeom prst="rect">
            <a:avLst/>
          </a:prstGeom>
          <a:noFill/>
          <a:ln/>
        </p:spPr>
        <p:txBody>
          <a:bodyPr wrap="square" lIns="0" tIns="0" rIns="0" bIns="0" rtlCol="0" anchor="t"/>
          <a:lstStyle/>
          <a:p>
            <a:pPr indent="0" marL="0">
              <a:buNone/>
            </a:pPr>
            <a:r>
              <a:rPr lang="en-US" sz="1400" dirty="0">
                <a:solidFill>
                  <a:schemeClr val="tx2"/>
                </a:solidFill>
              </a:rPr>
              <a:t>List big jobs as numbered steps so each one can be checked</a:t>
            </a:r>
            <a:endParaRPr lang="en-US" sz="1400" dirty="0"/>
          </a:p>
        </p:txBody>
      </p:sp>
      <p:sp>
        <p:nvSpPr>
          <p:cNvPr id="17" name="card-384"/>
          <p:cNvSpPr/>
          <p:nvPr/>
        </p:nvSpPr>
        <p:spPr>
          <a:xfrm>
            <a:off x="4338218" y="3794760"/>
            <a:ext cx="3515258" cy="2057400"/>
          </a:xfrm>
          <a:prstGeom prst="roundRect">
            <a:avLst>
              <a:gd name="adj" fmla="val 3556"/>
            </a:avLst>
          </a:prstGeom>
          <a:solidFill>
            <a:schemeClr val="bg2"/>
          </a:solidFill>
          <a:ln/>
        </p:spPr>
      </p:sp>
      <p:sp>
        <p:nvSpPr>
          <p:cNvPr id="18" name="icon-tile-385"/>
          <p:cNvSpPr/>
          <p:nvPr/>
        </p:nvSpPr>
        <p:spPr>
          <a:xfrm>
            <a:off x="4612538" y="4069080"/>
            <a:ext cx="502920" cy="502920"/>
          </a:xfrm>
          <a:prstGeom prst="roundRect">
            <a:avLst>
              <a:gd name="adj" fmla="val 14545"/>
            </a:avLst>
          </a:prstGeom>
          <a:solidFill>
            <a:schemeClr val="accent2"/>
          </a:solidFill>
          <a:ln/>
        </p:spPr>
      </p:sp>
      <p:pic>
        <p:nvPicPr>
          <p:cNvPr id="19" name="icon-386" descr="preencoded.png">    </p:cNvPr>
          <p:cNvPicPr>
            <a:picLocks noChangeAspect="1"/>
          </p:cNvPicPr>
          <p:nvPr/>
        </p:nvPicPr>
        <p:blipFill>
          <a:blip r:embed="rId2"/>
          <a:stretch>
            <a:fillRect/>
          </a:stretch>
        </p:blipFill>
        <p:spPr>
          <a:xfrm>
            <a:off x="4733239" y="4189781"/>
            <a:ext cx="261518" cy="261518"/>
          </a:xfrm>
          <a:prstGeom prst="rect">
            <a:avLst/>
          </a:prstGeom>
        </p:spPr>
      </p:pic>
      <p:sp>
        <p:nvSpPr>
          <p:cNvPr id="20" name="text-387"/>
          <p:cNvSpPr txBox="1"/>
          <p:nvPr/>
        </p:nvSpPr>
        <p:spPr>
          <a:xfrm>
            <a:off x="5298338" y="40690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Explore first</a:t>
            </a:r>
            <a:endParaRPr lang="en-US" sz="1800" dirty="0"/>
          </a:p>
        </p:txBody>
      </p:sp>
      <p:sp>
        <p:nvSpPr>
          <p:cNvPr id="21" name="text-388"/>
          <p:cNvSpPr txBox="1"/>
          <p:nvPr/>
        </p:nvSpPr>
        <p:spPr>
          <a:xfrm>
            <a:off x="4612538" y="4800600"/>
            <a:ext cx="2966618" cy="868680"/>
          </a:xfrm>
          <a:prstGeom prst="rect">
            <a:avLst/>
          </a:prstGeom>
          <a:noFill/>
          <a:ln/>
        </p:spPr>
        <p:txBody>
          <a:bodyPr wrap="square" lIns="0" tIns="0" rIns="0" bIns="0" rtlCol="0" anchor="t"/>
          <a:lstStyle/>
          <a:p>
            <a:pPr indent="0" marL="0">
              <a:buNone/>
            </a:pPr>
            <a:r>
              <a:rPr lang="en-US" sz="1400" dirty="0">
                <a:solidFill>
                  <a:schemeClr val="tx2"/>
                </a:solidFill>
              </a:rPr>
              <a:t>Ask Claude to study the code before asking it to change anything</a:t>
            </a:r>
            <a:endParaRPr lang="en-US" sz="1400" dirty="0"/>
          </a:p>
        </p:txBody>
      </p:sp>
      <p:sp>
        <p:nvSpPr>
          <p:cNvPr id="22" name="card-389"/>
          <p:cNvSpPr/>
          <p:nvPr/>
        </p:nvSpPr>
        <p:spPr>
          <a:xfrm>
            <a:off x="8127797" y="3794760"/>
            <a:ext cx="3515258" cy="2057400"/>
          </a:xfrm>
          <a:prstGeom prst="roundRect">
            <a:avLst>
              <a:gd name="adj" fmla="val 3556"/>
            </a:avLst>
          </a:prstGeom>
          <a:solidFill>
            <a:schemeClr val="bg2"/>
          </a:solidFill>
          <a:ln/>
        </p:spPr>
      </p:sp>
      <p:sp>
        <p:nvSpPr>
          <p:cNvPr id="23" name="icon-tile-390"/>
          <p:cNvSpPr/>
          <p:nvPr/>
        </p:nvSpPr>
        <p:spPr>
          <a:xfrm>
            <a:off x="8402117" y="4069080"/>
            <a:ext cx="502920" cy="502920"/>
          </a:xfrm>
          <a:prstGeom prst="roundRect">
            <a:avLst>
              <a:gd name="adj" fmla="val 14545"/>
            </a:avLst>
          </a:prstGeom>
          <a:solidFill>
            <a:schemeClr val="accent2"/>
          </a:solidFill>
          <a:ln/>
        </p:spPr>
      </p:sp>
      <p:pic>
        <p:nvPicPr>
          <p:cNvPr id="24" name="icon-391" descr="preencoded.png">    </p:cNvPr>
          <p:cNvPicPr>
            <a:picLocks noChangeAspect="1"/>
          </p:cNvPicPr>
          <p:nvPr/>
        </p:nvPicPr>
        <p:blipFill>
          <a:blip r:embed="rId3"/>
          <a:stretch>
            <a:fillRect/>
          </a:stretch>
        </p:blipFill>
        <p:spPr>
          <a:xfrm>
            <a:off x="8522818" y="4189781"/>
            <a:ext cx="261518" cy="261518"/>
          </a:xfrm>
          <a:prstGeom prst="rect">
            <a:avLst/>
          </a:prstGeom>
        </p:spPr>
      </p:pic>
      <p:sp>
        <p:nvSpPr>
          <p:cNvPr id="25" name="text-392"/>
          <p:cNvSpPr txBox="1"/>
          <p:nvPr/>
        </p:nvSpPr>
        <p:spPr>
          <a:xfrm>
            <a:off x="9087917" y="40690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Give it a check</a:t>
            </a:r>
            <a:endParaRPr lang="en-US" sz="1800" dirty="0"/>
          </a:p>
        </p:txBody>
      </p:sp>
      <p:sp>
        <p:nvSpPr>
          <p:cNvPr id="26" name="text-393"/>
          <p:cNvSpPr txBox="1"/>
          <p:nvPr/>
        </p:nvSpPr>
        <p:spPr>
          <a:xfrm>
            <a:off x="8402117" y="4800600"/>
            <a:ext cx="2966618" cy="868680"/>
          </a:xfrm>
          <a:prstGeom prst="rect">
            <a:avLst/>
          </a:prstGeom>
          <a:noFill/>
          <a:ln/>
        </p:spPr>
        <p:txBody>
          <a:bodyPr wrap="square" lIns="0" tIns="0" rIns="0" bIns="0" rtlCol="0" anchor="t"/>
          <a:lstStyle/>
          <a:p>
            <a:pPr indent="0" marL="0">
              <a:buNone/>
            </a:pPr>
            <a:r>
              <a:rPr lang="en-US" sz="1400" dirty="0">
                <a:solidFill>
                  <a:schemeClr val="tx2"/>
                </a:solidFill>
              </a:rPr>
              <a:t>Point to a test or build so Claude can verify its own work</a:t>
            </a:r>
            <a:endParaRPr lang="en-US" sz="1400" dirty="0"/>
          </a:p>
        </p:txBody>
      </p:sp>
      <p:sp>
        <p:nvSpPr>
          <p:cNvPr id="27" name="text-39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4  |  USING IT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Five habits keep a beginner safe</a:t>
            </a:r>
            <a:endParaRPr lang="en-US" sz="3200" dirty="0"/>
          </a:p>
        </p:txBody>
      </p:sp>
      <p:sp>
        <p:nvSpPr>
          <p:cNvPr id="4" name="card-395"/>
          <p:cNvSpPr/>
          <p:nvPr/>
        </p:nvSpPr>
        <p:spPr>
          <a:xfrm>
            <a:off x="548640" y="1920240"/>
            <a:ext cx="6492240" cy="658368"/>
          </a:xfrm>
          <a:prstGeom prst="roundRect">
            <a:avLst>
              <a:gd name="adj" fmla="val 11111"/>
            </a:avLst>
          </a:prstGeom>
          <a:solidFill>
            <a:schemeClr val="bg2"/>
          </a:solidFill>
          <a:ln/>
        </p:spPr>
      </p:sp>
      <p:sp>
        <p:nvSpPr>
          <p:cNvPr id="5" name="step-396"/>
          <p:cNvSpPr/>
          <p:nvPr/>
        </p:nvSpPr>
        <p:spPr>
          <a:xfrm>
            <a:off x="685800" y="2020824"/>
            <a:ext cx="457200" cy="457200"/>
          </a:xfrm>
          <a:prstGeom prst="ellipse">
            <a:avLst/>
          </a:prstGeom>
          <a:solidFill>
            <a:schemeClr val="accent1"/>
          </a:solidFill>
          <a:ln/>
        </p:spPr>
      </p:sp>
      <p:sp>
        <p:nvSpPr>
          <p:cNvPr id="6" name="text-397"/>
          <p:cNvSpPr txBox="1"/>
          <p:nvPr/>
        </p:nvSpPr>
        <p:spPr>
          <a:xfrm>
            <a:off x="685800" y="20208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1</a:t>
            </a:r>
            <a:endParaRPr lang="en-US" sz="1600" dirty="0"/>
          </a:p>
        </p:txBody>
      </p:sp>
      <p:sp>
        <p:nvSpPr>
          <p:cNvPr id="7" name="text-398"/>
          <p:cNvSpPr txBox="1"/>
          <p:nvPr/>
        </p:nvSpPr>
        <p:spPr>
          <a:xfrm>
            <a:off x="1325880" y="1920240"/>
            <a:ext cx="5577840" cy="658368"/>
          </a:xfrm>
          <a:prstGeom prst="rect">
            <a:avLst/>
          </a:prstGeom>
          <a:noFill/>
          <a:ln/>
        </p:spPr>
        <p:txBody>
          <a:bodyPr wrap="square" lIns="0" tIns="0" rIns="0" bIns="0" rtlCol="0" anchor="ctr"/>
          <a:lstStyle/>
          <a:p>
            <a:pPr indent="0" marL="0">
              <a:buNone/>
            </a:pPr>
            <a:r>
              <a:rPr lang="en-US" sz="1600" dirty="0">
                <a:solidFill>
                  <a:schemeClr val="tx1"/>
                </a:solidFill>
              </a:rPr>
              <a:t>Start unfamiliar projects in plan mode</a:t>
            </a:r>
            <a:endParaRPr lang="en-US" sz="1600" dirty="0"/>
          </a:p>
        </p:txBody>
      </p:sp>
      <p:sp>
        <p:nvSpPr>
          <p:cNvPr id="8" name="card-399"/>
          <p:cNvSpPr/>
          <p:nvPr/>
        </p:nvSpPr>
        <p:spPr>
          <a:xfrm>
            <a:off x="548640" y="2706624"/>
            <a:ext cx="6492240" cy="658368"/>
          </a:xfrm>
          <a:prstGeom prst="roundRect">
            <a:avLst>
              <a:gd name="adj" fmla="val 11111"/>
            </a:avLst>
          </a:prstGeom>
          <a:solidFill>
            <a:schemeClr val="bg2"/>
          </a:solidFill>
          <a:ln/>
        </p:spPr>
      </p:sp>
      <p:sp>
        <p:nvSpPr>
          <p:cNvPr id="9" name="step-400"/>
          <p:cNvSpPr/>
          <p:nvPr/>
        </p:nvSpPr>
        <p:spPr>
          <a:xfrm>
            <a:off x="685800" y="2807208"/>
            <a:ext cx="457200" cy="457200"/>
          </a:xfrm>
          <a:prstGeom prst="ellipse">
            <a:avLst/>
          </a:prstGeom>
          <a:solidFill>
            <a:schemeClr val="accent1"/>
          </a:solidFill>
          <a:ln/>
        </p:spPr>
      </p:sp>
      <p:sp>
        <p:nvSpPr>
          <p:cNvPr id="10" name="text-401"/>
          <p:cNvSpPr txBox="1"/>
          <p:nvPr/>
        </p:nvSpPr>
        <p:spPr>
          <a:xfrm>
            <a:off x="685800" y="2807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2</a:t>
            </a:r>
            <a:endParaRPr lang="en-US" sz="1600" dirty="0"/>
          </a:p>
        </p:txBody>
      </p:sp>
      <p:sp>
        <p:nvSpPr>
          <p:cNvPr id="11" name="text-402"/>
          <p:cNvSpPr txBox="1"/>
          <p:nvPr/>
        </p:nvSpPr>
        <p:spPr>
          <a:xfrm>
            <a:off x="1325880" y="2706624"/>
            <a:ext cx="5577840" cy="658368"/>
          </a:xfrm>
          <a:prstGeom prst="rect">
            <a:avLst/>
          </a:prstGeom>
          <a:noFill/>
          <a:ln/>
        </p:spPr>
        <p:txBody>
          <a:bodyPr wrap="square" lIns="0" tIns="0" rIns="0" bIns="0" rtlCol="0" anchor="ctr"/>
          <a:lstStyle/>
          <a:p>
            <a:pPr indent="0" marL="0">
              <a:buNone/>
            </a:pPr>
            <a:r>
              <a:rPr lang="en-US" sz="1600" dirty="0">
                <a:solidFill>
                  <a:schemeClr val="tx1"/>
                </a:solidFill>
              </a:rPr>
              <a:t>Read each change before you accept it</a:t>
            </a:r>
            <a:endParaRPr lang="en-US" sz="1600" dirty="0"/>
          </a:p>
        </p:txBody>
      </p:sp>
      <p:sp>
        <p:nvSpPr>
          <p:cNvPr id="12" name="card-403"/>
          <p:cNvSpPr/>
          <p:nvPr/>
        </p:nvSpPr>
        <p:spPr>
          <a:xfrm>
            <a:off x="548640" y="3493008"/>
            <a:ext cx="6492240" cy="658368"/>
          </a:xfrm>
          <a:prstGeom prst="roundRect">
            <a:avLst>
              <a:gd name="adj" fmla="val 11111"/>
            </a:avLst>
          </a:prstGeom>
          <a:solidFill>
            <a:schemeClr val="bg2"/>
          </a:solidFill>
          <a:ln/>
        </p:spPr>
      </p:sp>
      <p:sp>
        <p:nvSpPr>
          <p:cNvPr id="13" name="step-404"/>
          <p:cNvSpPr/>
          <p:nvPr/>
        </p:nvSpPr>
        <p:spPr>
          <a:xfrm>
            <a:off x="685800" y="3593592"/>
            <a:ext cx="457200" cy="457200"/>
          </a:xfrm>
          <a:prstGeom prst="ellipse">
            <a:avLst/>
          </a:prstGeom>
          <a:solidFill>
            <a:schemeClr val="accent1"/>
          </a:solidFill>
          <a:ln/>
        </p:spPr>
      </p:sp>
      <p:sp>
        <p:nvSpPr>
          <p:cNvPr id="14" name="text-405"/>
          <p:cNvSpPr txBox="1"/>
          <p:nvPr/>
        </p:nvSpPr>
        <p:spPr>
          <a:xfrm>
            <a:off x="685800" y="35935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3</a:t>
            </a:r>
            <a:endParaRPr lang="en-US" sz="1600" dirty="0"/>
          </a:p>
        </p:txBody>
      </p:sp>
      <p:sp>
        <p:nvSpPr>
          <p:cNvPr id="15" name="text-406"/>
          <p:cNvSpPr txBox="1"/>
          <p:nvPr/>
        </p:nvSpPr>
        <p:spPr>
          <a:xfrm>
            <a:off x="1325880" y="3493008"/>
            <a:ext cx="5577840" cy="658368"/>
          </a:xfrm>
          <a:prstGeom prst="rect">
            <a:avLst/>
          </a:prstGeom>
          <a:noFill/>
          <a:ln/>
        </p:spPr>
        <p:txBody>
          <a:bodyPr wrap="square" lIns="0" tIns="0" rIns="0" bIns="0" rtlCol="0" anchor="ctr"/>
          <a:lstStyle/>
          <a:p>
            <a:pPr indent="0" marL="0">
              <a:buNone/>
            </a:pPr>
            <a:r>
              <a:rPr lang="en-US" sz="1600" dirty="0">
                <a:solidFill>
                  <a:schemeClr val="tx1"/>
                </a:solidFill>
              </a:rPr>
              <a:t>Keep your project in git so changes can be undone</a:t>
            </a:r>
            <a:endParaRPr lang="en-US" sz="1600" dirty="0"/>
          </a:p>
        </p:txBody>
      </p:sp>
      <p:sp>
        <p:nvSpPr>
          <p:cNvPr id="16" name="card-407"/>
          <p:cNvSpPr/>
          <p:nvPr/>
        </p:nvSpPr>
        <p:spPr>
          <a:xfrm>
            <a:off x="548640" y="4279392"/>
            <a:ext cx="6492240" cy="658368"/>
          </a:xfrm>
          <a:prstGeom prst="roundRect">
            <a:avLst>
              <a:gd name="adj" fmla="val 11111"/>
            </a:avLst>
          </a:prstGeom>
          <a:solidFill>
            <a:schemeClr val="bg2"/>
          </a:solidFill>
          <a:ln/>
        </p:spPr>
      </p:sp>
      <p:sp>
        <p:nvSpPr>
          <p:cNvPr id="17" name="step-408"/>
          <p:cNvSpPr/>
          <p:nvPr/>
        </p:nvSpPr>
        <p:spPr>
          <a:xfrm>
            <a:off x="685800" y="4379976"/>
            <a:ext cx="457200" cy="457200"/>
          </a:xfrm>
          <a:prstGeom prst="ellipse">
            <a:avLst/>
          </a:prstGeom>
          <a:solidFill>
            <a:schemeClr val="accent1"/>
          </a:solidFill>
          <a:ln/>
        </p:spPr>
      </p:sp>
      <p:sp>
        <p:nvSpPr>
          <p:cNvPr id="18" name="text-409"/>
          <p:cNvSpPr txBox="1"/>
          <p:nvPr/>
        </p:nvSpPr>
        <p:spPr>
          <a:xfrm>
            <a:off x="685800" y="43799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4</a:t>
            </a:r>
            <a:endParaRPr lang="en-US" sz="1600" dirty="0"/>
          </a:p>
        </p:txBody>
      </p:sp>
      <p:sp>
        <p:nvSpPr>
          <p:cNvPr id="19" name="text-410"/>
          <p:cNvSpPr txBox="1"/>
          <p:nvPr/>
        </p:nvSpPr>
        <p:spPr>
          <a:xfrm>
            <a:off x="1325880" y="4279392"/>
            <a:ext cx="5577840" cy="658368"/>
          </a:xfrm>
          <a:prstGeom prst="rect">
            <a:avLst/>
          </a:prstGeom>
          <a:noFill/>
          <a:ln/>
        </p:spPr>
        <p:txBody>
          <a:bodyPr wrap="square" lIns="0" tIns="0" rIns="0" bIns="0" rtlCol="0" anchor="ctr"/>
          <a:lstStyle/>
          <a:p>
            <a:pPr indent="0" marL="0">
              <a:buNone/>
            </a:pPr>
            <a:r>
              <a:rPr lang="en-US" sz="1600" dirty="0">
                <a:solidFill>
                  <a:schemeClr val="tx1"/>
                </a:solidFill>
              </a:rPr>
              <a:t>Press Esc twice to rewind when something goes wrong</a:t>
            </a:r>
            <a:endParaRPr lang="en-US" sz="1600" dirty="0"/>
          </a:p>
        </p:txBody>
      </p:sp>
      <p:sp>
        <p:nvSpPr>
          <p:cNvPr id="20" name="card-411"/>
          <p:cNvSpPr/>
          <p:nvPr/>
        </p:nvSpPr>
        <p:spPr>
          <a:xfrm>
            <a:off x="548640" y="5065776"/>
            <a:ext cx="6492240" cy="658368"/>
          </a:xfrm>
          <a:prstGeom prst="roundRect">
            <a:avLst>
              <a:gd name="adj" fmla="val 11111"/>
            </a:avLst>
          </a:prstGeom>
          <a:solidFill>
            <a:schemeClr val="bg2"/>
          </a:solidFill>
          <a:ln/>
        </p:spPr>
      </p:sp>
      <p:sp>
        <p:nvSpPr>
          <p:cNvPr id="21" name="step-412"/>
          <p:cNvSpPr/>
          <p:nvPr/>
        </p:nvSpPr>
        <p:spPr>
          <a:xfrm>
            <a:off x="685800" y="5166360"/>
            <a:ext cx="457200" cy="457200"/>
          </a:xfrm>
          <a:prstGeom prst="ellipse">
            <a:avLst/>
          </a:prstGeom>
          <a:solidFill>
            <a:schemeClr val="accent1"/>
          </a:solidFill>
          <a:ln/>
        </p:spPr>
      </p:sp>
      <p:sp>
        <p:nvSpPr>
          <p:cNvPr id="22" name="text-413"/>
          <p:cNvSpPr txBox="1"/>
          <p:nvPr/>
        </p:nvSpPr>
        <p:spPr>
          <a:xfrm>
            <a:off x="685800" y="5166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5</a:t>
            </a:r>
            <a:endParaRPr lang="en-US" sz="1600" dirty="0"/>
          </a:p>
        </p:txBody>
      </p:sp>
      <p:sp>
        <p:nvSpPr>
          <p:cNvPr id="23" name="text-414"/>
          <p:cNvSpPr txBox="1"/>
          <p:nvPr/>
        </p:nvSpPr>
        <p:spPr>
          <a:xfrm>
            <a:off x="1325880" y="5065776"/>
            <a:ext cx="5577840" cy="658368"/>
          </a:xfrm>
          <a:prstGeom prst="rect">
            <a:avLst/>
          </a:prstGeom>
          <a:noFill/>
          <a:ln/>
        </p:spPr>
        <p:txBody>
          <a:bodyPr wrap="square" lIns="0" tIns="0" rIns="0" bIns="0" rtlCol="0" anchor="ctr"/>
          <a:lstStyle/>
          <a:p>
            <a:pPr indent="0" marL="0">
              <a:buNone/>
            </a:pPr>
            <a:r>
              <a:rPr lang="en-US" sz="1600" dirty="0">
                <a:solidFill>
                  <a:schemeClr val="tx1"/>
                </a:solidFill>
              </a:rPr>
              <a:t>Keep bypassPermissions for throwaway setups only</a:t>
            </a:r>
            <a:endParaRPr lang="en-US" sz="1600" dirty="0"/>
          </a:p>
        </p:txBody>
      </p:sp>
      <p:sp>
        <p:nvSpPr>
          <p:cNvPr id="24" name="card-415"/>
          <p:cNvSpPr/>
          <p:nvPr/>
        </p:nvSpPr>
        <p:spPr>
          <a:xfrm>
            <a:off x="7360920" y="1920240"/>
            <a:ext cx="4282135" cy="3803904"/>
          </a:xfrm>
          <a:prstGeom prst="roundRect">
            <a:avLst>
              <a:gd name="adj" fmla="val 1923"/>
            </a:avLst>
          </a:prstGeom>
          <a:solidFill>
            <a:schemeClr val="tx1"/>
          </a:solidFill>
          <a:ln/>
        </p:spPr>
      </p:sp>
      <p:sp>
        <p:nvSpPr>
          <p:cNvPr id="25" name="icon-tile-416"/>
          <p:cNvSpPr/>
          <p:nvPr/>
        </p:nvSpPr>
        <p:spPr>
          <a:xfrm>
            <a:off x="7680960" y="2240280"/>
            <a:ext cx="548640" cy="548640"/>
          </a:xfrm>
          <a:prstGeom prst="roundRect">
            <a:avLst>
              <a:gd name="adj" fmla="val 13333"/>
            </a:avLst>
          </a:prstGeom>
          <a:solidFill>
            <a:schemeClr val="accent1"/>
          </a:solidFill>
          <a:ln/>
        </p:spPr>
      </p:sp>
      <p:pic>
        <p:nvPicPr>
          <p:cNvPr id="26" name="icon-417" descr="preencoded.png">    </p:cNvPr>
          <p:cNvPicPr>
            <a:picLocks noChangeAspect="1"/>
          </p:cNvPicPr>
          <p:nvPr/>
        </p:nvPicPr>
        <p:blipFill>
          <a:blip r:embed="rId1"/>
          <a:stretch>
            <a:fillRect/>
          </a:stretch>
        </p:blipFill>
        <p:spPr>
          <a:xfrm>
            <a:off x="7812634" y="2371954"/>
            <a:ext cx="285293" cy="285293"/>
          </a:xfrm>
          <a:prstGeom prst="rect">
            <a:avLst/>
          </a:prstGeom>
        </p:spPr>
      </p:pic>
      <p:sp>
        <p:nvSpPr>
          <p:cNvPr id="27" name="text-418"/>
          <p:cNvSpPr txBox="1"/>
          <p:nvPr/>
        </p:nvSpPr>
        <p:spPr>
          <a:xfrm>
            <a:off x="7680960" y="3017520"/>
            <a:ext cx="3642055" cy="822960"/>
          </a:xfrm>
          <a:prstGeom prst="rect">
            <a:avLst/>
          </a:prstGeom>
          <a:noFill/>
          <a:ln/>
        </p:spPr>
        <p:txBody>
          <a:bodyPr wrap="square" lIns="0" tIns="0" rIns="0" bIns="0" rtlCol="0" anchor="t"/>
          <a:lstStyle/>
          <a:p>
            <a:pPr indent="0" marL="0">
              <a:buNone/>
            </a:pPr>
            <a:r>
              <a:rPr lang="en-US" sz="2200" b="1" dirty="0">
                <a:solidFill>
                  <a:schemeClr val="bg1"/>
                </a:solidFill>
              </a:rPr>
              <a:t>Checkpoints do not undo everything</a:t>
            </a:r>
            <a:endParaRPr lang="en-US" sz="2200" dirty="0"/>
          </a:p>
        </p:txBody>
      </p:sp>
      <p:sp>
        <p:nvSpPr>
          <p:cNvPr id="28" name="text-419"/>
          <p:cNvSpPr txBox="1"/>
          <p:nvPr/>
        </p:nvSpPr>
        <p:spPr>
          <a:xfrm>
            <a:off x="7680960" y="3977640"/>
            <a:ext cx="3642055" cy="1554480"/>
          </a:xfrm>
          <a:prstGeom prst="rect">
            <a:avLst/>
          </a:prstGeom>
          <a:noFill/>
          <a:ln/>
        </p:spPr>
        <p:txBody>
          <a:bodyPr wrap="square" lIns="0" tIns="0" rIns="0" bIns="0" rtlCol="0" anchor="t"/>
          <a:lstStyle/>
          <a:p>
            <a:pPr indent="0" marL="0">
              <a:buNone/>
            </a:pPr>
            <a:r>
              <a:rPr lang="en-US" sz="1400" dirty="0">
                <a:solidFill>
                  <a:schemeClr val="accent5"/>
                </a:solidFill>
              </a:rPr>
              <a:t>Changes made by shell commands are not tracked by checkpoints, and checkpoints are separate from git. Git is the real safety net.</a:t>
            </a:r>
            <a:endParaRPr lang="en-US" sz="1400" dirty="0"/>
          </a:p>
        </p:txBody>
      </p:sp>
      <p:sp>
        <p:nvSpPr>
          <p:cNvPr id="29" name="text-420"/>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learning path from day one to power user</a:t>
            </a:r>
            <a:endParaRPr lang="en-US" sz="3200" dirty="0"/>
          </a:p>
        </p:txBody>
      </p:sp>
      <p:sp>
        <p:nvSpPr>
          <p:cNvPr id="4" name="rail-421"/>
          <p:cNvSpPr/>
          <p:nvPr/>
        </p:nvSpPr>
        <p:spPr>
          <a:xfrm>
            <a:off x="822960" y="2194560"/>
            <a:ext cx="8526551" cy="0"/>
          </a:xfrm>
          <a:prstGeom prst="line">
            <a:avLst/>
          </a:prstGeom>
          <a:noFill/>
          <a:ln w="38100">
            <a:solidFill>
              <a:schemeClr val="accent5"/>
            </a:solidFill>
            <a:prstDash val="solid"/>
          </a:ln>
        </p:spPr>
      </p:sp>
      <p:sp>
        <p:nvSpPr>
          <p:cNvPr id="5" name="step-422"/>
          <p:cNvSpPr/>
          <p:nvPr/>
        </p:nvSpPr>
        <p:spPr>
          <a:xfrm>
            <a:off x="548640" y="1920240"/>
            <a:ext cx="548640" cy="548640"/>
          </a:xfrm>
          <a:prstGeom prst="ellipse">
            <a:avLst/>
          </a:prstGeom>
          <a:solidFill>
            <a:schemeClr val="accent1"/>
          </a:solidFill>
          <a:ln/>
        </p:spPr>
      </p:sp>
      <p:sp>
        <p:nvSpPr>
          <p:cNvPr id="6" name="text-423"/>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7" name="text-424"/>
          <p:cNvSpPr txBox="1"/>
          <p:nvPr/>
        </p:nvSpPr>
        <p:spPr>
          <a:xfrm>
            <a:off x="548640"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Day one</a:t>
            </a:r>
            <a:endParaRPr lang="en-US" sz="2000" dirty="0"/>
          </a:p>
        </p:txBody>
      </p:sp>
      <p:sp>
        <p:nvSpPr>
          <p:cNvPr id="8" name="text-425"/>
          <p:cNvSpPr txBox="1"/>
          <p:nvPr/>
        </p:nvSpPr>
        <p:spPr>
          <a:xfrm>
            <a:off x="548640"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Install it, ask questions about your code and make one small change</a:t>
            </a:r>
            <a:endParaRPr lang="en-US" sz="1400" dirty="0"/>
          </a:p>
        </p:txBody>
      </p:sp>
      <p:sp>
        <p:nvSpPr>
          <p:cNvPr id="9" name="card-426"/>
          <p:cNvSpPr/>
          <p:nvPr/>
        </p:nvSpPr>
        <p:spPr>
          <a:xfrm>
            <a:off x="548640" y="4434840"/>
            <a:ext cx="2567864" cy="1051560"/>
          </a:xfrm>
          <a:prstGeom prst="roundRect">
            <a:avLst>
              <a:gd name="adj" fmla="val 6957"/>
            </a:avLst>
          </a:prstGeom>
          <a:solidFill>
            <a:schemeClr val="bg2"/>
          </a:solidFill>
          <a:ln/>
        </p:spPr>
      </p:sp>
      <p:sp>
        <p:nvSpPr>
          <p:cNvPr id="10" name="text-427"/>
          <p:cNvSpPr txBox="1"/>
          <p:nvPr/>
        </p:nvSpPr>
        <p:spPr>
          <a:xfrm>
            <a:off x="777240"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11" name="text-428"/>
          <p:cNvSpPr txBox="1"/>
          <p:nvPr/>
        </p:nvSpPr>
        <p:spPr>
          <a:xfrm>
            <a:off x="777240"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Hold a basic session</a:t>
            </a:r>
            <a:endParaRPr lang="en-US" sz="1400" dirty="0"/>
          </a:p>
        </p:txBody>
      </p:sp>
      <p:sp>
        <p:nvSpPr>
          <p:cNvPr id="12" name="step-429"/>
          <p:cNvSpPr/>
          <p:nvPr/>
        </p:nvSpPr>
        <p:spPr>
          <a:xfrm>
            <a:off x="3390824" y="1920240"/>
            <a:ext cx="548640" cy="548640"/>
          </a:xfrm>
          <a:prstGeom prst="ellipse">
            <a:avLst/>
          </a:prstGeom>
          <a:solidFill>
            <a:schemeClr val="accent1"/>
          </a:solidFill>
          <a:ln/>
        </p:spPr>
      </p:sp>
      <p:sp>
        <p:nvSpPr>
          <p:cNvPr id="13" name="text-430"/>
          <p:cNvSpPr txBox="1"/>
          <p:nvPr/>
        </p:nvSpPr>
        <p:spPr>
          <a:xfrm>
            <a:off x="3390824"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4" name="text-431"/>
          <p:cNvSpPr txBox="1"/>
          <p:nvPr/>
        </p:nvSpPr>
        <p:spPr>
          <a:xfrm>
            <a:off x="3390824"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First week</a:t>
            </a:r>
            <a:endParaRPr lang="en-US" sz="2000" dirty="0"/>
          </a:p>
        </p:txBody>
      </p:sp>
      <p:sp>
        <p:nvSpPr>
          <p:cNvPr id="15" name="text-432"/>
          <p:cNvSpPr txBox="1"/>
          <p:nvPr/>
        </p:nvSpPr>
        <p:spPr>
          <a:xfrm>
            <a:off x="3390824"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Write a CLAUDE.md, try plan mode and practise rewinding</a:t>
            </a:r>
            <a:endParaRPr lang="en-US" sz="1400" dirty="0"/>
          </a:p>
        </p:txBody>
      </p:sp>
      <p:sp>
        <p:nvSpPr>
          <p:cNvPr id="16" name="card-433"/>
          <p:cNvSpPr/>
          <p:nvPr/>
        </p:nvSpPr>
        <p:spPr>
          <a:xfrm>
            <a:off x="3390824" y="4434840"/>
            <a:ext cx="2567864" cy="1051560"/>
          </a:xfrm>
          <a:prstGeom prst="roundRect">
            <a:avLst>
              <a:gd name="adj" fmla="val 6957"/>
            </a:avLst>
          </a:prstGeom>
          <a:solidFill>
            <a:schemeClr val="bg2"/>
          </a:solidFill>
          <a:ln/>
        </p:spPr>
      </p:sp>
      <p:sp>
        <p:nvSpPr>
          <p:cNvPr id="17" name="text-434"/>
          <p:cNvSpPr txBox="1"/>
          <p:nvPr/>
        </p:nvSpPr>
        <p:spPr>
          <a:xfrm>
            <a:off x="3619424"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18" name="text-435"/>
          <p:cNvSpPr txBox="1"/>
          <p:nvPr/>
        </p:nvSpPr>
        <p:spPr>
          <a:xfrm>
            <a:off x="3619424"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Work safely and repeatably</a:t>
            </a:r>
            <a:endParaRPr lang="en-US" sz="1400" dirty="0"/>
          </a:p>
        </p:txBody>
      </p:sp>
      <p:sp>
        <p:nvSpPr>
          <p:cNvPr id="19" name="step-436"/>
          <p:cNvSpPr/>
          <p:nvPr/>
        </p:nvSpPr>
        <p:spPr>
          <a:xfrm>
            <a:off x="6233008" y="1920240"/>
            <a:ext cx="548640" cy="548640"/>
          </a:xfrm>
          <a:prstGeom prst="ellipse">
            <a:avLst/>
          </a:prstGeom>
          <a:solidFill>
            <a:schemeClr val="accent1"/>
          </a:solidFill>
          <a:ln/>
        </p:spPr>
      </p:sp>
      <p:sp>
        <p:nvSpPr>
          <p:cNvPr id="20" name="text-437"/>
          <p:cNvSpPr txBox="1"/>
          <p:nvPr/>
        </p:nvSpPr>
        <p:spPr>
          <a:xfrm>
            <a:off x="623300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21" name="text-438"/>
          <p:cNvSpPr txBox="1"/>
          <p:nvPr/>
        </p:nvSpPr>
        <p:spPr>
          <a:xfrm>
            <a:off x="6233008"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First month</a:t>
            </a:r>
            <a:endParaRPr lang="en-US" sz="2000" dirty="0"/>
          </a:p>
        </p:txBody>
      </p:sp>
      <p:sp>
        <p:nvSpPr>
          <p:cNvPr id="22" name="text-439"/>
          <p:cNvSpPr txBox="1"/>
          <p:nvPr/>
        </p:nvSpPr>
        <p:spPr>
          <a:xfrm>
            <a:off x="6233008"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Turn a repeated task into a skill and connect one tool through MCP</a:t>
            </a:r>
            <a:endParaRPr lang="en-US" sz="1400" dirty="0"/>
          </a:p>
        </p:txBody>
      </p:sp>
      <p:sp>
        <p:nvSpPr>
          <p:cNvPr id="23" name="card-440"/>
          <p:cNvSpPr/>
          <p:nvPr/>
        </p:nvSpPr>
        <p:spPr>
          <a:xfrm>
            <a:off x="6233008" y="4434840"/>
            <a:ext cx="2567864" cy="1051560"/>
          </a:xfrm>
          <a:prstGeom prst="roundRect">
            <a:avLst>
              <a:gd name="adj" fmla="val 6957"/>
            </a:avLst>
          </a:prstGeom>
          <a:solidFill>
            <a:schemeClr val="bg2"/>
          </a:solidFill>
          <a:ln/>
        </p:spPr>
      </p:sp>
      <p:sp>
        <p:nvSpPr>
          <p:cNvPr id="24" name="text-441"/>
          <p:cNvSpPr txBox="1"/>
          <p:nvPr/>
        </p:nvSpPr>
        <p:spPr>
          <a:xfrm>
            <a:off x="6461608"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25" name="text-442"/>
          <p:cNvSpPr txBox="1"/>
          <p:nvPr/>
        </p:nvSpPr>
        <p:spPr>
          <a:xfrm>
            <a:off x="6461608"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Automate routine work</a:t>
            </a:r>
            <a:endParaRPr lang="en-US" sz="1400" dirty="0"/>
          </a:p>
        </p:txBody>
      </p:sp>
      <p:sp>
        <p:nvSpPr>
          <p:cNvPr id="26" name="step-443"/>
          <p:cNvSpPr/>
          <p:nvPr/>
        </p:nvSpPr>
        <p:spPr>
          <a:xfrm>
            <a:off x="9075191" y="1920240"/>
            <a:ext cx="548640" cy="548640"/>
          </a:xfrm>
          <a:prstGeom prst="ellipse">
            <a:avLst/>
          </a:prstGeom>
          <a:solidFill>
            <a:schemeClr val="accent1"/>
          </a:solidFill>
          <a:ln/>
        </p:spPr>
      </p:sp>
      <p:sp>
        <p:nvSpPr>
          <p:cNvPr id="27" name="text-444"/>
          <p:cNvSpPr txBox="1"/>
          <p:nvPr/>
        </p:nvSpPr>
        <p:spPr>
          <a:xfrm>
            <a:off x="9075191"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8" name="text-445"/>
          <p:cNvSpPr txBox="1"/>
          <p:nvPr/>
        </p:nvSpPr>
        <p:spPr>
          <a:xfrm>
            <a:off x="9075191" y="2697480"/>
            <a:ext cx="2567864" cy="365760"/>
          </a:xfrm>
          <a:prstGeom prst="rect">
            <a:avLst/>
          </a:prstGeom>
          <a:noFill/>
          <a:ln/>
        </p:spPr>
        <p:txBody>
          <a:bodyPr wrap="square" lIns="0" tIns="0" rIns="0" bIns="0" rtlCol="0" anchor="t"/>
          <a:lstStyle/>
          <a:p>
            <a:pPr indent="0" marL="0">
              <a:buNone/>
            </a:pPr>
            <a:r>
              <a:rPr lang="en-US" sz="2000" b="1" dirty="0">
                <a:solidFill>
                  <a:schemeClr val="tx1"/>
                </a:solidFill>
              </a:rPr>
              <a:t>Later</a:t>
            </a:r>
            <a:endParaRPr lang="en-US" sz="2000" dirty="0"/>
          </a:p>
        </p:txBody>
      </p:sp>
      <p:sp>
        <p:nvSpPr>
          <p:cNvPr id="29" name="text-446"/>
          <p:cNvSpPr txBox="1"/>
          <p:nvPr/>
        </p:nvSpPr>
        <p:spPr>
          <a:xfrm>
            <a:off x="9075191"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Explore subagents, hooks, cloud sessions and scheduled routines</a:t>
            </a:r>
            <a:endParaRPr lang="en-US" sz="1400" dirty="0"/>
          </a:p>
        </p:txBody>
      </p:sp>
      <p:sp>
        <p:nvSpPr>
          <p:cNvPr id="30" name="card-447"/>
          <p:cNvSpPr/>
          <p:nvPr/>
        </p:nvSpPr>
        <p:spPr>
          <a:xfrm>
            <a:off x="9075191" y="4434840"/>
            <a:ext cx="2567864" cy="1051560"/>
          </a:xfrm>
          <a:prstGeom prst="roundRect">
            <a:avLst>
              <a:gd name="adj" fmla="val 6957"/>
            </a:avLst>
          </a:prstGeom>
          <a:solidFill>
            <a:schemeClr val="bg2"/>
          </a:solidFill>
          <a:ln/>
        </p:spPr>
      </p:sp>
      <p:sp>
        <p:nvSpPr>
          <p:cNvPr id="31" name="text-448"/>
          <p:cNvSpPr txBox="1"/>
          <p:nvPr/>
        </p:nvSpPr>
        <p:spPr>
          <a:xfrm>
            <a:off x="9303791"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YOU CAN NOW</a:t>
            </a:r>
            <a:endParaRPr lang="en-US" sz="1100" dirty="0"/>
          </a:p>
        </p:txBody>
      </p:sp>
      <p:sp>
        <p:nvSpPr>
          <p:cNvPr id="32" name="text-449"/>
          <p:cNvSpPr txBox="1"/>
          <p:nvPr/>
        </p:nvSpPr>
        <p:spPr>
          <a:xfrm>
            <a:off x="9303791"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Run larger, parallel jobs</a:t>
            </a:r>
            <a:endParaRPr lang="en-US" sz="1400" dirty="0"/>
          </a:p>
        </p:txBody>
      </p:sp>
      <p:sp>
        <p:nvSpPr>
          <p:cNvPr id="33" name="text-450"/>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A suggested path only; go at your own pace.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5  |  NEXT STEPS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Where to learn more, and old names you may meet</a:t>
            </a:r>
            <a:endParaRPr lang="en-US" sz="3200" dirty="0"/>
          </a:p>
        </p:txBody>
      </p:sp>
      <p:sp>
        <p:nvSpPr>
          <p:cNvPr id="4" name="text-451"/>
          <p:cNvSpPr txBox="1"/>
          <p:nvPr/>
        </p:nvSpPr>
        <p:spPr>
          <a:xfrm>
            <a:off x="548640" y="1920240"/>
            <a:ext cx="5394960" cy="365760"/>
          </a:xfrm>
          <a:prstGeom prst="rect">
            <a:avLst/>
          </a:prstGeom>
          <a:noFill/>
          <a:ln/>
        </p:spPr>
        <p:txBody>
          <a:bodyPr wrap="square" lIns="0" tIns="0" rIns="0" bIns="0" rtlCol="0" anchor="t"/>
          <a:lstStyle/>
          <a:p>
            <a:pPr indent="0" marL="0">
              <a:buNone/>
            </a:pPr>
            <a:r>
              <a:rPr lang="en-US" sz="1800" b="1" dirty="0">
                <a:solidFill>
                  <a:schemeClr val="tx1"/>
                </a:solidFill>
              </a:rPr>
              <a:t>Good places to learn</a:t>
            </a:r>
            <a:endParaRPr lang="en-US" sz="1800" dirty="0"/>
          </a:p>
        </p:txBody>
      </p:sp>
      <p:sp>
        <p:nvSpPr>
          <p:cNvPr id="5" name="icon-tile-452"/>
          <p:cNvSpPr/>
          <p:nvPr/>
        </p:nvSpPr>
        <p:spPr>
          <a:xfrm>
            <a:off x="548640" y="2551176"/>
            <a:ext cx="548640" cy="548640"/>
          </a:xfrm>
          <a:prstGeom prst="roundRect">
            <a:avLst>
              <a:gd name="adj" fmla="val 13333"/>
            </a:avLst>
          </a:prstGeom>
          <a:solidFill>
            <a:schemeClr val="accent1"/>
          </a:solidFill>
          <a:ln/>
        </p:spPr>
      </p:sp>
      <p:pic>
        <p:nvPicPr>
          <p:cNvPr id="6" name="icon-453" descr="preencoded.png">    </p:cNvPr>
          <p:cNvPicPr>
            <a:picLocks noChangeAspect="1"/>
          </p:cNvPicPr>
          <p:nvPr/>
        </p:nvPicPr>
        <p:blipFill>
          <a:blip r:embed="rId1"/>
          <a:stretch>
            <a:fillRect/>
          </a:stretch>
        </p:blipFill>
        <p:spPr>
          <a:xfrm>
            <a:off x="680314" y="2682850"/>
            <a:ext cx="285293" cy="285293"/>
          </a:xfrm>
          <a:prstGeom prst="rect">
            <a:avLst/>
          </a:prstGeom>
        </p:spPr>
      </p:pic>
      <p:sp>
        <p:nvSpPr>
          <p:cNvPr id="7" name="text-454"/>
          <p:cNvSpPr txBox="1"/>
          <p:nvPr/>
        </p:nvSpPr>
        <p:spPr>
          <a:xfrm>
            <a:off x="1325880" y="2514600"/>
            <a:ext cx="4617720" cy="292608"/>
          </a:xfrm>
          <a:prstGeom prst="rect">
            <a:avLst/>
          </a:prstGeom>
          <a:noFill/>
          <a:ln/>
        </p:spPr>
        <p:txBody>
          <a:bodyPr wrap="square" lIns="0" tIns="0" rIns="0" bIns="0" rtlCol="0" anchor="t"/>
          <a:lstStyle/>
          <a:p>
            <a:pPr indent="0" marL="0">
              <a:buNone/>
            </a:pPr>
            <a:r>
              <a:rPr lang="en-US" sz="1600" b="1" dirty="0">
                <a:solidFill>
                  <a:schemeClr val="tx1"/>
                </a:solidFill>
              </a:rPr>
              <a:t>Official documentation</a:t>
            </a:r>
            <a:endParaRPr lang="en-US" sz="1600" dirty="0"/>
          </a:p>
        </p:txBody>
      </p:sp>
      <p:sp>
        <p:nvSpPr>
          <p:cNvPr id="8" name="text-455"/>
          <p:cNvSpPr txBox="1"/>
          <p:nvPr/>
        </p:nvSpPr>
        <p:spPr>
          <a:xfrm>
            <a:off x="1325880" y="2852928"/>
            <a:ext cx="4617720" cy="457200"/>
          </a:xfrm>
          <a:prstGeom prst="rect">
            <a:avLst/>
          </a:prstGeom>
          <a:noFill/>
          <a:ln/>
        </p:spPr>
        <p:txBody>
          <a:bodyPr wrap="square" lIns="0" tIns="0" rIns="0" bIns="0" rtlCol="0" anchor="t"/>
          <a:lstStyle/>
          <a:p>
            <a:pPr indent="0" marL="0">
              <a:buNone/>
            </a:pPr>
            <a:r>
              <a:rPr lang="en-US" sz="1400" dirty="0">
                <a:solidFill>
                  <a:schemeClr val="tx2"/>
                </a:solidFill>
              </a:rPr>
              <a:t>code.claude.com/docs</a:t>
            </a:r>
            <a:endParaRPr lang="en-US" sz="1400" dirty="0"/>
          </a:p>
        </p:txBody>
      </p:sp>
      <p:sp>
        <p:nvSpPr>
          <p:cNvPr id="9" name="icon-tile-456"/>
          <p:cNvSpPr/>
          <p:nvPr/>
        </p:nvSpPr>
        <p:spPr>
          <a:xfrm>
            <a:off x="548640" y="3557016"/>
            <a:ext cx="548640" cy="548640"/>
          </a:xfrm>
          <a:prstGeom prst="roundRect">
            <a:avLst>
              <a:gd name="adj" fmla="val 13333"/>
            </a:avLst>
          </a:prstGeom>
          <a:solidFill>
            <a:schemeClr val="accent1"/>
          </a:solidFill>
          <a:ln/>
        </p:spPr>
      </p:sp>
      <p:pic>
        <p:nvPicPr>
          <p:cNvPr id="10" name="icon-457" descr="preencoded.png">    </p:cNvPr>
          <p:cNvPicPr>
            <a:picLocks noChangeAspect="1"/>
          </p:cNvPicPr>
          <p:nvPr/>
        </p:nvPicPr>
        <p:blipFill>
          <a:blip r:embed="rId2"/>
          <a:stretch>
            <a:fillRect/>
          </a:stretch>
        </p:blipFill>
        <p:spPr>
          <a:xfrm>
            <a:off x="680314" y="3688690"/>
            <a:ext cx="285293" cy="285293"/>
          </a:xfrm>
          <a:prstGeom prst="rect">
            <a:avLst/>
          </a:prstGeom>
        </p:spPr>
      </p:pic>
      <p:sp>
        <p:nvSpPr>
          <p:cNvPr id="11" name="text-458"/>
          <p:cNvSpPr txBox="1"/>
          <p:nvPr/>
        </p:nvSpPr>
        <p:spPr>
          <a:xfrm>
            <a:off x="1325880" y="3520440"/>
            <a:ext cx="4617720" cy="292608"/>
          </a:xfrm>
          <a:prstGeom prst="rect">
            <a:avLst/>
          </a:prstGeom>
          <a:noFill/>
          <a:ln/>
        </p:spPr>
        <p:txBody>
          <a:bodyPr wrap="square" lIns="0" tIns="0" rIns="0" bIns="0" rtlCol="0" anchor="t"/>
          <a:lstStyle/>
          <a:p>
            <a:pPr indent="0" marL="0">
              <a:buNone/>
            </a:pPr>
            <a:r>
              <a:rPr lang="en-US" sz="1600" b="1" dirty="0">
                <a:solidFill>
                  <a:schemeClr val="tx1"/>
                </a:solidFill>
              </a:rPr>
              <a:t>Claude Academy</a:t>
            </a:r>
            <a:endParaRPr lang="en-US" sz="1600" dirty="0"/>
          </a:p>
        </p:txBody>
      </p:sp>
      <p:sp>
        <p:nvSpPr>
          <p:cNvPr id="12" name="text-459"/>
          <p:cNvSpPr txBox="1"/>
          <p:nvPr/>
        </p:nvSpPr>
        <p:spPr>
          <a:xfrm>
            <a:off x="1325880" y="3858768"/>
            <a:ext cx="4617720" cy="457200"/>
          </a:xfrm>
          <a:prstGeom prst="rect">
            <a:avLst/>
          </a:prstGeom>
          <a:noFill/>
          <a:ln/>
        </p:spPr>
        <p:txBody>
          <a:bodyPr wrap="square" lIns="0" tIns="0" rIns="0" bIns="0" rtlCol="0" anchor="t"/>
          <a:lstStyle/>
          <a:p>
            <a:pPr indent="0" marL="0">
              <a:buNone/>
            </a:pPr>
            <a:r>
              <a:rPr lang="en-US" sz="1400" dirty="0">
                <a:solidFill>
                  <a:schemeClr val="tx2"/>
                </a:solidFill>
              </a:rPr>
              <a:t>Free self-paced courses, including Claude Code 101</a:t>
            </a:r>
            <a:endParaRPr lang="en-US" sz="1400" dirty="0"/>
          </a:p>
        </p:txBody>
      </p:sp>
      <p:sp>
        <p:nvSpPr>
          <p:cNvPr id="13" name="icon-tile-460"/>
          <p:cNvSpPr/>
          <p:nvPr/>
        </p:nvSpPr>
        <p:spPr>
          <a:xfrm>
            <a:off x="548640" y="4562856"/>
            <a:ext cx="548640" cy="548640"/>
          </a:xfrm>
          <a:prstGeom prst="roundRect">
            <a:avLst>
              <a:gd name="adj" fmla="val 13333"/>
            </a:avLst>
          </a:prstGeom>
          <a:solidFill>
            <a:schemeClr val="accent1"/>
          </a:solidFill>
          <a:ln/>
        </p:spPr>
      </p:sp>
      <p:pic>
        <p:nvPicPr>
          <p:cNvPr id="14" name="icon-461" descr="preencoded.png">    </p:cNvPr>
          <p:cNvPicPr>
            <a:picLocks noChangeAspect="1"/>
          </p:cNvPicPr>
          <p:nvPr/>
        </p:nvPicPr>
        <p:blipFill>
          <a:blip r:embed="rId3"/>
          <a:stretch>
            <a:fillRect/>
          </a:stretch>
        </p:blipFill>
        <p:spPr>
          <a:xfrm>
            <a:off x="680314" y="4694530"/>
            <a:ext cx="285293" cy="285293"/>
          </a:xfrm>
          <a:prstGeom prst="rect">
            <a:avLst/>
          </a:prstGeom>
        </p:spPr>
      </p:pic>
      <p:sp>
        <p:nvSpPr>
          <p:cNvPr id="15" name="text-462"/>
          <p:cNvSpPr txBox="1"/>
          <p:nvPr/>
        </p:nvSpPr>
        <p:spPr>
          <a:xfrm>
            <a:off x="1325880" y="4526280"/>
            <a:ext cx="4617720" cy="292608"/>
          </a:xfrm>
          <a:prstGeom prst="rect">
            <a:avLst/>
          </a:prstGeom>
          <a:noFill/>
          <a:ln/>
        </p:spPr>
        <p:txBody>
          <a:bodyPr wrap="square" lIns="0" tIns="0" rIns="0" bIns="0" rtlCol="0" anchor="t"/>
          <a:lstStyle/>
          <a:p>
            <a:pPr indent="0" marL="0">
              <a:buNone/>
            </a:pPr>
            <a:r>
              <a:rPr lang="en-US" sz="1600" b="1" dirty="0">
                <a:solidFill>
                  <a:schemeClr val="tx1"/>
                </a:solidFill>
              </a:rPr>
              <a:t>Inside Claude Code</a:t>
            </a:r>
            <a:endParaRPr lang="en-US" sz="1600" dirty="0"/>
          </a:p>
        </p:txBody>
      </p:sp>
      <p:sp>
        <p:nvSpPr>
          <p:cNvPr id="16" name="text-463"/>
          <p:cNvSpPr txBox="1"/>
          <p:nvPr/>
        </p:nvSpPr>
        <p:spPr>
          <a:xfrm>
            <a:off x="1325880" y="4864608"/>
            <a:ext cx="4617720" cy="457200"/>
          </a:xfrm>
          <a:prstGeom prst="rect">
            <a:avLst/>
          </a:prstGeom>
          <a:noFill/>
          <a:ln/>
        </p:spPr>
        <p:txBody>
          <a:bodyPr wrap="square" lIns="0" tIns="0" rIns="0" bIns="0" rtlCol="0" anchor="t"/>
          <a:lstStyle/>
          <a:p>
            <a:pPr indent="0" marL="0">
              <a:buNone/>
            </a:pPr>
            <a:r>
              <a:rPr lang="en-US" sz="1400" dirty="0">
                <a:solidFill>
                  <a:schemeClr val="tx2"/>
                </a:solidFill>
              </a:rPr>
              <a:t>Type /help, or simply ask a how-do-I question</a:t>
            </a:r>
            <a:endParaRPr lang="en-US" sz="1400" dirty="0"/>
          </a:p>
        </p:txBody>
      </p:sp>
      <p:sp>
        <p:nvSpPr>
          <p:cNvPr id="17" name="text-464"/>
          <p:cNvSpPr txBox="1"/>
          <p:nvPr/>
        </p:nvSpPr>
        <p:spPr>
          <a:xfrm>
            <a:off x="6245352" y="1920240"/>
            <a:ext cx="5397703" cy="365760"/>
          </a:xfrm>
          <a:prstGeom prst="rect">
            <a:avLst/>
          </a:prstGeom>
          <a:noFill/>
          <a:ln/>
        </p:spPr>
        <p:txBody>
          <a:bodyPr wrap="square" lIns="0" tIns="0" rIns="0" bIns="0" rtlCol="0" anchor="t"/>
          <a:lstStyle/>
          <a:p>
            <a:pPr indent="0" marL="0">
              <a:buNone/>
            </a:pPr>
            <a:r>
              <a:rPr lang="en-US" sz="1800" b="1" dirty="0">
                <a:solidFill>
                  <a:schemeClr val="tx1"/>
                </a:solidFill>
              </a:rPr>
              <a:t>Old names in older tutorials</a:t>
            </a:r>
            <a:endParaRPr lang="en-US" sz="1800" dirty="0"/>
          </a:p>
        </p:txBody>
      </p:sp>
      <p:graphicFrame>
        <p:nvGraphicFramePr>
          <p:cNvPr id="21" name="table-465"/>
          <p:cNvGraphicFramePr>
            <a:graphicFrameLocks noGrp="1"/>
          </p:cNvGraphicFramePr>
          <p:nvPr>
            <p:extLst>
              <p:ext uri="{D42A27DB-BD31-4B8C-83A1-F6EECF244321}">
                <p14:modId xmlns:p14="http://schemas.microsoft.com/office/powerpoint/2010/main" val="1579011935"/>
              </p:ext>
            </p:extLst>
          </p:nvPr>
        </p:nvGraphicFramePr>
        <p:xfrm>
          <a:off x="6245352" y="2514600"/>
          <a:ext cx="5397703" cy="914400"/>
        </p:xfrm>
        <a:graphic>
          <a:graphicData uri="http://schemas.openxmlformats.org/drawingml/2006/table">
            <a:tbl>
              <a:tblPr/>
              <a:tblGrid>
                <a:gridCol w="2698852"/>
                <a:gridCol w="2698852"/>
              </a:tblGrid>
              <a:tr h="512064">
                <a:tc>
                  <a:txBody>
                    <a:bodyPr/>
                    <a:lstStyle/>
                    <a:p>
                      <a:pPr indent="0" marL="0">
                        <a:buNone/>
                      </a:pPr>
                      <a:r>
                        <a:rPr lang="en-US" sz="1400" b="1" dirty="0">
                          <a:solidFill>
                            <a:schemeClr val="bg1"/>
                          </a:solidFill>
                        </a:rPr>
                        <a:t>Old name</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Now called</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accent3"/>
                    </a:solidFill>
                  </a:tcPr>
                </a:tc>
              </a:tr>
              <a:tr h="512064">
                <a:tc>
                  <a:txBody>
                    <a:bodyPr/>
                    <a:lstStyle/>
                    <a:p>
                      <a:pPr indent="0" marL="0">
                        <a:buNone/>
                      </a:pPr>
                      <a:r>
                        <a:rPr lang="en-US" sz="1400" dirty="0">
                          <a:solidFill>
                            <a:schemeClr val="tx1"/>
                          </a:solidFill>
                        </a:rPr>
                        <a:t>Headless mode</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Non-interactive mode</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Slash commands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Commands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Custom commands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Skills</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1"/>
                    </a:solidFill>
                  </a:tcPr>
                </a:tc>
              </a:tr>
              <a:tr h="512064">
                <a:tc>
                  <a:txBody>
                    <a:bodyPr/>
                    <a:lstStyle/>
                    <a:p>
                      <a:pPr indent="0" marL="0">
                        <a:buNone/>
                      </a:pPr>
                      <a:r>
                        <a:rPr lang="en-US" sz="1400" dirty="0">
                          <a:solidFill>
                            <a:schemeClr val="tx1"/>
                          </a:solidFill>
                        </a:rPr>
                        <a:t>Web session</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Cloud session</a:t>
                      </a:r>
                      <a:endParaRPr lang="en-US" sz="1400" dirty="0"/>
                    </a:p>
                  </a:txBody>
                  <a:tcPr marL="128016" marR="91440" marT="36576" marB="36576" anchor="ctr">
                    <a:lnL w="9525" cap="flat" cmpd="sng" algn="ctr">
                      <a:solidFill>
                        <a:srgbClr val="F2D8CB"/>
                      </a:solidFill>
                      <a:prstDash val="solid"/>
                      <a:round/>
                      <a:headEnd type="none" w="med" len="med"/>
                      <a:tailEnd type="none" w="med" len="med"/>
                    </a:lnL>
                    <a:lnR w="9525" cap="flat" cmpd="sng" algn="ctr">
                      <a:solidFill>
                        <a:srgbClr val="F2D8CB"/>
                      </a:solidFill>
                      <a:prstDash val="solid"/>
                      <a:round/>
                      <a:headEnd type="none" w="med" len="med"/>
                      <a:tailEnd type="none" w="med" len="med"/>
                    </a:lnR>
                    <a:lnT w="9525" cap="flat" cmpd="sng" algn="ctr">
                      <a:solidFill>
                        <a:srgbClr val="F2D8CB"/>
                      </a:solidFill>
                      <a:prstDash val="solid"/>
                      <a:round/>
                      <a:headEnd type="none" w="med" len="med"/>
                      <a:tailEnd type="none" w="med" len="med"/>
                    </a:lnT>
                    <a:lnB w="9525" cap="flat" cmpd="sng" algn="ctr">
                      <a:solidFill>
                        <a:srgbClr val="F2D8CB"/>
                      </a:solidFill>
                      <a:prstDash val="solid"/>
                      <a:round/>
                      <a:headEnd type="none" w="med" len="med"/>
                      <a:tailEnd type="none" w="med" len="med"/>
                    </a:lnB>
                    <a:solidFill>
                      <a:schemeClr val="bg2"/>
                    </a:solidFill>
                  </a:tcPr>
                </a:tc>
              </a:tr>
            </a:tbl>
          </a:graphicData>
        </a:graphic>
      </p:graphicFrame>
      <p:sp>
        <p:nvSpPr>
          <p:cNvPr id="19" name="text-46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Claude Code documentation, code.claude.com/docs (checked October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SUMMARY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bg1"/>
                </a:solidFill>
              </a:rPr>
              <a:t>Three things to remember about Claude Code</a:t>
            </a:r>
            <a:endParaRPr lang="en-US" sz="3200" dirty="0"/>
          </a:p>
        </p:txBody>
      </p:sp>
      <p:sp>
        <p:nvSpPr>
          <p:cNvPr id="4" name="card-467"/>
          <p:cNvSpPr/>
          <p:nvPr/>
        </p:nvSpPr>
        <p:spPr>
          <a:xfrm>
            <a:off x="548640" y="2057400"/>
            <a:ext cx="3454298" cy="2788920"/>
          </a:xfrm>
          <a:prstGeom prst="roundRect">
            <a:avLst>
              <a:gd name="adj" fmla="val 2623"/>
            </a:avLst>
          </a:prstGeom>
          <a:solidFill>
            <a:schemeClr val="tx2"/>
          </a:solidFill>
          <a:ln/>
        </p:spPr>
      </p:sp>
      <p:sp>
        <p:nvSpPr>
          <p:cNvPr id="5" name="text-468"/>
          <p:cNvSpPr txBox="1"/>
          <p:nvPr/>
        </p:nvSpPr>
        <p:spPr>
          <a:xfrm>
            <a:off x="822960"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01</a:t>
            </a:r>
            <a:endParaRPr lang="en-US" sz="2800" dirty="0"/>
          </a:p>
        </p:txBody>
      </p:sp>
      <p:sp>
        <p:nvSpPr>
          <p:cNvPr id="6" name="text-469"/>
          <p:cNvSpPr txBox="1"/>
          <p:nvPr/>
        </p:nvSpPr>
        <p:spPr>
          <a:xfrm>
            <a:off x="822960"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It acts</a:t>
            </a:r>
            <a:endParaRPr lang="en-US" sz="2000" dirty="0"/>
          </a:p>
        </p:txBody>
      </p:sp>
      <p:sp>
        <p:nvSpPr>
          <p:cNvPr id="7" name="text-470"/>
          <p:cNvSpPr txBox="1"/>
          <p:nvPr/>
        </p:nvSpPr>
        <p:spPr>
          <a:xfrm>
            <a:off x="822960"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Claude Code reads, edits and runs. It does not only give advice.</a:t>
            </a:r>
            <a:endParaRPr lang="en-US" sz="1600" dirty="0"/>
          </a:p>
        </p:txBody>
      </p:sp>
      <p:sp>
        <p:nvSpPr>
          <p:cNvPr id="8" name="card-471"/>
          <p:cNvSpPr/>
          <p:nvPr/>
        </p:nvSpPr>
        <p:spPr>
          <a:xfrm>
            <a:off x="4368698" y="2057400"/>
            <a:ext cx="3454298" cy="2788920"/>
          </a:xfrm>
          <a:prstGeom prst="roundRect">
            <a:avLst>
              <a:gd name="adj" fmla="val 2623"/>
            </a:avLst>
          </a:prstGeom>
          <a:solidFill>
            <a:schemeClr val="tx2"/>
          </a:solidFill>
          <a:ln/>
        </p:spPr>
      </p:sp>
      <p:sp>
        <p:nvSpPr>
          <p:cNvPr id="9" name="text-472"/>
          <p:cNvSpPr txBox="1"/>
          <p:nvPr/>
        </p:nvSpPr>
        <p:spPr>
          <a:xfrm>
            <a:off x="4643018"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02</a:t>
            </a:r>
            <a:endParaRPr lang="en-US" sz="2800" dirty="0"/>
          </a:p>
        </p:txBody>
      </p:sp>
      <p:sp>
        <p:nvSpPr>
          <p:cNvPr id="10" name="text-473"/>
          <p:cNvSpPr txBox="1"/>
          <p:nvPr/>
        </p:nvSpPr>
        <p:spPr>
          <a:xfrm>
            <a:off x="4643018"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You stay in control</a:t>
            </a:r>
            <a:endParaRPr lang="en-US" sz="2000" dirty="0"/>
          </a:p>
        </p:txBody>
      </p:sp>
      <p:sp>
        <p:nvSpPr>
          <p:cNvPr id="11" name="text-474"/>
          <p:cNvSpPr txBox="1"/>
          <p:nvPr/>
        </p:nvSpPr>
        <p:spPr>
          <a:xfrm>
            <a:off x="4643018"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Permission modes, plan mode and checkpoints decide what it may do.</a:t>
            </a:r>
            <a:endParaRPr lang="en-US" sz="1600" dirty="0"/>
          </a:p>
        </p:txBody>
      </p:sp>
      <p:sp>
        <p:nvSpPr>
          <p:cNvPr id="12" name="card-475"/>
          <p:cNvSpPr/>
          <p:nvPr/>
        </p:nvSpPr>
        <p:spPr>
          <a:xfrm>
            <a:off x="8188757" y="2057400"/>
            <a:ext cx="3454298" cy="2788920"/>
          </a:xfrm>
          <a:prstGeom prst="roundRect">
            <a:avLst>
              <a:gd name="adj" fmla="val 2623"/>
            </a:avLst>
          </a:prstGeom>
          <a:solidFill>
            <a:schemeClr val="tx2"/>
          </a:solidFill>
          <a:ln/>
        </p:spPr>
      </p:sp>
      <p:sp>
        <p:nvSpPr>
          <p:cNvPr id="13" name="text-476"/>
          <p:cNvSpPr txBox="1"/>
          <p:nvPr/>
        </p:nvSpPr>
        <p:spPr>
          <a:xfrm>
            <a:off x="8463077"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03</a:t>
            </a:r>
            <a:endParaRPr lang="en-US" sz="2800" dirty="0"/>
          </a:p>
        </p:txBody>
      </p:sp>
      <p:sp>
        <p:nvSpPr>
          <p:cNvPr id="14" name="text-477"/>
          <p:cNvSpPr txBox="1"/>
          <p:nvPr/>
        </p:nvSpPr>
        <p:spPr>
          <a:xfrm>
            <a:off x="8463077"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Start small</a:t>
            </a:r>
            <a:endParaRPr lang="en-US" sz="2000" dirty="0"/>
          </a:p>
        </p:txBody>
      </p:sp>
      <p:sp>
        <p:nvSpPr>
          <p:cNvPr id="15" name="text-478"/>
          <p:cNvSpPr txBox="1"/>
          <p:nvPr/>
        </p:nvSpPr>
        <p:spPr>
          <a:xfrm>
            <a:off x="8463077"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Ask a question, review a plan, then let it make one change.</a:t>
            </a:r>
            <a:endParaRPr lang="en-US" sz="1600" dirty="0"/>
          </a:p>
        </p:txBody>
      </p:sp>
      <p:sp>
        <p:nvSpPr>
          <p:cNvPr id="16" name="text-479"/>
          <p:cNvSpPr txBox="1"/>
          <p:nvPr/>
        </p:nvSpPr>
        <p:spPr>
          <a:xfrm>
            <a:off x="548640" y="5349240"/>
            <a:ext cx="11094415" cy="411480"/>
          </a:xfrm>
          <a:prstGeom prst="rect">
            <a:avLst/>
          </a:prstGeom>
          <a:noFill/>
          <a:ln/>
        </p:spPr>
        <p:txBody>
          <a:bodyPr wrap="square" lIns="0" tIns="0" rIns="0" bIns="0" rtlCol="0" anchor="t"/>
          <a:lstStyle/>
          <a:p>
            <a:pPr indent="0" marL="0">
              <a:buNone/>
            </a:pPr>
            <a:r>
              <a:rPr lang="en-US" sz="2000" dirty="0">
                <a:solidFill>
                  <a:schemeClr val="accent5"/>
                </a:solidFill>
              </a:rPr>
              <a:t>Your next step: open a terminal and type  </a:t>
            </a:r>
            <a:pPr indent="0" marL="0">
              <a:buNone/>
            </a:pPr>
            <a:r>
              <a:rPr lang="en-US" sz="2000" b="1" dirty="0">
                <a:solidFill>
                  <a:schemeClr val="bg1"/>
                </a:solidFill>
                <a:latin typeface="Courier New" pitchFamily="34" charset="0"/>
                <a:ea typeface="Courier New" pitchFamily="34" charset="-122"/>
                <a:cs typeface="Courier New" pitchFamily="34" charset="-120"/>
              </a:rPr>
              <a:t>claude</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Claude Code Beginner">
  <a:themeElements>
    <a:clrScheme name="Claude Code Beginner">
      <a:dk1>
        <a:srgbClr val="1F1E1D"/>
      </a:dk1>
      <a:lt1>
        <a:srgbClr val="FFFFFF"/>
      </a:lt1>
      <a:dk2>
        <a:srgbClr val="3A3633"/>
      </a:dk2>
      <a:lt2>
        <a:srgbClr val="F4F1ED"/>
      </a:lt2>
      <a:accent1>
        <a:srgbClr val="B5532F"/>
      </a:accent1>
      <a:accent2>
        <a:srgbClr val="2F6F73"/>
      </a:accent2>
      <a:accent3>
        <a:srgbClr val="7A3B22"/>
      </a:accent3>
      <a:accent4>
        <a:srgbClr val="6E6862"/>
      </a:accent4>
      <a:accent5>
        <a:srgbClr val="F2D8CB"/>
      </a:accent5>
      <a:accent6>
        <a:srgbClr val="3F7D58"/>
      </a:accent6>
      <a:hlink>
        <a:srgbClr val="B5532F"/>
      </a:hlink>
      <a:folHlink>
        <a:srgbClr val="6E6862"/>
      </a:folHlink>
    </a:clrScheme>
    <a:fontScheme name="Claude Code Beginn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from zero: a beginner's guide</dc:title>
  <dc:subject>PptxGenJS Presentation</dc:subject>
  <dc:creator>PptxGenJS</dc:creator>
  <cp:lastModifiedBy>PptxGenJS</cp:lastModifiedBy>
  <cp:revision>1</cp:revision>
  <dcterms:created xsi:type="dcterms:W3CDTF">2026-10-05T12:10:23Z</dcterms:created>
  <dcterms:modified xsi:type="dcterms:W3CDTF">2026-10-05T12:10:23Z</dcterms:modified>
</cp:coreProperties>
</file>