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dab93f-1af8-c551-a64a-40def87a97f9}">
          <p14:sldIdLst>
            <p14:sldId id="256"/>
          </p14:sldIdLst>
        </p14:section>
        <p14:section name="1 What it is" id="{33d39714-65db-eaa1-792a-06bd266c35e0}">
          <p14:sldIdLst>
            <p14:sldId id="257"/>
            <p14:sldId id="258"/>
            <p14:sldId id="259"/>
            <p14:sldId id="260"/>
          </p14:sldIdLst>
        </p14:section>
        <p14:section name="2 Getting started" id="{4cdd9ce2-688f-3568-9177-118027477b2b}">
          <p14:sldIdLst>
            <p14:sldId id="261"/>
            <p14:sldId id="262"/>
            <p14:sldId id="263"/>
          </p14:sldIdLst>
        </p14:section>
        <p14:section name="3 Terminology" id="{04459201-be3e-a5b7-c4af-21677f2cd8ae}">
          <p14:sldIdLst>
            <p14:sldId id="264"/>
            <p14:sldId id="265"/>
            <p14:sldId id="266"/>
            <p14:sldId id="267"/>
            <p14:sldId id="268"/>
          </p14:sldIdLst>
        </p14:section>
        <p14:section name="4 Using it" id="{e41971c4-3222-29ae-1168-41176a69f440}">
          <p14:sldIdLst>
            <p14:sldId id="269"/>
            <p14:sldId id="270"/>
            <p14:sldId id="271"/>
            <p14:sldId id="272"/>
            <p14:sldId id="273"/>
          </p14:sldIdLst>
        </p14:section>
        <p14:section name="5 Next steps" id="{2a37525c-757a-5baa-b043-88b89c408e78}">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no experience with AI coding agents. By the end you will know what Google Antigravity is, the vocabulary around it, and how to give an agent a first task. The panel on the right is an illustration of the idea, several agents working on different tasks and leaving artifacts, not a real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describes Antigravity as an agentic development platform: a command centre to launch, monitor and orchestrate AI agents. The key point for a beginner is that agents have direct access to three things, the editor, the terminal and a browser, so they can build something and check it themselves. It was announced on 18 November 2025 alongside Gemini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piece of vocabulary is agent-first. Earlier AI tools sat inside your editor and helped while you typed. In an agent-first tool the roles change: you assign a task, the agent works with more autonomy, and your job becomes directing and reviewing. That is why so much of Antigravity's vocabulary is about plans, reviews and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history helps because the product changed quickly. It launched in public preview on 18 November 2025 as a single agentic code editor. In May 2026, at Google I/O, Antigravity 2.0 turned it into a family: a standalone desktop app, a command-line tool and a developer kit. In June 2026 consumer access to the older Gemini CLI ended and Antigravity CLI replaced it. More recently, Google released extensions that bring the agents into other editors. If a tutorial looks different from your screen, check its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version 2.0 the word Antigravity covers five things. The flagship is the standalone desktop app, a command centre for managing agents, highlighted on the left. The Antigravity IDE is the original full editor and is recommended for developers. The CLI brings the same agent to the terminal with the command agy. The SDK is for programmers who want to build on it. And there are official extensions for other editors. A beginner should start with the desktop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from Google's own getting-started guide: a computer running macOS, Windows or a supported Linux distribution, the Chrome browser, and a personal Gmail account. Signing in with a personal account gives a starter allowance; paid Google AI plans raise the limits, and companies can connect through Google Cloud. Allowances and pricing change, so check the Antigravity site for the current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download the app from the official download page. Step 2: sign in with your Google account. Step 3: create a project by choosing a folder; the folder does not have to be empty, and it sets what the agent is allowed to see and change. Step 4: start a conversation and type your first message. You can pick the model next to the chat box. The exact buttons may change between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an agent handles a task. First it plans, producing a task list and an implementation plan. Then it builds, and you can inspect the code diffs. Finally it verifies, capturing screenshots where relevant and writing a walkthrough that summarises the changes and how to test them. The documents it leaves behind are called artifacts, which is the most important Antigravity term and has its own slide later. Whether the agent waits for your approval depends on your artifact review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these six. An agent is the AI worker. A project groups one or more folders and has its own settings, so the agent has the right files and permissions. A conversation is one thread inside a project; a project can hold many. The model is the underlying AI, which you can change from the chat box. An artifact is something the agent produces to communicate, and a subagent is a helper the agent starts for a particular job, such as controlling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Artifacts are Antigravity's signature idea. Instead of asking you to trust that a bug is fixed, the agent produces something you can inspect. Before work starts you get a task list and an implementation plan. During the work you can read and comment on code diffs, which Google notes are technically not artifacts but serve the same purpose. Afterwards you get screenshots where the task has a visual result, and a walkthrough explaining what changed and how to test it. Browser recordings and diagrams can also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words describe the interface. The Agent Manager, also called the Manager view, is where you oversee several agents; in version 2.0 this became the standalone Antigravity app. The Editor view is the traditional code editor in the Antigravity IDE, with an agent panel for chatting. The auxiliary pane is where artifacts and generated files are listed. Plan mode and Fast mode are two ways an agent can work: plan first for larger jobs, or act immediately for small ones. Labels may differ slightly depending on your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describe ways to tailor Antigravity. Rules are standing instructions that always apply, for example coding standards. A workflow is a saved procedure you trigger with a slash command. A skill is a folder containing a SKILL.md file; only its short description is read at first, and the full instructions load when a request matches, which Google calls progressive disclosure. MCP, the Model Context Protocol, is a standard for connecting agents to external systems, and Antigravity offers one-click installs for many Google Cloud services. Plugins are add-ons, and scheduled tasks let an agent run a prompt on a timetable.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balance safety against speed. With request-review, the default, the agent pauses before running a terminal command or changing files. Proceed-in-sandbox lets it run commands without asking, but inside an isolated container that cannot touch your real files. Always-proceed gives full autonomy on your actual machine and never prompts. Strict limits the agent to reading unless you approve. Separately, the artifact review policy controls whether the agent waits for you to approve its implementation plan. These names come from the CLI settings; the desktop app offers a security preset and related options in each project's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a reference. In the desktop app, typing a slash shows the available commands; /browser and /schedule are the two worth knowing first, and the @ sign attaches a file. The CLI is started with agy. The -p option answers a single prompt and exits, which is useful in scripts. Inside the CLI, /plan asks the agent to plan first, /artifact lets you open and approve what it produced, and /config opens the settings, including tool permission. Type /help for the current full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 session that moves from safe to more capable. The first prompt only talks. The second asks for something to be built: the agent returns an implementation plan, you click Proceed, grant any permissions it asks for, and it produces the files and a walkthrough. The third uses the browser subagent, which asks permission before starting a Chrome session. The fourth creates a scheduled task; you can also manage these from the Schedule section of the app. These are example prompts in my own words; adapt them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not only for programmers. The first four jobs are typical developer tasks: building an app from a description, sometimes called vibe coding, understanding an unfamiliar codebase, fixing bugs and writing documentation. The last two, in teal, are everyday tasks that Google's own tutorial highlights for non-developers: organising files into folders and summarising documents or web pages. Each dark box is an example of what you might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clearer the request, the less the agent has to guess. A specific request says what to build, for whom and with which parts. Three habits that fit Antigravity in particular: use Plan mode for anything larger than a quick fix, attach the relevant files with the @ sign, and treat the implementation plan as a draft you can comment on. Changing the plan is far cheaper than changing finished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Keep the default request-review permission until you understand what the agent tends to do. Read plans before approving them. When Antigravity asks whether you trust a folder, say yes only for folders you know. Use project settings to restrict which folders, web addresses and MCP tools a project may use. And avoid the fully autonomous options, always-proceed and the CLI flag that skips permissions, on a machine that holds anything important. Google's own tutorial tells users to review permission prompts carefully, calling them a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seen the earlier decks on Codex and Claude Code, this table connects the three. Each comes from a different company and runs mainly on that company's models, though Antigravity also offers some third-party models. Each has a terminal command, a file where you keep standing instructions for the project, and a desktop app that suits beginners. The concepts carry over: plans, permissions, skills and MCP appear in all of them, sometimes under different names. This slide is a neutral orientation, not a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order, not an official curriculum. Day one is about getting comfortable with projects and conversations. In the first week, build something small in Plan mode and make a habit of reading the task list, the plan and the walkthrough. In the first month, start customising with a rule, a skill and one MCP connection. Running several agents in parallel, scheduling tasks and using the CLI can wait until you have a real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dependable places to keep learning: the official documentation, Google's free codelabs, and the product's YouTube channel. The table on the right will save confusion, because a lot of material online was written before version 2.0. What was simply called Antigravity in 2025 is now the Antigravity IDE; the Agent Manager that lived inside it became the standalone desktop app; Gemini CLI was replaced by Antigravity CLI; and Gemini CLI extensions are now called 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ideas. One: in Antigravity, agents carry out the work and you manage them. Two: artifacts are how you verify that work without reading all the code. Three: start with the desktop app, keep the default permissions and build up from small tasks. Then invite the audience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Google Antigravity from zero  |  A beginner's guide</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15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5943600"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783080"/>
            <a:ext cx="5943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703320"/>
            <a:ext cx="566928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7152E"/>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Google Antigravity from zero  |  A beginner's guide</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594360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A BEGINNER'S GUIDE</a:t>
            </a:r>
            <a:endParaRPr lang="en-US" sz="1200" dirty="0"/>
          </a:p>
        </p:txBody>
      </p:sp>
      <p:sp>
        <p:nvSpPr>
          <p:cNvPr id="3" name="Text 0"/>
          <p:cNvSpPr/>
          <p:nvPr>
            <p:ph idx="101" type="title" hasCustomPrompt="1"/>
          </p:nvPr>
        </p:nvSpPr>
        <p:spPr>
          <a:xfrm>
            <a:off x="548640" y="1783080"/>
            <a:ext cx="5943600" cy="1737360"/>
          </a:xfrm>
          <a:prstGeom prst="rect">
            <a:avLst/>
          </a:prstGeom>
          <a:noFill/>
          <a:ln/>
        </p:spPr>
        <p:txBody>
          <a:bodyPr wrap="square" lIns="0" tIns="0" rIns="0" bIns="0" rtlCol="0" anchor="t"/>
          <a:lstStyle/>
          <a:p>
            <a:pPr algn="l" indent="0" marL="0">
              <a:buNone/>
            </a:pPr>
            <a:r>
              <a:rPr lang="en-US" sz="4400" b="1" dirty="0">
                <a:solidFill>
                  <a:schemeClr val="bg1"/>
                </a:solidFill>
              </a:rPr>
              <a:t>Google Antigravity from zero</a:t>
            </a:r>
            <a:endParaRPr lang="en-US" sz="4400" dirty="0"/>
          </a:p>
        </p:txBody>
      </p:sp>
      <p:sp>
        <p:nvSpPr>
          <p:cNvPr id="4" name="Text 0"/>
          <p:cNvSpPr/>
          <p:nvPr>
            <p:ph idx="102" type="body" hasCustomPrompt="1"/>
          </p:nvPr>
        </p:nvSpPr>
        <p:spPr>
          <a:xfrm>
            <a:off x="548640" y="3703320"/>
            <a:ext cx="5669280" cy="914400"/>
          </a:xfrm>
          <a:prstGeom prst="rect">
            <a:avLst/>
          </a:prstGeom>
          <a:noFill/>
          <a:ln/>
        </p:spPr>
        <p:txBody>
          <a:bodyPr wrap="square" lIns="0" tIns="0" rIns="0" bIns="0" rtlCol="0" anchor="t"/>
          <a:lstStyle/>
          <a:p>
            <a:pPr indent="0" marL="0">
              <a:buNone/>
            </a:pPr>
            <a:r>
              <a:rPr lang="en-US" sz="1800" dirty="0">
                <a:solidFill>
                  <a:schemeClr val="accent5"/>
                </a:solidFill>
              </a:rPr>
              <a:t>What it is, the words you will hear, and how to give an AI agent its first task</a:t>
            </a:r>
            <a:endParaRPr lang="en-US" sz="1800" dirty="0"/>
          </a:p>
        </p:txBody>
      </p:sp>
      <p:sp>
        <p:nvSpPr>
          <p:cNvPr id="5" name="text-1"/>
          <p:cNvSpPr txBox="1"/>
          <p:nvPr/>
        </p:nvSpPr>
        <p:spPr>
          <a:xfrm>
            <a:off x="548640" y="5257800"/>
            <a:ext cx="5943600" cy="2743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No experience with AI agents needed</a:t>
            </a:r>
            <a:endParaRPr lang="en-US" sz="1200" dirty="0"/>
          </a:p>
        </p:txBody>
      </p:sp>
      <p:sp>
        <p:nvSpPr>
          <p:cNvPr id="6" name="card-2"/>
          <p:cNvSpPr/>
          <p:nvPr/>
        </p:nvSpPr>
        <p:spPr>
          <a:xfrm>
            <a:off x="7086600" y="1234440"/>
            <a:ext cx="4553712" cy="4343400"/>
          </a:xfrm>
          <a:prstGeom prst="roundRect">
            <a:avLst>
              <a:gd name="adj" fmla="val 2526"/>
            </a:avLst>
          </a:prstGeom>
          <a:solidFill>
            <a:schemeClr val="tx2"/>
          </a:solidFill>
          <a:ln/>
        </p:spPr>
      </p:sp>
      <p:sp>
        <p:nvSpPr>
          <p:cNvPr id="7" name="text-3"/>
          <p:cNvSpPr txBox="1"/>
          <p:nvPr/>
        </p:nvSpPr>
        <p:spPr>
          <a:xfrm>
            <a:off x="7406640" y="1508760"/>
            <a:ext cx="182880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AGENTS</a:t>
            </a:r>
            <a:endParaRPr lang="en-US" sz="1200" dirty="0"/>
          </a:p>
        </p:txBody>
      </p:sp>
      <p:sp>
        <p:nvSpPr>
          <p:cNvPr id="8" name="card-4"/>
          <p:cNvSpPr/>
          <p:nvPr/>
        </p:nvSpPr>
        <p:spPr>
          <a:xfrm>
            <a:off x="7406640" y="1920240"/>
            <a:ext cx="3913632" cy="640080"/>
          </a:xfrm>
          <a:prstGeom prst="roundRect">
            <a:avLst>
              <a:gd name="adj" fmla="val 17143"/>
            </a:avLst>
          </a:prstGeom>
          <a:solidFill>
            <a:schemeClr val="tx1"/>
          </a:solidFill>
          <a:ln/>
        </p:spPr>
      </p:sp>
      <p:sp>
        <p:nvSpPr>
          <p:cNvPr id="9" name="dot-5"/>
          <p:cNvSpPr/>
          <p:nvPr/>
        </p:nvSpPr>
        <p:spPr>
          <a:xfrm>
            <a:off x="7589520" y="2148840"/>
            <a:ext cx="182880" cy="182880"/>
          </a:xfrm>
          <a:prstGeom prst="ellipse">
            <a:avLst/>
          </a:prstGeom>
          <a:solidFill>
            <a:schemeClr val="accent1"/>
          </a:solidFill>
          <a:ln/>
        </p:spPr>
      </p:sp>
      <p:sp>
        <p:nvSpPr>
          <p:cNvPr id="10" name="text-6"/>
          <p:cNvSpPr txBox="1"/>
          <p:nvPr/>
        </p:nvSpPr>
        <p:spPr>
          <a:xfrm>
            <a:off x="7955280" y="1920240"/>
            <a:ext cx="2011680" cy="640080"/>
          </a:xfrm>
          <a:prstGeom prst="rect">
            <a:avLst/>
          </a:prstGeom>
          <a:noFill/>
          <a:ln/>
        </p:spPr>
        <p:txBody>
          <a:bodyPr wrap="square" lIns="0" tIns="0" rIns="0" bIns="0" rtlCol="0" anchor="ctr"/>
          <a:lstStyle/>
          <a:p>
            <a:pPr indent="0" marL="0">
              <a:buNone/>
            </a:pPr>
            <a:r>
              <a:rPr lang="en-US" sz="1400" dirty="0">
                <a:solidFill>
                  <a:schemeClr val="bg1"/>
                </a:solidFill>
              </a:rPr>
              <a:t>Build a to-do app</a:t>
            </a:r>
            <a:endParaRPr lang="en-US" sz="1400" dirty="0"/>
          </a:p>
        </p:txBody>
      </p:sp>
      <p:sp>
        <p:nvSpPr>
          <p:cNvPr id="11" name="pill-7"/>
          <p:cNvSpPr/>
          <p:nvPr/>
        </p:nvSpPr>
        <p:spPr>
          <a:xfrm>
            <a:off x="10040112" y="2084832"/>
            <a:ext cx="1097280" cy="310896"/>
          </a:xfrm>
          <a:prstGeom prst="roundRect">
            <a:avLst>
              <a:gd name="adj" fmla="val 50000"/>
            </a:avLst>
          </a:prstGeom>
          <a:solidFill>
            <a:schemeClr val="accent1"/>
          </a:solidFill>
          <a:ln/>
        </p:spPr>
      </p:sp>
      <p:sp>
        <p:nvSpPr>
          <p:cNvPr id="12" name="text-8"/>
          <p:cNvSpPr txBox="1"/>
          <p:nvPr/>
        </p:nvSpPr>
        <p:spPr>
          <a:xfrm>
            <a:off x="10040112" y="2084832"/>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Planning</a:t>
            </a:r>
            <a:endParaRPr lang="en-US" sz="1200" dirty="0"/>
          </a:p>
        </p:txBody>
      </p:sp>
      <p:sp>
        <p:nvSpPr>
          <p:cNvPr id="13" name="card-9"/>
          <p:cNvSpPr/>
          <p:nvPr/>
        </p:nvSpPr>
        <p:spPr>
          <a:xfrm>
            <a:off x="7406640" y="2697480"/>
            <a:ext cx="3913632" cy="640080"/>
          </a:xfrm>
          <a:prstGeom prst="roundRect">
            <a:avLst>
              <a:gd name="adj" fmla="val 17143"/>
            </a:avLst>
          </a:prstGeom>
          <a:solidFill>
            <a:schemeClr val="tx1"/>
          </a:solidFill>
          <a:ln/>
        </p:spPr>
      </p:sp>
      <p:sp>
        <p:nvSpPr>
          <p:cNvPr id="14" name="dot-10"/>
          <p:cNvSpPr/>
          <p:nvPr/>
        </p:nvSpPr>
        <p:spPr>
          <a:xfrm>
            <a:off x="7589520" y="2926080"/>
            <a:ext cx="182880" cy="182880"/>
          </a:xfrm>
          <a:prstGeom prst="ellipse">
            <a:avLst/>
          </a:prstGeom>
          <a:solidFill>
            <a:schemeClr val="accent2"/>
          </a:solidFill>
          <a:ln/>
        </p:spPr>
      </p:sp>
      <p:sp>
        <p:nvSpPr>
          <p:cNvPr id="15" name="text-11"/>
          <p:cNvSpPr txBox="1"/>
          <p:nvPr/>
        </p:nvSpPr>
        <p:spPr>
          <a:xfrm>
            <a:off x="7955280" y="2697480"/>
            <a:ext cx="2011680" cy="640080"/>
          </a:xfrm>
          <a:prstGeom prst="rect">
            <a:avLst/>
          </a:prstGeom>
          <a:noFill/>
          <a:ln/>
        </p:spPr>
        <p:txBody>
          <a:bodyPr wrap="square" lIns="0" tIns="0" rIns="0" bIns="0" rtlCol="0" anchor="ctr"/>
          <a:lstStyle/>
          <a:p>
            <a:pPr indent="0" marL="0">
              <a:buNone/>
            </a:pPr>
            <a:r>
              <a:rPr lang="en-US" sz="1400" dirty="0">
                <a:solidFill>
                  <a:schemeClr val="bg1"/>
                </a:solidFill>
              </a:rPr>
              <a:t>Fix the login bug</a:t>
            </a:r>
            <a:endParaRPr lang="en-US" sz="1400" dirty="0"/>
          </a:p>
        </p:txBody>
      </p:sp>
      <p:sp>
        <p:nvSpPr>
          <p:cNvPr id="16" name="pill-12"/>
          <p:cNvSpPr/>
          <p:nvPr/>
        </p:nvSpPr>
        <p:spPr>
          <a:xfrm>
            <a:off x="10040112" y="2862072"/>
            <a:ext cx="1097280" cy="310896"/>
          </a:xfrm>
          <a:prstGeom prst="roundRect">
            <a:avLst>
              <a:gd name="adj" fmla="val 50000"/>
            </a:avLst>
          </a:prstGeom>
          <a:solidFill>
            <a:schemeClr val="accent2"/>
          </a:solidFill>
          <a:ln/>
        </p:spPr>
      </p:sp>
      <p:sp>
        <p:nvSpPr>
          <p:cNvPr id="17" name="text-13"/>
          <p:cNvSpPr txBox="1"/>
          <p:nvPr/>
        </p:nvSpPr>
        <p:spPr>
          <a:xfrm>
            <a:off x="10040112" y="2862072"/>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Testing</a:t>
            </a:r>
            <a:endParaRPr lang="en-US" sz="1200" dirty="0"/>
          </a:p>
        </p:txBody>
      </p:sp>
      <p:sp>
        <p:nvSpPr>
          <p:cNvPr id="18" name="card-14"/>
          <p:cNvSpPr/>
          <p:nvPr/>
        </p:nvSpPr>
        <p:spPr>
          <a:xfrm>
            <a:off x="7406640" y="3474720"/>
            <a:ext cx="3913632" cy="640080"/>
          </a:xfrm>
          <a:prstGeom prst="roundRect">
            <a:avLst>
              <a:gd name="adj" fmla="val 17143"/>
            </a:avLst>
          </a:prstGeom>
          <a:solidFill>
            <a:schemeClr val="tx1"/>
          </a:solidFill>
          <a:ln/>
        </p:spPr>
      </p:sp>
      <p:sp>
        <p:nvSpPr>
          <p:cNvPr id="19" name="dot-15"/>
          <p:cNvSpPr/>
          <p:nvPr/>
        </p:nvSpPr>
        <p:spPr>
          <a:xfrm>
            <a:off x="7589520" y="3703320"/>
            <a:ext cx="182880" cy="182880"/>
          </a:xfrm>
          <a:prstGeom prst="ellipse">
            <a:avLst/>
          </a:prstGeom>
          <a:solidFill>
            <a:schemeClr val="accent4"/>
          </a:solidFill>
          <a:ln/>
        </p:spPr>
      </p:sp>
      <p:sp>
        <p:nvSpPr>
          <p:cNvPr id="20" name="text-16"/>
          <p:cNvSpPr txBox="1"/>
          <p:nvPr/>
        </p:nvSpPr>
        <p:spPr>
          <a:xfrm>
            <a:off x="7955280" y="3474720"/>
            <a:ext cx="2011680" cy="640080"/>
          </a:xfrm>
          <a:prstGeom prst="rect">
            <a:avLst/>
          </a:prstGeom>
          <a:noFill/>
          <a:ln/>
        </p:spPr>
        <p:txBody>
          <a:bodyPr wrap="square" lIns="0" tIns="0" rIns="0" bIns="0" rtlCol="0" anchor="ctr"/>
          <a:lstStyle/>
          <a:p>
            <a:pPr indent="0" marL="0">
              <a:buNone/>
            </a:pPr>
            <a:r>
              <a:rPr lang="en-US" sz="1400" dirty="0">
                <a:solidFill>
                  <a:schemeClr val="bg1"/>
                </a:solidFill>
              </a:rPr>
              <a:t>Write the README</a:t>
            </a:r>
            <a:endParaRPr lang="en-US" sz="1400" dirty="0"/>
          </a:p>
        </p:txBody>
      </p:sp>
      <p:sp>
        <p:nvSpPr>
          <p:cNvPr id="21" name="pill-17"/>
          <p:cNvSpPr/>
          <p:nvPr/>
        </p:nvSpPr>
        <p:spPr>
          <a:xfrm>
            <a:off x="10040112" y="3639312"/>
            <a:ext cx="1097280" cy="310896"/>
          </a:xfrm>
          <a:prstGeom prst="roundRect">
            <a:avLst>
              <a:gd name="adj" fmla="val 50000"/>
            </a:avLst>
          </a:prstGeom>
          <a:solidFill>
            <a:schemeClr val="accent4"/>
          </a:solidFill>
          <a:ln/>
        </p:spPr>
      </p:sp>
      <p:sp>
        <p:nvSpPr>
          <p:cNvPr id="22" name="text-18"/>
          <p:cNvSpPr txBox="1"/>
          <p:nvPr/>
        </p:nvSpPr>
        <p:spPr>
          <a:xfrm>
            <a:off x="10040112" y="3639312"/>
            <a:ext cx="1097280" cy="310896"/>
          </a:xfrm>
          <a:prstGeom prst="rect">
            <a:avLst/>
          </a:prstGeom>
          <a:noFill/>
          <a:ln/>
        </p:spPr>
        <p:txBody>
          <a:bodyPr wrap="square" lIns="0" tIns="0" rIns="0" bIns="0" rtlCol="0" anchor="ctr"/>
          <a:lstStyle/>
          <a:p>
            <a:pPr algn="ctr" indent="0" marL="0">
              <a:buNone/>
            </a:pPr>
            <a:r>
              <a:rPr lang="en-US" sz="1200" b="1" dirty="0">
                <a:solidFill>
                  <a:schemeClr val="bg1"/>
                </a:solidFill>
              </a:rPr>
              <a:t>Done</a:t>
            </a:r>
            <a:endParaRPr lang="en-US" sz="1200" dirty="0"/>
          </a:p>
        </p:txBody>
      </p:sp>
      <p:sp>
        <p:nvSpPr>
          <p:cNvPr id="23" name="text-19"/>
          <p:cNvSpPr txBox="1"/>
          <p:nvPr/>
        </p:nvSpPr>
        <p:spPr>
          <a:xfrm>
            <a:off x="7406640" y="4343400"/>
            <a:ext cx="182880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ARTIFACTS</a:t>
            </a:r>
            <a:endParaRPr lang="en-US" sz="1200" dirty="0"/>
          </a:p>
        </p:txBody>
      </p:sp>
      <p:sp>
        <p:nvSpPr>
          <p:cNvPr id="24" name="pill-20"/>
          <p:cNvSpPr/>
          <p:nvPr/>
        </p:nvSpPr>
        <p:spPr>
          <a:xfrm>
            <a:off x="7406640" y="4754880"/>
            <a:ext cx="1213104" cy="384048"/>
          </a:xfrm>
          <a:prstGeom prst="roundRect">
            <a:avLst>
              <a:gd name="adj" fmla="val 50000"/>
            </a:avLst>
          </a:prstGeom>
          <a:solidFill>
            <a:schemeClr val="accent5"/>
          </a:solidFill>
          <a:ln/>
        </p:spPr>
      </p:sp>
      <p:sp>
        <p:nvSpPr>
          <p:cNvPr id="25" name="text-21"/>
          <p:cNvSpPr txBox="1"/>
          <p:nvPr/>
        </p:nvSpPr>
        <p:spPr>
          <a:xfrm>
            <a:off x="7406640" y="4754880"/>
            <a:ext cx="1213104" cy="384048"/>
          </a:xfrm>
          <a:prstGeom prst="rect">
            <a:avLst/>
          </a:prstGeom>
          <a:noFill/>
          <a:ln/>
        </p:spPr>
        <p:txBody>
          <a:bodyPr wrap="square" lIns="0" tIns="0" rIns="0" bIns="0" rtlCol="0" anchor="ctr"/>
          <a:lstStyle/>
          <a:p>
            <a:pPr algn="ctr" indent="0" marL="0">
              <a:buNone/>
            </a:pPr>
            <a:r>
              <a:rPr lang="en-US" sz="1200" b="1" dirty="0">
                <a:solidFill>
                  <a:schemeClr val="tx1"/>
                </a:solidFill>
              </a:rPr>
              <a:t>Task list</a:t>
            </a:r>
            <a:endParaRPr lang="en-US" sz="1200" dirty="0"/>
          </a:p>
        </p:txBody>
      </p:sp>
      <p:sp>
        <p:nvSpPr>
          <p:cNvPr id="26" name="pill-22"/>
          <p:cNvSpPr/>
          <p:nvPr/>
        </p:nvSpPr>
        <p:spPr>
          <a:xfrm>
            <a:off x="8756904" y="4754880"/>
            <a:ext cx="1213104" cy="384048"/>
          </a:xfrm>
          <a:prstGeom prst="roundRect">
            <a:avLst>
              <a:gd name="adj" fmla="val 50000"/>
            </a:avLst>
          </a:prstGeom>
          <a:solidFill>
            <a:schemeClr val="accent5"/>
          </a:solidFill>
          <a:ln/>
        </p:spPr>
      </p:sp>
      <p:sp>
        <p:nvSpPr>
          <p:cNvPr id="27" name="text-23"/>
          <p:cNvSpPr txBox="1"/>
          <p:nvPr/>
        </p:nvSpPr>
        <p:spPr>
          <a:xfrm>
            <a:off x="8756904" y="4754880"/>
            <a:ext cx="1213104" cy="384048"/>
          </a:xfrm>
          <a:prstGeom prst="rect">
            <a:avLst/>
          </a:prstGeom>
          <a:noFill/>
          <a:ln/>
        </p:spPr>
        <p:txBody>
          <a:bodyPr wrap="square" lIns="0" tIns="0" rIns="0" bIns="0" rtlCol="0" anchor="ctr"/>
          <a:lstStyle/>
          <a:p>
            <a:pPr algn="ctr" indent="0" marL="0">
              <a:buNone/>
            </a:pPr>
            <a:r>
              <a:rPr lang="en-US" sz="1200" b="1" dirty="0">
                <a:solidFill>
                  <a:schemeClr val="tx1"/>
                </a:solidFill>
              </a:rPr>
              <a:t>Plan</a:t>
            </a:r>
            <a:endParaRPr lang="en-US" sz="1200" dirty="0"/>
          </a:p>
        </p:txBody>
      </p:sp>
      <p:sp>
        <p:nvSpPr>
          <p:cNvPr id="28" name="pill-24"/>
          <p:cNvSpPr/>
          <p:nvPr/>
        </p:nvSpPr>
        <p:spPr>
          <a:xfrm>
            <a:off x="10107168" y="4754880"/>
            <a:ext cx="1213104" cy="384048"/>
          </a:xfrm>
          <a:prstGeom prst="roundRect">
            <a:avLst>
              <a:gd name="adj" fmla="val 50000"/>
            </a:avLst>
          </a:prstGeom>
          <a:solidFill>
            <a:schemeClr val="accent5"/>
          </a:solidFill>
          <a:ln/>
        </p:spPr>
      </p:sp>
      <p:sp>
        <p:nvSpPr>
          <p:cNvPr id="29" name="text-25"/>
          <p:cNvSpPr txBox="1"/>
          <p:nvPr/>
        </p:nvSpPr>
        <p:spPr>
          <a:xfrm>
            <a:off x="10107168" y="4754880"/>
            <a:ext cx="1213104" cy="384048"/>
          </a:xfrm>
          <a:prstGeom prst="rect">
            <a:avLst/>
          </a:prstGeom>
          <a:noFill/>
          <a:ln/>
        </p:spPr>
        <p:txBody>
          <a:bodyPr wrap="square" lIns="0" tIns="0" rIns="0" bIns="0" rtlCol="0" anchor="ctr"/>
          <a:lstStyle/>
          <a:p>
            <a:pPr algn="ctr" indent="0" marL="0">
              <a:buNone/>
            </a:pPr>
            <a:r>
              <a:rPr lang="en-US" sz="1200" b="1" dirty="0">
                <a:solidFill>
                  <a:schemeClr val="tx1"/>
                </a:solidFill>
              </a:rPr>
              <a:t>Walkthrough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Antigravity is Google's platform for building software with AI agents</a:t>
            </a:r>
            <a:endParaRPr lang="en-US" sz="3000" dirty="0"/>
          </a:p>
        </p:txBody>
      </p:sp>
      <p:sp>
        <p:nvSpPr>
          <p:cNvPr id="4" name="text-26"/>
          <p:cNvSpPr txBox="1"/>
          <p:nvPr/>
        </p:nvSpPr>
        <p:spPr>
          <a:xfrm>
            <a:off x="548640" y="1920240"/>
            <a:ext cx="11094415" cy="822960"/>
          </a:xfrm>
          <a:prstGeom prst="rect">
            <a:avLst/>
          </a:prstGeom>
          <a:noFill/>
          <a:ln/>
        </p:spPr>
        <p:txBody>
          <a:bodyPr wrap="square" lIns="0" tIns="0" rIns="0" bIns="0" rtlCol="0" anchor="t"/>
          <a:lstStyle/>
          <a:p>
            <a:pPr indent="0" marL="0">
              <a:buNone/>
            </a:pPr>
            <a:r>
              <a:rPr lang="en-US" sz="1800" dirty="0">
                <a:solidFill>
                  <a:schemeClr val="tx2"/>
                </a:solidFill>
              </a:rPr>
              <a:t>You describe a task. An AI agent plans it, writes the code, runs it and shows you evidence that it works.</a:t>
            </a:r>
            <a:endParaRPr lang="en-US" sz="1800" dirty="0"/>
          </a:p>
        </p:txBody>
      </p:sp>
      <p:sp>
        <p:nvSpPr>
          <p:cNvPr id="5" name="card-27"/>
          <p:cNvSpPr/>
          <p:nvPr/>
        </p:nvSpPr>
        <p:spPr>
          <a:xfrm>
            <a:off x="548640" y="2926080"/>
            <a:ext cx="3515258" cy="2103120"/>
          </a:xfrm>
          <a:prstGeom prst="roundRect">
            <a:avLst>
              <a:gd name="adj" fmla="val 5217"/>
            </a:avLst>
          </a:prstGeom>
          <a:solidFill>
            <a:schemeClr val="bg2"/>
          </a:solidFill>
          <a:ln/>
        </p:spPr>
      </p:sp>
      <p:sp>
        <p:nvSpPr>
          <p:cNvPr id="6" name="badge-28"/>
          <p:cNvSpPr/>
          <p:nvPr/>
        </p:nvSpPr>
        <p:spPr>
          <a:xfrm>
            <a:off x="822960" y="3200400"/>
            <a:ext cx="566928" cy="566928"/>
          </a:xfrm>
          <a:prstGeom prst="ellipse">
            <a:avLst/>
          </a:prstGeom>
          <a:solidFill>
            <a:schemeClr val="accent1"/>
          </a:solidFill>
          <a:ln/>
        </p:spPr>
      </p:sp>
      <p:pic>
        <p:nvPicPr>
          <p:cNvPr id="7" name="icon-29" descr="preencoded.png">    </p:cNvPr>
          <p:cNvPicPr>
            <a:picLocks noChangeAspect="1"/>
          </p:cNvPicPr>
          <p:nvPr/>
        </p:nvPicPr>
        <p:blipFill>
          <a:blip r:embed="rId1"/>
          <a:stretch>
            <a:fillRect/>
          </a:stretch>
        </p:blipFill>
        <p:spPr>
          <a:xfrm>
            <a:off x="976031" y="3353471"/>
            <a:ext cx="260787" cy="260787"/>
          </a:xfrm>
          <a:prstGeom prst="rect">
            <a:avLst/>
          </a:prstGeom>
        </p:spPr>
      </p:pic>
      <p:sp>
        <p:nvSpPr>
          <p:cNvPr id="8" name="text-30"/>
          <p:cNvSpPr txBox="1"/>
          <p:nvPr/>
        </p:nvSpPr>
        <p:spPr>
          <a:xfrm>
            <a:off x="1572768"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The editor</a:t>
            </a:r>
            <a:endParaRPr lang="en-US" sz="2000" dirty="0"/>
          </a:p>
        </p:txBody>
      </p:sp>
      <p:sp>
        <p:nvSpPr>
          <p:cNvPr id="9" name="text-31"/>
          <p:cNvSpPr txBox="1"/>
          <p:nvPr/>
        </p:nvSpPr>
        <p:spPr>
          <a:xfrm>
            <a:off x="822960"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Agents create and change the files in your project</a:t>
            </a:r>
            <a:endParaRPr lang="en-US" sz="1400" dirty="0"/>
          </a:p>
        </p:txBody>
      </p:sp>
      <p:sp>
        <p:nvSpPr>
          <p:cNvPr id="10" name="card-32"/>
          <p:cNvSpPr/>
          <p:nvPr/>
        </p:nvSpPr>
        <p:spPr>
          <a:xfrm>
            <a:off x="4338218" y="2926080"/>
            <a:ext cx="3515258" cy="2103120"/>
          </a:xfrm>
          <a:prstGeom prst="roundRect">
            <a:avLst>
              <a:gd name="adj" fmla="val 5217"/>
            </a:avLst>
          </a:prstGeom>
          <a:solidFill>
            <a:schemeClr val="bg2"/>
          </a:solidFill>
          <a:ln/>
        </p:spPr>
      </p:sp>
      <p:sp>
        <p:nvSpPr>
          <p:cNvPr id="11" name="badge-33"/>
          <p:cNvSpPr/>
          <p:nvPr/>
        </p:nvSpPr>
        <p:spPr>
          <a:xfrm>
            <a:off x="4612538" y="3200400"/>
            <a:ext cx="566928" cy="566928"/>
          </a:xfrm>
          <a:prstGeom prst="ellipse">
            <a:avLst/>
          </a:prstGeom>
          <a:solidFill>
            <a:schemeClr val="accent1"/>
          </a:solidFill>
          <a:ln/>
        </p:spPr>
      </p:sp>
      <p:pic>
        <p:nvPicPr>
          <p:cNvPr id="12" name="icon-34" descr="preencoded.png">    </p:cNvPr>
          <p:cNvPicPr>
            <a:picLocks noChangeAspect="1"/>
          </p:cNvPicPr>
          <p:nvPr/>
        </p:nvPicPr>
        <p:blipFill>
          <a:blip r:embed="rId2"/>
          <a:stretch>
            <a:fillRect/>
          </a:stretch>
        </p:blipFill>
        <p:spPr>
          <a:xfrm>
            <a:off x="4765609" y="3353471"/>
            <a:ext cx="260787" cy="260787"/>
          </a:xfrm>
          <a:prstGeom prst="rect">
            <a:avLst/>
          </a:prstGeom>
        </p:spPr>
      </p:pic>
      <p:sp>
        <p:nvSpPr>
          <p:cNvPr id="13" name="text-35"/>
          <p:cNvSpPr txBox="1"/>
          <p:nvPr/>
        </p:nvSpPr>
        <p:spPr>
          <a:xfrm>
            <a:off x="5362346"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The terminal</a:t>
            </a:r>
            <a:endParaRPr lang="en-US" sz="2000" dirty="0"/>
          </a:p>
        </p:txBody>
      </p:sp>
      <p:sp>
        <p:nvSpPr>
          <p:cNvPr id="14" name="text-36"/>
          <p:cNvSpPr txBox="1"/>
          <p:nvPr/>
        </p:nvSpPr>
        <p:spPr>
          <a:xfrm>
            <a:off x="4612538"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Agents run commands such as installs, builds and tests</a:t>
            </a:r>
            <a:endParaRPr lang="en-US" sz="1400" dirty="0"/>
          </a:p>
        </p:txBody>
      </p:sp>
      <p:sp>
        <p:nvSpPr>
          <p:cNvPr id="15" name="card-37"/>
          <p:cNvSpPr/>
          <p:nvPr/>
        </p:nvSpPr>
        <p:spPr>
          <a:xfrm>
            <a:off x="8127797" y="2926080"/>
            <a:ext cx="3515258" cy="2103120"/>
          </a:xfrm>
          <a:prstGeom prst="roundRect">
            <a:avLst>
              <a:gd name="adj" fmla="val 5217"/>
            </a:avLst>
          </a:prstGeom>
          <a:solidFill>
            <a:schemeClr val="bg2"/>
          </a:solidFill>
          <a:ln/>
        </p:spPr>
      </p:sp>
      <p:sp>
        <p:nvSpPr>
          <p:cNvPr id="16" name="badge-38"/>
          <p:cNvSpPr/>
          <p:nvPr/>
        </p:nvSpPr>
        <p:spPr>
          <a:xfrm>
            <a:off x="8402117" y="3200400"/>
            <a:ext cx="566928" cy="566928"/>
          </a:xfrm>
          <a:prstGeom prst="ellipse">
            <a:avLst/>
          </a:prstGeom>
          <a:solidFill>
            <a:schemeClr val="accent1"/>
          </a:solidFill>
          <a:ln/>
        </p:spPr>
      </p:sp>
      <p:pic>
        <p:nvPicPr>
          <p:cNvPr id="17" name="icon-39" descr="preencoded.png">    </p:cNvPr>
          <p:cNvPicPr>
            <a:picLocks noChangeAspect="1"/>
          </p:cNvPicPr>
          <p:nvPr/>
        </p:nvPicPr>
        <p:blipFill>
          <a:blip r:embed="rId3"/>
          <a:stretch>
            <a:fillRect/>
          </a:stretch>
        </p:blipFill>
        <p:spPr>
          <a:xfrm>
            <a:off x="8555187" y="3353471"/>
            <a:ext cx="260787" cy="260787"/>
          </a:xfrm>
          <a:prstGeom prst="rect">
            <a:avLst/>
          </a:prstGeom>
        </p:spPr>
      </p:pic>
      <p:sp>
        <p:nvSpPr>
          <p:cNvPr id="18" name="text-40"/>
          <p:cNvSpPr txBox="1"/>
          <p:nvPr/>
        </p:nvSpPr>
        <p:spPr>
          <a:xfrm>
            <a:off x="9151925" y="3200400"/>
            <a:ext cx="2235098" cy="566928"/>
          </a:xfrm>
          <a:prstGeom prst="rect">
            <a:avLst/>
          </a:prstGeom>
          <a:noFill/>
          <a:ln/>
        </p:spPr>
        <p:txBody>
          <a:bodyPr wrap="square" lIns="0" tIns="0" rIns="0" bIns="0" rtlCol="0" anchor="ctr"/>
          <a:lstStyle/>
          <a:p>
            <a:pPr indent="0" marL="0">
              <a:buNone/>
            </a:pPr>
            <a:r>
              <a:rPr lang="en-US" sz="2000" b="1" dirty="0">
                <a:solidFill>
                  <a:schemeClr val="tx1"/>
                </a:solidFill>
              </a:rPr>
              <a:t>The browser</a:t>
            </a:r>
            <a:endParaRPr lang="en-US" sz="2000" dirty="0"/>
          </a:p>
        </p:txBody>
      </p:sp>
      <p:sp>
        <p:nvSpPr>
          <p:cNvPr id="19" name="text-41"/>
          <p:cNvSpPr txBox="1"/>
          <p:nvPr/>
        </p:nvSpPr>
        <p:spPr>
          <a:xfrm>
            <a:off x="8402117" y="4023360"/>
            <a:ext cx="2966618" cy="868680"/>
          </a:xfrm>
          <a:prstGeom prst="rect">
            <a:avLst/>
          </a:prstGeom>
          <a:noFill/>
          <a:ln/>
        </p:spPr>
        <p:txBody>
          <a:bodyPr wrap="square" lIns="0" tIns="0" rIns="0" bIns="0" rtlCol="0" anchor="t"/>
          <a:lstStyle/>
          <a:p>
            <a:pPr indent="0" marL="0">
              <a:buNone/>
            </a:pPr>
            <a:r>
              <a:rPr lang="en-US" sz="1400" dirty="0">
                <a:solidFill>
                  <a:schemeClr val="tx2"/>
                </a:solidFill>
              </a:rPr>
              <a:t>Agents open pages in Chrome to check the result</a:t>
            </a:r>
            <a:endParaRPr lang="en-US" sz="1400" dirty="0"/>
          </a:p>
        </p:txBody>
      </p:sp>
      <p:sp>
        <p:nvSpPr>
          <p:cNvPr id="20" name="card-42"/>
          <p:cNvSpPr/>
          <p:nvPr/>
        </p:nvSpPr>
        <p:spPr>
          <a:xfrm>
            <a:off x="548640" y="5257800"/>
            <a:ext cx="11094415" cy="640080"/>
          </a:xfrm>
          <a:prstGeom prst="roundRect">
            <a:avLst>
              <a:gd name="adj" fmla="val 17143"/>
            </a:avLst>
          </a:prstGeom>
          <a:solidFill>
            <a:schemeClr val="bg2"/>
          </a:solidFill>
          <a:ln/>
        </p:spPr>
      </p:sp>
      <p:sp>
        <p:nvSpPr>
          <p:cNvPr id="21" name="badge-43"/>
          <p:cNvSpPr/>
          <p:nvPr/>
        </p:nvSpPr>
        <p:spPr>
          <a:xfrm>
            <a:off x="685800" y="5376672"/>
            <a:ext cx="402336" cy="402336"/>
          </a:xfrm>
          <a:prstGeom prst="ellipse">
            <a:avLst/>
          </a:prstGeom>
          <a:solidFill>
            <a:schemeClr val="accent2"/>
          </a:solidFill>
          <a:ln/>
        </p:spPr>
      </p:sp>
      <p:pic>
        <p:nvPicPr>
          <p:cNvPr id="22" name="icon-44" descr="preencoded.png">    </p:cNvPr>
          <p:cNvPicPr>
            <a:picLocks noChangeAspect="1"/>
          </p:cNvPicPr>
          <p:nvPr/>
        </p:nvPicPr>
        <p:blipFill>
          <a:blip r:embed="rId4"/>
          <a:stretch>
            <a:fillRect/>
          </a:stretch>
        </p:blipFill>
        <p:spPr>
          <a:xfrm>
            <a:off x="794431" y="5485303"/>
            <a:ext cx="185075" cy="185075"/>
          </a:xfrm>
          <a:prstGeom prst="rect">
            <a:avLst/>
          </a:prstGeom>
        </p:spPr>
      </p:pic>
      <p:sp>
        <p:nvSpPr>
          <p:cNvPr id="23" name="text-45"/>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Antigravity is made by Google. Its agents run mainly on Google's Gemini models.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Agent-first means you manage the work instead of typing it</a:t>
            </a:r>
            <a:endParaRPr lang="en-US" sz="3000" dirty="0"/>
          </a:p>
        </p:txBody>
      </p:sp>
      <p:sp>
        <p:nvSpPr>
          <p:cNvPr id="4" name="card-46"/>
          <p:cNvSpPr/>
          <p:nvPr/>
        </p:nvSpPr>
        <p:spPr>
          <a:xfrm>
            <a:off x="548640" y="1920240"/>
            <a:ext cx="5212080" cy="3063240"/>
          </a:xfrm>
          <a:prstGeom prst="roundRect">
            <a:avLst>
              <a:gd name="adj" fmla="val 3582"/>
            </a:avLst>
          </a:prstGeom>
          <a:solidFill>
            <a:schemeClr val="bg2"/>
          </a:solidFill>
          <a:ln/>
        </p:spPr>
      </p:sp>
      <p:sp>
        <p:nvSpPr>
          <p:cNvPr id="5" name="badge-47"/>
          <p:cNvSpPr/>
          <p:nvPr/>
        </p:nvSpPr>
        <p:spPr>
          <a:xfrm>
            <a:off x="822960" y="2194560"/>
            <a:ext cx="566928" cy="566928"/>
          </a:xfrm>
          <a:prstGeom prst="ellipse">
            <a:avLst/>
          </a:prstGeom>
          <a:solidFill>
            <a:schemeClr val="accent4"/>
          </a:solidFill>
          <a:ln/>
        </p:spPr>
      </p:sp>
      <p:pic>
        <p:nvPicPr>
          <p:cNvPr id="6" name="icon-48" descr="preencoded.png">    </p:cNvPr>
          <p:cNvPicPr>
            <a:picLocks noChangeAspect="1"/>
          </p:cNvPicPr>
          <p:nvPr/>
        </p:nvPicPr>
        <p:blipFill>
          <a:blip r:embed="rId1"/>
          <a:stretch>
            <a:fillRect/>
          </a:stretch>
        </p:blipFill>
        <p:spPr>
          <a:xfrm>
            <a:off x="976031" y="2347631"/>
            <a:ext cx="260787" cy="260787"/>
          </a:xfrm>
          <a:prstGeom prst="rect">
            <a:avLst/>
          </a:prstGeom>
        </p:spPr>
      </p:pic>
      <p:sp>
        <p:nvSpPr>
          <p:cNvPr id="7" name="text-49"/>
          <p:cNvSpPr txBox="1"/>
          <p:nvPr/>
        </p:nvSpPr>
        <p:spPr>
          <a:xfrm>
            <a:off x="1572768" y="2194560"/>
            <a:ext cx="3931920" cy="566928"/>
          </a:xfrm>
          <a:prstGeom prst="rect">
            <a:avLst/>
          </a:prstGeom>
          <a:noFill/>
          <a:ln/>
        </p:spPr>
        <p:txBody>
          <a:bodyPr wrap="square" lIns="0" tIns="0" rIns="0" bIns="0" rtlCol="0" anchor="ctr"/>
          <a:lstStyle/>
          <a:p>
            <a:pPr indent="0" marL="0">
              <a:buNone/>
            </a:pPr>
            <a:r>
              <a:rPr lang="en-US" sz="2000" b="1" dirty="0">
                <a:solidFill>
                  <a:schemeClr val="tx1"/>
                </a:solidFill>
              </a:rPr>
              <a:t>An AI code assistant</a:t>
            </a:r>
            <a:endParaRPr lang="en-US" sz="2000" dirty="0"/>
          </a:p>
        </p:txBody>
      </p:sp>
      <p:sp>
        <p:nvSpPr>
          <p:cNvPr id="8" name="text-50"/>
          <p:cNvSpPr txBox="1"/>
          <p:nvPr/>
        </p:nvSpPr>
        <p:spPr>
          <a:xfrm>
            <a:off x="822960" y="3063240"/>
            <a:ext cx="466344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You write the code and stay in the editor</a:t>
            </a:r>
            <a:endParaRPr lang="en-US" sz="1600" dirty="0"/>
          </a:p>
          <a:p>
            <a:pPr marL="342900" indent="-342900">
              <a:spcAft>
                <a:spcPts val="1000"/>
              </a:spcAft>
              <a:buSzPct val="100000"/>
              <a:buChar char="•"/>
            </a:pPr>
            <a:r>
              <a:rPr lang="en-US" sz="1600" dirty="0">
                <a:solidFill>
                  <a:schemeClr val="tx1"/>
                </a:solidFill>
              </a:rPr>
              <a:t>It suggests lines or answers questions</a:t>
            </a:r>
            <a:endParaRPr lang="en-US" sz="1600" dirty="0"/>
          </a:p>
          <a:p>
            <a:pPr marL="342900" indent="-342900">
              <a:spcAft>
                <a:spcPts val="1000"/>
              </a:spcAft>
              <a:buSzPct val="100000"/>
              <a:buChar char="•"/>
            </a:pPr>
            <a:r>
              <a:rPr lang="en-US" sz="1600" dirty="0">
                <a:solidFill>
                  <a:schemeClr val="tx1"/>
                </a:solidFill>
              </a:rPr>
              <a:t>You check each suggestion yourself</a:t>
            </a:r>
            <a:endParaRPr lang="en-US" sz="1600" dirty="0"/>
          </a:p>
        </p:txBody>
      </p:sp>
      <p:sp>
        <p:nvSpPr>
          <p:cNvPr id="9" name="card-51"/>
          <p:cNvSpPr/>
          <p:nvPr/>
        </p:nvSpPr>
        <p:spPr>
          <a:xfrm>
            <a:off x="6430975" y="1920240"/>
            <a:ext cx="5212080" cy="3063240"/>
          </a:xfrm>
          <a:prstGeom prst="roundRect">
            <a:avLst>
              <a:gd name="adj" fmla="val 3582"/>
            </a:avLst>
          </a:prstGeom>
          <a:solidFill>
            <a:schemeClr val="accent5"/>
          </a:solidFill>
          <a:ln/>
        </p:spPr>
      </p:sp>
      <p:sp>
        <p:nvSpPr>
          <p:cNvPr id="10" name="badge-52"/>
          <p:cNvSpPr/>
          <p:nvPr/>
        </p:nvSpPr>
        <p:spPr>
          <a:xfrm>
            <a:off x="6705295" y="2194560"/>
            <a:ext cx="566928" cy="566928"/>
          </a:xfrm>
          <a:prstGeom prst="ellipse">
            <a:avLst/>
          </a:prstGeom>
          <a:solidFill>
            <a:schemeClr val="accent1"/>
          </a:solidFill>
          <a:ln/>
        </p:spPr>
      </p:sp>
      <p:pic>
        <p:nvPicPr>
          <p:cNvPr id="11" name="icon-53" descr="preencoded.png">    </p:cNvPr>
          <p:cNvPicPr>
            <a:picLocks noChangeAspect="1"/>
          </p:cNvPicPr>
          <p:nvPr/>
        </p:nvPicPr>
        <p:blipFill>
          <a:blip r:embed="rId2"/>
          <a:stretch>
            <a:fillRect/>
          </a:stretch>
        </p:blipFill>
        <p:spPr>
          <a:xfrm>
            <a:off x="6858366" y="2347631"/>
            <a:ext cx="260787" cy="260787"/>
          </a:xfrm>
          <a:prstGeom prst="rect">
            <a:avLst/>
          </a:prstGeom>
        </p:spPr>
      </p:pic>
      <p:sp>
        <p:nvSpPr>
          <p:cNvPr id="12" name="text-54"/>
          <p:cNvSpPr txBox="1"/>
          <p:nvPr/>
        </p:nvSpPr>
        <p:spPr>
          <a:xfrm>
            <a:off x="7455103" y="2194560"/>
            <a:ext cx="3931920" cy="566928"/>
          </a:xfrm>
          <a:prstGeom prst="rect">
            <a:avLst/>
          </a:prstGeom>
          <a:noFill/>
          <a:ln/>
        </p:spPr>
        <p:txBody>
          <a:bodyPr wrap="square" lIns="0" tIns="0" rIns="0" bIns="0" rtlCol="0" anchor="ctr"/>
          <a:lstStyle/>
          <a:p>
            <a:pPr indent="0" marL="0">
              <a:buNone/>
            </a:pPr>
            <a:r>
              <a:rPr lang="en-US" sz="2000" b="1" dirty="0">
                <a:solidFill>
                  <a:schemeClr val="tx1"/>
                </a:solidFill>
              </a:rPr>
              <a:t>Agent-first, as in Antigravity</a:t>
            </a:r>
            <a:endParaRPr lang="en-US" sz="2000" dirty="0"/>
          </a:p>
        </p:txBody>
      </p:sp>
      <p:sp>
        <p:nvSpPr>
          <p:cNvPr id="13" name="text-55"/>
          <p:cNvSpPr txBox="1"/>
          <p:nvPr/>
        </p:nvSpPr>
        <p:spPr>
          <a:xfrm>
            <a:off x="6705295" y="3063240"/>
            <a:ext cx="466344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You hand a whole task to an agent</a:t>
            </a:r>
            <a:endParaRPr lang="en-US" sz="1600" dirty="0"/>
          </a:p>
          <a:p>
            <a:pPr marL="342900" indent="-342900">
              <a:spcAft>
                <a:spcPts val="1000"/>
              </a:spcAft>
              <a:buSzPct val="100000"/>
              <a:buChar char="•"/>
            </a:pPr>
            <a:r>
              <a:rPr lang="en-US" sz="1600" dirty="0">
                <a:solidFill>
                  <a:schemeClr val="tx1"/>
                </a:solidFill>
              </a:rPr>
              <a:t>It plans, builds and tests on its own</a:t>
            </a:r>
            <a:endParaRPr lang="en-US" sz="1600" dirty="0"/>
          </a:p>
          <a:p>
            <a:pPr marL="342900" indent="-342900">
              <a:spcAft>
                <a:spcPts val="1000"/>
              </a:spcAft>
              <a:buSzPct val="100000"/>
              <a:buChar char="•"/>
            </a:pPr>
            <a:r>
              <a:rPr lang="en-US" sz="1600" dirty="0">
                <a:solidFill>
                  <a:schemeClr val="tx1"/>
                </a:solidFill>
              </a:rPr>
              <a:t>You review its plan and its evidence</a:t>
            </a:r>
            <a:endParaRPr lang="en-US" sz="1600" dirty="0"/>
          </a:p>
        </p:txBody>
      </p:sp>
      <p:pic>
        <p:nvPicPr>
          <p:cNvPr id="14" name="arrow-56" descr="preencoded.png">    </p:cNvPr>
          <p:cNvPicPr>
            <a:picLocks noChangeAspect="1"/>
          </p:cNvPicPr>
          <p:nvPr/>
        </p:nvPicPr>
        <p:blipFill>
          <a:blip r:embed="rId3"/>
          <a:stretch>
            <a:fillRect/>
          </a:stretch>
        </p:blipFill>
        <p:spPr>
          <a:xfrm>
            <a:off x="5912968" y="3268980"/>
            <a:ext cx="365760" cy="365760"/>
          </a:xfrm>
          <a:prstGeom prst="rect">
            <a:avLst/>
          </a:prstGeom>
        </p:spPr>
      </p:pic>
      <p:sp>
        <p:nvSpPr>
          <p:cNvPr id="15" name="card-57"/>
          <p:cNvSpPr/>
          <p:nvPr/>
        </p:nvSpPr>
        <p:spPr>
          <a:xfrm>
            <a:off x="548640" y="5257800"/>
            <a:ext cx="11094415" cy="640080"/>
          </a:xfrm>
          <a:prstGeom prst="roundRect">
            <a:avLst>
              <a:gd name="adj" fmla="val 17143"/>
            </a:avLst>
          </a:prstGeom>
          <a:solidFill>
            <a:schemeClr val="bg2"/>
          </a:solidFill>
          <a:ln/>
        </p:spPr>
      </p:sp>
      <p:sp>
        <p:nvSpPr>
          <p:cNvPr id="16" name="text-58"/>
          <p:cNvSpPr txBox="1"/>
          <p:nvPr/>
        </p:nvSpPr>
        <p:spPr>
          <a:xfrm>
            <a:off x="822960" y="5257800"/>
            <a:ext cx="10545775" cy="64008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agent-first</a:t>
            </a:r>
            <a:pPr indent="0" marL="0">
              <a:buNone/>
            </a:pPr>
            <a:r>
              <a:rPr lang="en-US" sz="1400" dirty="0">
                <a:solidFill>
                  <a:schemeClr val="tx1"/>
                </a:solidFill>
              </a:rPr>
              <a:t>   A way of working where agents carry out the tasks and people direct and review them.</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In six months it grew from one editor into a family of tools</a:t>
            </a:r>
            <a:endParaRPr lang="en-US" sz="3000" dirty="0"/>
          </a:p>
        </p:txBody>
      </p:sp>
      <p:sp>
        <p:nvSpPr>
          <p:cNvPr id="4" name="rail-59"/>
          <p:cNvSpPr/>
          <p:nvPr/>
        </p:nvSpPr>
        <p:spPr>
          <a:xfrm>
            <a:off x="685800" y="2194560"/>
            <a:ext cx="8526551" cy="0"/>
          </a:xfrm>
          <a:prstGeom prst="line">
            <a:avLst/>
          </a:prstGeom>
          <a:noFill/>
          <a:ln w="38100">
            <a:solidFill>
              <a:schemeClr val="accent5"/>
            </a:solidFill>
            <a:prstDash val="solid"/>
          </a:ln>
        </p:spPr>
      </p:sp>
      <p:sp>
        <p:nvSpPr>
          <p:cNvPr id="5" name="dot-60"/>
          <p:cNvSpPr/>
          <p:nvPr/>
        </p:nvSpPr>
        <p:spPr>
          <a:xfrm>
            <a:off x="548640" y="2057400"/>
            <a:ext cx="274320" cy="274320"/>
          </a:xfrm>
          <a:prstGeom prst="ellipse">
            <a:avLst/>
          </a:prstGeom>
          <a:solidFill>
            <a:schemeClr val="accent1"/>
          </a:solidFill>
          <a:ln/>
        </p:spPr>
      </p:sp>
      <p:sp>
        <p:nvSpPr>
          <p:cNvPr id="6" name="text-61"/>
          <p:cNvSpPr txBox="1"/>
          <p:nvPr/>
        </p:nvSpPr>
        <p:spPr>
          <a:xfrm>
            <a:off x="548640"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Nov 2025</a:t>
            </a:r>
            <a:endParaRPr lang="en-US" sz="2000" dirty="0"/>
          </a:p>
        </p:txBody>
      </p:sp>
      <p:sp>
        <p:nvSpPr>
          <p:cNvPr id="7" name="text-62"/>
          <p:cNvSpPr txBox="1"/>
          <p:nvPr/>
        </p:nvSpPr>
        <p:spPr>
          <a:xfrm>
            <a:off x="548640"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Public preview</a:t>
            </a:r>
            <a:endParaRPr lang="en-US" sz="1800" dirty="0"/>
          </a:p>
        </p:txBody>
      </p:sp>
      <p:sp>
        <p:nvSpPr>
          <p:cNvPr id="8" name="text-63"/>
          <p:cNvSpPr txBox="1"/>
          <p:nvPr/>
        </p:nvSpPr>
        <p:spPr>
          <a:xfrm>
            <a:off x="548640"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Launched alongside Gemini 3 as an agentic code editor</a:t>
            </a:r>
            <a:endParaRPr lang="en-US" sz="1400" dirty="0"/>
          </a:p>
        </p:txBody>
      </p:sp>
      <p:sp>
        <p:nvSpPr>
          <p:cNvPr id="9" name="dot-64"/>
          <p:cNvSpPr/>
          <p:nvPr/>
        </p:nvSpPr>
        <p:spPr>
          <a:xfrm>
            <a:off x="3390824" y="2057400"/>
            <a:ext cx="274320" cy="274320"/>
          </a:xfrm>
          <a:prstGeom prst="ellipse">
            <a:avLst/>
          </a:prstGeom>
          <a:solidFill>
            <a:schemeClr val="accent1"/>
          </a:solidFill>
          <a:ln/>
        </p:spPr>
      </p:sp>
      <p:sp>
        <p:nvSpPr>
          <p:cNvPr id="10" name="text-65"/>
          <p:cNvSpPr txBox="1"/>
          <p:nvPr/>
        </p:nvSpPr>
        <p:spPr>
          <a:xfrm>
            <a:off x="3390824"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May 2026</a:t>
            </a:r>
            <a:endParaRPr lang="en-US" sz="2000" dirty="0"/>
          </a:p>
        </p:txBody>
      </p:sp>
      <p:sp>
        <p:nvSpPr>
          <p:cNvPr id="11" name="text-66"/>
          <p:cNvSpPr txBox="1"/>
          <p:nvPr/>
        </p:nvSpPr>
        <p:spPr>
          <a:xfrm>
            <a:off x="3390824"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Antigravity 2.0</a:t>
            </a:r>
            <a:endParaRPr lang="en-US" sz="1800" dirty="0"/>
          </a:p>
        </p:txBody>
      </p:sp>
      <p:sp>
        <p:nvSpPr>
          <p:cNvPr id="12" name="text-67"/>
          <p:cNvSpPr txBox="1"/>
          <p:nvPr/>
        </p:nvSpPr>
        <p:spPr>
          <a:xfrm>
            <a:off x="3390824"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A standalone desktop app, plus a CLI and an SDK, at Google I/O</a:t>
            </a:r>
            <a:endParaRPr lang="en-US" sz="1400" dirty="0"/>
          </a:p>
        </p:txBody>
      </p:sp>
      <p:sp>
        <p:nvSpPr>
          <p:cNvPr id="13" name="dot-68"/>
          <p:cNvSpPr/>
          <p:nvPr/>
        </p:nvSpPr>
        <p:spPr>
          <a:xfrm>
            <a:off x="6233008" y="2057400"/>
            <a:ext cx="274320" cy="274320"/>
          </a:xfrm>
          <a:prstGeom prst="ellipse">
            <a:avLst/>
          </a:prstGeom>
          <a:solidFill>
            <a:schemeClr val="accent1"/>
          </a:solidFill>
          <a:ln/>
        </p:spPr>
      </p:sp>
      <p:sp>
        <p:nvSpPr>
          <p:cNvPr id="14" name="text-69"/>
          <p:cNvSpPr txBox="1"/>
          <p:nvPr/>
        </p:nvSpPr>
        <p:spPr>
          <a:xfrm>
            <a:off x="6233008"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Jun 2026</a:t>
            </a:r>
            <a:endParaRPr lang="en-US" sz="2000" dirty="0"/>
          </a:p>
        </p:txBody>
      </p:sp>
      <p:sp>
        <p:nvSpPr>
          <p:cNvPr id="15" name="text-70"/>
          <p:cNvSpPr txBox="1"/>
          <p:nvPr/>
        </p:nvSpPr>
        <p:spPr>
          <a:xfrm>
            <a:off x="6233008"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Gemini CLI retired</a:t>
            </a:r>
            <a:endParaRPr lang="en-US" sz="1800" dirty="0"/>
          </a:p>
        </p:txBody>
      </p:sp>
      <p:sp>
        <p:nvSpPr>
          <p:cNvPr id="16" name="text-71"/>
          <p:cNvSpPr txBox="1"/>
          <p:nvPr/>
        </p:nvSpPr>
        <p:spPr>
          <a:xfrm>
            <a:off x="6233008"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Antigravity CLI replaces Gemini CLI for consumer users</a:t>
            </a:r>
            <a:endParaRPr lang="en-US" sz="1400" dirty="0"/>
          </a:p>
        </p:txBody>
      </p:sp>
      <p:sp>
        <p:nvSpPr>
          <p:cNvPr id="17" name="dot-72"/>
          <p:cNvSpPr/>
          <p:nvPr/>
        </p:nvSpPr>
        <p:spPr>
          <a:xfrm>
            <a:off x="9075191" y="2057400"/>
            <a:ext cx="274320" cy="274320"/>
          </a:xfrm>
          <a:prstGeom prst="ellipse">
            <a:avLst/>
          </a:prstGeom>
          <a:solidFill>
            <a:schemeClr val="accent1"/>
          </a:solidFill>
          <a:ln/>
        </p:spPr>
      </p:sp>
      <p:sp>
        <p:nvSpPr>
          <p:cNvPr id="18" name="text-73"/>
          <p:cNvSpPr txBox="1"/>
          <p:nvPr/>
        </p:nvSpPr>
        <p:spPr>
          <a:xfrm>
            <a:off x="9075191" y="2606040"/>
            <a:ext cx="2567864"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Since then</a:t>
            </a:r>
            <a:endParaRPr lang="en-US" sz="2000" dirty="0"/>
          </a:p>
        </p:txBody>
      </p:sp>
      <p:sp>
        <p:nvSpPr>
          <p:cNvPr id="19" name="text-74"/>
          <p:cNvSpPr txBox="1"/>
          <p:nvPr/>
        </p:nvSpPr>
        <p:spPr>
          <a:xfrm>
            <a:off x="9075191" y="3108960"/>
            <a:ext cx="2567864" cy="365760"/>
          </a:xfrm>
          <a:prstGeom prst="rect">
            <a:avLst/>
          </a:prstGeom>
          <a:noFill/>
          <a:ln/>
        </p:spPr>
        <p:txBody>
          <a:bodyPr wrap="square" lIns="0" tIns="0" rIns="0" bIns="0" rtlCol="0" anchor="t"/>
          <a:lstStyle/>
          <a:p>
            <a:pPr indent="0" marL="0">
              <a:buNone/>
            </a:pPr>
            <a:r>
              <a:rPr lang="en-US" sz="1800" b="1" dirty="0">
                <a:solidFill>
                  <a:schemeClr val="tx1"/>
                </a:solidFill>
              </a:rPr>
              <a:t>Editor extensions</a:t>
            </a:r>
            <a:endParaRPr lang="en-US" sz="1800" dirty="0"/>
          </a:p>
        </p:txBody>
      </p:sp>
      <p:sp>
        <p:nvSpPr>
          <p:cNvPr id="20" name="text-75"/>
          <p:cNvSpPr txBox="1"/>
          <p:nvPr/>
        </p:nvSpPr>
        <p:spPr>
          <a:xfrm>
            <a:off x="9075191" y="3566160"/>
            <a:ext cx="2476424" cy="1097280"/>
          </a:xfrm>
          <a:prstGeom prst="rect">
            <a:avLst/>
          </a:prstGeom>
          <a:noFill/>
          <a:ln/>
        </p:spPr>
        <p:txBody>
          <a:bodyPr wrap="square" lIns="0" tIns="0" rIns="0" bIns="0" rtlCol="0" anchor="t"/>
          <a:lstStyle/>
          <a:p>
            <a:pPr indent="0" marL="0">
              <a:buNone/>
            </a:pPr>
            <a:r>
              <a:rPr lang="en-US" sz="1400" dirty="0">
                <a:solidFill>
                  <a:schemeClr val="tx2"/>
                </a:solidFill>
              </a:rPr>
              <a:t>Its agents arrive inside VS Code, JetBrains and Zed</a:t>
            </a:r>
            <a:endParaRPr lang="en-US" sz="1400" dirty="0"/>
          </a:p>
        </p:txBody>
      </p:sp>
      <p:sp>
        <p:nvSpPr>
          <p:cNvPr id="21" name="card-76"/>
          <p:cNvSpPr/>
          <p:nvPr/>
        </p:nvSpPr>
        <p:spPr>
          <a:xfrm>
            <a:off x="548640" y="5029200"/>
            <a:ext cx="11094415" cy="685800"/>
          </a:xfrm>
          <a:prstGeom prst="roundRect">
            <a:avLst>
              <a:gd name="adj" fmla="val 16000"/>
            </a:avLst>
          </a:prstGeom>
          <a:solidFill>
            <a:schemeClr val="bg2"/>
          </a:solidFill>
          <a:ln/>
        </p:spPr>
      </p:sp>
      <p:sp>
        <p:nvSpPr>
          <p:cNvPr id="22" name="badge-77"/>
          <p:cNvSpPr/>
          <p:nvPr/>
        </p:nvSpPr>
        <p:spPr>
          <a:xfrm>
            <a:off x="685800" y="5170932"/>
            <a:ext cx="402336" cy="402336"/>
          </a:xfrm>
          <a:prstGeom prst="ellipse">
            <a:avLst/>
          </a:prstGeom>
          <a:solidFill>
            <a:schemeClr val="accent2"/>
          </a:solidFill>
          <a:ln/>
        </p:spPr>
      </p:sp>
      <p:pic>
        <p:nvPicPr>
          <p:cNvPr id="23" name="icon-78" descr="preencoded.png">    </p:cNvPr>
          <p:cNvPicPr>
            <a:picLocks noChangeAspect="1"/>
          </p:cNvPicPr>
          <p:nvPr/>
        </p:nvPicPr>
        <p:blipFill>
          <a:blip r:embed="rId1"/>
          <a:stretch>
            <a:fillRect/>
          </a:stretch>
        </p:blipFill>
        <p:spPr>
          <a:xfrm>
            <a:off x="794431" y="5279563"/>
            <a:ext cx="185075" cy="185075"/>
          </a:xfrm>
          <a:prstGeom prst="rect">
            <a:avLst/>
          </a:prstGeom>
        </p:spPr>
      </p:pic>
      <p:sp>
        <p:nvSpPr>
          <p:cNvPr id="24" name="text-79"/>
          <p:cNvSpPr txBox="1"/>
          <p:nvPr/>
        </p:nvSpPr>
        <p:spPr>
          <a:xfrm>
            <a:off x="1261872" y="5029200"/>
            <a:ext cx="10198303" cy="685800"/>
          </a:xfrm>
          <a:prstGeom prst="rect">
            <a:avLst/>
          </a:prstGeom>
          <a:noFill/>
          <a:ln/>
        </p:spPr>
        <p:txBody>
          <a:bodyPr wrap="square" lIns="0" tIns="0" rIns="0" bIns="0" rtlCol="0" anchor="ctr"/>
          <a:lstStyle/>
          <a:p>
            <a:pPr indent="0" marL="0">
              <a:buNone/>
            </a:pPr>
            <a:r>
              <a:rPr lang="en-US" sz="1400" dirty="0">
                <a:solidFill>
                  <a:schemeClr val="tx1"/>
                </a:solidFill>
              </a:rPr>
              <a:t>Older tutorials describe the 2025 version. Its Agent Manager has since become the separate Antigravity app.</a:t>
            </a:r>
            <a:endParaRPr lang="en-US" sz="1400" dirty="0"/>
          </a:p>
        </p:txBody>
      </p:sp>
      <p:sp>
        <p:nvSpPr>
          <p:cNvPr id="25" name="text-8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Developers Blog (2026); Google Codelabs (2026); The Verge (18 Nov 2025); Wikipedia, Google Antigravity.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Antigravity is now a family of five products</a:t>
            </a:r>
            <a:endParaRPr lang="en-US" sz="3000" dirty="0"/>
          </a:p>
        </p:txBody>
      </p:sp>
      <p:sp>
        <p:nvSpPr>
          <p:cNvPr id="4" name="card-81"/>
          <p:cNvSpPr/>
          <p:nvPr/>
        </p:nvSpPr>
        <p:spPr>
          <a:xfrm>
            <a:off x="548640" y="1920240"/>
            <a:ext cx="2036003" cy="3017520"/>
          </a:xfrm>
          <a:prstGeom prst="roundRect">
            <a:avLst>
              <a:gd name="adj" fmla="val 5389"/>
            </a:avLst>
          </a:prstGeom>
          <a:solidFill>
            <a:schemeClr val="accent5"/>
          </a:solidFill>
          <a:ln/>
        </p:spPr>
      </p:sp>
      <p:sp>
        <p:nvSpPr>
          <p:cNvPr id="5" name="badge-82"/>
          <p:cNvSpPr/>
          <p:nvPr/>
        </p:nvSpPr>
        <p:spPr>
          <a:xfrm>
            <a:off x="749808" y="2148840"/>
            <a:ext cx="566928" cy="566928"/>
          </a:xfrm>
          <a:prstGeom prst="ellipse">
            <a:avLst/>
          </a:prstGeom>
          <a:solidFill>
            <a:schemeClr val="accent1"/>
          </a:solidFill>
          <a:ln/>
        </p:spPr>
      </p:sp>
      <p:pic>
        <p:nvPicPr>
          <p:cNvPr id="6" name="icon-83" descr="preencoded.png">    </p:cNvPr>
          <p:cNvPicPr>
            <a:picLocks noChangeAspect="1"/>
          </p:cNvPicPr>
          <p:nvPr/>
        </p:nvPicPr>
        <p:blipFill>
          <a:blip r:embed="rId1"/>
          <a:stretch>
            <a:fillRect/>
          </a:stretch>
        </p:blipFill>
        <p:spPr>
          <a:xfrm>
            <a:off x="902879" y="2301911"/>
            <a:ext cx="260787" cy="260787"/>
          </a:xfrm>
          <a:prstGeom prst="rect">
            <a:avLst/>
          </a:prstGeom>
        </p:spPr>
      </p:pic>
      <p:sp>
        <p:nvSpPr>
          <p:cNvPr id="7" name="text-84"/>
          <p:cNvSpPr txBox="1"/>
          <p:nvPr/>
        </p:nvSpPr>
        <p:spPr>
          <a:xfrm>
            <a:off x="749808"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Antigravity</a:t>
            </a:r>
            <a:endParaRPr lang="en-US" sz="1600" dirty="0"/>
          </a:p>
        </p:txBody>
      </p:sp>
      <p:sp>
        <p:nvSpPr>
          <p:cNvPr id="8" name="text-85"/>
          <p:cNvSpPr txBox="1"/>
          <p:nvPr/>
        </p:nvSpPr>
        <p:spPr>
          <a:xfrm>
            <a:off x="749808"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desktop app: a command centre for running many agents</a:t>
            </a:r>
            <a:endParaRPr lang="en-US" sz="1400" dirty="0"/>
          </a:p>
        </p:txBody>
      </p:sp>
      <p:sp>
        <p:nvSpPr>
          <p:cNvPr id="9" name="card-86"/>
          <p:cNvSpPr/>
          <p:nvPr/>
        </p:nvSpPr>
        <p:spPr>
          <a:xfrm>
            <a:off x="2813243" y="1920240"/>
            <a:ext cx="2036003" cy="3017520"/>
          </a:xfrm>
          <a:prstGeom prst="roundRect">
            <a:avLst>
              <a:gd name="adj" fmla="val 5389"/>
            </a:avLst>
          </a:prstGeom>
          <a:solidFill>
            <a:schemeClr val="bg2"/>
          </a:solidFill>
          <a:ln/>
        </p:spPr>
      </p:sp>
      <p:sp>
        <p:nvSpPr>
          <p:cNvPr id="10" name="badge-87"/>
          <p:cNvSpPr/>
          <p:nvPr/>
        </p:nvSpPr>
        <p:spPr>
          <a:xfrm>
            <a:off x="3014411" y="2148840"/>
            <a:ext cx="566928" cy="566928"/>
          </a:xfrm>
          <a:prstGeom prst="ellipse">
            <a:avLst/>
          </a:prstGeom>
          <a:solidFill>
            <a:schemeClr val="accent1"/>
          </a:solidFill>
          <a:ln/>
        </p:spPr>
      </p:sp>
      <p:pic>
        <p:nvPicPr>
          <p:cNvPr id="11" name="icon-88" descr="preencoded.png">    </p:cNvPr>
          <p:cNvPicPr>
            <a:picLocks noChangeAspect="1"/>
          </p:cNvPicPr>
          <p:nvPr/>
        </p:nvPicPr>
        <p:blipFill>
          <a:blip r:embed="rId2"/>
          <a:stretch>
            <a:fillRect/>
          </a:stretch>
        </p:blipFill>
        <p:spPr>
          <a:xfrm>
            <a:off x="3167482" y="2301911"/>
            <a:ext cx="260787" cy="260787"/>
          </a:xfrm>
          <a:prstGeom prst="rect">
            <a:avLst/>
          </a:prstGeom>
        </p:spPr>
      </p:pic>
      <p:sp>
        <p:nvSpPr>
          <p:cNvPr id="12" name="text-89"/>
          <p:cNvSpPr txBox="1"/>
          <p:nvPr/>
        </p:nvSpPr>
        <p:spPr>
          <a:xfrm>
            <a:off x="3014411"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Antigravity IDE</a:t>
            </a:r>
            <a:endParaRPr lang="en-US" sz="1600" dirty="0"/>
          </a:p>
        </p:txBody>
      </p:sp>
      <p:sp>
        <p:nvSpPr>
          <p:cNvPr id="13" name="text-90"/>
          <p:cNvSpPr txBox="1"/>
          <p:nvPr/>
        </p:nvSpPr>
        <p:spPr>
          <a:xfrm>
            <a:off x="3014411"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A full code editor with an agent panel built in</a:t>
            </a:r>
            <a:endParaRPr lang="en-US" sz="1400" dirty="0"/>
          </a:p>
        </p:txBody>
      </p:sp>
      <p:sp>
        <p:nvSpPr>
          <p:cNvPr id="14" name="card-91"/>
          <p:cNvSpPr/>
          <p:nvPr/>
        </p:nvSpPr>
        <p:spPr>
          <a:xfrm>
            <a:off x="5077846" y="1920240"/>
            <a:ext cx="2036003" cy="3017520"/>
          </a:xfrm>
          <a:prstGeom prst="roundRect">
            <a:avLst>
              <a:gd name="adj" fmla="val 5389"/>
            </a:avLst>
          </a:prstGeom>
          <a:solidFill>
            <a:schemeClr val="bg2"/>
          </a:solidFill>
          <a:ln/>
        </p:spPr>
      </p:sp>
      <p:sp>
        <p:nvSpPr>
          <p:cNvPr id="15" name="badge-92"/>
          <p:cNvSpPr/>
          <p:nvPr/>
        </p:nvSpPr>
        <p:spPr>
          <a:xfrm>
            <a:off x="5279014" y="2148840"/>
            <a:ext cx="566928" cy="566928"/>
          </a:xfrm>
          <a:prstGeom prst="ellipse">
            <a:avLst/>
          </a:prstGeom>
          <a:solidFill>
            <a:schemeClr val="accent1"/>
          </a:solidFill>
          <a:ln/>
        </p:spPr>
      </p:sp>
      <p:pic>
        <p:nvPicPr>
          <p:cNvPr id="16" name="icon-93" descr="preencoded.png">    </p:cNvPr>
          <p:cNvPicPr>
            <a:picLocks noChangeAspect="1"/>
          </p:cNvPicPr>
          <p:nvPr/>
        </p:nvPicPr>
        <p:blipFill>
          <a:blip r:embed="rId3"/>
          <a:stretch>
            <a:fillRect/>
          </a:stretch>
        </p:blipFill>
        <p:spPr>
          <a:xfrm>
            <a:off x="5432085" y="2301911"/>
            <a:ext cx="260787" cy="260787"/>
          </a:xfrm>
          <a:prstGeom prst="rect">
            <a:avLst/>
          </a:prstGeom>
        </p:spPr>
      </p:pic>
      <p:sp>
        <p:nvSpPr>
          <p:cNvPr id="17" name="text-94"/>
          <p:cNvSpPr txBox="1"/>
          <p:nvPr/>
        </p:nvSpPr>
        <p:spPr>
          <a:xfrm>
            <a:off x="5279014"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Antigravity CLI</a:t>
            </a:r>
            <a:endParaRPr lang="en-US" sz="1600" dirty="0"/>
          </a:p>
        </p:txBody>
      </p:sp>
      <p:sp>
        <p:nvSpPr>
          <p:cNvPr id="18" name="text-95"/>
          <p:cNvSpPr txBox="1"/>
          <p:nvPr/>
        </p:nvSpPr>
        <p:spPr>
          <a:xfrm>
            <a:off x="5279014"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terminal version, started by typing agy</a:t>
            </a:r>
            <a:endParaRPr lang="en-US" sz="1400" dirty="0"/>
          </a:p>
        </p:txBody>
      </p:sp>
      <p:sp>
        <p:nvSpPr>
          <p:cNvPr id="19" name="card-96"/>
          <p:cNvSpPr/>
          <p:nvPr/>
        </p:nvSpPr>
        <p:spPr>
          <a:xfrm>
            <a:off x="7342449" y="1920240"/>
            <a:ext cx="2036003" cy="3017520"/>
          </a:xfrm>
          <a:prstGeom prst="roundRect">
            <a:avLst>
              <a:gd name="adj" fmla="val 5389"/>
            </a:avLst>
          </a:prstGeom>
          <a:solidFill>
            <a:schemeClr val="bg2"/>
          </a:solidFill>
          <a:ln/>
        </p:spPr>
      </p:sp>
      <p:sp>
        <p:nvSpPr>
          <p:cNvPr id="20" name="badge-97"/>
          <p:cNvSpPr/>
          <p:nvPr/>
        </p:nvSpPr>
        <p:spPr>
          <a:xfrm>
            <a:off x="7543617" y="2148840"/>
            <a:ext cx="566928" cy="566928"/>
          </a:xfrm>
          <a:prstGeom prst="ellipse">
            <a:avLst/>
          </a:prstGeom>
          <a:solidFill>
            <a:schemeClr val="accent1"/>
          </a:solidFill>
          <a:ln/>
        </p:spPr>
      </p:sp>
      <p:pic>
        <p:nvPicPr>
          <p:cNvPr id="21" name="icon-98" descr="preencoded.png">    </p:cNvPr>
          <p:cNvPicPr>
            <a:picLocks noChangeAspect="1"/>
          </p:cNvPicPr>
          <p:nvPr/>
        </p:nvPicPr>
        <p:blipFill>
          <a:blip r:embed="rId4"/>
          <a:stretch>
            <a:fillRect/>
          </a:stretch>
        </p:blipFill>
        <p:spPr>
          <a:xfrm>
            <a:off x="7696688" y="2301911"/>
            <a:ext cx="260787" cy="260787"/>
          </a:xfrm>
          <a:prstGeom prst="rect">
            <a:avLst/>
          </a:prstGeom>
        </p:spPr>
      </p:pic>
      <p:sp>
        <p:nvSpPr>
          <p:cNvPr id="22" name="text-99"/>
          <p:cNvSpPr txBox="1"/>
          <p:nvPr/>
        </p:nvSpPr>
        <p:spPr>
          <a:xfrm>
            <a:off x="7543617"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Antigravity SDK</a:t>
            </a:r>
            <a:endParaRPr lang="en-US" sz="1600" dirty="0"/>
          </a:p>
        </p:txBody>
      </p:sp>
      <p:sp>
        <p:nvSpPr>
          <p:cNvPr id="23" name="text-100"/>
          <p:cNvSpPr txBox="1"/>
          <p:nvPr/>
        </p:nvSpPr>
        <p:spPr>
          <a:xfrm>
            <a:off x="7543617"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Tools for building its agents into your own software</a:t>
            </a:r>
            <a:endParaRPr lang="en-US" sz="1400" dirty="0"/>
          </a:p>
        </p:txBody>
      </p:sp>
      <p:sp>
        <p:nvSpPr>
          <p:cNvPr id="24" name="card-101"/>
          <p:cNvSpPr/>
          <p:nvPr/>
        </p:nvSpPr>
        <p:spPr>
          <a:xfrm>
            <a:off x="9607052" y="1920240"/>
            <a:ext cx="2036003" cy="3017520"/>
          </a:xfrm>
          <a:prstGeom prst="roundRect">
            <a:avLst>
              <a:gd name="adj" fmla="val 5389"/>
            </a:avLst>
          </a:prstGeom>
          <a:solidFill>
            <a:schemeClr val="bg2"/>
          </a:solidFill>
          <a:ln/>
        </p:spPr>
      </p:sp>
      <p:sp>
        <p:nvSpPr>
          <p:cNvPr id="25" name="badge-102"/>
          <p:cNvSpPr/>
          <p:nvPr/>
        </p:nvSpPr>
        <p:spPr>
          <a:xfrm>
            <a:off x="9808220" y="2148840"/>
            <a:ext cx="566928" cy="566928"/>
          </a:xfrm>
          <a:prstGeom prst="ellipse">
            <a:avLst/>
          </a:prstGeom>
          <a:solidFill>
            <a:schemeClr val="accent1"/>
          </a:solidFill>
          <a:ln/>
        </p:spPr>
      </p:sp>
      <p:pic>
        <p:nvPicPr>
          <p:cNvPr id="26" name="icon-103" descr="preencoded.png">    </p:cNvPr>
          <p:cNvPicPr>
            <a:picLocks noChangeAspect="1"/>
          </p:cNvPicPr>
          <p:nvPr/>
        </p:nvPicPr>
        <p:blipFill>
          <a:blip r:embed="rId5"/>
          <a:stretch>
            <a:fillRect/>
          </a:stretch>
        </p:blipFill>
        <p:spPr>
          <a:xfrm>
            <a:off x="9961291" y="2301911"/>
            <a:ext cx="260787" cy="260787"/>
          </a:xfrm>
          <a:prstGeom prst="rect">
            <a:avLst/>
          </a:prstGeom>
        </p:spPr>
      </p:pic>
      <p:sp>
        <p:nvSpPr>
          <p:cNvPr id="27" name="text-104"/>
          <p:cNvSpPr txBox="1"/>
          <p:nvPr/>
        </p:nvSpPr>
        <p:spPr>
          <a:xfrm>
            <a:off x="9808220" y="2926080"/>
            <a:ext cx="1670243" cy="320040"/>
          </a:xfrm>
          <a:prstGeom prst="rect">
            <a:avLst/>
          </a:prstGeom>
          <a:noFill/>
          <a:ln/>
        </p:spPr>
        <p:txBody>
          <a:bodyPr wrap="square" lIns="0" tIns="0" rIns="0" bIns="0" rtlCol="0" anchor="t"/>
          <a:lstStyle/>
          <a:p>
            <a:pPr indent="0" marL="0">
              <a:buNone/>
            </a:pPr>
            <a:r>
              <a:rPr lang="en-US" sz="1600" b="1" dirty="0">
                <a:solidFill>
                  <a:schemeClr val="tx1"/>
                </a:solidFill>
              </a:rPr>
              <a:t>For other IDEs</a:t>
            </a:r>
            <a:endParaRPr lang="en-US" sz="1600" dirty="0"/>
          </a:p>
        </p:txBody>
      </p:sp>
      <p:sp>
        <p:nvSpPr>
          <p:cNvPr id="28" name="text-105"/>
          <p:cNvSpPr txBox="1"/>
          <p:nvPr/>
        </p:nvSpPr>
        <p:spPr>
          <a:xfrm>
            <a:off x="9808220" y="3337560"/>
            <a:ext cx="1651955" cy="1463040"/>
          </a:xfrm>
          <a:prstGeom prst="rect">
            <a:avLst/>
          </a:prstGeom>
          <a:noFill/>
          <a:ln/>
        </p:spPr>
        <p:txBody>
          <a:bodyPr wrap="square" lIns="0" tIns="0" rIns="0" bIns="0" rtlCol="0" anchor="t"/>
          <a:lstStyle/>
          <a:p>
            <a:pPr indent="0" marL="0">
              <a:buNone/>
            </a:pPr>
            <a:r>
              <a:rPr lang="en-US" sz="1400" dirty="0">
                <a:solidFill>
                  <a:schemeClr val="tx2"/>
                </a:solidFill>
              </a:rPr>
              <a:t>Extensions for VS Code, JetBrains and Zed</a:t>
            </a:r>
            <a:endParaRPr lang="en-US" sz="1400" dirty="0"/>
          </a:p>
        </p:txBody>
      </p:sp>
      <p:sp>
        <p:nvSpPr>
          <p:cNvPr id="29" name="card-106"/>
          <p:cNvSpPr/>
          <p:nvPr/>
        </p:nvSpPr>
        <p:spPr>
          <a:xfrm>
            <a:off x="548640" y="5212080"/>
            <a:ext cx="11094415" cy="640080"/>
          </a:xfrm>
          <a:prstGeom prst="roundRect">
            <a:avLst>
              <a:gd name="adj" fmla="val 17143"/>
            </a:avLst>
          </a:prstGeom>
          <a:solidFill>
            <a:schemeClr val="bg2"/>
          </a:solidFill>
          <a:ln/>
        </p:spPr>
      </p:sp>
      <p:sp>
        <p:nvSpPr>
          <p:cNvPr id="30" name="badge-107"/>
          <p:cNvSpPr/>
          <p:nvPr/>
        </p:nvSpPr>
        <p:spPr>
          <a:xfrm>
            <a:off x="685800" y="5330952"/>
            <a:ext cx="402336" cy="402336"/>
          </a:xfrm>
          <a:prstGeom prst="ellipse">
            <a:avLst/>
          </a:prstGeom>
          <a:solidFill>
            <a:schemeClr val="accent2"/>
          </a:solidFill>
          <a:ln/>
        </p:spPr>
      </p:sp>
      <p:pic>
        <p:nvPicPr>
          <p:cNvPr id="31" name="icon-108" descr="preencoded.png">    </p:cNvPr>
          <p:cNvPicPr>
            <a:picLocks noChangeAspect="1"/>
          </p:cNvPicPr>
          <p:nvPr/>
        </p:nvPicPr>
        <p:blipFill>
          <a:blip r:embed="rId6"/>
          <a:stretch>
            <a:fillRect/>
          </a:stretch>
        </p:blipFill>
        <p:spPr>
          <a:xfrm>
            <a:off x="794431" y="5439583"/>
            <a:ext cx="185075" cy="185075"/>
          </a:xfrm>
          <a:prstGeom prst="rect">
            <a:avLst/>
          </a:prstGeom>
        </p:spPr>
      </p:pic>
      <p:sp>
        <p:nvSpPr>
          <p:cNvPr id="32" name="text-109"/>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Starting from zero? Begin with the Antigravity desktop app. It works without a code editor or a terminal.</a:t>
            </a:r>
            <a:endParaRPr lang="en-US" sz="1400" dirty="0"/>
          </a:p>
        </p:txBody>
      </p:sp>
      <p:sp>
        <p:nvSpPr>
          <p:cNvPr id="33" name="text-11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You need three things before you start</a:t>
            </a:r>
            <a:endParaRPr lang="en-US" sz="3000" dirty="0"/>
          </a:p>
        </p:txBody>
      </p:sp>
      <p:sp>
        <p:nvSpPr>
          <p:cNvPr id="4" name="card-111"/>
          <p:cNvSpPr/>
          <p:nvPr/>
        </p:nvSpPr>
        <p:spPr>
          <a:xfrm>
            <a:off x="548640" y="1920240"/>
            <a:ext cx="3515258" cy="3017520"/>
          </a:xfrm>
          <a:prstGeom prst="roundRect">
            <a:avLst>
              <a:gd name="adj" fmla="val 3636"/>
            </a:avLst>
          </a:prstGeom>
          <a:solidFill>
            <a:schemeClr val="bg2"/>
          </a:solidFill>
          <a:ln/>
        </p:spPr>
      </p:sp>
      <p:sp>
        <p:nvSpPr>
          <p:cNvPr id="5" name="text-112"/>
          <p:cNvSpPr txBox="1"/>
          <p:nvPr/>
        </p:nvSpPr>
        <p:spPr>
          <a:xfrm>
            <a:off x="822960"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01</a:t>
            </a:r>
            <a:endParaRPr lang="en-US" sz="3200" dirty="0"/>
          </a:p>
        </p:txBody>
      </p:sp>
      <p:sp>
        <p:nvSpPr>
          <p:cNvPr id="6" name="badge-113"/>
          <p:cNvSpPr/>
          <p:nvPr/>
        </p:nvSpPr>
        <p:spPr>
          <a:xfrm>
            <a:off x="3222650" y="2194560"/>
            <a:ext cx="566928" cy="566928"/>
          </a:xfrm>
          <a:prstGeom prst="ellipse">
            <a:avLst/>
          </a:prstGeom>
          <a:solidFill>
            <a:schemeClr val="accent3"/>
          </a:solidFill>
          <a:ln/>
        </p:spPr>
      </p:sp>
      <p:pic>
        <p:nvPicPr>
          <p:cNvPr id="7" name="icon-114" descr="preencoded.png">    </p:cNvPr>
          <p:cNvPicPr>
            <a:picLocks noChangeAspect="1"/>
          </p:cNvPicPr>
          <p:nvPr/>
        </p:nvPicPr>
        <p:blipFill>
          <a:blip r:embed="rId1"/>
          <a:stretch>
            <a:fillRect/>
          </a:stretch>
        </p:blipFill>
        <p:spPr>
          <a:xfrm>
            <a:off x="3375721" y="2347631"/>
            <a:ext cx="260787" cy="260787"/>
          </a:xfrm>
          <a:prstGeom prst="rect">
            <a:avLst/>
          </a:prstGeom>
        </p:spPr>
      </p:pic>
      <p:sp>
        <p:nvSpPr>
          <p:cNvPr id="8" name="text-115"/>
          <p:cNvSpPr txBox="1"/>
          <p:nvPr/>
        </p:nvSpPr>
        <p:spPr>
          <a:xfrm>
            <a:off x="822960"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computer</a:t>
            </a:r>
            <a:endParaRPr lang="en-US" sz="2000" dirty="0"/>
          </a:p>
        </p:txBody>
      </p:sp>
      <p:sp>
        <p:nvSpPr>
          <p:cNvPr id="9" name="text-116"/>
          <p:cNvSpPr txBox="1"/>
          <p:nvPr/>
        </p:nvSpPr>
        <p:spPr>
          <a:xfrm>
            <a:off x="822960"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A Mac, a Windows PC or a supported Linux system</a:t>
            </a:r>
            <a:endParaRPr lang="en-US" sz="1400" dirty="0"/>
          </a:p>
        </p:txBody>
      </p:sp>
      <p:sp>
        <p:nvSpPr>
          <p:cNvPr id="10" name="card-117"/>
          <p:cNvSpPr/>
          <p:nvPr/>
        </p:nvSpPr>
        <p:spPr>
          <a:xfrm>
            <a:off x="4338218" y="1920240"/>
            <a:ext cx="3515258" cy="3017520"/>
          </a:xfrm>
          <a:prstGeom prst="roundRect">
            <a:avLst>
              <a:gd name="adj" fmla="val 3636"/>
            </a:avLst>
          </a:prstGeom>
          <a:solidFill>
            <a:schemeClr val="bg2"/>
          </a:solidFill>
          <a:ln/>
        </p:spPr>
      </p:sp>
      <p:sp>
        <p:nvSpPr>
          <p:cNvPr id="11" name="text-118"/>
          <p:cNvSpPr txBox="1"/>
          <p:nvPr/>
        </p:nvSpPr>
        <p:spPr>
          <a:xfrm>
            <a:off x="4612538"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02</a:t>
            </a:r>
            <a:endParaRPr lang="en-US" sz="3200" dirty="0"/>
          </a:p>
        </p:txBody>
      </p:sp>
      <p:sp>
        <p:nvSpPr>
          <p:cNvPr id="12" name="badge-119"/>
          <p:cNvSpPr/>
          <p:nvPr/>
        </p:nvSpPr>
        <p:spPr>
          <a:xfrm>
            <a:off x="7012229" y="2194560"/>
            <a:ext cx="566928" cy="566928"/>
          </a:xfrm>
          <a:prstGeom prst="ellipse">
            <a:avLst/>
          </a:prstGeom>
          <a:solidFill>
            <a:schemeClr val="accent3"/>
          </a:solidFill>
          <a:ln/>
        </p:spPr>
      </p:sp>
      <p:pic>
        <p:nvPicPr>
          <p:cNvPr id="13" name="icon-120" descr="preencoded.png">    </p:cNvPr>
          <p:cNvPicPr>
            <a:picLocks noChangeAspect="1"/>
          </p:cNvPicPr>
          <p:nvPr/>
        </p:nvPicPr>
        <p:blipFill>
          <a:blip r:embed="rId2"/>
          <a:stretch>
            <a:fillRect/>
          </a:stretch>
        </p:blipFill>
        <p:spPr>
          <a:xfrm>
            <a:off x="7165299" y="2347631"/>
            <a:ext cx="260787" cy="260787"/>
          </a:xfrm>
          <a:prstGeom prst="rect">
            <a:avLst/>
          </a:prstGeom>
        </p:spPr>
      </p:pic>
      <p:sp>
        <p:nvSpPr>
          <p:cNvPr id="14" name="text-121"/>
          <p:cNvSpPr txBox="1"/>
          <p:nvPr/>
        </p:nvSpPr>
        <p:spPr>
          <a:xfrm>
            <a:off x="4612538"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Google Chrome</a:t>
            </a:r>
            <a:endParaRPr lang="en-US" sz="2000" dirty="0"/>
          </a:p>
        </p:txBody>
      </p:sp>
      <p:sp>
        <p:nvSpPr>
          <p:cNvPr id="15" name="text-122"/>
          <p:cNvSpPr txBox="1"/>
          <p:nvPr/>
        </p:nvSpPr>
        <p:spPr>
          <a:xfrm>
            <a:off x="4612538"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Agents use Chrome whenever a task needs a browser</a:t>
            </a:r>
            <a:endParaRPr lang="en-US" sz="1400" dirty="0"/>
          </a:p>
        </p:txBody>
      </p:sp>
      <p:sp>
        <p:nvSpPr>
          <p:cNvPr id="16" name="card-123"/>
          <p:cNvSpPr/>
          <p:nvPr/>
        </p:nvSpPr>
        <p:spPr>
          <a:xfrm>
            <a:off x="8127797" y="1920240"/>
            <a:ext cx="3515258" cy="3017520"/>
          </a:xfrm>
          <a:prstGeom prst="roundRect">
            <a:avLst>
              <a:gd name="adj" fmla="val 3636"/>
            </a:avLst>
          </a:prstGeom>
          <a:solidFill>
            <a:schemeClr val="bg2"/>
          </a:solidFill>
          <a:ln/>
        </p:spPr>
      </p:sp>
      <p:sp>
        <p:nvSpPr>
          <p:cNvPr id="17" name="text-124"/>
          <p:cNvSpPr txBox="1"/>
          <p:nvPr/>
        </p:nvSpPr>
        <p:spPr>
          <a:xfrm>
            <a:off x="8402117"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03</a:t>
            </a:r>
            <a:endParaRPr lang="en-US" sz="3200" dirty="0"/>
          </a:p>
        </p:txBody>
      </p:sp>
      <p:sp>
        <p:nvSpPr>
          <p:cNvPr id="18" name="badge-125"/>
          <p:cNvSpPr/>
          <p:nvPr/>
        </p:nvSpPr>
        <p:spPr>
          <a:xfrm>
            <a:off x="10801807" y="2194560"/>
            <a:ext cx="566928" cy="566928"/>
          </a:xfrm>
          <a:prstGeom prst="ellipse">
            <a:avLst/>
          </a:prstGeom>
          <a:solidFill>
            <a:schemeClr val="accent3"/>
          </a:solidFill>
          <a:ln/>
        </p:spPr>
      </p:sp>
      <p:pic>
        <p:nvPicPr>
          <p:cNvPr id="19" name="icon-126" descr="preencoded.png">    </p:cNvPr>
          <p:cNvPicPr>
            <a:picLocks noChangeAspect="1"/>
          </p:cNvPicPr>
          <p:nvPr/>
        </p:nvPicPr>
        <p:blipFill>
          <a:blip r:embed="rId3"/>
          <a:stretch>
            <a:fillRect/>
          </a:stretch>
        </p:blipFill>
        <p:spPr>
          <a:xfrm>
            <a:off x="10954878" y="2347631"/>
            <a:ext cx="260787" cy="260787"/>
          </a:xfrm>
          <a:prstGeom prst="rect">
            <a:avLst/>
          </a:prstGeom>
        </p:spPr>
      </p:pic>
      <p:sp>
        <p:nvSpPr>
          <p:cNvPr id="20" name="text-127"/>
          <p:cNvSpPr txBox="1"/>
          <p:nvPr/>
        </p:nvSpPr>
        <p:spPr>
          <a:xfrm>
            <a:off x="8402117" y="306324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Google account</a:t>
            </a:r>
            <a:endParaRPr lang="en-US" sz="2000" dirty="0"/>
          </a:p>
        </p:txBody>
      </p:sp>
      <p:sp>
        <p:nvSpPr>
          <p:cNvPr id="21" name="text-128"/>
          <p:cNvSpPr txBox="1"/>
          <p:nvPr/>
        </p:nvSpPr>
        <p:spPr>
          <a:xfrm>
            <a:off x="8402117" y="3566160"/>
            <a:ext cx="2966618" cy="1097280"/>
          </a:xfrm>
          <a:prstGeom prst="rect">
            <a:avLst/>
          </a:prstGeom>
          <a:noFill/>
          <a:ln/>
        </p:spPr>
        <p:txBody>
          <a:bodyPr wrap="square" lIns="0" tIns="0" rIns="0" bIns="0" rtlCol="0" anchor="t"/>
          <a:lstStyle/>
          <a:p>
            <a:pPr indent="0" marL="0">
              <a:buNone/>
            </a:pPr>
            <a:r>
              <a:rPr lang="en-US" sz="1400" dirty="0">
                <a:solidFill>
                  <a:schemeClr val="tx2"/>
                </a:solidFill>
              </a:rPr>
              <a:t>A personal Gmail account is enough to sign in</a:t>
            </a:r>
            <a:endParaRPr lang="en-US" sz="1400" dirty="0"/>
          </a:p>
        </p:txBody>
      </p:sp>
      <p:sp>
        <p:nvSpPr>
          <p:cNvPr id="22" name="card-129"/>
          <p:cNvSpPr/>
          <p:nvPr/>
        </p:nvSpPr>
        <p:spPr>
          <a:xfrm>
            <a:off x="548640" y="5212080"/>
            <a:ext cx="11094415" cy="640080"/>
          </a:xfrm>
          <a:prstGeom prst="roundRect">
            <a:avLst>
              <a:gd name="adj" fmla="val 17143"/>
            </a:avLst>
          </a:prstGeom>
          <a:solidFill>
            <a:schemeClr val="bg2"/>
          </a:solidFill>
          <a:ln/>
        </p:spPr>
      </p:sp>
      <p:sp>
        <p:nvSpPr>
          <p:cNvPr id="23" name="badge-130"/>
          <p:cNvSpPr/>
          <p:nvPr/>
        </p:nvSpPr>
        <p:spPr>
          <a:xfrm>
            <a:off x="685800" y="5330952"/>
            <a:ext cx="402336" cy="402336"/>
          </a:xfrm>
          <a:prstGeom prst="ellipse">
            <a:avLst/>
          </a:prstGeom>
          <a:solidFill>
            <a:schemeClr val="accent2"/>
          </a:solidFill>
          <a:ln/>
        </p:spPr>
      </p:sp>
      <p:pic>
        <p:nvPicPr>
          <p:cNvPr id="24" name="icon-131" descr="preencoded.png">    </p:cNvPr>
          <p:cNvPicPr>
            <a:picLocks noChangeAspect="1"/>
          </p:cNvPicPr>
          <p:nvPr/>
        </p:nvPicPr>
        <p:blipFill>
          <a:blip r:embed="rId4"/>
          <a:stretch>
            <a:fillRect/>
          </a:stretch>
        </p:blipFill>
        <p:spPr>
          <a:xfrm>
            <a:off x="794431" y="5439583"/>
            <a:ext cx="185075" cy="185075"/>
          </a:xfrm>
          <a:prstGeom prst="rect">
            <a:avLst/>
          </a:prstGeom>
        </p:spPr>
      </p:pic>
      <p:sp>
        <p:nvSpPr>
          <p:cNvPr id="25" name="text-132"/>
          <p:cNvSpPr txBox="1"/>
          <p:nvPr/>
        </p:nvSpPr>
        <p:spPr>
          <a:xfrm>
            <a:off x="1261872" y="5212080"/>
            <a:ext cx="10198303" cy="640080"/>
          </a:xfrm>
          <a:prstGeom prst="rect">
            <a:avLst/>
          </a:prstGeom>
          <a:noFill/>
          <a:ln/>
        </p:spPr>
        <p:txBody>
          <a:bodyPr wrap="square" lIns="0" tIns="0" rIns="0" bIns="0" rtlCol="0" anchor="ctr"/>
          <a:lstStyle/>
          <a:p>
            <a:pPr indent="0" marL="0">
              <a:buNone/>
            </a:pPr>
            <a:r>
              <a:rPr lang="en-US" sz="1400" dirty="0">
                <a:solidFill>
                  <a:schemeClr val="tx1"/>
                </a:solidFill>
              </a:rPr>
              <a:t>A personal account includes a starter quota. Google AI Pro and Ultra plans raise the usage limits.</a:t>
            </a:r>
            <a:endParaRPr lang="en-US" sz="1400" dirty="0"/>
          </a:p>
        </p:txBody>
      </p:sp>
      <p:sp>
        <p:nvSpPr>
          <p:cNvPr id="26" name="text-13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Install and start in four steps</a:t>
            </a:r>
            <a:endParaRPr lang="en-US" sz="3000" dirty="0"/>
          </a:p>
        </p:txBody>
      </p:sp>
      <p:sp>
        <p:nvSpPr>
          <p:cNvPr id="4" name="step-134"/>
          <p:cNvSpPr/>
          <p:nvPr/>
        </p:nvSpPr>
        <p:spPr>
          <a:xfrm>
            <a:off x="548640" y="2048256"/>
            <a:ext cx="548640" cy="548640"/>
          </a:xfrm>
          <a:prstGeom prst="ellipse">
            <a:avLst/>
          </a:prstGeom>
          <a:solidFill>
            <a:schemeClr val="accent1"/>
          </a:solidFill>
          <a:ln/>
        </p:spPr>
      </p:sp>
      <p:sp>
        <p:nvSpPr>
          <p:cNvPr id="5" name="text-135"/>
          <p:cNvSpPr txBox="1"/>
          <p:nvPr/>
        </p:nvSpPr>
        <p:spPr>
          <a:xfrm>
            <a:off x="548640" y="204825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6" name="text-136"/>
          <p:cNvSpPr txBox="1"/>
          <p:nvPr/>
        </p:nvSpPr>
        <p:spPr>
          <a:xfrm>
            <a:off x="1325880" y="1920240"/>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Download</a:t>
            </a:r>
            <a:endParaRPr lang="en-US" sz="1800" dirty="0"/>
          </a:p>
        </p:txBody>
      </p:sp>
      <p:sp>
        <p:nvSpPr>
          <p:cNvPr id="7" name="card-137"/>
          <p:cNvSpPr/>
          <p:nvPr/>
        </p:nvSpPr>
        <p:spPr>
          <a:xfrm>
            <a:off x="4480560" y="1920240"/>
            <a:ext cx="7162495" cy="804672"/>
          </a:xfrm>
          <a:prstGeom prst="roundRect">
            <a:avLst>
              <a:gd name="adj" fmla="val 13636"/>
            </a:avLst>
          </a:prstGeom>
          <a:solidFill>
            <a:schemeClr val="bg2"/>
          </a:solidFill>
          <a:ln/>
        </p:spPr>
      </p:sp>
      <p:sp>
        <p:nvSpPr>
          <p:cNvPr id="8" name="text-138"/>
          <p:cNvSpPr txBox="1"/>
          <p:nvPr/>
        </p:nvSpPr>
        <p:spPr>
          <a:xfrm>
            <a:off x="4754880" y="1920240"/>
            <a:ext cx="6613855" cy="804672"/>
          </a:xfrm>
          <a:prstGeom prst="rect">
            <a:avLst/>
          </a:prstGeom>
          <a:noFill/>
          <a:ln/>
        </p:spPr>
        <p:txBody>
          <a:bodyPr wrap="square" lIns="0" tIns="0" rIns="0" bIns="0" rtlCol="0" anchor="ctr"/>
          <a:lstStyle/>
          <a:p>
            <a:pPr indent="0" marL="0">
              <a:buNone/>
            </a:pPr>
            <a:r>
              <a:rPr lang="en-US" sz="1600" dirty="0">
                <a:solidFill>
                  <a:schemeClr val="tx1"/>
                </a:solidFill>
              </a:rPr>
              <a:t>Get the installer for your system from antigravity.google/download</a:t>
            </a:r>
            <a:endParaRPr lang="en-US" sz="1600" dirty="0"/>
          </a:p>
        </p:txBody>
      </p:sp>
      <p:sp>
        <p:nvSpPr>
          <p:cNvPr id="9" name="step-139"/>
          <p:cNvSpPr/>
          <p:nvPr/>
        </p:nvSpPr>
        <p:spPr>
          <a:xfrm>
            <a:off x="548640" y="3035808"/>
            <a:ext cx="548640" cy="548640"/>
          </a:xfrm>
          <a:prstGeom prst="ellipse">
            <a:avLst/>
          </a:prstGeom>
          <a:solidFill>
            <a:schemeClr val="accent1"/>
          </a:solidFill>
          <a:ln/>
        </p:spPr>
      </p:sp>
      <p:sp>
        <p:nvSpPr>
          <p:cNvPr id="10" name="text-140"/>
          <p:cNvSpPr txBox="1"/>
          <p:nvPr/>
        </p:nvSpPr>
        <p:spPr>
          <a:xfrm>
            <a:off x="548640" y="303580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1" name="text-141"/>
          <p:cNvSpPr txBox="1"/>
          <p:nvPr/>
        </p:nvSpPr>
        <p:spPr>
          <a:xfrm>
            <a:off x="1325880" y="2907792"/>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Sign in</a:t>
            </a:r>
            <a:endParaRPr lang="en-US" sz="1800" dirty="0"/>
          </a:p>
        </p:txBody>
      </p:sp>
      <p:sp>
        <p:nvSpPr>
          <p:cNvPr id="12" name="card-142"/>
          <p:cNvSpPr/>
          <p:nvPr/>
        </p:nvSpPr>
        <p:spPr>
          <a:xfrm>
            <a:off x="4480560" y="2907792"/>
            <a:ext cx="7162495" cy="804672"/>
          </a:xfrm>
          <a:prstGeom prst="roundRect">
            <a:avLst>
              <a:gd name="adj" fmla="val 13636"/>
            </a:avLst>
          </a:prstGeom>
          <a:solidFill>
            <a:schemeClr val="bg2"/>
          </a:solidFill>
          <a:ln/>
        </p:spPr>
      </p:sp>
      <p:sp>
        <p:nvSpPr>
          <p:cNvPr id="13" name="text-143"/>
          <p:cNvSpPr txBox="1"/>
          <p:nvPr/>
        </p:nvSpPr>
        <p:spPr>
          <a:xfrm>
            <a:off x="4754880" y="2907792"/>
            <a:ext cx="6613855" cy="804672"/>
          </a:xfrm>
          <a:prstGeom prst="rect">
            <a:avLst/>
          </a:prstGeom>
          <a:noFill/>
          <a:ln/>
        </p:spPr>
        <p:txBody>
          <a:bodyPr wrap="square" lIns="0" tIns="0" rIns="0" bIns="0" rtlCol="0" anchor="ctr"/>
          <a:lstStyle/>
          <a:p>
            <a:pPr indent="0" marL="0">
              <a:buNone/>
            </a:pPr>
            <a:r>
              <a:rPr lang="en-US" sz="1600" dirty="0">
                <a:solidFill>
                  <a:schemeClr val="tx1"/>
                </a:solidFill>
              </a:rPr>
              <a:t>Choose Continue with Google and log in with your Google account</a:t>
            </a:r>
            <a:endParaRPr lang="en-US" sz="1600" dirty="0"/>
          </a:p>
        </p:txBody>
      </p:sp>
      <p:sp>
        <p:nvSpPr>
          <p:cNvPr id="14" name="step-144"/>
          <p:cNvSpPr/>
          <p:nvPr/>
        </p:nvSpPr>
        <p:spPr>
          <a:xfrm>
            <a:off x="548640" y="4023360"/>
            <a:ext cx="548640" cy="548640"/>
          </a:xfrm>
          <a:prstGeom prst="ellipse">
            <a:avLst/>
          </a:prstGeom>
          <a:solidFill>
            <a:schemeClr val="accent1"/>
          </a:solidFill>
          <a:ln/>
        </p:spPr>
      </p:sp>
      <p:sp>
        <p:nvSpPr>
          <p:cNvPr id="15" name="text-145"/>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6" name="text-146"/>
          <p:cNvSpPr txBox="1"/>
          <p:nvPr/>
        </p:nvSpPr>
        <p:spPr>
          <a:xfrm>
            <a:off x="1325880" y="3895344"/>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Create a project</a:t>
            </a:r>
            <a:endParaRPr lang="en-US" sz="1800" dirty="0"/>
          </a:p>
        </p:txBody>
      </p:sp>
      <p:sp>
        <p:nvSpPr>
          <p:cNvPr id="17" name="card-147"/>
          <p:cNvSpPr/>
          <p:nvPr/>
        </p:nvSpPr>
        <p:spPr>
          <a:xfrm>
            <a:off x="4480560" y="3895344"/>
            <a:ext cx="7162495" cy="804672"/>
          </a:xfrm>
          <a:prstGeom prst="roundRect">
            <a:avLst>
              <a:gd name="adj" fmla="val 13636"/>
            </a:avLst>
          </a:prstGeom>
          <a:solidFill>
            <a:schemeClr val="bg2"/>
          </a:solidFill>
          <a:ln/>
        </p:spPr>
      </p:sp>
      <p:sp>
        <p:nvSpPr>
          <p:cNvPr id="18" name="text-148"/>
          <p:cNvSpPr txBox="1"/>
          <p:nvPr/>
        </p:nvSpPr>
        <p:spPr>
          <a:xfrm>
            <a:off x="4754880" y="3895344"/>
            <a:ext cx="6613855" cy="804672"/>
          </a:xfrm>
          <a:prstGeom prst="rect">
            <a:avLst/>
          </a:prstGeom>
          <a:noFill/>
          <a:ln/>
        </p:spPr>
        <p:txBody>
          <a:bodyPr wrap="square" lIns="0" tIns="0" rIns="0" bIns="0" rtlCol="0" anchor="ctr"/>
          <a:lstStyle/>
          <a:p>
            <a:pPr indent="0" marL="0">
              <a:buNone/>
            </a:pPr>
            <a:r>
              <a:rPr lang="en-US" sz="1600" dirty="0">
                <a:solidFill>
                  <a:schemeClr val="tx1"/>
                </a:solidFill>
              </a:rPr>
              <a:t>Click Create New Project and pick the folder the agent may work in</a:t>
            </a:r>
            <a:endParaRPr lang="en-US" sz="1600" dirty="0"/>
          </a:p>
        </p:txBody>
      </p:sp>
      <p:sp>
        <p:nvSpPr>
          <p:cNvPr id="19" name="step-149"/>
          <p:cNvSpPr/>
          <p:nvPr/>
        </p:nvSpPr>
        <p:spPr>
          <a:xfrm>
            <a:off x="548640" y="5010912"/>
            <a:ext cx="548640" cy="548640"/>
          </a:xfrm>
          <a:prstGeom prst="ellipse">
            <a:avLst/>
          </a:prstGeom>
          <a:solidFill>
            <a:schemeClr val="accent1"/>
          </a:solidFill>
          <a:ln/>
        </p:spPr>
      </p:sp>
      <p:sp>
        <p:nvSpPr>
          <p:cNvPr id="20" name="text-150"/>
          <p:cNvSpPr txBox="1"/>
          <p:nvPr/>
        </p:nvSpPr>
        <p:spPr>
          <a:xfrm>
            <a:off x="548640" y="50109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1" name="text-151"/>
          <p:cNvSpPr txBox="1"/>
          <p:nvPr/>
        </p:nvSpPr>
        <p:spPr>
          <a:xfrm>
            <a:off x="1325880" y="4882896"/>
            <a:ext cx="2926080" cy="804672"/>
          </a:xfrm>
          <a:prstGeom prst="rect">
            <a:avLst/>
          </a:prstGeom>
          <a:noFill/>
          <a:ln/>
        </p:spPr>
        <p:txBody>
          <a:bodyPr wrap="square" lIns="0" tIns="0" rIns="0" bIns="0" rtlCol="0" anchor="ctr"/>
          <a:lstStyle/>
          <a:p>
            <a:pPr indent="0" marL="0">
              <a:buNone/>
            </a:pPr>
            <a:r>
              <a:rPr lang="en-US" sz="1800" b="1" dirty="0">
                <a:solidFill>
                  <a:schemeClr val="tx1"/>
                </a:solidFill>
              </a:rPr>
              <a:t>Start a conversation</a:t>
            </a:r>
            <a:endParaRPr lang="en-US" sz="1800" dirty="0"/>
          </a:p>
        </p:txBody>
      </p:sp>
      <p:sp>
        <p:nvSpPr>
          <p:cNvPr id="22" name="card-152"/>
          <p:cNvSpPr/>
          <p:nvPr/>
        </p:nvSpPr>
        <p:spPr>
          <a:xfrm>
            <a:off x="4480560" y="4882896"/>
            <a:ext cx="7162495" cy="804672"/>
          </a:xfrm>
          <a:prstGeom prst="roundRect">
            <a:avLst>
              <a:gd name="adj" fmla="val 13636"/>
            </a:avLst>
          </a:prstGeom>
          <a:solidFill>
            <a:schemeClr val="bg2"/>
          </a:solidFill>
          <a:ln/>
        </p:spPr>
      </p:sp>
      <p:sp>
        <p:nvSpPr>
          <p:cNvPr id="23" name="text-153"/>
          <p:cNvSpPr txBox="1"/>
          <p:nvPr/>
        </p:nvSpPr>
        <p:spPr>
          <a:xfrm>
            <a:off x="4754880" y="4882896"/>
            <a:ext cx="6613855" cy="804672"/>
          </a:xfrm>
          <a:prstGeom prst="rect">
            <a:avLst/>
          </a:prstGeom>
          <a:noFill/>
          <a:ln/>
        </p:spPr>
        <p:txBody>
          <a:bodyPr wrap="square" lIns="0" tIns="0" rIns="0" bIns="0" rtlCol="0" anchor="ctr"/>
          <a:lstStyle/>
          <a:p>
            <a:pPr indent="0" marL="0">
              <a:buNone/>
            </a:pPr>
            <a:r>
              <a:rPr lang="en-US" sz="1600" dirty="0">
                <a:solidFill>
                  <a:schemeClr val="tx1"/>
                </a:solidFill>
              </a:rPr>
              <a:t>Type what you want in the chat box and choose a model</a:t>
            </a:r>
            <a:endParaRPr lang="en-US" sz="1600" dirty="0"/>
          </a:p>
        </p:txBody>
      </p:sp>
      <p:sp>
        <p:nvSpPr>
          <p:cNvPr id="24" name="text-15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Prefer a terminal? Install Antigravity CLI and type agy. 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Agents plan, build and verify, leaving evidence each time</a:t>
            </a:r>
            <a:endParaRPr lang="en-US" sz="3000" dirty="0"/>
          </a:p>
        </p:txBody>
      </p:sp>
      <p:sp>
        <p:nvSpPr>
          <p:cNvPr id="4" name="card-155"/>
          <p:cNvSpPr/>
          <p:nvPr/>
        </p:nvSpPr>
        <p:spPr>
          <a:xfrm>
            <a:off x="548640" y="1920240"/>
            <a:ext cx="3200400" cy="3063240"/>
          </a:xfrm>
          <a:prstGeom prst="roundRect">
            <a:avLst>
              <a:gd name="adj" fmla="val 3582"/>
            </a:avLst>
          </a:prstGeom>
          <a:solidFill>
            <a:schemeClr val="bg2"/>
          </a:solidFill>
          <a:ln/>
        </p:spPr>
      </p:sp>
      <p:sp>
        <p:nvSpPr>
          <p:cNvPr id="5" name="badge-156"/>
          <p:cNvSpPr/>
          <p:nvPr/>
        </p:nvSpPr>
        <p:spPr>
          <a:xfrm>
            <a:off x="822960" y="2194560"/>
            <a:ext cx="566928" cy="566928"/>
          </a:xfrm>
          <a:prstGeom prst="ellipse">
            <a:avLst/>
          </a:prstGeom>
          <a:solidFill>
            <a:schemeClr val="accent1"/>
          </a:solidFill>
          <a:ln/>
        </p:spPr>
      </p:sp>
      <p:pic>
        <p:nvPicPr>
          <p:cNvPr id="6" name="icon-157" descr="preencoded.png">    </p:cNvPr>
          <p:cNvPicPr>
            <a:picLocks noChangeAspect="1"/>
          </p:cNvPicPr>
          <p:nvPr/>
        </p:nvPicPr>
        <p:blipFill>
          <a:blip r:embed="rId1"/>
          <a:stretch>
            <a:fillRect/>
          </a:stretch>
        </p:blipFill>
        <p:spPr>
          <a:xfrm>
            <a:off x="976031" y="2347631"/>
            <a:ext cx="260787" cy="260787"/>
          </a:xfrm>
          <a:prstGeom prst="rect">
            <a:avLst/>
          </a:prstGeom>
        </p:spPr>
      </p:pic>
      <p:sp>
        <p:nvSpPr>
          <p:cNvPr id="7" name="text-158"/>
          <p:cNvSpPr txBox="1"/>
          <p:nvPr/>
        </p:nvSpPr>
        <p:spPr>
          <a:xfrm>
            <a:off x="1572768" y="2194560"/>
            <a:ext cx="2011680" cy="566928"/>
          </a:xfrm>
          <a:prstGeom prst="rect">
            <a:avLst/>
          </a:prstGeom>
          <a:noFill/>
          <a:ln/>
        </p:spPr>
        <p:txBody>
          <a:bodyPr wrap="square" lIns="0" tIns="0" rIns="0" bIns="0" rtlCol="0" anchor="ctr"/>
          <a:lstStyle/>
          <a:p>
            <a:pPr indent="0" marL="0">
              <a:buNone/>
            </a:pPr>
            <a:r>
              <a:rPr lang="en-US" sz="2200" b="1" dirty="0">
                <a:solidFill>
                  <a:schemeClr val="tx1"/>
                </a:solidFill>
              </a:rPr>
              <a:t>Plan</a:t>
            </a:r>
            <a:endParaRPr lang="en-US" sz="2200" dirty="0"/>
          </a:p>
        </p:txBody>
      </p:sp>
      <p:sp>
        <p:nvSpPr>
          <p:cNvPr id="8" name="text-159"/>
          <p:cNvSpPr txBox="1"/>
          <p:nvPr/>
        </p:nvSpPr>
        <p:spPr>
          <a:xfrm>
            <a:off x="822960" y="2971800"/>
            <a:ext cx="2651760" cy="548640"/>
          </a:xfrm>
          <a:prstGeom prst="rect">
            <a:avLst/>
          </a:prstGeom>
          <a:noFill/>
          <a:ln/>
        </p:spPr>
        <p:txBody>
          <a:bodyPr wrap="square" lIns="0" tIns="0" rIns="0" bIns="0" rtlCol="0" anchor="t"/>
          <a:lstStyle/>
          <a:p>
            <a:pPr indent="0" marL="0">
              <a:buNone/>
            </a:pPr>
            <a:r>
              <a:rPr lang="en-US" sz="1400" dirty="0">
                <a:solidFill>
                  <a:schemeClr val="tx2"/>
                </a:solidFill>
              </a:rPr>
              <a:t>Works out the steps before touching any code</a:t>
            </a:r>
            <a:endParaRPr lang="en-US" sz="1400" dirty="0"/>
          </a:p>
        </p:txBody>
      </p:sp>
      <p:sp>
        <p:nvSpPr>
          <p:cNvPr id="9" name="text-160"/>
          <p:cNvSpPr txBox="1"/>
          <p:nvPr/>
        </p:nvSpPr>
        <p:spPr>
          <a:xfrm>
            <a:off x="822960" y="3703320"/>
            <a:ext cx="2651760"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GET</a:t>
            </a:r>
            <a:endParaRPr lang="en-US" sz="1100" dirty="0"/>
          </a:p>
        </p:txBody>
      </p:sp>
      <p:sp>
        <p:nvSpPr>
          <p:cNvPr id="10" name="pill-161"/>
          <p:cNvSpPr/>
          <p:nvPr/>
        </p:nvSpPr>
        <p:spPr>
          <a:xfrm>
            <a:off x="822960" y="4005072"/>
            <a:ext cx="2651760" cy="365760"/>
          </a:xfrm>
          <a:prstGeom prst="roundRect">
            <a:avLst>
              <a:gd name="adj" fmla="val 50000"/>
            </a:avLst>
          </a:prstGeom>
          <a:solidFill>
            <a:schemeClr val="accent5"/>
          </a:solidFill>
          <a:ln/>
        </p:spPr>
      </p:sp>
      <p:sp>
        <p:nvSpPr>
          <p:cNvPr id="11" name="text-162"/>
          <p:cNvSpPr txBox="1"/>
          <p:nvPr/>
        </p:nvSpPr>
        <p:spPr>
          <a:xfrm>
            <a:off x="822960" y="4005072"/>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Task list</a:t>
            </a:r>
            <a:endParaRPr lang="en-US" sz="1400" dirty="0"/>
          </a:p>
        </p:txBody>
      </p:sp>
      <p:sp>
        <p:nvSpPr>
          <p:cNvPr id="12" name="pill-163"/>
          <p:cNvSpPr/>
          <p:nvPr/>
        </p:nvSpPr>
        <p:spPr>
          <a:xfrm>
            <a:off x="822960" y="4443984"/>
            <a:ext cx="2651760" cy="365760"/>
          </a:xfrm>
          <a:prstGeom prst="roundRect">
            <a:avLst>
              <a:gd name="adj" fmla="val 50000"/>
            </a:avLst>
          </a:prstGeom>
          <a:solidFill>
            <a:schemeClr val="accent5"/>
          </a:solidFill>
          <a:ln/>
        </p:spPr>
      </p:sp>
      <p:sp>
        <p:nvSpPr>
          <p:cNvPr id="13" name="text-164"/>
          <p:cNvSpPr txBox="1"/>
          <p:nvPr/>
        </p:nvSpPr>
        <p:spPr>
          <a:xfrm>
            <a:off x="822960" y="4443984"/>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Implementation plan</a:t>
            </a:r>
            <a:endParaRPr lang="en-US" sz="1400" dirty="0"/>
          </a:p>
        </p:txBody>
      </p:sp>
      <p:pic>
        <p:nvPicPr>
          <p:cNvPr id="14" name="chevron-165" descr="preencoded.png">    </p:cNvPr>
          <p:cNvPicPr>
            <a:picLocks noChangeAspect="1"/>
          </p:cNvPicPr>
          <p:nvPr/>
        </p:nvPicPr>
        <p:blipFill>
          <a:blip r:embed="rId2"/>
          <a:stretch>
            <a:fillRect/>
          </a:stretch>
        </p:blipFill>
        <p:spPr>
          <a:xfrm>
            <a:off x="3985184" y="3314700"/>
            <a:ext cx="274320" cy="274320"/>
          </a:xfrm>
          <a:prstGeom prst="rect">
            <a:avLst/>
          </a:prstGeom>
        </p:spPr>
      </p:pic>
      <p:sp>
        <p:nvSpPr>
          <p:cNvPr id="15" name="card-166"/>
          <p:cNvSpPr/>
          <p:nvPr/>
        </p:nvSpPr>
        <p:spPr>
          <a:xfrm>
            <a:off x="4495648" y="1920240"/>
            <a:ext cx="3200400" cy="3063240"/>
          </a:xfrm>
          <a:prstGeom prst="roundRect">
            <a:avLst>
              <a:gd name="adj" fmla="val 3582"/>
            </a:avLst>
          </a:prstGeom>
          <a:solidFill>
            <a:schemeClr val="bg2"/>
          </a:solidFill>
          <a:ln/>
        </p:spPr>
      </p:sp>
      <p:sp>
        <p:nvSpPr>
          <p:cNvPr id="16" name="badge-167"/>
          <p:cNvSpPr/>
          <p:nvPr/>
        </p:nvSpPr>
        <p:spPr>
          <a:xfrm>
            <a:off x="4769968" y="2194560"/>
            <a:ext cx="566928" cy="566928"/>
          </a:xfrm>
          <a:prstGeom prst="ellipse">
            <a:avLst/>
          </a:prstGeom>
          <a:solidFill>
            <a:schemeClr val="accent1"/>
          </a:solidFill>
          <a:ln/>
        </p:spPr>
      </p:sp>
      <p:pic>
        <p:nvPicPr>
          <p:cNvPr id="17" name="icon-168" descr="preencoded.png">    </p:cNvPr>
          <p:cNvPicPr>
            <a:picLocks noChangeAspect="1"/>
          </p:cNvPicPr>
          <p:nvPr/>
        </p:nvPicPr>
        <p:blipFill>
          <a:blip r:embed="rId3"/>
          <a:stretch>
            <a:fillRect/>
          </a:stretch>
        </p:blipFill>
        <p:spPr>
          <a:xfrm>
            <a:off x="4923038" y="2347631"/>
            <a:ext cx="260787" cy="260787"/>
          </a:xfrm>
          <a:prstGeom prst="rect">
            <a:avLst/>
          </a:prstGeom>
        </p:spPr>
      </p:pic>
      <p:sp>
        <p:nvSpPr>
          <p:cNvPr id="18" name="text-169"/>
          <p:cNvSpPr txBox="1"/>
          <p:nvPr/>
        </p:nvSpPr>
        <p:spPr>
          <a:xfrm>
            <a:off x="5519776" y="2194560"/>
            <a:ext cx="2011680" cy="566928"/>
          </a:xfrm>
          <a:prstGeom prst="rect">
            <a:avLst/>
          </a:prstGeom>
          <a:noFill/>
          <a:ln/>
        </p:spPr>
        <p:txBody>
          <a:bodyPr wrap="square" lIns="0" tIns="0" rIns="0" bIns="0" rtlCol="0" anchor="ctr"/>
          <a:lstStyle/>
          <a:p>
            <a:pPr indent="0" marL="0">
              <a:buNone/>
            </a:pPr>
            <a:r>
              <a:rPr lang="en-US" sz="2200" b="1" dirty="0">
                <a:solidFill>
                  <a:schemeClr val="tx1"/>
                </a:solidFill>
              </a:rPr>
              <a:t>Build</a:t>
            </a:r>
            <a:endParaRPr lang="en-US" sz="2200" dirty="0"/>
          </a:p>
        </p:txBody>
      </p:sp>
      <p:sp>
        <p:nvSpPr>
          <p:cNvPr id="19" name="text-170"/>
          <p:cNvSpPr txBox="1"/>
          <p:nvPr/>
        </p:nvSpPr>
        <p:spPr>
          <a:xfrm>
            <a:off x="4769968" y="2971800"/>
            <a:ext cx="2651760" cy="548640"/>
          </a:xfrm>
          <a:prstGeom prst="rect">
            <a:avLst/>
          </a:prstGeom>
          <a:noFill/>
          <a:ln/>
        </p:spPr>
        <p:txBody>
          <a:bodyPr wrap="square" lIns="0" tIns="0" rIns="0" bIns="0" rtlCol="0" anchor="t"/>
          <a:lstStyle/>
          <a:p>
            <a:pPr indent="0" marL="0">
              <a:buNone/>
            </a:pPr>
            <a:r>
              <a:rPr lang="en-US" sz="1400" dirty="0">
                <a:solidFill>
                  <a:schemeClr val="tx2"/>
                </a:solidFill>
              </a:rPr>
              <a:t>Writes the files and runs the commands</a:t>
            </a:r>
            <a:endParaRPr lang="en-US" sz="1400" dirty="0"/>
          </a:p>
        </p:txBody>
      </p:sp>
      <p:sp>
        <p:nvSpPr>
          <p:cNvPr id="20" name="text-171"/>
          <p:cNvSpPr txBox="1"/>
          <p:nvPr/>
        </p:nvSpPr>
        <p:spPr>
          <a:xfrm>
            <a:off x="4769968" y="3703320"/>
            <a:ext cx="2651760"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GET</a:t>
            </a:r>
            <a:endParaRPr lang="en-US" sz="1100" dirty="0"/>
          </a:p>
        </p:txBody>
      </p:sp>
      <p:sp>
        <p:nvSpPr>
          <p:cNvPr id="21" name="pill-172"/>
          <p:cNvSpPr/>
          <p:nvPr/>
        </p:nvSpPr>
        <p:spPr>
          <a:xfrm>
            <a:off x="4769968" y="4005072"/>
            <a:ext cx="2651760" cy="365760"/>
          </a:xfrm>
          <a:prstGeom prst="roundRect">
            <a:avLst>
              <a:gd name="adj" fmla="val 50000"/>
            </a:avLst>
          </a:prstGeom>
          <a:solidFill>
            <a:schemeClr val="accent5"/>
          </a:solidFill>
          <a:ln/>
        </p:spPr>
      </p:sp>
      <p:sp>
        <p:nvSpPr>
          <p:cNvPr id="22" name="text-173"/>
          <p:cNvSpPr txBox="1"/>
          <p:nvPr/>
        </p:nvSpPr>
        <p:spPr>
          <a:xfrm>
            <a:off x="4769968" y="4005072"/>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Code diffs</a:t>
            </a:r>
            <a:endParaRPr lang="en-US" sz="1400" dirty="0"/>
          </a:p>
        </p:txBody>
      </p:sp>
      <p:pic>
        <p:nvPicPr>
          <p:cNvPr id="23" name="chevron-174" descr="preencoded.png">    </p:cNvPr>
          <p:cNvPicPr>
            <a:picLocks noChangeAspect="1"/>
          </p:cNvPicPr>
          <p:nvPr/>
        </p:nvPicPr>
        <p:blipFill>
          <a:blip r:embed="rId4"/>
          <a:stretch>
            <a:fillRect/>
          </a:stretch>
        </p:blipFill>
        <p:spPr>
          <a:xfrm>
            <a:off x="7932191" y="3314700"/>
            <a:ext cx="274320" cy="274320"/>
          </a:xfrm>
          <a:prstGeom prst="rect">
            <a:avLst/>
          </a:prstGeom>
        </p:spPr>
      </p:pic>
      <p:sp>
        <p:nvSpPr>
          <p:cNvPr id="24" name="card-175"/>
          <p:cNvSpPr/>
          <p:nvPr/>
        </p:nvSpPr>
        <p:spPr>
          <a:xfrm>
            <a:off x="8442655" y="1920240"/>
            <a:ext cx="3200400" cy="3063240"/>
          </a:xfrm>
          <a:prstGeom prst="roundRect">
            <a:avLst>
              <a:gd name="adj" fmla="val 3582"/>
            </a:avLst>
          </a:prstGeom>
          <a:solidFill>
            <a:schemeClr val="bg2"/>
          </a:solidFill>
          <a:ln/>
        </p:spPr>
      </p:sp>
      <p:sp>
        <p:nvSpPr>
          <p:cNvPr id="25" name="badge-176"/>
          <p:cNvSpPr/>
          <p:nvPr/>
        </p:nvSpPr>
        <p:spPr>
          <a:xfrm>
            <a:off x="8716975" y="2194560"/>
            <a:ext cx="566928" cy="566928"/>
          </a:xfrm>
          <a:prstGeom prst="ellipse">
            <a:avLst/>
          </a:prstGeom>
          <a:solidFill>
            <a:schemeClr val="accent1"/>
          </a:solidFill>
          <a:ln/>
        </p:spPr>
      </p:sp>
      <p:pic>
        <p:nvPicPr>
          <p:cNvPr id="26" name="icon-177" descr="preencoded.png">    </p:cNvPr>
          <p:cNvPicPr>
            <a:picLocks noChangeAspect="1"/>
          </p:cNvPicPr>
          <p:nvPr/>
        </p:nvPicPr>
        <p:blipFill>
          <a:blip r:embed="rId5"/>
          <a:stretch>
            <a:fillRect/>
          </a:stretch>
        </p:blipFill>
        <p:spPr>
          <a:xfrm>
            <a:off x="8870046" y="2347631"/>
            <a:ext cx="260787" cy="260787"/>
          </a:xfrm>
          <a:prstGeom prst="rect">
            <a:avLst/>
          </a:prstGeom>
        </p:spPr>
      </p:pic>
      <p:sp>
        <p:nvSpPr>
          <p:cNvPr id="27" name="text-178"/>
          <p:cNvSpPr txBox="1"/>
          <p:nvPr/>
        </p:nvSpPr>
        <p:spPr>
          <a:xfrm>
            <a:off x="9466783" y="2194560"/>
            <a:ext cx="2011680" cy="566928"/>
          </a:xfrm>
          <a:prstGeom prst="rect">
            <a:avLst/>
          </a:prstGeom>
          <a:noFill/>
          <a:ln/>
        </p:spPr>
        <p:txBody>
          <a:bodyPr wrap="square" lIns="0" tIns="0" rIns="0" bIns="0" rtlCol="0" anchor="ctr"/>
          <a:lstStyle/>
          <a:p>
            <a:pPr indent="0" marL="0">
              <a:buNone/>
            </a:pPr>
            <a:r>
              <a:rPr lang="en-US" sz="2200" b="1" dirty="0">
                <a:solidFill>
                  <a:schemeClr val="tx1"/>
                </a:solidFill>
              </a:rPr>
              <a:t>Verify</a:t>
            </a:r>
            <a:endParaRPr lang="en-US" sz="2200" dirty="0"/>
          </a:p>
        </p:txBody>
      </p:sp>
      <p:sp>
        <p:nvSpPr>
          <p:cNvPr id="28" name="text-179"/>
          <p:cNvSpPr txBox="1"/>
          <p:nvPr/>
        </p:nvSpPr>
        <p:spPr>
          <a:xfrm>
            <a:off x="8716975" y="2971800"/>
            <a:ext cx="2651760" cy="548640"/>
          </a:xfrm>
          <a:prstGeom prst="rect">
            <a:avLst/>
          </a:prstGeom>
          <a:noFill/>
          <a:ln/>
        </p:spPr>
        <p:txBody>
          <a:bodyPr wrap="square" lIns="0" tIns="0" rIns="0" bIns="0" rtlCol="0" anchor="t"/>
          <a:lstStyle/>
          <a:p>
            <a:pPr indent="0" marL="0">
              <a:buNone/>
            </a:pPr>
            <a:r>
              <a:rPr lang="en-US" sz="1400" dirty="0">
                <a:solidFill>
                  <a:schemeClr val="tx2"/>
                </a:solidFill>
              </a:rPr>
              <a:t>Tests the result and records what it did</a:t>
            </a:r>
            <a:endParaRPr lang="en-US" sz="1400" dirty="0"/>
          </a:p>
        </p:txBody>
      </p:sp>
      <p:sp>
        <p:nvSpPr>
          <p:cNvPr id="29" name="text-180"/>
          <p:cNvSpPr txBox="1"/>
          <p:nvPr/>
        </p:nvSpPr>
        <p:spPr>
          <a:xfrm>
            <a:off x="8716975" y="3703320"/>
            <a:ext cx="2651760"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GET</a:t>
            </a:r>
            <a:endParaRPr lang="en-US" sz="1100" dirty="0"/>
          </a:p>
        </p:txBody>
      </p:sp>
      <p:sp>
        <p:nvSpPr>
          <p:cNvPr id="30" name="pill-181"/>
          <p:cNvSpPr/>
          <p:nvPr/>
        </p:nvSpPr>
        <p:spPr>
          <a:xfrm>
            <a:off x="8716975" y="4005072"/>
            <a:ext cx="2651760" cy="365760"/>
          </a:xfrm>
          <a:prstGeom prst="roundRect">
            <a:avLst>
              <a:gd name="adj" fmla="val 50000"/>
            </a:avLst>
          </a:prstGeom>
          <a:solidFill>
            <a:schemeClr val="accent5"/>
          </a:solidFill>
          <a:ln/>
        </p:spPr>
      </p:sp>
      <p:sp>
        <p:nvSpPr>
          <p:cNvPr id="31" name="text-182"/>
          <p:cNvSpPr txBox="1"/>
          <p:nvPr/>
        </p:nvSpPr>
        <p:spPr>
          <a:xfrm>
            <a:off x="8716975" y="4005072"/>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Screenshots</a:t>
            </a:r>
            <a:endParaRPr lang="en-US" sz="1400" dirty="0"/>
          </a:p>
        </p:txBody>
      </p:sp>
      <p:sp>
        <p:nvSpPr>
          <p:cNvPr id="32" name="pill-183"/>
          <p:cNvSpPr/>
          <p:nvPr/>
        </p:nvSpPr>
        <p:spPr>
          <a:xfrm>
            <a:off x="8716975" y="4443984"/>
            <a:ext cx="2651760" cy="365760"/>
          </a:xfrm>
          <a:prstGeom prst="roundRect">
            <a:avLst>
              <a:gd name="adj" fmla="val 50000"/>
            </a:avLst>
          </a:prstGeom>
          <a:solidFill>
            <a:schemeClr val="accent5"/>
          </a:solidFill>
          <a:ln/>
        </p:spPr>
      </p:sp>
      <p:sp>
        <p:nvSpPr>
          <p:cNvPr id="33" name="text-184"/>
          <p:cNvSpPr txBox="1"/>
          <p:nvPr/>
        </p:nvSpPr>
        <p:spPr>
          <a:xfrm>
            <a:off x="8716975" y="4443984"/>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Walkthrough</a:t>
            </a:r>
            <a:endParaRPr lang="en-US" sz="1400" dirty="0"/>
          </a:p>
        </p:txBody>
      </p:sp>
      <p:sp>
        <p:nvSpPr>
          <p:cNvPr id="34" name="card-185"/>
          <p:cNvSpPr/>
          <p:nvPr/>
        </p:nvSpPr>
        <p:spPr>
          <a:xfrm>
            <a:off x="548640" y="5257800"/>
            <a:ext cx="11094415" cy="640080"/>
          </a:xfrm>
          <a:prstGeom prst="roundRect">
            <a:avLst>
              <a:gd name="adj" fmla="val 17143"/>
            </a:avLst>
          </a:prstGeom>
          <a:solidFill>
            <a:schemeClr val="bg2"/>
          </a:solidFill>
          <a:ln/>
        </p:spPr>
      </p:sp>
      <p:sp>
        <p:nvSpPr>
          <p:cNvPr id="35" name="badge-186"/>
          <p:cNvSpPr/>
          <p:nvPr/>
        </p:nvSpPr>
        <p:spPr>
          <a:xfrm>
            <a:off x="685800" y="5376672"/>
            <a:ext cx="402336" cy="402336"/>
          </a:xfrm>
          <a:prstGeom prst="ellipse">
            <a:avLst/>
          </a:prstGeom>
          <a:solidFill>
            <a:schemeClr val="accent2"/>
          </a:solidFill>
          <a:ln/>
        </p:spPr>
      </p:sp>
      <p:pic>
        <p:nvPicPr>
          <p:cNvPr id="36" name="icon-187" descr="preencoded.png">    </p:cNvPr>
          <p:cNvPicPr>
            <a:picLocks noChangeAspect="1"/>
          </p:cNvPicPr>
          <p:nvPr/>
        </p:nvPicPr>
        <p:blipFill>
          <a:blip r:embed="rId6"/>
          <a:stretch>
            <a:fillRect/>
          </a:stretch>
        </p:blipFill>
        <p:spPr>
          <a:xfrm>
            <a:off x="794431" y="5485303"/>
            <a:ext cx="185075" cy="185075"/>
          </a:xfrm>
          <a:prstGeom prst="rect">
            <a:avLst/>
          </a:prstGeom>
        </p:spPr>
      </p:pic>
      <p:sp>
        <p:nvSpPr>
          <p:cNvPr id="37" name="text-188"/>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By default you review the plan and click Proceed before the agent starts building.</a:t>
            </a:r>
            <a:endParaRPr lang="en-US" sz="1400" dirty="0"/>
          </a:p>
        </p:txBody>
      </p:sp>
      <p:sp>
        <p:nvSpPr>
          <p:cNvPr id="38" name="text-18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core words describe how work is organised</a:t>
            </a:r>
            <a:endParaRPr lang="en-US" sz="3000" dirty="0"/>
          </a:p>
        </p:txBody>
      </p:sp>
      <p:sp>
        <p:nvSpPr>
          <p:cNvPr id="4" name="card-190"/>
          <p:cNvSpPr/>
          <p:nvPr/>
        </p:nvSpPr>
        <p:spPr>
          <a:xfrm>
            <a:off x="548640" y="1920240"/>
            <a:ext cx="11094415" cy="566928"/>
          </a:xfrm>
          <a:prstGeom prst="roundRect">
            <a:avLst>
              <a:gd name="adj" fmla="val 19355"/>
            </a:avLst>
          </a:prstGeom>
          <a:solidFill>
            <a:schemeClr val="bg2"/>
          </a:solidFill>
          <a:ln/>
        </p:spPr>
      </p:sp>
      <p:sp>
        <p:nvSpPr>
          <p:cNvPr id="5" name="text-191"/>
          <p:cNvSpPr txBox="1"/>
          <p:nvPr/>
        </p:nvSpPr>
        <p:spPr>
          <a:xfrm>
            <a:off x="868680" y="1920240"/>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agent</a:t>
            </a:r>
            <a:endParaRPr lang="en-US" sz="1400" dirty="0"/>
          </a:p>
        </p:txBody>
      </p:sp>
      <p:sp>
        <p:nvSpPr>
          <p:cNvPr id="6" name="text-192"/>
          <p:cNvSpPr txBox="1"/>
          <p:nvPr/>
        </p:nvSpPr>
        <p:spPr>
          <a:xfrm>
            <a:off x="3383280" y="1920240"/>
            <a:ext cx="7985455" cy="566928"/>
          </a:xfrm>
          <a:prstGeom prst="rect">
            <a:avLst/>
          </a:prstGeom>
          <a:noFill/>
          <a:ln/>
        </p:spPr>
        <p:txBody>
          <a:bodyPr wrap="square" lIns="0" tIns="0" rIns="0" bIns="0" rtlCol="0" anchor="ctr"/>
          <a:lstStyle/>
          <a:p>
            <a:pPr indent="0" marL="0">
              <a:buNone/>
            </a:pPr>
            <a:r>
              <a:rPr lang="en-US" sz="1400" dirty="0">
                <a:solidFill>
                  <a:schemeClr val="tx1"/>
                </a:solidFill>
              </a:rPr>
              <a:t>The AI worker that plans and carries out the task you give it</a:t>
            </a:r>
            <a:endParaRPr lang="en-US" sz="1400" dirty="0"/>
          </a:p>
        </p:txBody>
      </p:sp>
      <p:sp>
        <p:nvSpPr>
          <p:cNvPr id="7" name="card-193"/>
          <p:cNvSpPr/>
          <p:nvPr/>
        </p:nvSpPr>
        <p:spPr>
          <a:xfrm>
            <a:off x="548640" y="2596896"/>
            <a:ext cx="11094415" cy="566928"/>
          </a:xfrm>
          <a:prstGeom prst="roundRect">
            <a:avLst>
              <a:gd name="adj" fmla="val 19355"/>
            </a:avLst>
          </a:prstGeom>
          <a:solidFill>
            <a:schemeClr val="bg2"/>
          </a:solidFill>
          <a:ln/>
        </p:spPr>
      </p:sp>
      <p:sp>
        <p:nvSpPr>
          <p:cNvPr id="8" name="text-194"/>
          <p:cNvSpPr txBox="1"/>
          <p:nvPr/>
        </p:nvSpPr>
        <p:spPr>
          <a:xfrm>
            <a:off x="868680" y="2596896"/>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project</a:t>
            </a:r>
            <a:endParaRPr lang="en-US" sz="1400" dirty="0"/>
          </a:p>
        </p:txBody>
      </p:sp>
      <p:sp>
        <p:nvSpPr>
          <p:cNvPr id="9" name="text-195"/>
          <p:cNvSpPr txBox="1"/>
          <p:nvPr/>
        </p:nvSpPr>
        <p:spPr>
          <a:xfrm>
            <a:off x="3383280" y="2596896"/>
            <a:ext cx="7985455" cy="566928"/>
          </a:xfrm>
          <a:prstGeom prst="rect">
            <a:avLst/>
          </a:prstGeom>
          <a:noFill/>
          <a:ln/>
        </p:spPr>
        <p:txBody>
          <a:bodyPr wrap="square" lIns="0" tIns="0" rIns="0" bIns="0" rtlCol="0" anchor="ctr"/>
          <a:lstStyle/>
          <a:p>
            <a:pPr indent="0" marL="0">
              <a:buNone/>
            </a:pPr>
            <a:r>
              <a:rPr lang="en-US" sz="1400" dirty="0">
                <a:solidFill>
                  <a:schemeClr val="tx1"/>
                </a:solidFill>
              </a:rPr>
              <a:t>One or more folders that set what an agent can see and change</a:t>
            </a:r>
            <a:endParaRPr lang="en-US" sz="1400" dirty="0"/>
          </a:p>
        </p:txBody>
      </p:sp>
      <p:sp>
        <p:nvSpPr>
          <p:cNvPr id="10" name="card-196"/>
          <p:cNvSpPr/>
          <p:nvPr/>
        </p:nvSpPr>
        <p:spPr>
          <a:xfrm>
            <a:off x="548640" y="3273552"/>
            <a:ext cx="11094415" cy="566928"/>
          </a:xfrm>
          <a:prstGeom prst="roundRect">
            <a:avLst>
              <a:gd name="adj" fmla="val 19355"/>
            </a:avLst>
          </a:prstGeom>
          <a:solidFill>
            <a:schemeClr val="bg2"/>
          </a:solidFill>
          <a:ln/>
        </p:spPr>
      </p:sp>
      <p:sp>
        <p:nvSpPr>
          <p:cNvPr id="11" name="text-197"/>
          <p:cNvSpPr txBox="1"/>
          <p:nvPr/>
        </p:nvSpPr>
        <p:spPr>
          <a:xfrm>
            <a:off x="868680" y="3273552"/>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conversation</a:t>
            </a:r>
            <a:endParaRPr lang="en-US" sz="1400" dirty="0"/>
          </a:p>
        </p:txBody>
      </p:sp>
      <p:sp>
        <p:nvSpPr>
          <p:cNvPr id="12" name="text-198"/>
          <p:cNvSpPr txBox="1"/>
          <p:nvPr/>
        </p:nvSpPr>
        <p:spPr>
          <a:xfrm>
            <a:off x="3383280" y="3273552"/>
            <a:ext cx="7985455" cy="566928"/>
          </a:xfrm>
          <a:prstGeom prst="rect">
            <a:avLst/>
          </a:prstGeom>
          <a:noFill/>
          <a:ln/>
        </p:spPr>
        <p:txBody>
          <a:bodyPr wrap="square" lIns="0" tIns="0" rIns="0" bIns="0" rtlCol="0" anchor="ctr"/>
          <a:lstStyle/>
          <a:p>
            <a:pPr indent="0" marL="0">
              <a:buNone/>
            </a:pPr>
            <a:r>
              <a:rPr lang="en-US" sz="1400" dirty="0">
                <a:solidFill>
                  <a:schemeClr val="tx1"/>
                </a:solidFill>
              </a:rPr>
              <a:t>One thread of messages with an agent, kept inside a project</a:t>
            </a:r>
            <a:endParaRPr lang="en-US" sz="1400" dirty="0"/>
          </a:p>
        </p:txBody>
      </p:sp>
      <p:sp>
        <p:nvSpPr>
          <p:cNvPr id="13" name="card-199"/>
          <p:cNvSpPr/>
          <p:nvPr/>
        </p:nvSpPr>
        <p:spPr>
          <a:xfrm>
            <a:off x="548640" y="3950208"/>
            <a:ext cx="11094415" cy="566928"/>
          </a:xfrm>
          <a:prstGeom prst="roundRect">
            <a:avLst>
              <a:gd name="adj" fmla="val 19355"/>
            </a:avLst>
          </a:prstGeom>
          <a:solidFill>
            <a:schemeClr val="bg2"/>
          </a:solidFill>
          <a:ln/>
        </p:spPr>
      </p:sp>
      <p:sp>
        <p:nvSpPr>
          <p:cNvPr id="14" name="text-200"/>
          <p:cNvSpPr txBox="1"/>
          <p:nvPr/>
        </p:nvSpPr>
        <p:spPr>
          <a:xfrm>
            <a:off x="868680" y="3950208"/>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model</a:t>
            </a:r>
            <a:endParaRPr lang="en-US" sz="1400" dirty="0"/>
          </a:p>
        </p:txBody>
      </p:sp>
      <p:sp>
        <p:nvSpPr>
          <p:cNvPr id="15" name="text-201"/>
          <p:cNvSpPr txBox="1"/>
          <p:nvPr/>
        </p:nvSpPr>
        <p:spPr>
          <a:xfrm>
            <a:off x="3383280" y="3950208"/>
            <a:ext cx="7985455" cy="566928"/>
          </a:xfrm>
          <a:prstGeom prst="rect">
            <a:avLst/>
          </a:prstGeom>
          <a:noFill/>
          <a:ln/>
        </p:spPr>
        <p:txBody>
          <a:bodyPr wrap="square" lIns="0" tIns="0" rIns="0" bIns="0" rtlCol="0" anchor="ctr"/>
          <a:lstStyle/>
          <a:p>
            <a:pPr indent="0" marL="0">
              <a:buNone/>
            </a:pPr>
            <a:r>
              <a:rPr lang="en-US" sz="1400" dirty="0">
                <a:solidFill>
                  <a:schemeClr val="tx1"/>
                </a:solidFill>
              </a:rPr>
              <a:t>The AI system doing the thinking, such as Gemini 3.1 Pro; you can switch it</a:t>
            </a:r>
            <a:endParaRPr lang="en-US" sz="1400" dirty="0"/>
          </a:p>
        </p:txBody>
      </p:sp>
      <p:sp>
        <p:nvSpPr>
          <p:cNvPr id="16" name="card-202"/>
          <p:cNvSpPr/>
          <p:nvPr/>
        </p:nvSpPr>
        <p:spPr>
          <a:xfrm>
            <a:off x="548640" y="4626864"/>
            <a:ext cx="11094415" cy="566928"/>
          </a:xfrm>
          <a:prstGeom prst="roundRect">
            <a:avLst>
              <a:gd name="adj" fmla="val 19355"/>
            </a:avLst>
          </a:prstGeom>
          <a:solidFill>
            <a:schemeClr val="bg2"/>
          </a:solidFill>
          <a:ln/>
        </p:spPr>
      </p:sp>
      <p:sp>
        <p:nvSpPr>
          <p:cNvPr id="17" name="text-203"/>
          <p:cNvSpPr txBox="1"/>
          <p:nvPr/>
        </p:nvSpPr>
        <p:spPr>
          <a:xfrm>
            <a:off x="868680" y="4626864"/>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artifact</a:t>
            </a:r>
            <a:endParaRPr lang="en-US" sz="1400" dirty="0"/>
          </a:p>
        </p:txBody>
      </p:sp>
      <p:sp>
        <p:nvSpPr>
          <p:cNvPr id="18" name="text-204"/>
          <p:cNvSpPr txBox="1"/>
          <p:nvPr/>
        </p:nvSpPr>
        <p:spPr>
          <a:xfrm>
            <a:off x="3383280" y="4626864"/>
            <a:ext cx="7985455" cy="566928"/>
          </a:xfrm>
          <a:prstGeom prst="rect">
            <a:avLst/>
          </a:prstGeom>
          <a:noFill/>
          <a:ln/>
        </p:spPr>
        <p:txBody>
          <a:bodyPr wrap="square" lIns="0" tIns="0" rIns="0" bIns="0" rtlCol="0" anchor="ctr"/>
          <a:lstStyle/>
          <a:p>
            <a:pPr indent="0" marL="0">
              <a:buNone/>
            </a:pPr>
            <a:r>
              <a:rPr lang="en-US" sz="1400" dirty="0">
                <a:solidFill>
                  <a:schemeClr val="tx1"/>
                </a:solidFill>
              </a:rPr>
              <a:t>A document or image the agent produces to explain its plan or prove its work</a:t>
            </a:r>
            <a:endParaRPr lang="en-US" sz="1400" dirty="0"/>
          </a:p>
        </p:txBody>
      </p:sp>
      <p:sp>
        <p:nvSpPr>
          <p:cNvPr id="19" name="card-205"/>
          <p:cNvSpPr/>
          <p:nvPr/>
        </p:nvSpPr>
        <p:spPr>
          <a:xfrm>
            <a:off x="548640" y="5303520"/>
            <a:ext cx="11094415" cy="566928"/>
          </a:xfrm>
          <a:prstGeom prst="roundRect">
            <a:avLst>
              <a:gd name="adj" fmla="val 19355"/>
            </a:avLst>
          </a:prstGeom>
          <a:solidFill>
            <a:schemeClr val="bg2"/>
          </a:solidFill>
          <a:ln/>
        </p:spPr>
      </p:sp>
      <p:sp>
        <p:nvSpPr>
          <p:cNvPr id="20" name="text-206"/>
          <p:cNvSpPr txBox="1"/>
          <p:nvPr/>
        </p:nvSpPr>
        <p:spPr>
          <a:xfrm>
            <a:off x="868680" y="5303520"/>
            <a:ext cx="237744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subagent</a:t>
            </a:r>
            <a:endParaRPr lang="en-US" sz="1400" dirty="0"/>
          </a:p>
        </p:txBody>
      </p:sp>
      <p:sp>
        <p:nvSpPr>
          <p:cNvPr id="21" name="text-207"/>
          <p:cNvSpPr txBox="1"/>
          <p:nvPr/>
        </p:nvSpPr>
        <p:spPr>
          <a:xfrm>
            <a:off x="3383280" y="5303520"/>
            <a:ext cx="7985455" cy="566928"/>
          </a:xfrm>
          <a:prstGeom prst="rect">
            <a:avLst/>
          </a:prstGeom>
          <a:noFill/>
          <a:ln/>
        </p:spPr>
        <p:txBody>
          <a:bodyPr wrap="square" lIns="0" tIns="0" rIns="0" bIns="0" rtlCol="0" anchor="ctr"/>
          <a:lstStyle/>
          <a:p>
            <a:pPr indent="0" marL="0">
              <a:buNone/>
            </a:pPr>
            <a:r>
              <a:rPr lang="en-US" sz="1400" dirty="0">
                <a:solidFill>
                  <a:schemeClr val="tx1"/>
                </a:solidFill>
              </a:rPr>
              <a:t>A helper agent started for one job, such as the browser subagent</a:t>
            </a:r>
            <a:endParaRPr lang="en-US" sz="1400" dirty="0"/>
          </a:p>
        </p:txBody>
      </p:sp>
      <p:sp>
        <p:nvSpPr>
          <p:cNvPr id="22" name="text-208"/>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Five kinds of artifact show the plan and the proof</a:t>
            </a:r>
            <a:endParaRPr lang="en-US" sz="3000" dirty="0"/>
          </a:p>
        </p:txBody>
      </p:sp>
      <p:sp>
        <p:nvSpPr>
          <p:cNvPr id="4" name="card-209"/>
          <p:cNvSpPr/>
          <p:nvPr/>
        </p:nvSpPr>
        <p:spPr>
          <a:xfrm>
            <a:off x="548640" y="1920240"/>
            <a:ext cx="2036003" cy="3108960"/>
          </a:xfrm>
          <a:prstGeom prst="roundRect">
            <a:avLst>
              <a:gd name="adj" fmla="val 5389"/>
            </a:avLst>
          </a:prstGeom>
          <a:solidFill>
            <a:schemeClr val="bg2"/>
          </a:solidFill>
          <a:ln/>
        </p:spPr>
      </p:sp>
      <p:sp>
        <p:nvSpPr>
          <p:cNvPr id="5" name="badge-210"/>
          <p:cNvSpPr/>
          <p:nvPr/>
        </p:nvSpPr>
        <p:spPr>
          <a:xfrm>
            <a:off x="749808" y="2148840"/>
            <a:ext cx="548640" cy="548640"/>
          </a:xfrm>
          <a:prstGeom prst="ellipse">
            <a:avLst/>
          </a:prstGeom>
          <a:solidFill>
            <a:schemeClr val="accent1"/>
          </a:solidFill>
          <a:ln/>
        </p:spPr>
      </p:sp>
      <p:pic>
        <p:nvPicPr>
          <p:cNvPr id="6" name="icon-211" descr="preencoded.png">    </p:cNvPr>
          <p:cNvPicPr>
            <a:picLocks noChangeAspect="1"/>
          </p:cNvPicPr>
          <p:nvPr/>
        </p:nvPicPr>
        <p:blipFill>
          <a:blip r:embed="rId1"/>
          <a:stretch>
            <a:fillRect/>
          </a:stretch>
        </p:blipFill>
        <p:spPr>
          <a:xfrm>
            <a:off x="897941" y="2296973"/>
            <a:ext cx="252374" cy="252374"/>
          </a:xfrm>
          <a:prstGeom prst="rect">
            <a:avLst/>
          </a:prstGeom>
        </p:spPr>
      </p:pic>
      <p:sp>
        <p:nvSpPr>
          <p:cNvPr id="7" name="pill-212"/>
          <p:cNvSpPr/>
          <p:nvPr/>
        </p:nvSpPr>
        <p:spPr>
          <a:xfrm>
            <a:off x="1514795" y="2267712"/>
            <a:ext cx="868680" cy="292608"/>
          </a:xfrm>
          <a:prstGeom prst="roundRect">
            <a:avLst>
              <a:gd name="adj" fmla="val 50000"/>
            </a:avLst>
          </a:prstGeom>
          <a:solidFill>
            <a:schemeClr val="accent1"/>
          </a:solidFill>
          <a:ln/>
        </p:spPr>
      </p:sp>
      <p:sp>
        <p:nvSpPr>
          <p:cNvPr id="8" name="text-213"/>
          <p:cNvSpPr txBox="1"/>
          <p:nvPr/>
        </p:nvSpPr>
        <p:spPr>
          <a:xfrm>
            <a:off x="1514795" y="2267712"/>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BEFORE</a:t>
            </a:r>
            <a:endParaRPr lang="en-US" sz="1100" dirty="0"/>
          </a:p>
        </p:txBody>
      </p:sp>
      <p:sp>
        <p:nvSpPr>
          <p:cNvPr id="9" name="text-214"/>
          <p:cNvSpPr txBox="1"/>
          <p:nvPr/>
        </p:nvSpPr>
        <p:spPr>
          <a:xfrm>
            <a:off x="749808" y="2880360"/>
            <a:ext cx="1670243" cy="566928"/>
          </a:xfrm>
          <a:prstGeom prst="rect">
            <a:avLst/>
          </a:prstGeom>
          <a:noFill/>
          <a:ln/>
        </p:spPr>
        <p:txBody>
          <a:bodyPr wrap="square" lIns="0" tIns="0" rIns="0" bIns="0" rtlCol="0" anchor="t"/>
          <a:lstStyle/>
          <a:p>
            <a:pPr indent="0" marL="0">
              <a:buNone/>
            </a:pPr>
            <a:r>
              <a:rPr lang="en-US" sz="1600" b="1" dirty="0">
                <a:solidFill>
                  <a:schemeClr val="tx1"/>
                </a:solidFill>
              </a:rPr>
              <a:t>Task list</a:t>
            </a:r>
            <a:endParaRPr lang="en-US" sz="1600" dirty="0"/>
          </a:p>
        </p:txBody>
      </p:sp>
      <p:sp>
        <p:nvSpPr>
          <p:cNvPr id="10" name="text-215"/>
          <p:cNvSpPr txBox="1"/>
          <p:nvPr/>
        </p:nvSpPr>
        <p:spPr>
          <a:xfrm>
            <a:off x="749808" y="3520440"/>
            <a:ext cx="1651955" cy="1371600"/>
          </a:xfrm>
          <a:prstGeom prst="rect">
            <a:avLst/>
          </a:prstGeom>
          <a:noFill/>
          <a:ln/>
        </p:spPr>
        <p:txBody>
          <a:bodyPr wrap="square" lIns="0" tIns="0" rIns="0" bIns="0" rtlCol="0" anchor="t"/>
          <a:lstStyle/>
          <a:p>
            <a:pPr indent="0" marL="0">
              <a:buNone/>
            </a:pPr>
            <a:r>
              <a:rPr lang="en-US" sz="1400" dirty="0">
                <a:solidFill>
                  <a:schemeClr val="tx2"/>
                </a:solidFill>
              </a:rPr>
              <a:t>A structured checklist of the steps the agent intends to take</a:t>
            </a:r>
            <a:endParaRPr lang="en-US" sz="1400" dirty="0"/>
          </a:p>
        </p:txBody>
      </p:sp>
      <p:sp>
        <p:nvSpPr>
          <p:cNvPr id="11" name="card-216"/>
          <p:cNvSpPr/>
          <p:nvPr/>
        </p:nvSpPr>
        <p:spPr>
          <a:xfrm>
            <a:off x="2813243" y="1920240"/>
            <a:ext cx="2036003" cy="3108960"/>
          </a:xfrm>
          <a:prstGeom prst="roundRect">
            <a:avLst>
              <a:gd name="adj" fmla="val 5389"/>
            </a:avLst>
          </a:prstGeom>
          <a:solidFill>
            <a:schemeClr val="bg2"/>
          </a:solidFill>
          <a:ln/>
        </p:spPr>
      </p:sp>
      <p:sp>
        <p:nvSpPr>
          <p:cNvPr id="12" name="badge-217"/>
          <p:cNvSpPr/>
          <p:nvPr/>
        </p:nvSpPr>
        <p:spPr>
          <a:xfrm>
            <a:off x="3014411" y="2148840"/>
            <a:ext cx="548640" cy="548640"/>
          </a:xfrm>
          <a:prstGeom prst="ellipse">
            <a:avLst/>
          </a:prstGeom>
          <a:solidFill>
            <a:schemeClr val="accent1"/>
          </a:solidFill>
          <a:ln/>
        </p:spPr>
      </p:sp>
      <p:pic>
        <p:nvPicPr>
          <p:cNvPr id="13" name="icon-218" descr="preencoded.png">    </p:cNvPr>
          <p:cNvPicPr>
            <a:picLocks noChangeAspect="1"/>
          </p:cNvPicPr>
          <p:nvPr/>
        </p:nvPicPr>
        <p:blipFill>
          <a:blip r:embed="rId2"/>
          <a:stretch>
            <a:fillRect/>
          </a:stretch>
        </p:blipFill>
        <p:spPr>
          <a:xfrm>
            <a:off x="3162544" y="2296973"/>
            <a:ext cx="252374" cy="252374"/>
          </a:xfrm>
          <a:prstGeom prst="rect">
            <a:avLst/>
          </a:prstGeom>
        </p:spPr>
      </p:pic>
      <p:sp>
        <p:nvSpPr>
          <p:cNvPr id="14" name="pill-219"/>
          <p:cNvSpPr/>
          <p:nvPr/>
        </p:nvSpPr>
        <p:spPr>
          <a:xfrm>
            <a:off x="3779398" y="2267712"/>
            <a:ext cx="868680" cy="292608"/>
          </a:xfrm>
          <a:prstGeom prst="roundRect">
            <a:avLst>
              <a:gd name="adj" fmla="val 50000"/>
            </a:avLst>
          </a:prstGeom>
          <a:solidFill>
            <a:schemeClr val="accent1"/>
          </a:solidFill>
          <a:ln/>
        </p:spPr>
      </p:sp>
      <p:sp>
        <p:nvSpPr>
          <p:cNvPr id="15" name="text-220"/>
          <p:cNvSpPr txBox="1"/>
          <p:nvPr/>
        </p:nvSpPr>
        <p:spPr>
          <a:xfrm>
            <a:off x="3779398" y="2267712"/>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BEFORE</a:t>
            </a:r>
            <a:endParaRPr lang="en-US" sz="1100" dirty="0"/>
          </a:p>
        </p:txBody>
      </p:sp>
      <p:sp>
        <p:nvSpPr>
          <p:cNvPr id="16" name="text-221"/>
          <p:cNvSpPr txBox="1"/>
          <p:nvPr/>
        </p:nvSpPr>
        <p:spPr>
          <a:xfrm>
            <a:off x="3014411" y="2880360"/>
            <a:ext cx="1670243" cy="566928"/>
          </a:xfrm>
          <a:prstGeom prst="rect">
            <a:avLst/>
          </a:prstGeom>
          <a:noFill/>
          <a:ln/>
        </p:spPr>
        <p:txBody>
          <a:bodyPr wrap="square" lIns="0" tIns="0" rIns="0" bIns="0" rtlCol="0" anchor="t"/>
          <a:lstStyle/>
          <a:p>
            <a:pPr indent="0" marL="0">
              <a:buNone/>
            </a:pPr>
            <a:r>
              <a:rPr lang="en-US" sz="1600" b="1" dirty="0">
                <a:solidFill>
                  <a:schemeClr val="tx1"/>
                </a:solidFill>
              </a:rPr>
              <a:t>Implementation plan</a:t>
            </a:r>
            <a:endParaRPr lang="en-US" sz="1600" dirty="0"/>
          </a:p>
        </p:txBody>
      </p:sp>
      <p:sp>
        <p:nvSpPr>
          <p:cNvPr id="17" name="text-222"/>
          <p:cNvSpPr txBox="1"/>
          <p:nvPr/>
        </p:nvSpPr>
        <p:spPr>
          <a:xfrm>
            <a:off x="3014411" y="3520440"/>
            <a:ext cx="1651955" cy="1371600"/>
          </a:xfrm>
          <a:prstGeom prst="rect">
            <a:avLst/>
          </a:prstGeom>
          <a:noFill/>
          <a:ln/>
        </p:spPr>
        <p:txBody>
          <a:bodyPr wrap="square" lIns="0" tIns="0" rIns="0" bIns="0" rtlCol="0" anchor="t"/>
          <a:lstStyle/>
          <a:p>
            <a:pPr indent="0" marL="0">
              <a:buNone/>
            </a:pPr>
            <a:r>
              <a:rPr lang="en-US" sz="1400" dirty="0">
                <a:solidFill>
                  <a:schemeClr val="tx2"/>
                </a:solidFill>
              </a:rPr>
              <a:t>The technical changes it proposes, for you to review</a:t>
            </a:r>
            <a:endParaRPr lang="en-US" sz="1400" dirty="0"/>
          </a:p>
        </p:txBody>
      </p:sp>
      <p:sp>
        <p:nvSpPr>
          <p:cNvPr id="18" name="card-223"/>
          <p:cNvSpPr/>
          <p:nvPr/>
        </p:nvSpPr>
        <p:spPr>
          <a:xfrm>
            <a:off x="5077846" y="1920240"/>
            <a:ext cx="2036003" cy="3108960"/>
          </a:xfrm>
          <a:prstGeom prst="roundRect">
            <a:avLst>
              <a:gd name="adj" fmla="val 5389"/>
            </a:avLst>
          </a:prstGeom>
          <a:solidFill>
            <a:schemeClr val="bg2"/>
          </a:solidFill>
          <a:ln/>
        </p:spPr>
      </p:sp>
      <p:sp>
        <p:nvSpPr>
          <p:cNvPr id="19" name="badge-224"/>
          <p:cNvSpPr/>
          <p:nvPr/>
        </p:nvSpPr>
        <p:spPr>
          <a:xfrm>
            <a:off x="5279014" y="2148840"/>
            <a:ext cx="548640" cy="548640"/>
          </a:xfrm>
          <a:prstGeom prst="ellipse">
            <a:avLst/>
          </a:prstGeom>
          <a:solidFill>
            <a:schemeClr val="accent2"/>
          </a:solidFill>
          <a:ln/>
        </p:spPr>
      </p:sp>
      <p:pic>
        <p:nvPicPr>
          <p:cNvPr id="20" name="icon-225" descr="preencoded.png">    </p:cNvPr>
          <p:cNvPicPr>
            <a:picLocks noChangeAspect="1"/>
          </p:cNvPicPr>
          <p:nvPr/>
        </p:nvPicPr>
        <p:blipFill>
          <a:blip r:embed="rId3"/>
          <a:stretch>
            <a:fillRect/>
          </a:stretch>
        </p:blipFill>
        <p:spPr>
          <a:xfrm>
            <a:off x="5427147" y="2296973"/>
            <a:ext cx="252374" cy="252374"/>
          </a:xfrm>
          <a:prstGeom prst="rect">
            <a:avLst/>
          </a:prstGeom>
        </p:spPr>
      </p:pic>
      <p:sp>
        <p:nvSpPr>
          <p:cNvPr id="21" name="pill-226"/>
          <p:cNvSpPr/>
          <p:nvPr/>
        </p:nvSpPr>
        <p:spPr>
          <a:xfrm>
            <a:off x="6044001" y="2267712"/>
            <a:ext cx="868680" cy="292608"/>
          </a:xfrm>
          <a:prstGeom prst="roundRect">
            <a:avLst>
              <a:gd name="adj" fmla="val 50000"/>
            </a:avLst>
          </a:prstGeom>
          <a:solidFill>
            <a:schemeClr val="accent2"/>
          </a:solidFill>
          <a:ln/>
        </p:spPr>
      </p:sp>
      <p:sp>
        <p:nvSpPr>
          <p:cNvPr id="22" name="text-227"/>
          <p:cNvSpPr txBox="1"/>
          <p:nvPr/>
        </p:nvSpPr>
        <p:spPr>
          <a:xfrm>
            <a:off x="6044001" y="2267712"/>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DURING</a:t>
            </a:r>
            <a:endParaRPr lang="en-US" sz="1100" dirty="0"/>
          </a:p>
        </p:txBody>
      </p:sp>
      <p:sp>
        <p:nvSpPr>
          <p:cNvPr id="23" name="text-228"/>
          <p:cNvSpPr txBox="1"/>
          <p:nvPr/>
        </p:nvSpPr>
        <p:spPr>
          <a:xfrm>
            <a:off x="5279014" y="2880360"/>
            <a:ext cx="1670243" cy="566928"/>
          </a:xfrm>
          <a:prstGeom prst="rect">
            <a:avLst/>
          </a:prstGeom>
          <a:noFill/>
          <a:ln/>
        </p:spPr>
        <p:txBody>
          <a:bodyPr wrap="square" lIns="0" tIns="0" rIns="0" bIns="0" rtlCol="0" anchor="t"/>
          <a:lstStyle/>
          <a:p>
            <a:pPr indent="0" marL="0">
              <a:buNone/>
            </a:pPr>
            <a:r>
              <a:rPr lang="en-US" sz="1600" b="1" dirty="0">
                <a:solidFill>
                  <a:schemeClr val="tx1"/>
                </a:solidFill>
              </a:rPr>
              <a:t>Code diffs</a:t>
            </a:r>
            <a:endParaRPr lang="en-US" sz="1600" dirty="0"/>
          </a:p>
        </p:txBody>
      </p:sp>
      <p:sp>
        <p:nvSpPr>
          <p:cNvPr id="24" name="text-229"/>
          <p:cNvSpPr txBox="1"/>
          <p:nvPr/>
        </p:nvSpPr>
        <p:spPr>
          <a:xfrm>
            <a:off x="5279014" y="3520440"/>
            <a:ext cx="1651955" cy="1371600"/>
          </a:xfrm>
          <a:prstGeom prst="rect">
            <a:avLst/>
          </a:prstGeom>
          <a:noFill/>
          <a:ln/>
        </p:spPr>
        <p:txBody>
          <a:bodyPr wrap="square" lIns="0" tIns="0" rIns="0" bIns="0" rtlCol="0" anchor="t"/>
          <a:lstStyle/>
          <a:p>
            <a:pPr indent="0" marL="0">
              <a:buNone/>
            </a:pPr>
            <a:r>
              <a:rPr lang="en-US" sz="1400" dirty="0">
                <a:solidFill>
                  <a:schemeClr val="tx2"/>
                </a:solidFill>
              </a:rPr>
              <a:t>The exact lines added and removed, open to your comments</a:t>
            </a:r>
            <a:endParaRPr lang="en-US" sz="1400" dirty="0"/>
          </a:p>
        </p:txBody>
      </p:sp>
      <p:sp>
        <p:nvSpPr>
          <p:cNvPr id="25" name="card-230"/>
          <p:cNvSpPr/>
          <p:nvPr/>
        </p:nvSpPr>
        <p:spPr>
          <a:xfrm>
            <a:off x="7342449" y="1920240"/>
            <a:ext cx="2036003" cy="3108960"/>
          </a:xfrm>
          <a:prstGeom prst="roundRect">
            <a:avLst>
              <a:gd name="adj" fmla="val 5389"/>
            </a:avLst>
          </a:prstGeom>
          <a:solidFill>
            <a:schemeClr val="bg2"/>
          </a:solidFill>
          <a:ln/>
        </p:spPr>
      </p:sp>
      <p:sp>
        <p:nvSpPr>
          <p:cNvPr id="26" name="badge-231"/>
          <p:cNvSpPr/>
          <p:nvPr/>
        </p:nvSpPr>
        <p:spPr>
          <a:xfrm>
            <a:off x="7543617" y="2148840"/>
            <a:ext cx="548640" cy="548640"/>
          </a:xfrm>
          <a:prstGeom prst="ellipse">
            <a:avLst/>
          </a:prstGeom>
          <a:solidFill>
            <a:schemeClr val="accent3"/>
          </a:solidFill>
          <a:ln/>
        </p:spPr>
      </p:sp>
      <p:pic>
        <p:nvPicPr>
          <p:cNvPr id="27" name="icon-232" descr="preencoded.png">    </p:cNvPr>
          <p:cNvPicPr>
            <a:picLocks noChangeAspect="1"/>
          </p:cNvPicPr>
          <p:nvPr/>
        </p:nvPicPr>
        <p:blipFill>
          <a:blip r:embed="rId4"/>
          <a:stretch>
            <a:fillRect/>
          </a:stretch>
        </p:blipFill>
        <p:spPr>
          <a:xfrm>
            <a:off x="7691750" y="2296973"/>
            <a:ext cx="252374" cy="252374"/>
          </a:xfrm>
          <a:prstGeom prst="rect">
            <a:avLst/>
          </a:prstGeom>
        </p:spPr>
      </p:pic>
      <p:sp>
        <p:nvSpPr>
          <p:cNvPr id="28" name="pill-233"/>
          <p:cNvSpPr/>
          <p:nvPr/>
        </p:nvSpPr>
        <p:spPr>
          <a:xfrm>
            <a:off x="8308604" y="2267712"/>
            <a:ext cx="868680" cy="292608"/>
          </a:xfrm>
          <a:prstGeom prst="roundRect">
            <a:avLst>
              <a:gd name="adj" fmla="val 50000"/>
            </a:avLst>
          </a:prstGeom>
          <a:solidFill>
            <a:schemeClr val="accent3"/>
          </a:solidFill>
          <a:ln/>
        </p:spPr>
      </p:sp>
      <p:sp>
        <p:nvSpPr>
          <p:cNvPr id="29" name="text-234"/>
          <p:cNvSpPr txBox="1"/>
          <p:nvPr/>
        </p:nvSpPr>
        <p:spPr>
          <a:xfrm>
            <a:off x="8308604" y="2267712"/>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AFTER</a:t>
            </a:r>
            <a:endParaRPr lang="en-US" sz="1100" dirty="0"/>
          </a:p>
        </p:txBody>
      </p:sp>
      <p:sp>
        <p:nvSpPr>
          <p:cNvPr id="30" name="text-235"/>
          <p:cNvSpPr txBox="1"/>
          <p:nvPr/>
        </p:nvSpPr>
        <p:spPr>
          <a:xfrm>
            <a:off x="7543617" y="2880360"/>
            <a:ext cx="1670243" cy="566928"/>
          </a:xfrm>
          <a:prstGeom prst="rect">
            <a:avLst/>
          </a:prstGeom>
          <a:noFill/>
          <a:ln/>
        </p:spPr>
        <p:txBody>
          <a:bodyPr wrap="square" lIns="0" tIns="0" rIns="0" bIns="0" rtlCol="0" anchor="t"/>
          <a:lstStyle/>
          <a:p>
            <a:pPr indent="0" marL="0">
              <a:buNone/>
            </a:pPr>
            <a:r>
              <a:rPr lang="en-US" sz="1600" b="1" dirty="0">
                <a:solidFill>
                  <a:schemeClr val="tx1"/>
                </a:solidFill>
              </a:rPr>
              <a:t>Screenshots</a:t>
            </a:r>
            <a:endParaRPr lang="en-US" sz="1600" dirty="0"/>
          </a:p>
        </p:txBody>
      </p:sp>
      <p:sp>
        <p:nvSpPr>
          <p:cNvPr id="31" name="text-236"/>
          <p:cNvSpPr txBox="1"/>
          <p:nvPr/>
        </p:nvSpPr>
        <p:spPr>
          <a:xfrm>
            <a:off x="7543617" y="3520440"/>
            <a:ext cx="1651955" cy="1371600"/>
          </a:xfrm>
          <a:prstGeom prst="rect">
            <a:avLst/>
          </a:prstGeom>
          <a:noFill/>
          <a:ln/>
        </p:spPr>
        <p:txBody>
          <a:bodyPr wrap="square" lIns="0" tIns="0" rIns="0" bIns="0" rtlCol="0" anchor="t"/>
          <a:lstStyle/>
          <a:p>
            <a:pPr indent="0" marL="0">
              <a:buNone/>
            </a:pPr>
            <a:r>
              <a:rPr lang="en-US" sz="1400" dirty="0">
                <a:solidFill>
                  <a:schemeClr val="tx2"/>
                </a:solidFill>
              </a:rPr>
              <a:t>The screen before and after a change</a:t>
            </a:r>
            <a:endParaRPr lang="en-US" sz="1400" dirty="0"/>
          </a:p>
        </p:txBody>
      </p:sp>
      <p:sp>
        <p:nvSpPr>
          <p:cNvPr id="32" name="card-237"/>
          <p:cNvSpPr/>
          <p:nvPr/>
        </p:nvSpPr>
        <p:spPr>
          <a:xfrm>
            <a:off x="9607052" y="1920240"/>
            <a:ext cx="2036003" cy="3108960"/>
          </a:xfrm>
          <a:prstGeom prst="roundRect">
            <a:avLst>
              <a:gd name="adj" fmla="val 5389"/>
            </a:avLst>
          </a:prstGeom>
          <a:solidFill>
            <a:schemeClr val="bg2"/>
          </a:solidFill>
          <a:ln/>
        </p:spPr>
      </p:sp>
      <p:sp>
        <p:nvSpPr>
          <p:cNvPr id="33" name="badge-238"/>
          <p:cNvSpPr/>
          <p:nvPr/>
        </p:nvSpPr>
        <p:spPr>
          <a:xfrm>
            <a:off x="9808220" y="2148840"/>
            <a:ext cx="548640" cy="548640"/>
          </a:xfrm>
          <a:prstGeom prst="ellipse">
            <a:avLst/>
          </a:prstGeom>
          <a:solidFill>
            <a:schemeClr val="accent3"/>
          </a:solidFill>
          <a:ln/>
        </p:spPr>
      </p:sp>
      <p:pic>
        <p:nvPicPr>
          <p:cNvPr id="34" name="icon-239" descr="preencoded.png">    </p:cNvPr>
          <p:cNvPicPr>
            <a:picLocks noChangeAspect="1"/>
          </p:cNvPicPr>
          <p:nvPr/>
        </p:nvPicPr>
        <p:blipFill>
          <a:blip r:embed="rId5"/>
          <a:stretch>
            <a:fillRect/>
          </a:stretch>
        </p:blipFill>
        <p:spPr>
          <a:xfrm>
            <a:off x="9956353" y="2296973"/>
            <a:ext cx="252374" cy="252374"/>
          </a:xfrm>
          <a:prstGeom prst="rect">
            <a:avLst/>
          </a:prstGeom>
        </p:spPr>
      </p:pic>
      <p:sp>
        <p:nvSpPr>
          <p:cNvPr id="35" name="pill-240"/>
          <p:cNvSpPr/>
          <p:nvPr/>
        </p:nvSpPr>
        <p:spPr>
          <a:xfrm>
            <a:off x="10573207" y="2267712"/>
            <a:ext cx="868680" cy="292608"/>
          </a:xfrm>
          <a:prstGeom prst="roundRect">
            <a:avLst>
              <a:gd name="adj" fmla="val 50000"/>
            </a:avLst>
          </a:prstGeom>
          <a:solidFill>
            <a:schemeClr val="accent3"/>
          </a:solidFill>
          <a:ln/>
        </p:spPr>
      </p:sp>
      <p:sp>
        <p:nvSpPr>
          <p:cNvPr id="36" name="text-241"/>
          <p:cNvSpPr txBox="1"/>
          <p:nvPr/>
        </p:nvSpPr>
        <p:spPr>
          <a:xfrm>
            <a:off x="10573207" y="2267712"/>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AFTER</a:t>
            </a:r>
            <a:endParaRPr lang="en-US" sz="1100" dirty="0"/>
          </a:p>
        </p:txBody>
      </p:sp>
      <p:sp>
        <p:nvSpPr>
          <p:cNvPr id="37" name="text-242"/>
          <p:cNvSpPr txBox="1"/>
          <p:nvPr/>
        </p:nvSpPr>
        <p:spPr>
          <a:xfrm>
            <a:off x="9808220" y="2880360"/>
            <a:ext cx="1670243" cy="566928"/>
          </a:xfrm>
          <a:prstGeom prst="rect">
            <a:avLst/>
          </a:prstGeom>
          <a:noFill/>
          <a:ln/>
        </p:spPr>
        <p:txBody>
          <a:bodyPr wrap="square" lIns="0" tIns="0" rIns="0" bIns="0" rtlCol="0" anchor="t"/>
          <a:lstStyle/>
          <a:p>
            <a:pPr indent="0" marL="0">
              <a:buNone/>
            </a:pPr>
            <a:r>
              <a:rPr lang="en-US" sz="1600" b="1" dirty="0">
                <a:solidFill>
                  <a:schemeClr val="tx1"/>
                </a:solidFill>
              </a:rPr>
              <a:t>Walkthrough</a:t>
            </a:r>
            <a:endParaRPr lang="en-US" sz="1600" dirty="0"/>
          </a:p>
        </p:txBody>
      </p:sp>
      <p:sp>
        <p:nvSpPr>
          <p:cNvPr id="38" name="text-243"/>
          <p:cNvSpPr txBox="1"/>
          <p:nvPr/>
        </p:nvSpPr>
        <p:spPr>
          <a:xfrm>
            <a:off x="9808220" y="3520440"/>
            <a:ext cx="1651955" cy="1371600"/>
          </a:xfrm>
          <a:prstGeom prst="rect">
            <a:avLst/>
          </a:prstGeom>
          <a:noFill/>
          <a:ln/>
        </p:spPr>
        <p:txBody>
          <a:bodyPr wrap="square" lIns="0" tIns="0" rIns="0" bIns="0" rtlCol="0" anchor="t"/>
          <a:lstStyle/>
          <a:p>
            <a:pPr indent="0" marL="0">
              <a:buNone/>
            </a:pPr>
            <a:r>
              <a:rPr lang="en-US" sz="1400" dirty="0">
                <a:solidFill>
                  <a:schemeClr val="tx2"/>
                </a:solidFill>
              </a:rPr>
              <a:t>A summary of what changed and how to test it</a:t>
            </a:r>
            <a:endParaRPr lang="en-US" sz="1400" dirty="0"/>
          </a:p>
        </p:txBody>
      </p:sp>
      <p:sp>
        <p:nvSpPr>
          <p:cNvPr id="39" name="card-244"/>
          <p:cNvSpPr/>
          <p:nvPr/>
        </p:nvSpPr>
        <p:spPr>
          <a:xfrm>
            <a:off x="548640" y="5257800"/>
            <a:ext cx="11094415" cy="640080"/>
          </a:xfrm>
          <a:prstGeom prst="roundRect">
            <a:avLst>
              <a:gd name="adj" fmla="val 17143"/>
            </a:avLst>
          </a:prstGeom>
          <a:solidFill>
            <a:schemeClr val="bg2"/>
          </a:solidFill>
          <a:ln/>
        </p:spPr>
      </p:sp>
      <p:sp>
        <p:nvSpPr>
          <p:cNvPr id="40" name="badge-245"/>
          <p:cNvSpPr/>
          <p:nvPr/>
        </p:nvSpPr>
        <p:spPr>
          <a:xfrm>
            <a:off x="685800" y="5376672"/>
            <a:ext cx="402336" cy="402336"/>
          </a:xfrm>
          <a:prstGeom prst="ellipse">
            <a:avLst/>
          </a:prstGeom>
          <a:solidFill>
            <a:schemeClr val="accent2"/>
          </a:solidFill>
          <a:ln/>
        </p:spPr>
      </p:sp>
      <p:pic>
        <p:nvPicPr>
          <p:cNvPr id="41" name="icon-246" descr="preencoded.png">    </p:cNvPr>
          <p:cNvPicPr>
            <a:picLocks noChangeAspect="1"/>
          </p:cNvPicPr>
          <p:nvPr/>
        </p:nvPicPr>
        <p:blipFill>
          <a:blip r:embed="rId6"/>
          <a:stretch>
            <a:fillRect/>
          </a:stretch>
        </p:blipFill>
        <p:spPr>
          <a:xfrm>
            <a:off x="794431" y="5485303"/>
            <a:ext cx="185075" cy="185075"/>
          </a:xfrm>
          <a:prstGeom prst="rect">
            <a:avLst/>
          </a:prstGeom>
        </p:spPr>
      </p:pic>
      <p:sp>
        <p:nvSpPr>
          <p:cNvPr id="42" name="text-247"/>
          <p:cNvSpPr txBox="1"/>
          <p:nvPr/>
        </p:nvSpPr>
        <p:spPr>
          <a:xfrm>
            <a:off x="1261872" y="5257800"/>
            <a:ext cx="10198303" cy="640080"/>
          </a:xfrm>
          <a:prstGeom prst="rect">
            <a:avLst/>
          </a:prstGeom>
          <a:noFill/>
          <a:ln/>
        </p:spPr>
        <p:txBody>
          <a:bodyPr wrap="square" lIns="0" tIns="0" rIns="0" bIns="0" rtlCol="0" anchor="ctr"/>
          <a:lstStyle/>
          <a:p>
            <a:pPr indent="0" marL="0">
              <a:buNone/>
            </a:pPr>
            <a:r>
              <a:rPr lang="en-US" sz="1400" dirty="0">
                <a:solidFill>
                  <a:schemeClr val="tx1"/>
                </a:solidFill>
              </a:rPr>
              <a:t>Artifacts close the trust gap: you can check the work without reading every line of code.</a:t>
            </a:r>
            <a:endParaRPr lang="en-US" sz="1400" dirty="0"/>
          </a:p>
        </p:txBody>
      </p:sp>
      <p:sp>
        <p:nvSpPr>
          <p:cNvPr id="43" name="text-248"/>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terms describe what you see on screen</a:t>
            </a:r>
            <a:endParaRPr lang="en-US" sz="3000" dirty="0"/>
          </a:p>
        </p:txBody>
      </p:sp>
      <p:sp>
        <p:nvSpPr>
          <p:cNvPr id="4" name="card-249"/>
          <p:cNvSpPr/>
          <p:nvPr/>
        </p:nvSpPr>
        <p:spPr>
          <a:xfrm>
            <a:off x="548640" y="1920240"/>
            <a:ext cx="3515258" cy="1828800"/>
          </a:xfrm>
          <a:prstGeom prst="roundRect">
            <a:avLst>
              <a:gd name="adj" fmla="val 6000"/>
            </a:avLst>
          </a:prstGeom>
          <a:solidFill>
            <a:schemeClr val="bg2"/>
          </a:solidFill>
          <a:ln/>
        </p:spPr>
      </p:sp>
      <p:sp>
        <p:nvSpPr>
          <p:cNvPr id="5" name="badge-250"/>
          <p:cNvSpPr/>
          <p:nvPr/>
        </p:nvSpPr>
        <p:spPr>
          <a:xfrm>
            <a:off x="822960" y="2194560"/>
            <a:ext cx="530352" cy="530352"/>
          </a:xfrm>
          <a:prstGeom prst="ellipse">
            <a:avLst/>
          </a:prstGeom>
          <a:solidFill>
            <a:schemeClr val="accent1"/>
          </a:solidFill>
          <a:ln/>
        </p:spPr>
      </p:sp>
      <p:pic>
        <p:nvPicPr>
          <p:cNvPr id="6" name="icon-251" descr="preencoded.png">    </p:cNvPr>
          <p:cNvPicPr>
            <a:picLocks noChangeAspect="1"/>
          </p:cNvPicPr>
          <p:nvPr/>
        </p:nvPicPr>
        <p:blipFill>
          <a:blip r:embed="rId1"/>
          <a:stretch>
            <a:fillRect/>
          </a:stretch>
        </p:blipFill>
        <p:spPr>
          <a:xfrm>
            <a:off x="966155" y="2337755"/>
            <a:ext cx="243962" cy="243962"/>
          </a:xfrm>
          <a:prstGeom prst="rect">
            <a:avLst/>
          </a:prstGeom>
        </p:spPr>
      </p:pic>
      <p:sp>
        <p:nvSpPr>
          <p:cNvPr id="7" name="text-252"/>
          <p:cNvSpPr txBox="1"/>
          <p:nvPr/>
        </p:nvSpPr>
        <p:spPr>
          <a:xfrm>
            <a:off x="1536192"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Agent Manager</a:t>
            </a:r>
            <a:endParaRPr lang="en-US" sz="1800" dirty="0"/>
          </a:p>
        </p:txBody>
      </p:sp>
      <p:sp>
        <p:nvSpPr>
          <p:cNvPr id="8" name="text-253"/>
          <p:cNvSpPr txBox="1"/>
          <p:nvPr/>
        </p:nvSpPr>
        <p:spPr>
          <a:xfrm>
            <a:off x="822960"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control centre for running several agents side by side</a:t>
            </a:r>
            <a:endParaRPr lang="en-US" sz="1400" dirty="0"/>
          </a:p>
        </p:txBody>
      </p:sp>
      <p:sp>
        <p:nvSpPr>
          <p:cNvPr id="9" name="card-254"/>
          <p:cNvSpPr/>
          <p:nvPr/>
        </p:nvSpPr>
        <p:spPr>
          <a:xfrm>
            <a:off x="4338218" y="1920240"/>
            <a:ext cx="3515258" cy="1828800"/>
          </a:xfrm>
          <a:prstGeom prst="roundRect">
            <a:avLst>
              <a:gd name="adj" fmla="val 6000"/>
            </a:avLst>
          </a:prstGeom>
          <a:solidFill>
            <a:schemeClr val="bg2"/>
          </a:solidFill>
          <a:ln/>
        </p:spPr>
      </p:sp>
      <p:sp>
        <p:nvSpPr>
          <p:cNvPr id="10" name="badge-255"/>
          <p:cNvSpPr/>
          <p:nvPr/>
        </p:nvSpPr>
        <p:spPr>
          <a:xfrm>
            <a:off x="4612538" y="2194560"/>
            <a:ext cx="530352" cy="530352"/>
          </a:xfrm>
          <a:prstGeom prst="ellipse">
            <a:avLst/>
          </a:prstGeom>
          <a:solidFill>
            <a:schemeClr val="accent1"/>
          </a:solidFill>
          <a:ln/>
        </p:spPr>
      </p:sp>
      <p:pic>
        <p:nvPicPr>
          <p:cNvPr id="11" name="icon-256" descr="preencoded.png">    </p:cNvPr>
          <p:cNvPicPr>
            <a:picLocks noChangeAspect="1"/>
          </p:cNvPicPr>
          <p:nvPr/>
        </p:nvPicPr>
        <p:blipFill>
          <a:blip r:embed="rId2"/>
          <a:stretch>
            <a:fillRect/>
          </a:stretch>
        </p:blipFill>
        <p:spPr>
          <a:xfrm>
            <a:off x="4755733" y="2337755"/>
            <a:ext cx="243962" cy="243962"/>
          </a:xfrm>
          <a:prstGeom prst="rect">
            <a:avLst/>
          </a:prstGeom>
        </p:spPr>
      </p:pic>
      <p:sp>
        <p:nvSpPr>
          <p:cNvPr id="12" name="text-257"/>
          <p:cNvSpPr txBox="1"/>
          <p:nvPr/>
        </p:nvSpPr>
        <p:spPr>
          <a:xfrm>
            <a:off x="5325770"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Editor view</a:t>
            </a:r>
            <a:endParaRPr lang="en-US" sz="1800" dirty="0"/>
          </a:p>
        </p:txBody>
      </p:sp>
      <p:sp>
        <p:nvSpPr>
          <p:cNvPr id="13" name="text-258"/>
          <p:cNvSpPr txBox="1"/>
          <p:nvPr/>
        </p:nvSpPr>
        <p:spPr>
          <a:xfrm>
            <a:off x="4612538"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A familiar code editor with an agent panel at the side</a:t>
            </a:r>
            <a:endParaRPr lang="en-US" sz="1400" dirty="0"/>
          </a:p>
        </p:txBody>
      </p:sp>
      <p:sp>
        <p:nvSpPr>
          <p:cNvPr id="14" name="card-259"/>
          <p:cNvSpPr/>
          <p:nvPr/>
        </p:nvSpPr>
        <p:spPr>
          <a:xfrm>
            <a:off x="8127797" y="1920240"/>
            <a:ext cx="3515258" cy="1828800"/>
          </a:xfrm>
          <a:prstGeom prst="roundRect">
            <a:avLst>
              <a:gd name="adj" fmla="val 6000"/>
            </a:avLst>
          </a:prstGeom>
          <a:solidFill>
            <a:schemeClr val="bg2"/>
          </a:solidFill>
          <a:ln/>
        </p:spPr>
      </p:sp>
      <p:sp>
        <p:nvSpPr>
          <p:cNvPr id="15" name="badge-260"/>
          <p:cNvSpPr/>
          <p:nvPr/>
        </p:nvSpPr>
        <p:spPr>
          <a:xfrm>
            <a:off x="8402117" y="2194560"/>
            <a:ext cx="530352" cy="530352"/>
          </a:xfrm>
          <a:prstGeom prst="ellipse">
            <a:avLst/>
          </a:prstGeom>
          <a:solidFill>
            <a:schemeClr val="accent1"/>
          </a:solidFill>
          <a:ln/>
        </p:spPr>
      </p:sp>
      <p:pic>
        <p:nvPicPr>
          <p:cNvPr id="16" name="icon-261" descr="preencoded.png">    </p:cNvPr>
          <p:cNvPicPr>
            <a:picLocks noChangeAspect="1"/>
          </p:cNvPicPr>
          <p:nvPr/>
        </p:nvPicPr>
        <p:blipFill>
          <a:blip r:embed="rId3"/>
          <a:stretch>
            <a:fillRect/>
          </a:stretch>
        </p:blipFill>
        <p:spPr>
          <a:xfrm>
            <a:off x="8545312" y="2337755"/>
            <a:ext cx="243962" cy="243962"/>
          </a:xfrm>
          <a:prstGeom prst="rect">
            <a:avLst/>
          </a:prstGeom>
        </p:spPr>
      </p:pic>
      <p:sp>
        <p:nvSpPr>
          <p:cNvPr id="17" name="text-262"/>
          <p:cNvSpPr txBox="1"/>
          <p:nvPr/>
        </p:nvSpPr>
        <p:spPr>
          <a:xfrm>
            <a:off x="9115349" y="219456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Agent panel</a:t>
            </a:r>
            <a:endParaRPr lang="en-US" sz="1800" dirty="0"/>
          </a:p>
        </p:txBody>
      </p:sp>
      <p:sp>
        <p:nvSpPr>
          <p:cNvPr id="18" name="text-263"/>
          <p:cNvSpPr txBox="1"/>
          <p:nvPr/>
        </p:nvSpPr>
        <p:spPr>
          <a:xfrm>
            <a:off x="8402117" y="290779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chat box where you talk to an agent about your code</a:t>
            </a:r>
            <a:endParaRPr lang="en-US" sz="1400" dirty="0"/>
          </a:p>
        </p:txBody>
      </p:sp>
      <p:sp>
        <p:nvSpPr>
          <p:cNvPr id="19" name="card-264"/>
          <p:cNvSpPr/>
          <p:nvPr/>
        </p:nvSpPr>
        <p:spPr>
          <a:xfrm>
            <a:off x="548640" y="4023360"/>
            <a:ext cx="3515258" cy="1828800"/>
          </a:xfrm>
          <a:prstGeom prst="roundRect">
            <a:avLst>
              <a:gd name="adj" fmla="val 6000"/>
            </a:avLst>
          </a:prstGeom>
          <a:solidFill>
            <a:schemeClr val="bg2"/>
          </a:solidFill>
          <a:ln/>
        </p:spPr>
      </p:sp>
      <p:sp>
        <p:nvSpPr>
          <p:cNvPr id="20" name="badge-265"/>
          <p:cNvSpPr/>
          <p:nvPr/>
        </p:nvSpPr>
        <p:spPr>
          <a:xfrm>
            <a:off x="822960" y="4297680"/>
            <a:ext cx="530352" cy="530352"/>
          </a:xfrm>
          <a:prstGeom prst="ellipse">
            <a:avLst/>
          </a:prstGeom>
          <a:solidFill>
            <a:schemeClr val="accent1"/>
          </a:solidFill>
          <a:ln/>
        </p:spPr>
      </p:sp>
      <p:pic>
        <p:nvPicPr>
          <p:cNvPr id="21" name="icon-266" descr="preencoded.png">    </p:cNvPr>
          <p:cNvPicPr>
            <a:picLocks noChangeAspect="1"/>
          </p:cNvPicPr>
          <p:nvPr/>
        </p:nvPicPr>
        <p:blipFill>
          <a:blip r:embed="rId4"/>
          <a:stretch>
            <a:fillRect/>
          </a:stretch>
        </p:blipFill>
        <p:spPr>
          <a:xfrm>
            <a:off x="966155" y="4440875"/>
            <a:ext cx="243962" cy="243962"/>
          </a:xfrm>
          <a:prstGeom prst="rect">
            <a:avLst/>
          </a:prstGeom>
        </p:spPr>
      </p:pic>
      <p:sp>
        <p:nvSpPr>
          <p:cNvPr id="22" name="text-267"/>
          <p:cNvSpPr txBox="1"/>
          <p:nvPr/>
        </p:nvSpPr>
        <p:spPr>
          <a:xfrm>
            <a:off x="1536192"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Auxiliary pane</a:t>
            </a:r>
            <a:endParaRPr lang="en-US" sz="1800" dirty="0"/>
          </a:p>
        </p:txBody>
      </p:sp>
      <p:sp>
        <p:nvSpPr>
          <p:cNvPr id="23" name="text-268"/>
          <p:cNvSpPr txBox="1"/>
          <p:nvPr/>
        </p:nvSpPr>
        <p:spPr>
          <a:xfrm>
            <a:off x="822960"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side area that lists artifacts and the files produced</a:t>
            </a:r>
            <a:endParaRPr lang="en-US" sz="1400" dirty="0"/>
          </a:p>
        </p:txBody>
      </p:sp>
      <p:sp>
        <p:nvSpPr>
          <p:cNvPr id="24" name="card-269"/>
          <p:cNvSpPr/>
          <p:nvPr/>
        </p:nvSpPr>
        <p:spPr>
          <a:xfrm>
            <a:off x="4338218" y="4023360"/>
            <a:ext cx="3515258" cy="1828800"/>
          </a:xfrm>
          <a:prstGeom prst="roundRect">
            <a:avLst>
              <a:gd name="adj" fmla="val 6000"/>
            </a:avLst>
          </a:prstGeom>
          <a:solidFill>
            <a:schemeClr val="bg2"/>
          </a:solidFill>
          <a:ln/>
        </p:spPr>
      </p:sp>
      <p:sp>
        <p:nvSpPr>
          <p:cNvPr id="25" name="badge-270"/>
          <p:cNvSpPr/>
          <p:nvPr/>
        </p:nvSpPr>
        <p:spPr>
          <a:xfrm>
            <a:off x="4612538" y="4297680"/>
            <a:ext cx="530352" cy="530352"/>
          </a:xfrm>
          <a:prstGeom prst="ellipse">
            <a:avLst/>
          </a:prstGeom>
          <a:solidFill>
            <a:schemeClr val="accent2"/>
          </a:solidFill>
          <a:ln/>
        </p:spPr>
      </p:sp>
      <p:pic>
        <p:nvPicPr>
          <p:cNvPr id="26" name="icon-271" descr="preencoded.png">    </p:cNvPr>
          <p:cNvPicPr>
            <a:picLocks noChangeAspect="1"/>
          </p:cNvPicPr>
          <p:nvPr/>
        </p:nvPicPr>
        <p:blipFill>
          <a:blip r:embed="rId5"/>
          <a:stretch>
            <a:fillRect/>
          </a:stretch>
        </p:blipFill>
        <p:spPr>
          <a:xfrm>
            <a:off x="4755733" y="4440875"/>
            <a:ext cx="243962" cy="243962"/>
          </a:xfrm>
          <a:prstGeom prst="rect">
            <a:avLst/>
          </a:prstGeom>
        </p:spPr>
      </p:pic>
      <p:sp>
        <p:nvSpPr>
          <p:cNvPr id="27" name="text-272"/>
          <p:cNvSpPr txBox="1"/>
          <p:nvPr/>
        </p:nvSpPr>
        <p:spPr>
          <a:xfrm>
            <a:off x="5325770"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Plan mode</a:t>
            </a:r>
            <a:endParaRPr lang="en-US" sz="1800" dirty="0"/>
          </a:p>
        </p:txBody>
      </p:sp>
      <p:sp>
        <p:nvSpPr>
          <p:cNvPr id="28" name="text-273"/>
          <p:cNvSpPr txBox="1"/>
          <p:nvPr/>
        </p:nvSpPr>
        <p:spPr>
          <a:xfrm>
            <a:off x="4612538"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agent researches and writes a plan before it changes anything</a:t>
            </a:r>
            <a:endParaRPr lang="en-US" sz="1400" dirty="0"/>
          </a:p>
        </p:txBody>
      </p:sp>
      <p:sp>
        <p:nvSpPr>
          <p:cNvPr id="29" name="card-274"/>
          <p:cNvSpPr/>
          <p:nvPr/>
        </p:nvSpPr>
        <p:spPr>
          <a:xfrm>
            <a:off x="8127797" y="4023360"/>
            <a:ext cx="3515258" cy="1828800"/>
          </a:xfrm>
          <a:prstGeom prst="roundRect">
            <a:avLst>
              <a:gd name="adj" fmla="val 6000"/>
            </a:avLst>
          </a:prstGeom>
          <a:solidFill>
            <a:schemeClr val="bg2"/>
          </a:solidFill>
          <a:ln/>
        </p:spPr>
      </p:sp>
      <p:sp>
        <p:nvSpPr>
          <p:cNvPr id="30" name="badge-275"/>
          <p:cNvSpPr/>
          <p:nvPr/>
        </p:nvSpPr>
        <p:spPr>
          <a:xfrm>
            <a:off x="8402117" y="4297680"/>
            <a:ext cx="530352" cy="530352"/>
          </a:xfrm>
          <a:prstGeom prst="ellipse">
            <a:avLst/>
          </a:prstGeom>
          <a:solidFill>
            <a:schemeClr val="accent2"/>
          </a:solidFill>
          <a:ln/>
        </p:spPr>
      </p:sp>
      <p:pic>
        <p:nvPicPr>
          <p:cNvPr id="31" name="icon-276" descr="preencoded.png">    </p:cNvPr>
          <p:cNvPicPr>
            <a:picLocks noChangeAspect="1"/>
          </p:cNvPicPr>
          <p:nvPr/>
        </p:nvPicPr>
        <p:blipFill>
          <a:blip r:embed="rId6"/>
          <a:stretch>
            <a:fillRect/>
          </a:stretch>
        </p:blipFill>
        <p:spPr>
          <a:xfrm>
            <a:off x="8545312" y="4440875"/>
            <a:ext cx="243962" cy="243962"/>
          </a:xfrm>
          <a:prstGeom prst="rect">
            <a:avLst/>
          </a:prstGeom>
        </p:spPr>
      </p:pic>
      <p:sp>
        <p:nvSpPr>
          <p:cNvPr id="32" name="text-277"/>
          <p:cNvSpPr txBox="1"/>
          <p:nvPr/>
        </p:nvSpPr>
        <p:spPr>
          <a:xfrm>
            <a:off x="9115349" y="42976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Fast mode</a:t>
            </a:r>
            <a:endParaRPr lang="en-US" sz="1800" dirty="0"/>
          </a:p>
        </p:txBody>
      </p:sp>
      <p:sp>
        <p:nvSpPr>
          <p:cNvPr id="33" name="text-278"/>
          <p:cNvSpPr txBox="1"/>
          <p:nvPr/>
        </p:nvSpPr>
        <p:spPr>
          <a:xfrm>
            <a:off x="8402117" y="5010912"/>
            <a:ext cx="2966618" cy="749808"/>
          </a:xfrm>
          <a:prstGeom prst="rect">
            <a:avLst/>
          </a:prstGeom>
          <a:noFill/>
          <a:ln/>
        </p:spPr>
        <p:txBody>
          <a:bodyPr wrap="square" lIns="0" tIns="0" rIns="0" bIns="0" rtlCol="0" anchor="t"/>
          <a:lstStyle/>
          <a:p>
            <a:pPr indent="0" marL="0">
              <a:buNone/>
            </a:pPr>
            <a:r>
              <a:rPr lang="en-US" sz="1400" dirty="0">
                <a:solidFill>
                  <a:schemeClr val="tx2"/>
                </a:solidFill>
              </a:rPr>
              <a:t>The agent acts straight away; suited to small, quick tasks</a:t>
            </a:r>
            <a:endParaRPr lang="en-US" sz="1400" dirty="0"/>
          </a:p>
        </p:txBody>
      </p:sp>
      <p:sp>
        <p:nvSpPr>
          <p:cNvPr id="34" name="text-27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Codelabs (2026); Wikipedia, Google Antigravity. Screen names can change between versions.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more terms cover how you customise Antigravity</a:t>
            </a:r>
            <a:endParaRPr lang="en-US" sz="3000" dirty="0"/>
          </a:p>
        </p:txBody>
      </p:sp>
      <p:sp>
        <p:nvSpPr>
          <p:cNvPr id="4" name="card-280"/>
          <p:cNvSpPr/>
          <p:nvPr/>
        </p:nvSpPr>
        <p:spPr>
          <a:xfrm>
            <a:off x="548640" y="1920240"/>
            <a:ext cx="5396332" cy="1143000"/>
          </a:xfrm>
          <a:prstGeom prst="roundRect">
            <a:avLst>
              <a:gd name="adj" fmla="val 9600"/>
            </a:avLst>
          </a:prstGeom>
          <a:solidFill>
            <a:schemeClr val="bg2"/>
          </a:solidFill>
          <a:ln/>
        </p:spPr>
      </p:sp>
      <p:sp>
        <p:nvSpPr>
          <p:cNvPr id="5" name="badge-281"/>
          <p:cNvSpPr/>
          <p:nvPr/>
        </p:nvSpPr>
        <p:spPr>
          <a:xfrm>
            <a:off x="822960" y="2212848"/>
            <a:ext cx="548640" cy="548640"/>
          </a:xfrm>
          <a:prstGeom prst="ellipse">
            <a:avLst/>
          </a:prstGeom>
          <a:solidFill>
            <a:schemeClr val="accent2"/>
          </a:solidFill>
          <a:ln/>
        </p:spPr>
      </p:sp>
      <p:pic>
        <p:nvPicPr>
          <p:cNvPr id="6" name="icon-282" descr="preencoded.png">    </p:cNvPr>
          <p:cNvPicPr>
            <a:picLocks noChangeAspect="1"/>
          </p:cNvPicPr>
          <p:nvPr/>
        </p:nvPicPr>
        <p:blipFill>
          <a:blip r:embed="rId1"/>
          <a:stretch>
            <a:fillRect/>
          </a:stretch>
        </p:blipFill>
        <p:spPr>
          <a:xfrm>
            <a:off x="971093" y="2360981"/>
            <a:ext cx="252374" cy="252374"/>
          </a:xfrm>
          <a:prstGeom prst="rect">
            <a:avLst/>
          </a:prstGeom>
        </p:spPr>
      </p:pic>
      <p:sp>
        <p:nvSpPr>
          <p:cNvPr id="7" name="text-283"/>
          <p:cNvSpPr txBox="1"/>
          <p:nvPr/>
        </p:nvSpPr>
        <p:spPr>
          <a:xfrm>
            <a:off x="1600200"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Rules</a:t>
            </a:r>
            <a:endParaRPr lang="en-US" sz="1800" dirty="0"/>
          </a:p>
        </p:txBody>
      </p:sp>
      <p:sp>
        <p:nvSpPr>
          <p:cNvPr id="8" name="text-284"/>
          <p:cNvSpPr txBox="1"/>
          <p:nvPr/>
        </p:nvSpPr>
        <p:spPr>
          <a:xfrm>
            <a:off x="1600200"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Always-on instructions the agent reads before every task</a:t>
            </a:r>
            <a:endParaRPr lang="en-US" sz="1400" dirty="0"/>
          </a:p>
        </p:txBody>
      </p:sp>
      <p:sp>
        <p:nvSpPr>
          <p:cNvPr id="9" name="card-285"/>
          <p:cNvSpPr/>
          <p:nvPr/>
        </p:nvSpPr>
        <p:spPr>
          <a:xfrm>
            <a:off x="548640" y="3200400"/>
            <a:ext cx="5396332" cy="1143000"/>
          </a:xfrm>
          <a:prstGeom prst="roundRect">
            <a:avLst>
              <a:gd name="adj" fmla="val 9600"/>
            </a:avLst>
          </a:prstGeom>
          <a:solidFill>
            <a:schemeClr val="bg2"/>
          </a:solidFill>
          <a:ln/>
        </p:spPr>
      </p:sp>
      <p:sp>
        <p:nvSpPr>
          <p:cNvPr id="10" name="badge-286"/>
          <p:cNvSpPr/>
          <p:nvPr/>
        </p:nvSpPr>
        <p:spPr>
          <a:xfrm>
            <a:off x="822960" y="3493008"/>
            <a:ext cx="548640" cy="548640"/>
          </a:xfrm>
          <a:prstGeom prst="ellipse">
            <a:avLst/>
          </a:prstGeom>
          <a:solidFill>
            <a:schemeClr val="accent2"/>
          </a:solidFill>
          <a:ln/>
        </p:spPr>
      </p:sp>
      <p:pic>
        <p:nvPicPr>
          <p:cNvPr id="11" name="icon-287" descr="preencoded.png">    </p:cNvPr>
          <p:cNvPicPr>
            <a:picLocks noChangeAspect="1"/>
          </p:cNvPicPr>
          <p:nvPr/>
        </p:nvPicPr>
        <p:blipFill>
          <a:blip r:embed="rId2"/>
          <a:stretch>
            <a:fillRect/>
          </a:stretch>
        </p:blipFill>
        <p:spPr>
          <a:xfrm>
            <a:off x="971093" y="3641141"/>
            <a:ext cx="252374" cy="252374"/>
          </a:xfrm>
          <a:prstGeom prst="rect">
            <a:avLst/>
          </a:prstGeom>
        </p:spPr>
      </p:pic>
      <p:sp>
        <p:nvSpPr>
          <p:cNvPr id="12" name="text-288"/>
          <p:cNvSpPr txBox="1"/>
          <p:nvPr/>
        </p:nvSpPr>
        <p:spPr>
          <a:xfrm>
            <a:off x="1600200"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Workflow</a:t>
            </a:r>
            <a:endParaRPr lang="en-US" sz="1800" dirty="0"/>
          </a:p>
        </p:txBody>
      </p:sp>
      <p:sp>
        <p:nvSpPr>
          <p:cNvPr id="13" name="text-289"/>
          <p:cNvSpPr txBox="1"/>
          <p:nvPr/>
        </p:nvSpPr>
        <p:spPr>
          <a:xfrm>
            <a:off x="1600200"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 saved set of steps you start by typing / and its name</a:t>
            </a:r>
            <a:endParaRPr lang="en-US" sz="1400" dirty="0"/>
          </a:p>
        </p:txBody>
      </p:sp>
      <p:sp>
        <p:nvSpPr>
          <p:cNvPr id="14" name="card-290"/>
          <p:cNvSpPr/>
          <p:nvPr/>
        </p:nvSpPr>
        <p:spPr>
          <a:xfrm>
            <a:off x="548640" y="4480560"/>
            <a:ext cx="5396332" cy="1143000"/>
          </a:xfrm>
          <a:prstGeom prst="roundRect">
            <a:avLst>
              <a:gd name="adj" fmla="val 9600"/>
            </a:avLst>
          </a:prstGeom>
          <a:solidFill>
            <a:schemeClr val="bg2"/>
          </a:solidFill>
          <a:ln/>
        </p:spPr>
      </p:sp>
      <p:sp>
        <p:nvSpPr>
          <p:cNvPr id="15" name="badge-291"/>
          <p:cNvSpPr/>
          <p:nvPr/>
        </p:nvSpPr>
        <p:spPr>
          <a:xfrm>
            <a:off x="822960" y="4773168"/>
            <a:ext cx="548640" cy="548640"/>
          </a:xfrm>
          <a:prstGeom prst="ellipse">
            <a:avLst/>
          </a:prstGeom>
          <a:solidFill>
            <a:schemeClr val="accent2"/>
          </a:solidFill>
          <a:ln/>
        </p:spPr>
      </p:sp>
      <p:pic>
        <p:nvPicPr>
          <p:cNvPr id="16" name="icon-292" descr="preencoded.png">    </p:cNvPr>
          <p:cNvPicPr>
            <a:picLocks noChangeAspect="1"/>
          </p:cNvPicPr>
          <p:nvPr/>
        </p:nvPicPr>
        <p:blipFill>
          <a:blip r:embed="rId3"/>
          <a:stretch>
            <a:fillRect/>
          </a:stretch>
        </p:blipFill>
        <p:spPr>
          <a:xfrm>
            <a:off x="971093" y="4921301"/>
            <a:ext cx="252374" cy="252374"/>
          </a:xfrm>
          <a:prstGeom prst="rect">
            <a:avLst/>
          </a:prstGeom>
        </p:spPr>
      </p:pic>
      <p:sp>
        <p:nvSpPr>
          <p:cNvPr id="17" name="text-293"/>
          <p:cNvSpPr txBox="1"/>
          <p:nvPr/>
        </p:nvSpPr>
        <p:spPr>
          <a:xfrm>
            <a:off x="1600200"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Skill</a:t>
            </a:r>
            <a:endParaRPr lang="en-US" sz="1800" dirty="0"/>
          </a:p>
        </p:txBody>
      </p:sp>
      <p:sp>
        <p:nvSpPr>
          <p:cNvPr id="18" name="text-294"/>
          <p:cNvSpPr txBox="1"/>
          <p:nvPr/>
        </p:nvSpPr>
        <p:spPr>
          <a:xfrm>
            <a:off x="1600200"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SKILL.md package of know-how, loaded only when a task needs it</a:t>
            </a:r>
            <a:endParaRPr lang="en-US" sz="1400" dirty="0"/>
          </a:p>
        </p:txBody>
      </p:sp>
      <p:sp>
        <p:nvSpPr>
          <p:cNvPr id="19" name="card-295"/>
          <p:cNvSpPr/>
          <p:nvPr/>
        </p:nvSpPr>
        <p:spPr>
          <a:xfrm>
            <a:off x="6246724" y="1920240"/>
            <a:ext cx="5396332" cy="1143000"/>
          </a:xfrm>
          <a:prstGeom prst="roundRect">
            <a:avLst>
              <a:gd name="adj" fmla="val 9600"/>
            </a:avLst>
          </a:prstGeom>
          <a:solidFill>
            <a:schemeClr val="bg2"/>
          </a:solidFill>
          <a:ln/>
        </p:spPr>
      </p:sp>
      <p:sp>
        <p:nvSpPr>
          <p:cNvPr id="20" name="badge-296"/>
          <p:cNvSpPr/>
          <p:nvPr/>
        </p:nvSpPr>
        <p:spPr>
          <a:xfrm>
            <a:off x="6521044" y="2212848"/>
            <a:ext cx="548640" cy="548640"/>
          </a:xfrm>
          <a:prstGeom prst="ellipse">
            <a:avLst/>
          </a:prstGeom>
          <a:solidFill>
            <a:schemeClr val="accent2"/>
          </a:solidFill>
          <a:ln/>
        </p:spPr>
      </p:sp>
      <p:pic>
        <p:nvPicPr>
          <p:cNvPr id="21" name="icon-297" descr="preencoded.png">    </p:cNvPr>
          <p:cNvPicPr>
            <a:picLocks noChangeAspect="1"/>
          </p:cNvPicPr>
          <p:nvPr/>
        </p:nvPicPr>
        <p:blipFill>
          <a:blip r:embed="rId4"/>
          <a:stretch>
            <a:fillRect/>
          </a:stretch>
        </p:blipFill>
        <p:spPr>
          <a:xfrm>
            <a:off x="6669176" y="2360981"/>
            <a:ext cx="252374" cy="252374"/>
          </a:xfrm>
          <a:prstGeom prst="rect">
            <a:avLst/>
          </a:prstGeom>
        </p:spPr>
      </p:pic>
      <p:sp>
        <p:nvSpPr>
          <p:cNvPr id="22" name="text-298"/>
          <p:cNvSpPr txBox="1"/>
          <p:nvPr/>
        </p:nvSpPr>
        <p:spPr>
          <a:xfrm>
            <a:off x="7298284"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MCP server</a:t>
            </a:r>
            <a:endParaRPr lang="en-US" sz="1800" dirty="0"/>
          </a:p>
        </p:txBody>
      </p:sp>
      <p:sp>
        <p:nvSpPr>
          <p:cNvPr id="23" name="text-299"/>
          <p:cNvSpPr txBox="1"/>
          <p:nvPr/>
        </p:nvSpPr>
        <p:spPr>
          <a:xfrm>
            <a:off x="7298284"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 connector that links agents to outside tools and data</a:t>
            </a:r>
            <a:endParaRPr lang="en-US" sz="1400" dirty="0"/>
          </a:p>
        </p:txBody>
      </p:sp>
      <p:sp>
        <p:nvSpPr>
          <p:cNvPr id="24" name="card-300"/>
          <p:cNvSpPr/>
          <p:nvPr/>
        </p:nvSpPr>
        <p:spPr>
          <a:xfrm>
            <a:off x="6246724" y="3200400"/>
            <a:ext cx="5396332" cy="1143000"/>
          </a:xfrm>
          <a:prstGeom prst="roundRect">
            <a:avLst>
              <a:gd name="adj" fmla="val 9600"/>
            </a:avLst>
          </a:prstGeom>
          <a:solidFill>
            <a:schemeClr val="bg2"/>
          </a:solidFill>
          <a:ln/>
        </p:spPr>
      </p:sp>
      <p:sp>
        <p:nvSpPr>
          <p:cNvPr id="25" name="badge-301"/>
          <p:cNvSpPr/>
          <p:nvPr/>
        </p:nvSpPr>
        <p:spPr>
          <a:xfrm>
            <a:off x="6521044" y="3493008"/>
            <a:ext cx="548640" cy="548640"/>
          </a:xfrm>
          <a:prstGeom prst="ellipse">
            <a:avLst/>
          </a:prstGeom>
          <a:solidFill>
            <a:schemeClr val="accent2"/>
          </a:solidFill>
          <a:ln/>
        </p:spPr>
      </p:sp>
      <p:pic>
        <p:nvPicPr>
          <p:cNvPr id="26" name="icon-302" descr="preencoded.png">    </p:cNvPr>
          <p:cNvPicPr>
            <a:picLocks noChangeAspect="1"/>
          </p:cNvPicPr>
          <p:nvPr/>
        </p:nvPicPr>
        <p:blipFill>
          <a:blip r:embed="rId5"/>
          <a:stretch>
            <a:fillRect/>
          </a:stretch>
        </p:blipFill>
        <p:spPr>
          <a:xfrm>
            <a:off x="6669176" y="3641141"/>
            <a:ext cx="252374" cy="252374"/>
          </a:xfrm>
          <a:prstGeom prst="rect">
            <a:avLst/>
          </a:prstGeom>
        </p:spPr>
      </p:pic>
      <p:sp>
        <p:nvSpPr>
          <p:cNvPr id="27" name="text-303"/>
          <p:cNvSpPr txBox="1"/>
          <p:nvPr/>
        </p:nvSpPr>
        <p:spPr>
          <a:xfrm>
            <a:off x="7298284"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Plugin</a:t>
            </a:r>
            <a:endParaRPr lang="en-US" sz="1800" dirty="0"/>
          </a:p>
        </p:txBody>
      </p:sp>
      <p:sp>
        <p:nvSpPr>
          <p:cNvPr id="28" name="text-304"/>
          <p:cNvSpPr txBox="1"/>
          <p:nvPr/>
        </p:nvSpPr>
        <p:spPr>
          <a:xfrm>
            <a:off x="7298284"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An add-on that extends Antigravity; formerly Gemini CLI extensions</a:t>
            </a:r>
            <a:endParaRPr lang="en-US" sz="1400" dirty="0"/>
          </a:p>
        </p:txBody>
      </p:sp>
      <p:sp>
        <p:nvSpPr>
          <p:cNvPr id="29" name="card-305"/>
          <p:cNvSpPr/>
          <p:nvPr/>
        </p:nvSpPr>
        <p:spPr>
          <a:xfrm>
            <a:off x="6246724" y="4480560"/>
            <a:ext cx="5396332" cy="1143000"/>
          </a:xfrm>
          <a:prstGeom prst="roundRect">
            <a:avLst>
              <a:gd name="adj" fmla="val 9600"/>
            </a:avLst>
          </a:prstGeom>
          <a:solidFill>
            <a:schemeClr val="bg2"/>
          </a:solidFill>
          <a:ln/>
        </p:spPr>
      </p:sp>
      <p:sp>
        <p:nvSpPr>
          <p:cNvPr id="30" name="badge-306"/>
          <p:cNvSpPr/>
          <p:nvPr/>
        </p:nvSpPr>
        <p:spPr>
          <a:xfrm>
            <a:off x="6521044" y="4773168"/>
            <a:ext cx="548640" cy="548640"/>
          </a:xfrm>
          <a:prstGeom prst="ellipse">
            <a:avLst/>
          </a:prstGeom>
          <a:solidFill>
            <a:schemeClr val="accent2"/>
          </a:solidFill>
          <a:ln/>
        </p:spPr>
      </p:sp>
      <p:pic>
        <p:nvPicPr>
          <p:cNvPr id="31" name="icon-307" descr="preencoded.png">    </p:cNvPr>
          <p:cNvPicPr>
            <a:picLocks noChangeAspect="1"/>
          </p:cNvPicPr>
          <p:nvPr/>
        </p:nvPicPr>
        <p:blipFill>
          <a:blip r:embed="rId6"/>
          <a:stretch>
            <a:fillRect/>
          </a:stretch>
        </p:blipFill>
        <p:spPr>
          <a:xfrm>
            <a:off x="6669176" y="4921301"/>
            <a:ext cx="252374" cy="252374"/>
          </a:xfrm>
          <a:prstGeom prst="rect">
            <a:avLst/>
          </a:prstGeom>
        </p:spPr>
      </p:pic>
      <p:sp>
        <p:nvSpPr>
          <p:cNvPr id="32" name="text-308"/>
          <p:cNvSpPr txBox="1"/>
          <p:nvPr/>
        </p:nvSpPr>
        <p:spPr>
          <a:xfrm>
            <a:off x="7298284"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Scheduled task</a:t>
            </a:r>
            <a:endParaRPr lang="en-US" sz="1800" dirty="0"/>
          </a:p>
        </p:txBody>
      </p:sp>
      <p:sp>
        <p:nvSpPr>
          <p:cNvPr id="33" name="text-309"/>
          <p:cNvSpPr txBox="1"/>
          <p:nvPr/>
        </p:nvSpPr>
        <p:spPr>
          <a:xfrm>
            <a:off x="7298284"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prompt the agent runs by itself at set times</a:t>
            </a:r>
            <a:endParaRPr lang="en-US" sz="1400" dirty="0"/>
          </a:p>
        </p:txBody>
      </p:sp>
      <p:sp>
        <p:nvSpPr>
          <p:cNvPr id="34" name="text-310"/>
          <p:cNvSpPr txBox="1"/>
          <p:nvPr/>
        </p:nvSpPr>
        <p:spPr>
          <a:xfrm>
            <a:off x="548640" y="5870448"/>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You do not need any of these on day one. Learn them when a task calls for them.</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Four permission settings decide how freely an agent acts</a:t>
            </a:r>
            <a:endParaRPr lang="en-US" sz="3000" dirty="0"/>
          </a:p>
        </p:txBody>
      </p:sp>
      <p:graphicFrame>
        <p:nvGraphicFramePr>
          <p:cNvPr id="14" name="table-311"/>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743200"/>
                <a:gridCol w="4846320"/>
                <a:gridCol w="3504895"/>
              </a:tblGrid>
              <a:tr h="548640">
                <a:tc>
                  <a:txBody>
                    <a:bodyPr/>
                    <a:lstStyle/>
                    <a:p>
                      <a:pPr indent="0" marL="0">
                        <a:buNone/>
                      </a:pPr>
                      <a:r>
                        <a:rPr lang="en-US" sz="1400" b="1" dirty="0">
                          <a:solidFill>
                            <a:schemeClr val="bg1"/>
                          </a:solidFill>
                        </a:rPr>
                        <a:t>Setting</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What the agent does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Good for</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r>
              <a:tr h="54864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request-review</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Pauses and asks before commands and file changes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Beginners; this is the default</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proceed-in-sandbox</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Runs commands unprompted inside an isolated sandbox</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Faster work, kept contained</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always-proceed</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Runs commands and writes files without asking</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Trusted, low-risk work only</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strict</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Reads freely but asks before anything else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Sensitive folders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bl>
          </a:graphicData>
        </a:graphic>
      </p:graphicFrame>
      <p:sp>
        <p:nvSpPr>
          <p:cNvPr id="5" name="card-312"/>
          <p:cNvSpPr/>
          <p:nvPr/>
        </p:nvSpPr>
        <p:spPr>
          <a:xfrm>
            <a:off x="548640" y="4937760"/>
            <a:ext cx="11094415" cy="685800"/>
          </a:xfrm>
          <a:prstGeom prst="roundRect">
            <a:avLst>
              <a:gd name="adj" fmla="val 16000"/>
            </a:avLst>
          </a:prstGeom>
          <a:solidFill>
            <a:schemeClr val="bg2"/>
          </a:solidFill>
          <a:ln/>
        </p:spPr>
      </p:sp>
      <p:sp>
        <p:nvSpPr>
          <p:cNvPr id="6" name="badge-313"/>
          <p:cNvSpPr/>
          <p:nvPr/>
        </p:nvSpPr>
        <p:spPr>
          <a:xfrm>
            <a:off x="685800" y="5079492"/>
            <a:ext cx="402336" cy="402336"/>
          </a:xfrm>
          <a:prstGeom prst="ellipse">
            <a:avLst/>
          </a:prstGeom>
          <a:solidFill>
            <a:schemeClr val="accent2"/>
          </a:solidFill>
          <a:ln/>
        </p:spPr>
      </p:sp>
      <p:pic>
        <p:nvPicPr>
          <p:cNvPr id="7" name="icon-314" descr="preencoded.png">    </p:cNvPr>
          <p:cNvPicPr>
            <a:picLocks noChangeAspect="1"/>
          </p:cNvPicPr>
          <p:nvPr/>
        </p:nvPicPr>
        <p:blipFill>
          <a:blip r:embed="rId1"/>
          <a:stretch>
            <a:fillRect/>
          </a:stretch>
        </p:blipFill>
        <p:spPr>
          <a:xfrm>
            <a:off x="794431" y="5188123"/>
            <a:ext cx="185075" cy="185075"/>
          </a:xfrm>
          <a:prstGeom prst="rect">
            <a:avLst/>
          </a:prstGeom>
        </p:spPr>
      </p:pic>
      <p:sp>
        <p:nvSpPr>
          <p:cNvPr id="8" name="text-315"/>
          <p:cNvSpPr txBox="1"/>
          <p:nvPr/>
        </p:nvSpPr>
        <p:spPr>
          <a:xfrm>
            <a:off x="1261872" y="4937760"/>
            <a:ext cx="10198303" cy="685800"/>
          </a:xfrm>
          <a:prstGeom prst="rect">
            <a:avLst/>
          </a:prstGeom>
          <a:noFill/>
          <a:ln/>
        </p:spPr>
        <p:txBody>
          <a:bodyPr wrap="square" lIns="0" tIns="0" rIns="0" bIns="0" rtlCol="0" anchor="ctr"/>
          <a:lstStyle/>
          <a:p>
            <a:pPr indent="0" marL="0">
              <a:buNone/>
            </a:pPr>
            <a:r>
              <a:rPr lang="en-US" sz="1400" dirty="0">
                <a:solidFill>
                  <a:schemeClr val="tx1"/>
                </a:solidFill>
              </a:rPr>
              <a:t>Artifact review is a separate setting: the agent either asks you to review its plan or always proceeds.</a:t>
            </a:r>
            <a:endParaRPr lang="en-US" sz="1400" dirty="0"/>
          </a:p>
        </p:txBody>
      </p:sp>
      <p:sp>
        <p:nvSpPr>
          <p:cNvPr id="9" name="text-31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Names as shown in the Antigravity CLI settings; the desktop app sets similar security options per project. Source: Google Codelabs, Hands-on with Antigravity CLI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one-page cheat sheet covers the everyday commands</a:t>
            </a:r>
            <a:endParaRPr lang="en-US" sz="3000" dirty="0"/>
          </a:p>
        </p:txBody>
      </p:sp>
      <p:sp>
        <p:nvSpPr>
          <p:cNvPr id="4" name="card-317"/>
          <p:cNvSpPr/>
          <p:nvPr/>
        </p:nvSpPr>
        <p:spPr>
          <a:xfrm>
            <a:off x="548640" y="1920240"/>
            <a:ext cx="3515258" cy="3977640"/>
          </a:xfrm>
          <a:prstGeom prst="roundRect">
            <a:avLst>
              <a:gd name="adj" fmla="val 3121"/>
            </a:avLst>
          </a:prstGeom>
          <a:solidFill>
            <a:schemeClr val="bg2"/>
          </a:solidFill>
          <a:ln/>
        </p:spPr>
      </p:sp>
      <p:sp>
        <p:nvSpPr>
          <p:cNvPr id="5" name="text-318"/>
          <p:cNvSpPr txBox="1"/>
          <p:nvPr/>
        </p:nvSpPr>
        <p:spPr>
          <a:xfrm>
            <a:off x="822960"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the desktop app</a:t>
            </a:r>
            <a:endParaRPr lang="en-US" sz="1800" dirty="0"/>
          </a:p>
        </p:txBody>
      </p:sp>
      <p:sp>
        <p:nvSpPr>
          <p:cNvPr id="6" name="text-319"/>
          <p:cNvSpPr txBox="1"/>
          <p:nvPr/>
        </p:nvSpPr>
        <p:spPr>
          <a:xfrm>
            <a:off x="822960"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t>
            </a:r>
            <a:endParaRPr lang="en-US" sz="1400" dirty="0"/>
          </a:p>
        </p:txBody>
      </p:sp>
      <p:sp>
        <p:nvSpPr>
          <p:cNvPr id="7" name="text-320"/>
          <p:cNvSpPr txBox="1"/>
          <p:nvPr/>
        </p:nvSpPr>
        <p:spPr>
          <a:xfrm>
            <a:off x="822960"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List the available commands</a:t>
            </a:r>
            <a:endParaRPr lang="en-US" sz="1400" dirty="0"/>
          </a:p>
        </p:txBody>
      </p:sp>
      <p:sp>
        <p:nvSpPr>
          <p:cNvPr id="8" name="text-321"/>
          <p:cNvSpPr txBox="1"/>
          <p:nvPr/>
        </p:nvSpPr>
        <p:spPr>
          <a:xfrm>
            <a:off x="822960"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/browser</a:t>
            </a:r>
            <a:endParaRPr lang="en-US" sz="1400" dirty="0"/>
          </a:p>
        </p:txBody>
      </p:sp>
      <p:sp>
        <p:nvSpPr>
          <p:cNvPr id="9" name="text-322"/>
          <p:cNvSpPr txBox="1"/>
          <p:nvPr/>
        </p:nvSpPr>
        <p:spPr>
          <a:xfrm>
            <a:off x="822960"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Send a browser subagent to a site</a:t>
            </a:r>
            <a:endParaRPr lang="en-US" sz="1400" dirty="0"/>
          </a:p>
        </p:txBody>
      </p:sp>
      <p:sp>
        <p:nvSpPr>
          <p:cNvPr id="10" name="text-323"/>
          <p:cNvSpPr txBox="1"/>
          <p:nvPr/>
        </p:nvSpPr>
        <p:spPr>
          <a:xfrm>
            <a:off x="822960"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/schedule</a:t>
            </a:r>
            <a:endParaRPr lang="en-US" sz="1400" dirty="0"/>
          </a:p>
        </p:txBody>
      </p:sp>
      <p:sp>
        <p:nvSpPr>
          <p:cNvPr id="11" name="text-324"/>
          <p:cNvSpPr txBox="1"/>
          <p:nvPr/>
        </p:nvSpPr>
        <p:spPr>
          <a:xfrm>
            <a:off x="822960"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Set a recurring or one-off task</a:t>
            </a:r>
            <a:endParaRPr lang="en-US" sz="1400" dirty="0"/>
          </a:p>
        </p:txBody>
      </p:sp>
      <p:sp>
        <p:nvSpPr>
          <p:cNvPr id="12" name="text-325"/>
          <p:cNvSpPr txBox="1"/>
          <p:nvPr/>
        </p:nvSpPr>
        <p:spPr>
          <a:xfrm>
            <a:off x="822960"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@filename</a:t>
            </a:r>
            <a:endParaRPr lang="en-US" sz="1400" dirty="0"/>
          </a:p>
        </p:txBody>
      </p:sp>
      <p:sp>
        <p:nvSpPr>
          <p:cNvPr id="13" name="text-326"/>
          <p:cNvSpPr txBox="1"/>
          <p:nvPr/>
        </p:nvSpPr>
        <p:spPr>
          <a:xfrm>
            <a:off x="822960"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Attach a file as context</a:t>
            </a:r>
            <a:endParaRPr lang="en-US" sz="1400" dirty="0"/>
          </a:p>
        </p:txBody>
      </p:sp>
      <p:sp>
        <p:nvSpPr>
          <p:cNvPr id="14" name="text-327"/>
          <p:cNvSpPr txBox="1"/>
          <p:nvPr/>
        </p:nvSpPr>
        <p:spPr>
          <a:xfrm>
            <a:off x="822960"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Proceed</a:t>
            </a:r>
            <a:endParaRPr lang="en-US" sz="1400" dirty="0"/>
          </a:p>
        </p:txBody>
      </p:sp>
      <p:sp>
        <p:nvSpPr>
          <p:cNvPr id="15" name="text-328"/>
          <p:cNvSpPr txBox="1"/>
          <p:nvPr/>
        </p:nvSpPr>
        <p:spPr>
          <a:xfrm>
            <a:off x="822960"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Approve the agent's plan</a:t>
            </a:r>
            <a:endParaRPr lang="en-US" sz="1400" dirty="0"/>
          </a:p>
        </p:txBody>
      </p:sp>
      <p:sp>
        <p:nvSpPr>
          <p:cNvPr id="16" name="card-329"/>
          <p:cNvSpPr/>
          <p:nvPr/>
        </p:nvSpPr>
        <p:spPr>
          <a:xfrm>
            <a:off x="4338218" y="1920240"/>
            <a:ext cx="3515258" cy="3977640"/>
          </a:xfrm>
          <a:prstGeom prst="roundRect">
            <a:avLst>
              <a:gd name="adj" fmla="val 3121"/>
            </a:avLst>
          </a:prstGeom>
          <a:solidFill>
            <a:schemeClr val="bg2"/>
          </a:solidFill>
          <a:ln/>
        </p:spPr>
      </p:sp>
      <p:sp>
        <p:nvSpPr>
          <p:cNvPr id="17" name="text-330"/>
          <p:cNvSpPr txBox="1"/>
          <p:nvPr/>
        </p:nvSpPr>
        <p:spPr>
          <a:xfrm>
            <a:off x="4612538"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Starting the CLI</a:t>
            </a:r>
            <a:endParaRPr lang="en-US" sz="1800" dirty="0"/>
          </a:p>
        </p:txBody>
      </p:sp>
      <p:sp>
        <p:nvSpPr>
          <p:cNvPr id="18" name="text-331"/>
          <p:cNvSpPr txBox="1"/>
          <p:nvPr/>
        </p:nvSpPr>
        <p:spPr>
          <a:xfrm>
            <a:off x="4612538"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agy</a:t>
            </a:r>
            <a:endParaRPr lang="en-US" sz="1400" dirty="0"/>
          </a:p>
        </p:txBody>
      </p:sp>
      <p:sp>
        <p:nvSpPr>
          <p:cNvPr id="19" name="text-332"/>
          <p:cNvSpPr txBox="1"/>
          <p:nvPr/>
        </p:nvSpPr>
        <p:spPr>
          <a:xfrm>
            <a:off x="4612538"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an interactive session</a:t>
            </a:r>
            <a:endParaRPr lang="en-US" sz="1400" dirty="0"/>
          </a:p>
        </p:txBody>
      </p:sp>
      <p:sp>
        <p:nvSpPr>
          <p:cNvPr id="20" name="text-333"/>
          <p:cNvSpPr txBox="1"/>
          <p:nvPr/>
        </p:nvSpPr>
        <p:spPr>
          <a:xfrm>
            <a:off x="4612538"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agy -p "question"</a:t>
            </a:r>
            <a:endParaRPr lang="en-US" sz="1400" dirty="0"/>
          </a:p>
        </p:txBody>
      </p:sp>
      <p:sp>
        <p:nvSpPr>
          <p:cNvPr id="21" name="text-334"/>
          <p:cNvSpPr txBox="1"/>
          <p:nvPr/>
        </p:nvSpPr>
        <p:spPr>
          <a:xfrm>
            <a:off x="4612538"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Answer once, then exit</a:t>
            </a:r>
            <a:endParaRPr lang="en-US" sz="1400" dirty="0"/>
          </a:p>
        </p:txBody>
      </p:sp>
      <p:sp>
        <p:nvSpPr>
          <p:cNvPr id="22" name="text-335"/>
          <p:cNvSpPr txBox="1"/>
          <p:nvPr/>
        </p:nvSpPr>
        <p:spPr>
          <a:xfrm>
            <a:off x="4612538"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agy models</a:t>
            </a:r>
            <a:endParaRPr lang="en-US" sz="1400" dirty="0"/>
          </a:p>
        </p:txBody>
      </p:sp>
      <p:sp>
        <p:nvSpPr>
          <p:cNvPr id="23" name="text-336"/>
          <p:cNvSpPr txBox="1"/>
          <p:nvPr/>
        </p:nvSpPr>
        <p:spPr>
          <a:xfrm>
            <a:off x="4612538"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List the models you can use</a:t>
            </a:r>
            <a:endParaRPr lang="en-US" sz="1400" dirty="0"/>
          </a:p>
        </p:txBody>
      </p:sp>
      <p:sp>
        <p:nvSpPr>
          <p:cNvPr id="24" name="text-337"/>
          <p:cNvSpPr txBox="1"/>
          <p:nvPr/>
        </p:nvSpPr>
        <p:spPr>
          <a:xfrm>
            <a:off x="4612538"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agy --model "name"</a:t>
            </a:r>
            <a:endParaRPr lang="en-US" sz="1400" dirty="0"/>
          </a:p>
        </p:txBody>
      </p:sp>
      <p:sp>
        <p:nvSpPr>
          <p:cNvPr id="25" name="text-338"/>
          <p:cNvSpPr txBox="1"/>
          <p:nvPr/>
        </p:nvSpPr>
        <p:spPr>
          <a:xfrm>
            <a:off x="4612538"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with a chosen model</a:t>
            </a:r>
            <a:endParaRPr lang="en-US" sz="1400" dirty="0"/>
          </a:p>
        </p:txBody>
      </p:sp>
      <p:sp>
        <p:nvSpPr>
          <p:cNvPr id="26" name="text-339"/>
          <p:cNvSpPr txBox="1"/>
          <p:nvPr/>
        </p:nvSpPr>
        <p:spPr>
          <a:xfrm>
            <a:off x="4612538"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agy --version</a:t>
            </a:r>
            <a:endParaRPr lang="en-US" sz="1400" dirty="0"/>
          </a:p>
        </p:txBody>
      </p:sp>
      <p:sp>
        <p:nvSpPr>
          <p:cNvPr id="27" name="text-340"/>
          <p:cNvSpPr txBox="1"/>
          <p:nvPr/>
        </p:nvSpPr>
        <p:spPr>
          <a:xfrm>
            <a:off x="4612538"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Check what is installed</a:t>
            </a:r>
            <a:endParaRPr lang="en-US" sz="1400" dirty="0"/>
          </a:p>
        </p:txBody>
      </p:sp>
      <p:sp>
        <p:nvSpPr>
          <p:cNvPr id="28" name="card-341"/>
          <p:cNvSpPr/>
          <p:nvPr/>
        </p:nvSpPr>
        <p:spPr>
          <a:xfrm>
            <a:off x="8127797" y="1920240"/>
            <a:ext cx="3515258" cy="3977640"/>
          </a:xfrm>
          <a:prstGeom prst="roundRect">
            <a:avLst>
              <a:gd name="adj" fmla="val 3121"/>
            </a:avLst>
          </a:prstGeom>
          <a:solidFill>
            <a:schemeClr val="bg2"/>
          </a:solidFill>
          <a:ln/>
        </p:spPr>
      </p:sp>
      <p:sp>
        <p:nvSpPr>
          <p:cNvPr id="29" name="text-342"/>
          <p:cNvSpPr txBox="1"/>
          <p:nvPr/>
        </p:nvSpPr>
        <p:spPr>
          <a:xfrm>
            <a:off x="8402117"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Inside the CLI</a:t>
            </a:r>
            <a:endParaRPr lang="en-US" sz="1800" dirty="0"/>
          </a:p>
        </p:txBody>
      </p:sp>
      <p:sp>
        <p:nvSpPr>
          <p:cNvPr id="30" name="text-343"/>
          <p:cNvSpPr txBox="1"/>
          <p:nvPr/>
        </p:nvSpPr>
        <p:spPr>
          <a:xfrm>
            <a:off x="8402117"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/help</a:t>
            </a:r>
            <a:endParaRPr lang="en-US" sz="1400" dirty="0"/>
          </a:p>
        </p:txBody>
      </p:sp>
      <p:sp>
        <p:nvSpPr>
          <p:cNvPr id="31" name="text-344"/>
          <p:cNvSpPr txBox="1"/>
          <p:nvPr/>
        </p:nvSpPr>
        <p:spPr>
          <a:xfrm>
            <a:off x="8402117"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Show commands and shortcuts</a:t>
            </a:r>
            <a:endParaRPr lang="en-US" sz="1400" dirty="0"/>
          </a:p>
        </p:txBody>
      </p:sp>
      <p:sp>
        <p:nvSpPr>
          <p:cNvPr id="32" name="text-345"/>
          <p:cNvSpPr txBox="1"/>
          <p:nvPr/>
        </p:nvSpPr>
        <p:spPr>
          <a:xfrm>
            <a:off x="8402117"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/plan</a:t>
            </a:r>
            <a:endParaRPr lang="en-US" sz="1400" dirty="0"/>
          </a:p>
        </p:txBody>
      </p:sp>
      <p:sp>
        <p:nvSpPr>
          <p:cNvPr id="33" name="text-346"/>
          <p:cNvSpPr txBox="1"/>
          <p:nvPr/>
        </p:nvSpPr>
        <p:spPr>
          <a:xfrm>
            <a:off x="8402117"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Ask for a plan before building</a:t>
            </a:r>
            <a:endParaRPr lang="en-US" sz="1400" dirty="0"/>
          </a:p>
        </p:txBody>
      </p:sp>
      <p:sp>
        <p:nvSpPr>
          <p:cNvPr id="34" name="text-347"/>
          <p:cNvSpPr txBox="1"/>
          <p:nvPr/>
        </p:nvSpPr>
        <p:spPr>
          <a:xfrm>
            <a:off x="8402117"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/artifact</a:t>
            </a:r>
            <a:endParaRPr lang="en-US" sz="1400" dirty="0"/>
          </a:p>
        </p:txBody>
      </p:sp>
      <p:sp>
        <p:nvSpPr>
          <p:cNvPr id="35" name="text-348"/>
          <p:cNvSpPr txBox="1"/>
          <p:nvPr/>
        </p:nvSpPr>
        <p:spPr>
          <a:xfrm>
            <a:off x="8402117"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Open, approve or reject artifacts</a:t>
            </a:r>
            <a:endParaRPr lang="en-US" sz="1400" dirty="0"/>
          </a:p>
        </p:txBody>
      </p:sp>
      <p:sp>
        <p:nvSpPr>
          <p:cNvPr id="36" name="text-349"/>
          <p:cNvSpPr txBox="1"/>
          <p:nvPr/>
        </p:nvSpPr>
        <p:spPr>
          <a:xfrm>
            <a:off x="8402117"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/config</a:t>
            </a:r>
            <a:endParaRPr lang="en-US" sz="1400" dirty="0"/>
          </a:p>
        </p:txBody>
      </p:sp>
      <p:sp>
        <p:nvSpPr>
          <p:cNvPr id="37" name="text-350"/>
          <p:cNvSpPr txBox="1"/>
          <p:nvPr/>
        </p:nvSpPr>
        <p:spPr>
          <a:xfrm>
            <a:off x="8402117"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Change settings and permissions</a:t>
            </a:r>
            <a:endParaRPr lang="en-US" sz="1400" dirty="0"/>
          </a:p>
        </p:txBody>
      </p:sp>
      <p:sp>
        <p:nvSpPr>
          <p:cNvPr id="38" name="text-351"/>
          <p:cNvSpPr txBox="1"/>
          <p:nvPr/>
        </p:nvSpPr>
        <p:spPr>
          <a:xfrm>
            <a:off x="8402117"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/quit</a:t>
            </a:r>
            <a:endParaRPr lang="en-US" sz="1400" dirty="0"/>
          </a:p>
        </p:txBody>
      </p:sp>
      <p:sp>
        <p:nvSpPr>
          <p:cNvPr id="39" name="text-352"/>
          <p:cNvSpPr txBox="1"/>
          <p:nvPr/>
        </p:nvSpPr>
        <p:spPr>
          <a:xfrm>
            <a:off x="8402117"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Leave the CLI</a:t>
            </a:r>
            <a:endParaRPr lang="en-US" sz="1400" dirty="0"/>
          </a:p>
        </p:txBody>
      </p:sp>
      <p:sp>
        <p:nvSpPr>
          <p:cNvPr id="40" name="text-35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Codelabs, Getting Started with Google Antigravity and Hands-on with Antigravity CLI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Four prompts make a good first session</a:t>
            </a:r>
            <a:endParaRPr lang="en-US" sz="3000" dirty="0"/>
          </a:p>
        </p:txBody>
      </p:sp>
      <p:sp>
        <p:nvSpPr>
          <p:cNvPr id="4" name="step-354"/>
          <p:cNvSpPr/>
          <p:nvPr/>
        </p:nvSpPr>
        <p:spPr>
          <a:xfrm>
            <a:off x="548640" y="1975104"/>
            <a:ext cx="548640" cy="548640"/>
          </a:xfrm>
          <a:prstGeom prst="ellipse">
            <a:avLst/>
          </a:prstGeom>
          <a:solidFill>
            <a:schemeClr val="accent1"/>
          </a:solidFill>
          <a:ln/>
        </p:spPr>
      </p:sp>
      <p:sp>
        <p:nvSpPr>
          <p:cNvPr id="5" name="text-355"/>
          <p:cNvSpPr txBox="1"/>
          <p:nvPr/>
        </p:nvSpPr>
        <p:spPr>
          <a:xfrm>
            <a:off x="548640" y="19751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6" name="card-356"/>
          <p:cNvSpPr/>
          <p:nvPr/>
        </p:nvSpPr>
        <p:spPr>
          <a:xfrm>
            <a:off x="1325880" y="1920240"/>
            <a:ext cx="5760720" cy="658368"/>
          </a:xfrm>
          <a:prstGeom prst="roundRect">
            <a:avLst>
              <a:gd name="adj" fmla="val 16667"/>
            </a:avLst>
          </a:prstGeom>
          <a:solidFill>
            <a:schemeClr val="tx1"/>
          </a:solidFill>
          <a:ln/>
        </p:spPr>
      </p:sp>
      <p:sp>
        <p:nvSpPr>
          <p:cNvPr id="7" name="text-357"/>
          <p:cNvSpPr txBox="1"/>
          <p:nvPr/>
        </p:nvSpPr>
        <p:spPr>
          <a:xfrm>
            <a:off x="1554480" y="1920240"/>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what can you help me with in this project?</a:t>
            </a:r>
            <a:endParaRPr lang="en-US" sz="1400" dirty="0"/>
          </a:p>
        </p:txBody>
      </p:sp>
      <p:pic>
        <p:nvPicPr>
          <p:cNvPr id="8" name="arrow-358" descr="preencoded.png">    </p:cNvPr>
          <p:cNvPicPr>
            <a:picLocks noChangeAspect="1"/>
          </p:cNvPicPr>
          <p:nvPr/>
        </p:nvPicPr>
        <p:blipFill>
          <a:blip r:embed="rId1"/>
          <a:stretch>
            <a:fillRect/>
          </a:stretch>
        </p:blipFill>
        <p:spPr>
          <a:xfrm>
            <a:off x="7269480" y="2112264"/>
            <a:ext cx="274320" cy="274320"/>
          </a:xfrm>
          <a:prstGeom prst="rect">
            <a:avLst/>
          </a:prstGeom>
        </p:spPr>
      </p:pic>
      <p:sp>
        <p:nvSpPr>
          <p:cNvPr id="9" name="text-359"/>
          <p:cNvSpPr txBox="1"/>
          <p:nvPr/>
        </p:nvSpPr>
        <p:spPr>
          <a:xfrm>
            <a:off x="7772400" y="1920240"/>
            <a:ext cx="3870655" cy="658368"/>
          </a:xfrm>
          <a:prstGeom prst="rect">
            <a:avLst/>
          </a:prstGeom>
          <a:noFill/>
          <a:ln/>
        </p:spPr>
        <p:txBody>
          <a:bodyPr wrap="square" lIns="0" tIns="0" rIns="0" bIns="0" rtlCol="0" anchor="ctr"/>
          <a:lstStyle/>
          <a:p>
            <a:pPr indent="0" marL="0">
              <a:buNone/>
            </a:pPr>
            <a:r>
              <a:rPr lang="en-US" sz="1400" dirty="0">
                <a:solidFill>
                  <a:schemeClr val="tx2"/>
                </a:solidFill>
              </a:rPr>
              <a:t>The agent explains what it can do</a:t>
            </a:r>
            <a:endParaRPr lang="en-US" sz="1400" dirty="0"/>
          </a:p>
        </p:txBody>
      </p:sp>
      <p:sp>
        <p:nvSpPr>
          <p:cNvPr id="10" name="step-360"/>
          <p:cNvSpPr/>
          <p:nvPr/>
        </p:nvSpPr>
        <p:spPr>
          <a:xfrm>
            <a:off x="548640" y="2779776"/>
            <a:ext cx="548640" cy="548640"/>
          </a:xfrm>
          <a:prstGeom prst="ellipse">
            <a:avLst/>
          </a:prstGeom>
          <a:solidFill>
            <a:schemeClr val="accent1"/>
          </a:solidFill>
          <a:ln/>
        </p:spPr>
      </p:sp>
      <p:sp>
        <p:nvSpPr>
          <p:cNvPr id="11" name="text-361"/>
          <p:cNvSpPr txBox="1"/>
          <p:nvPr/>
        </p:nvSpPr>
        <p:spPr>
          <a:xfrm>
            <a:off x="548640" y="27797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2" name="card-362"/>
          <p:cNvSpPr/>
          <p:nvPr/>
        </p:nvSpPr>
        <p:spPr>
          <a:xfrm>
            <a:off x="1325880" y="2724912"/>
            <a:ext cx="5760720" cy="658368"/>
          </a:xfrm>
          <a:prstGeom prst="roundRect">
            <a:avLst>
              <a:gd name="adj" fmla="val 16667"/>
            </a:avLst>
          </a:prstGeom>
          <a:solidFill>
            <a:schemeClr val="tx1"/>
          </a:solidFill>
          <a:ln/>
        </p:spPr>
      </p:sp>
      <p:sp>
        <p:nvSpPr>
          <p:cNvPr id="13" name="text-363"/>
          <p:cNvSpPr txBox="1"/>
          <p:nvPr/>
        </p:nvSpPr>
        <p:spPr>
          <a:xfrm>
            <a:off x="1554480" y="2724912"/>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build a simple to-do list web page</a:t>
            </a:r>
            <a:endParaRPr lang="en-US" sz="1400" dirty="0"/>
          </a:p>
        </p:txBody>
      </p:sp>
      <p:pic>
        <p:nvPicPr>
          <p:cNvPr id="14" name="arrow-364" descr="preencoded.png">    </p:cNvPr>
          <p:cNvPicPr>
            <a:picLocks noChangeAspect="1"/>
          </p:cNvPicPr>
          <p:nvPr/>
        </p:nvPicPr>
        <p:blipFill>
          <a:blip r:embed="rId2"/>
          <a:stretch>
            <a:fillRect/>
          </a:stretch>
        </p:blipFill>
        <p:spPr>
          <a:xfrm>
            <a:off x="7269480" y="2916936"/>
            <a:ext cx="274320" cy="274320"/>
          </a:xfrm>
          <a:prstGeom prst="rect">
            <a:avLst/>
          </a:prstGeom>
        </p:spPr>
      </p:pic>
      <p:sp>
        <p:nvSpPr>
          <p:cNvPr id="15" name="text-365"/>
          <p:cNvSpPr txBox="1"/>
          <p:nvPr/>
        </p:nvSpPr>
        <p:spPr>
          <a:xfrm>
            <a:off x="7772400" y="2724912"/>
            <a:ext cx="3870655" cy="658368"/>
          </a:xfrm>
          <a:prstGeom prst="rect">
            <a:avLst/>
          </a:prstGeom>
          <a:noFill/>
          <a:ln/>
        </p:spPr>
        <p:txBody>
          <a:bodyPr wrap="square" lIns="0" tIns="0" rIns="0" bIns="0" rtlCol="0" anchor="ctr"/>
          <a:lstStyle/>
          <a:p>
            <a:pPr indent="0" marL="0">
              <a:buNone/>
            </a:pPr>
            <a:r>
              <a:rPr lang="en-US" sz="1400" dirty="0">
                <a:solidFill>
                  <a:schemeClr val="tx2"/>
                </a:solidFill>
              </a:rPr>
              <a:t>You get an Implementation Plan to approve, then the files</a:t>
            </a:r>
            <a:endParaRPr lang="en-US" sz="1400" dirty="0"/>
          </a:p>
        </p:txBody>
      </p:sp>
      <p:sp>
        <p:nvSpPr>
          <p:cNvPr id="16" name="step-366"/>
          <p:cNvSpPr/>
          <p:nvPr/>
        </p:nvSpPr>
        <p:spPr>
          <a:xfrm>
            <a:off x="548640" y="3584448"/>
            <a:ext cx="548640" cy="548640"/>
          </a:xfrm>
          <a:prstGeom prst="ellipse">
            <a:avLst/>
          </a:prstGeom>
          <a:solidFill>
            <a:schemeClr val="accent1"/>
          </a:solidFill>
          <a:ln/>
        </p:spPr>
      </p:sp>
      <p:sp>
        <p:nvSpPr>
          <p:cNvPr id="17" name="text-367"/>
          <p:cNvSpPr txBox="1"/>
          <p:nvPr/>
        </p:nvSpPr>
        <p:spPr>
          <a:xfrm>
            <a:off x="548640" y="35844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8" name="card-368"/>
          <p:cNvSpPr/>
          <p:nvPr/>
        </p:nvSpPr>
        <p:spPr>
          <a:xfrm>
            <a:off x="1325880" y="3529584"/>
            <a:ext cx="5760720" cy="658368"/>
          </a:xfrm>
          <a:prstGeom prst="roundRect">
            <a:avLst>
              <a:gd name="adj" fmla="val 16667"/>
            </a:avLst>
          </a:prstGeom>
          <a:solidFill>
            <a:schemeClr val="tx1"/>
          </a:solidFill>
          <a:ln/>
        </p:spPr>
      </p:sp>
      <p:sp>
        <p:nvSpPr>
          <p:cNvPr id="19" name="text-369"/>
          <p:cNvSpPr txBox="1"/>
          <p:nvPr/>
        </p:nvSpPr>
        <p:spPr>
          <a:xfrm>
            <a:off x="1554480" y="3529584"/>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/browser open example.com and summarise it</a:t>
            </a:r>
            <a:endParaRPr lang="en-US" sz="1400" dirty="0"/>
          </a:p>
        </p:txBody>
      </p:sp>
      <p:pic>
        <p:nvPicPr>
          <p:cNvPr id="20" name="arrow-370" descr="preencoded.png">    </p:cNvPr>
          <p:cNvPicPr>
            <a:picLocks noChangeAspect="1"/>
          </p:cNvPicPr>
          <p:nvPr/>
        </p:nvPicPr>
        <p:blipFill>
          <a:blip r:embed="rId3"/>
          <a:stretch>
            <a:fillRect/>
          </a:stretch>
        </p:blipFill>
        <p:spPr>
          <a:xfrm>
            <a:off x="7269480" y="3721608"/>
            <a:ext cx="274320" cy="274320"/>
          </a:xfrm>
          <a:prstGeom prst="rect">
            <a:avLst/>
          </a:prstGeom>
        </p:spPr>
      </p:pic>
      <p:sp>
        <p:nvSpPr>
          <p:cNvPr id="21" name="text-371"/>
          <p:cNvSpPr txBox="1"/>
          <p:nvPr/>
        </p:nvSpPr>
        <p:spPr>
          <a:xfrm>
            <a:off x="7772400" y="3529584"/>
            <a:ext cx="3870655" cy="658368"/>
          </a:xfrm>
          <a:prstGeom prst="rect">
            <a:avLst/>
          </a:prstGeom>
          <a:noFill/>
          <a:ln/>
        </p:spPr>
        <p:txBody>
          <a:bodyPr wrap="square" lIns="0" tIns="0" rIns="0" bIns="0" rtlCol="0" anchor="ctr"/>
          <a:lstStyle/>
          <a:p>
            <a:pPr indent="0" marL="0">
              <a:buNone/>
            </a:pPr>
            <a:r>
              <a:rPr lang="en-US" sz="1400" dirty="0">
                <a:solidFill>
                  <a:schemeClr val="tx2"/>
                </a:solidFill>
              </a:rPr>
              <a:t>A browser subagent opens Chrome after asking permission</a:t>
            </a:r>
            <a:endParaRPr lang="en-US" sz="1400" dirty="0"/>
          </a:p>
        </p:txBody>
      </p:sp>
      <p:sp>
        <p:nvSpPr>
          <p:cNvPr id="22" name="step-372"/>
          <p:cNvSpPr/>
          <p:nvPr/>
        </p:nvSpPr>
        <p:spPr>
          <a:xfrm>
            <a:off x="548640" y="4389120"/>
            <a:ext cx="548640" cy="548640"/>
          </a:xfrm>
          <a:prstGeom prst="ellipse">
            <a:avLst/>
          </a:prstGeom>
          <a:solidFill>
            <a:schemeClr val="accent1"/>
          </a:solidFill>
          <a:ln/>
        </p:spPr>
      </p:sp>
      <p:sp>
        <p:nvSpPr>
          <p:cNvPr id="23" name="text-373"/>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4" name="card-374"/>
          <p:cNvSpPr/>
          <p:nvPr/>
        </p:nvSpPr>
        <p:spPr>
          <a:xfrm>
            <a:off x="1325880" y="4334256"/>
            <a:ext cx="5760720" cy="658368"/>
          </a:xfrm>
          <a:prstGeom prst="roundRect">
            <a:avLst>
              <a:gd name="adj" fmla="val 16667"/>
            </a:avLst>
          </a:prstGeom>
          <a:solidFill>
            <a:schemeClr val="tx1"/>
          </a:solidFill>
          <a:ln/>
        </p:spPr>
      </p:sp>
      <p:sp>
        <p:nvSpPr>
          <p:cNvPr id="25" name="text-375"/>
          <p:cNvSpPr txBox="1"/>
          <p:nvPr/>
        </p:nvSpPr>
        <p:spPr>
          <a:xfrm>
            <a:off x="1554480" y="4334256"/>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/schedule remind me at 6 PM to save my work</a:t>
            </a:r>
            <a:endParaRPr lang="en-US" sz="1400" dirty="0"/>
          </a:p>
        </p:txBody>
      </p:sp>
      <p:pic>
        <p:nvPicPr>
          <p:cNvPr id="26" name="arrow-376" descr="preencoded.png">    </p:cNvPr>
          <p:cNvPicPr>
            <a:picLocks noChangeAspect="1"/>
          </p:cNvPicPr>
          <p:nvPr/>
        </p:nvPicPr>
        <p:blipFill>
          <a:blip r:embed="rId4"/>
          <a:stretch>
            <a:fillRect/>
          </a:stretch>
        </p:blipFill>
        <p:spPr>
          <a:xfrm>
            <a:off x="7269480" y="4526280"/>
            <a:ext cx="274320" cy="274320"/>
          </a:xfrm>
          <a:prstGeom prst="rect">
            <a:avLst/>
          </a:prstGeom>
        </p:spPr>
      </p:pic>
      <p:sp>
        <p:nvSpPr>
          <p:cNvPr id="27" name="text-377"/>
          <p:cNvSpPr txBox="1"/>
          <p:nvPr/>
        </p:nvSpPr>
        <p:spPr>
          <a:xfrm>
            <a:off x="7772400" y="4334256"/>
            <a:ext cx="3870655" cy="658368"/>
          </a:xfrm>
          <a:prstGeom prst="rect">
            <a:avLst/>
          </a:prstGeom>
          <a:noFill/>
          <a:ln/>
        </p:spPr>
        <p:txBody>
          <a:bodyPr wrap="square" lIns="0" tIns="0" rIns="0" bIns="0" rtlCol="0" anchor="ctr"/>
          <a:lstStyle/>
          <a:p>
            <a:pPr indent="0" marL="0">
              <a:buNone/>
            </a:pPr>
            <a:r>
              <a:rPr lang="en-US" sz="1400" dirty="0">
                <a:solidFill>
                  <a:schemeClr val="tx2"/>
                </a:solidFill>
              </a:rPr>
              <a:t>A scheduled task is created and runs on its own</a:t>
            </a:r>
            <a:endParaRPr lang="en-US" sz="1400" dirty="0"/>
          </a:p>
        </p:txBody>
      </p:sp>
      <p:sp>
        <p:nvSpPr>
          <p:cNvPr id="28" name="card-378"/>
          <p:cNvSpPr/>
          <p:nvPr/>
        </p:nvSpPr>
        <p:spPr>
          <a:xfrm>
            <a:off x="548640" y="5303520"/>
            <a:ext cx="11094415" cy="594360"/>
          </a:xfrm>
          <a:prstGeom prst="roundRect">
            <a:avLst>
              <a:gd name="adj" fmla="val 18462"/>
            </a:avLst>
          </a:prstGeom>
          <a:solidFill>
            <a:schemeClr val="bg2"/>
          </a:solidFill>
          <a:ln/>
        </p:spPr>
      </p:sp>
      <p:sp>
        <p:nvSpPr>
          <p:cNvPr id="29" name="badge-379"/>
          <p:cNvSpPr/>
          <p:nvPr/>
        </p:nvSpPr>
        <p:spPr>
          <a:xfrm>
            <a:off x="685800" y="5399532"/>
            <a:ext cx="402336" cy="402336"/>
          </a:xfrm>
          <a:prstGeom prst="ellipse">
            <a:avLst/>
          </a:prstGeom>
          <a:solidFill>
            <a:schemeClr val="accent2"/>
          </a:solidFill>
          <a:ln/>
        </p:spPr>
      </p:sp>
      <p:pic>
        <p:nvPicPr>
          <p:cNvPr id="30" name="icon-380" descr="preencoded.png">    </p:cNvPr>
          <p:cNvPicPr>
            <a:picLocks noChangeAspect="1"/>
          </p:cNvPicPr>
          <p:nvPr/>
        </p:nvPicPr>
        <p:blipFill>
          <a:blip r:embed="rId5"/>
          <a:stretch>
            <a:fillRect/>
          </a:stretch>
        </p:blipFill>
        <p:spPr>
          <a:xfrm>
            <a:off x="794431" y="5508163"/>
            <a:ext cx="185075" cy="185075"/>
          </a:xfrm>
          <a:prstGeom prst="rect">
            <a:avLst/>
          </a:prstGeom>
        </p:spPr>
      </p:pic>
      <p:sp>
        <p:nvSpPr>
          <p:cNvPr id="31" name="text-381"/>
          <p:cNvSpPr txBox="1"/>
          <p:nvPr/>
        </p:nvSpPr>
        <p:spPr>
          <a:xfrm>
            <a:off x="1261872" y="5303520"/>
            <a:ext cx="10198303" cy="594360"/>
          </a:xfrm>
          <a:prstGeom prst="rect">
            <a:avLst/>
          </a:prstGeom>
          <a:noFill/>
          <a:ln/>
        </p:spPr>
        <p:txBody>
          <a:bodyPr wrap="square" lIns="0" tIns="0" rIns="0" bIns="0" rtlCol="0" anchor="ctr"/>
          <a:lstStyle/>
          <a:p>
            <a:pPr indent="0" marL="0">
              <a:buNone/>
            </a:pPr>
            <a:r>
              <a:rPr lang="en-US" sz="1400" dirty="0">
                <a:solidFill>
                  <a:schemeClr val="tx1"/>
                </a:solidFill>
              </a:rPr>
              <a:t>The /browser command needs Google Chrome set as your default browser.</a:t>
            </a:r>
            <a:endParaRPr lang="en-US" sz="1400" dirty="0"/>
          </a:p>
        </p:txBody>
      </p:sp>
      <p:sp>
        <p:nvSpPr>
          <p:cNvPr id="32" name="text-38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Google Codelabs, Getting Started with Google Antigravity (updated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Six everyday jobs you can hand to an agent</a:t>
            </a:r>
            <a:endParaRPr lang="en-US" sz="3000" dirty="0"/>
          </a:p>
        </p:txBody>
      </p:sp>
      <p:sp>
        <p:nvSpPr>
          <p:cNvPr id="4" name="card-383"/>
          <p:cNvSpPr/>
          <p:nvPr/>
        </p:nvSpPr>
        <p:spPr>
          <a:xfrm>
            <a:off x="548640" y="1920240"/>
            <a:ext cx="3515258" cy="1828800"/>
          </a:xfrm>
          <a:prstGeom prst="roundRect">
            <a:avLst>
              <a:gd name="adj" fmla="val 6000"/>
            </a:avLst>
          </a:prstGeom>
          <a:solidFill>
            <a:schemeClr val="bg2"/>
          </a:solidFill>
          <a:ln/>
        </p:spPr>
      </p:sp>
      <p:sp>
        <p:nvSpPr>
          <p:cNvPr id="5" name="badge-384"/>
          <p:cNvSpPr/>
          <p:nvPr/>
        </p:nvSpPr>
        <p:spPr>
          <a:xfrm>
            <a:off x="777240" y="2121408"/>
            <a:ext cx="530352" cy="530352"/>
          </a:xfrm>
          <a:prstGeom prst="ellipse">
            <a:avLst/>
          </a:prstGeom>
          <a:solidFill>
            <a:schemeClr val="accent1"/>
          </a:solidFill>
          <a:ln/>
        </p:spPr>
      </p:sp>
      <p:pic>
        <p:nvPicPr>
          <p:cNvPr id="6" name="icon-385" descr="preencoded.png">    </p:cNvPr>
          <p:cNvPicPr>
            <a:picLocks noChangeAspect="1"/>
          </p:cNvPicPr>
          <p:nvPr/>
        </p:nvPicPr>
        <p:blipFill>
          <a:blip r:embed="rId1"/>
          <a:stretch>
            <a:fillRect/>
          </a:stretch>
        </p:blipFill>
        <p:spPr>
          <a:xfrm>
            <a:off x="920435" y="2264603"/>
            <a:ext cx="243962" cy="243962"/>
          </a:xfrm>
          <a:prstGeom prst="rect">
            <a:avLst/>
          </a:prstGeom>
        </p:spPr>
      </p:pic>
      <p:sp>
        <p:nvSpPr>
          <p:cNvPr id="7" name="text-386"/>
          <p:cNvSpPr txBox="1"/>
          <p:nvPr/>
        </p:nvSpPr>
        <p:spPr>
          <a:xfrm>
            <a:off x="1490472"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Build an app</a:t>
            </a:r>
            <a:endParaRPr lang="en-US" sz="1800" dirty="0"/>
          </a:p>
        </p:txBody>
      </p:sp>
      <p:sp>
        <p:nvSpPr>
          <p:cNvPr id="8" name="card-387"/>
          <p:cNvSpPr/>
          <p:nvPr/>
        </p:nvSpPr>
        <p:spPr>
          <a:xfrm>
            <a:off x="777240" y="2834640"/>
            <a:ext cx="3058058" cy="713232"/>
          </a:xfrm>
          <a:prstGeom prst="roundRect">
            <a:avLst>
              <a:gd name="adj" fmla="val 15385"/>
            </a:avLst>
          </a:prstGeom>
          <a:solidFill>
            <a:schemeClr val="tx1"/>
          </a:solidFill>
          <a:ln/>
        </p:spPr>
      </p:sp>
      <p:sp>
        <p:nvSpPr>
          <p:cNvPr id="9" name="text-388"/>
          <p:cNvSpPr txBox="1"/>
          <p:nvPr/>
        </p:nvSpPr>
        <p:spPr>
          <a:xfrm>
            <a:off x="932688"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build a quiz game I can open in a browser</a:t>
            </a:r>
            <a:endParaRPr lang="en-US" sz="1400" dirty="0"/>
          </a:p>
        </p:txBody>
      </p:sp>
      <p:sp>
        <p:nvSpPr>
          <p:cNvPr id="10" name="card-389"/>
          <p:cNvSpPr/>
          <p:nvPr/>
        </p:nvSpPr>
        <p:spPr>
          <a:xfrm>
            <a:off x="4338218" y="1920240"/>
            <a:ext cx="3515258" cy="1828800"/>
          </a:xfrm>
          <a:prstGeom prst="roundRect">
            <a:avLst>
              <a:gd name="adj" fmla="val 6000"/>
            </a:avLst>
          </a:prstGeom>
          <a:solidFill>
            <a:schemeClr val="bg2"/>
          </a:solidFill>
          <a:ln/>
        </p:spPr>
      </p:sp>
      <p:sp>
        <p:nvSpPr>
          <p:cNvPr id="11" name="badge-390"/>
          <p:cNvSpPr/>
          <p:nvPr/>
        </p:nvSpPr>
        <p:spPr>
          <a:xfrm>
            <a:off x="4566818" y="2121408"/>
            <a:ext cx="530352" cy="530352"/>
          </a:xfrm>
          <a:prstGeom prst="ellipse">
            <a:avLst/>
          </a:prstGeom>
          <a:solidFill>
            <a:schemeClr val="accent1"/>
          </a:solidFill>
          <a:ln/>
        </p:spPr>
      </p:sp>
      <p:pic>
        <p:nvPicPr>
          <p:cNvPr id="12" name="icon-391" descr="preencoded.png">    </p:cNvPr>
          <p:cNvPicPr>
            <a:picLocks noChangeAspect="1"/>
          </p:cNvPicPr>
          <p:nvPr/>
        </p:nvPicPr>
        <p:blipFill>
          <a:blip r:embed="rId2"/>
          <a:stretch>
            <a:fillRect/>
          </a:stretch>
        </p:blipFill>
        <p:spPr>
          <a:xfrm>
            <a:off x="4710013" y="2264603"/>
            <a:ext cx="243962" cy="243962"/>
          </a:xfrm>
          <a:prstGeom prst="rect">
            <a:avLst/>
          </a:prstGeom>
        </p:spPr>
      </p:pic>
      <p:sp>
        <p:nvSpPr>
          <p:cNvPr id="13" name="text-392"/>
          <p:cNvSpPr txBox="1"/>
          <p:nvPr/>
        </p:nvSpPr>
        <p:spPr>
          <a:xfrm>
            <a:off x="5280050"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Understand code</a:t>
            </a:r>
            <a:endParaRPr lang="en-US" sz="1800" dirty="0"/>
          </a:p>
        </p:txBody>
      </p:sp>
      <p:sp>
        <p:nvSpPr>
          <p:cNvPr id="14" name="card-393"/>
          <p:cNvSpPr/>
          <p:nvPr/>
        </p:nvSpPr>
        <p:spPr>
          <a:xfrm>
            <a:off x="4566818" y="2834640"/>
            <a:ext cx="3058058" cy="713232"/>
          </a:xfrm>
          <a:prstGeom prst="roundRect">
            <a:avLst>
              <a:gd name="adj" fmla="val 15385"/>
            </a:avLst>
          </a:prstGeom>
          <a:solidFill>
            <a:schemeClr val="tx1"/>
          </a:solidFill>
          <a:ln/>
        </p:spPr>
      </p:sp>
      <p:sp>
        <p:nvSpPr>
          <p:cNvPr id="15" name="text-394"/>
          <p:cNvSpPr txBox="1"/>
          <p:nvPr/>
        </p:nvSpPr>
        <p:spPr>
          <a:xfrm>
            <a:off x="4722266"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explain how this project is organised</a:t>
            </a:r>
            <a:endParaRPr lang="en-US" sz="1400" dirty="0"/>
          </a:p>
        </p:txBody>
      </p:sp>
      <p:sp>
        <p:nvSpPr>
          <p:cNvPr id="16" name="card-395"/>
          <p:cNvSpPr/>
          <p:nvPr/>
        </p:nvSpPr>
        <p:spPr>
          <a:xfrm>
            <a:off x="8127797" y="1920240"/>
            <a:ext cx="3515258" cy="1828800"/>
          </a:xfrm>
          <a:prstGeom prst="roundRect">
            <a:avLst>
              <a:gd name="adj" fmla="val 6000"/>
            </a:avLst>
          </a:prstGeom>
          <a:solidFill>
            <a:schemeClr val="bg2"/>
          </a:solidFill>
          <a:ln/>
        </p:spPr>
      </p:sp>
      <p:sp>
        <p:nvSpPr>
          <p:cNvPr id="17" name="badge-396"/>
          <p:cNvSpPr/>
          <p:nvPr/>
        </p:nvSpPr>
        <p:spPr>
          <a:xfrm>
            <a:off x="8356397" y="2121408"/>
            <a:ext cx="530352" cy="530352"/>
          </a:xfrm>
          <a:prstGeom prst="ellipse">
            <a:avLst/>
          </a:prstGeom>
          <a:solidFill>
            <a:schemeClr val="accent1"/>
          </a:solidFill>
          <a:ln/>
        </p:spPr>
      </p:sp>
      <p:pic>
        <p:nvPicPr>
          <p:cNvPr id="18" name="icon-397" descr="preencoded.png">    </p:cNvPr>
          <p:cNvPicPr>
            <a:picLocks noChangeAspect="1"/>
          </p:cNvPicPr>
          <p:nvPr/>
        </p:nvPicPr>
        <p:blipFill>
          <a:blip r:embed="rId3"/>
          <a:stretch>
            <a:fillRect/>
          </a:stretch>
        </p:blipFill>
        <p:spPr>
          <a:xfrm>
            <a:off x="8499592" y="2264603"/>
            <a:ext cx="243962" cy="243962"/>
          </a:xfrm>
          <a:prstGeom prst="rect">
            <a:avLst/>
          </a:prstGeom>
        </p:spPr>
      </p:pic>
      <p:sp>
        <p:nvSpPr>
          <p:cNvPr id="19" name="text-398"/>
          <p:cNvSpPr txBox="1"/>
          <p:nvPr/>
        </p:nvSpPr>
        <p:spPr>
          <a:xfrm>
            <a:off x="9069629" y="212140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Fix bugs</a:t>
            </a:r>
            <a:endParaRPr lang="en-US" sz="1800" dirty="0"/>
          </a:p>
        </p:txBody>
      </p:sp>
      <p:sp>
        <p:nvSpPr>
          <p:cNvPr id="20" name="card-399"/>
          <p:cNvSpPr/>
          <p:nvPr/>
        </p:nvSpPr>
        <p:spPr>
          <a:xfrm>
            <a:off x="8356397" y="2834640"/>
            <a:ext cx="3058058" cy="713232"/>
          </a:xfrm>
          <a:prstGeom prst="roundRect">
            <a:avLst>
              <a:gd name="adj" fmla="val 15385"/>
            </a:avLst>
          </a:prstGeom>
          <a:solidFill>
            <a:schemeClr val="tx1"/>
          </a:solidFill>
          <a:ln/>
        </p:spPr>
      </p:sp>
      <p:sp>
        <p:nvSpPr>
          <p:cNvPr id="21" name="text-400"/>
          <p:cNvSpPr txBox="1"/>
          <p:nvPr/>
        </p:nvSpPr>
        <p:spPr>
          <a:xfrm>
            <a:off x="8511845" y="283464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the save button does nothing, fix it</a:t>
            </a:r>
            <a:endParaRPr lang="en-US" sz="1400" dirty="0"/>
          </a:p>
        </p:txBody>
      </p:sp>
      <p:sp>
        <p:nvSpPr>
          <p:cNvPr id="22" name="card-401"/>
          <p:cNvSpPr/>
          <p:nvPr/>
        </p:nvSpPr>
        <p:spPr>
          <a:xfrm>
            <a:off x="548640" y="4023360"/>
            <a:ext cx="3515258" cy="1828800"/>
          </a:xfrm>
          <a:prstGeom prst="roundRect">
            <a:avLst>
              <a:gd name="adj" fmla="val 6000"/>
            </a:avLst>
          </a:prstGeom>
          <a:solidFill>
            <a:schemeClr val="bg2"/>
          </a:solidFill>
          <a:ln/>
        </p:spPr>
      </p:sp>
      <p:sp>
        <p:nvSpPr>
          <p:cNvPr id="23" name="badge-402"/>
          <p:cNvSpPr/>
          <p:nvPr/>
        </p:nvSpPr>
        <p:spPr>
          <a:xfrm>
            <a:off x="777240" y="4224528"/>
            <a:ext cx="530352" cy="530352"/>
          </a:xfrm>
          <a:prstGeom prst="ellipse">
            <a:avLst/>
          </a:prstGeom>
          <a:solidFill>
            <a:schemeClr val="accent1"/>
          </a:solidFill>
          <a:ln/>
        </p:spPr>
      </p:sp>
      <p:pic>
        <p:nvPicPr>
          <p:cNvPr id="24" name="icon-403" descr="preencoded.png">    </p:cNvPr>
          <p:cNvPicPr>
            <a:picLocks noChangeAspect="1"/>
          </p:cNvPicPr>
          <p:nvPr/>
        </p:nvPicPr>
        <p:blipFill>
          <a:blip r:embed="rId4"/>
          <a:stretch>
            <a:fillRect/>
          </a:stretch>
        </p:blipFill>
        <p:spPr>
          <a:xfrm>
            <a:off x="920435" y="4367723"/>
            <a:ext cx="243962" cy="243962"/>
          </a:xfrm>
          <a:prstGeom prst="rect">
            <a:avLst/>
          </a:prstGeom>
        </p:spPr>
      </p:pic>
      <p:sp>
        <p:nvSpPr>
          <p:cNvPr id="25" name="text-404"/>
          <p:cNvSpPr txBox="1"/>
          <p:nvPr/>
        </p:nvSpPr>
        <p:spPr>
          <a:xfrm>
            <a:off x="1490472"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Write docs</a:t>
            </a:r>
            <a:endParaRPr lang="en-US" sz="1800" dirty="0"/>
          </a:p>
        </p:txBody>
      </p:sp>
      <p:sp>
        <p:nvSpPr>
          <p:cNvPr id="26" name="card-405"/>
          <p:cNvSpPr/>
          <p:nvPr/>
        </p:nvSpPr>
        <p:spPr>
          <a:xfrm>
            <a:off x="777240" y="4937760"/>
            <a:ext cx="3058058" cy="713232"/>
          </a:xfrm>
          <a:prstGeom prst="roundRect">
            <a:avLst>
              <a:gd name="adj" fmla="val 15385"/>
            </a:avLst>
          </a:prstGeom>
          <a:solidFill>
            <a:schemeClr val="tx1"/>
          </a:solidFill>
          <a:ln/>
        </p:spPr>
      </p:sp>
      <p:sp>
        <p:nvSpPr>
          <p:cNvPr id="27" name="text-406"/>
          <p:cNvSpPr txBox="1"/>
          <p:nvPr/>
        </p:nvSpPr>
        <p:spPr>
          <a:xfrm>
            <a:off x="932688"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generate a README for this project</a:t>
            </a:r>
            <a:endParaRPr lang="en-US" sz="1400" dirty="0"/>
          </a:p>
        </p:txBody>
      </p:sp>
      <p:sp>
        <p:nvSpPr>
          <p:cNvPr id="28" name="card-407"/>
          <p:cNvSpPr/>
          <p:nvPr/>
        </p:nvSpPr>
        <p:spPr>
          <a:xfrm>
            <a:off x="4338218" y="4023360"/>
            <a:ext cx="3515258" cy="1828800"/>
          </a:xfrm>
          <a:prstGeom prst="roundRect">
            <a:avLst>
              <a:gd name="adj" fmla="val 6000"/>
            </a:avLst>
          </a:prstGeom>
          <a:solidFill>
            <a:schemeClr val="bg2"/>
          </a:solidFill>
          <a:ln/>
        </p:spPr>
      </p:sp>
      <p:sp>
        <p:nvSpPr>
          <p:cNvPr id="29" name="badge-408"/>
          <p:cNvSpPr/>
          <p:nvPr/>
        </p:nvSpPr>
        <p:spPr>
          <a:xfrm>
            <a:off x="4566818" y="4224528"/>
            <a:ext cx="530352" cy="530352"/>
          </a:xfrm>
          <a:prstGeom prst="ellipse">
            <a:avLst/>
          </a:prstGeom>
          <a:solidFill>
            <a:schemeClr val="accent2"/>
          </a:solidFill>
          <a:ln/>
        </p:spPr>
      </p:sp>
      <p:pic>
        <p:nvPicPr>
          <p:cNvPr id="30" name="icon-409" descr="preencoded.png">    </p:cNvPr>
          <p:cNvPicPr>
            <a:picLocks noChangeAspect="1"/>
          </p:cNvPicPr>
          <p:nvPr/>
        </p:nvPicPr>
        <p:blipFill>
          <a:blip r:embed="rId5"/>
          <a:stretch>
            <a:fillRect/>
          </a:stretch>
        </p:blipFill>
        <p:spPr>
          <a:xfrm>
            <a:off x="4710013" y="4367723"/>
            <a:ext cx="243962" cy="243962"/>
          </a:xfrm>
          <a:prstGeom prst="rect">
            <a:avLst/>
          </a:prstGeom>
        </p:spPr>
      </p:pic>
      <p:sp>
        <p:nvSpPr>
          <p:cNvPr id="31" name="text-410"/>
          <p:cNvSpPr txBox="1"/>
          <p:nvPr/>
        </p:nvSpPr>
        <p:spPr>
          <a:xfrm>
            <a:off x="5280050"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Organise files</a:t>
            </a:r>
            <a:endParaRPr lang="en-US" sz="1800" dirty="0"/>
          </a:p>
        </p:txBody>
      </p:sp>
      <p:sp>
        <p:nvSpPr>
          <p:cNvPr id="32" name="card-411"/>
          <p:cNvSpPr/>
          <p:nvPr/>
        </p:nvSpPr>
        <p:spPr>
          <a:xfrm>
            <a:off x="4566818" y="4937760"/>
            <a:ext cx="3058058" cy="713232"/>
          </a:xfrm>
          <a:prstGeom prst="roundRect">
            <a:avLst>
              <a:gd name="adj" fmla="val 15385"/>
            </a:avLst>
          </a:prstGeom>
          <a:solidFill>
            <a:schemeClr val="tx1"/>
          </a:solidFill>
          <a:ln/>
        </p:spPr>
      </p:sp>
      <p:sp>
        <p:nvSpPr>
          <p:cNvPr id="33" name="text-412"/>
          <p:cNvSpPr txBox="1"/>
          <p:nvPr/>
        </p:nvSpPr>
        <p:spPr>
          <a:xfrm>
            <a:off x="4722266"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sort these files into folders by type</a:t>
            </a:r>
            <a:endParaRPr lang="en-US" sz="1400" dirty="0"/>
          </a:p>
        </p:txBody>
      </p:sp>
      <p:sp>
        <p:nvSpPr>
          <p:cNvPr id="34" name="card-413"/>
          <p:cNvSpPr/>
          <p:nvPr/>
        </p:nvSpPr>
        <p:spPr>
          <a:xfrm>
            <a:off x="8127797" y="4023360"/>
            <a:ext cx="3515258" cy="1828800"/>
          </a:xfrm>
          <a:prstGeom prst="roundRect">
            <a:avLst>
              <a:gd name="adj" fmla="val 6000"/>
            </a:avLst>
          </a:prstGeom>
          <a:solidFill>
            <a:schemeClr val="bg2"/>
          </a:solidFill>
          <a:ln/>
        </p:spPr>
      </p:sp>
      <p:sp>
        <p:nvSpPr>
          <p:cNvPr id="35" name="badge-414"/>
          <p:cNvSpPr/>
          <p:nvPr/>
        </p:nvSpPr>
        <p:spPr>
          <a:xfrm>
            <a:off x="8356397" y="4224528"/>
            <a:ext cx="530352" cy="530352"/>
          </a:xfrm>
          <a:prstGeom prst="ellipse">
            <a:avLst/>
          </a:prstGeom>
          <a:solidFill>
            <a:schemeClr val="accent2"/>
          </a:solidFill>
          <a:ln/>
        </p:spPr>
      </p:sp>
      <p:pic>
        <p:nvPicPr>
          <p:cNvPr id="36" name="icon-415" descr="preencoded.png">    </p:cNvPr>
          <p:cNvPicPr>
            <a:picLocks noChangeAspect="1"/>
          </p:cNvPicPr>
          <p:nvPr/>
        </p:nvPicPr>
        <p:blipFill>
          <a:blip r:embed="rId6"/>
          <a:stretch>
            <a:fillRect/>
          </a:stretch>
        </p:blipFill>
        <p:spPr>
          <a:xfrm>
            <a:off x="8499592" y="4367723"/>
            <a:ext cx="243962" cy="243962"/>
          </a:xfrm>
          <a:prstGeom prst="rect">
            <a:avLst/>
          </a:prstGeom>
        </p:spPr>
      </p:pic>
      <p:sp>
        <p:nvSpPr>
          <p:cNvPr id="37" name="text-416"/>
          <p:cNvSpPr txBox="1"/>
          <p:nvPr/>
        </p:nvSpPr>
        <p:spPr>
          <a:xfrm>
            <a:off x="9069629" y="4224528"/>
            <a:ext cx="2372258" cy="530352"/>
          </a:xfrm>
          <a:prstGeom prst="rect">
            <a:avLst/>
          </a:prstGeom>
          <a:noFill/>
          <a:ln/>
        </p:spPr>
        <p:txBody>
          <a:bodyPr wrap="square" lIns="0" tIns="0" rIns="0" bIns="0" rtlCol="0" anchor="ctr"/>
          <a:lstStyle/>
          <a:p>
            <a:pPr indent="0" marL="0">
              <a:buNone/>
            </a:pPr>
            <a:r>
              <a:rPr lang="en-US" sz="1800" b="1" dirty="0">
                <a:solidFill>
                  <a:schemeClr val="tx1"/>
                </a:solidFill>
              </a:rPr>
              <a:t>Summarise content</a:t>
            </a:r>
            <a:endParaRPr lang="en-US" sz="1800" dirty="0"/>
          </a:p>
        </p:txBody>
      </p:sp>
      <p:sp>
        <p:nvSpPr>
          <p:cNvPr id="38" name="card-417"/>
          <p:cNvSpPr/>
          <p:nvPr/>
        </p:nvSpPr>
        <p:spPr>
          <a:xfrm>
            <a:off x="8356397" y="4937760"/>
            <a:ext cx="3058058" cy="713232"/>
          </a:xfrm>
          <a:prstGeom prst="roundRect">
            <a:avLst>
              <a:gd name="adj" fmla="val 15385"/>
            </a:avLst>
          </a:prstGeom>
          <a:solidFill>
            <a:schemeClr val="tx1"/>
          </a:solidFill>
          <a:ln/>
        </p:spPr>
      </p:sp>
      <p:sp>
        <p:nvSpPr>
          <p:cNvPr id="39" name="text-418"/>
          <p:cNvSpPr txBox="1"/>
          <p:nvPr/>
        </p:nvSpPr>
        <p:spPr>
          <a:xfrm>
            <a:off x="8511845" y="4937760"/>
            <a:ext cx="2747162"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summarise the key points of report.pdf</a:t>
            </a:r>
            <a:endParaRPr lang="en-US" sz="1400" dirty="0"/>
          </a:p>
        </p:txBody>
      </p:sp>
      <p:sp>
        <p:nvSpPr>
          <p:cNvPr id="40" name="text-41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The dark boxes show example prompts. The last two jobs need no coding at all. Source: Google Codelabs, Hands-on with Antigravity CLI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Specific requests get better results than vague ones</a:t>
            </a:r>
            <a:endParaRPr lang="en-US" sz="3000" dirty="0"/>
          </a:p>
        </p:txBody>
      </p:sp>
      <p:sp>
        <p:nvSpPr>
          <p:cNvPr id="4" name="card-420"/>
          <p:cNvSpPr/>
          <p:nvPr/>
        </p:nvSpPr>
        <p:spPr>
          <a:xfrm>
            <a:off x="548640" y="1920240"/>
            <a:ext cx="5396332" cy="1600200"/>
          </a:xfrm>
          <a:prstGeom prst="roundRect">
            <a:avLst>
              <a:gd name="adj" fmla="val 6857"/>
            </a:avLst>
          </a:prstGeom>
          <a:solidFill>
            <a:schemeClr val="bg2"/>
          </a:solidFill>
          <a:ln/>
        </p:spPr>
      </p:sp>
      <p:sp>
        <p:nvSpPr>
          <p:cNvPr id="5" name="pill-421"/>
          <p:cNvSpPr/>
          <p:nvPr/>
        </p:nvSpPr>
        <p:spPr>
          <a:xfrm>
            <a:off x="822960" y="2148840"/>
            <a:ext cx="1188720" cy="310896"/>
          </a:xfrm>
          <a:prstGeom prst="roundRect">
            <a:avLst>
              <a:gd name="adj" fmla="val 50000"/>
            </a:avLst>
          </a:prstGeom>
          <a:solidFill>
            <a:schemeClr val="accent4"/>
          </a:solidFill>
          <a:ln/>
        </p:spPr>
      </p:sp>
      <p:sp>
        <p:nvSpPr>
          <p:cNvPr id="6" name="text-422"/>
          <p:cNvSpPr txBox="1"/>
          <p:nvPr/>
        </p:nvSpPr>
        <p:spPr>
          <a:xfrm>
            <a:off x="822960"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VAGUE</a:t>
            </a:r>
            <a:endParaRPr lang="en-US" sz="1100" dirty="0"/>
          </a:p>
        </p:txBody>
      </p:sp>
      <p:sp>
        <p:nvSpPr>
          <p:cNvPr id="7" name="text-423"/>
          <p:cNvSpPr txBox="1"/>
          <p:nvPr/>
        </p:nvSpPr>
        <p:spPr>
          <a:xfrm>
            <a:off x="822960"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make a website</a:t>
            </a:r>
            <a:endParaRPr lang="en-US" sz="1400" dirty="0"/>
          </a:p>
        </p:txBody>
      </p:sp>
      <p:sp>
        <p:nvSpPr>
          <p:cNvPr id="8" name="card-424"/>
          <p:cNvSpPr/>
          <p:nvPr/>
        </p:nvSpPr>
        <p:spPr>
          <a:xfrm>
            <a:off x="6246724" y="1920240"/>
            <a:ext cx="5396332" cy="1600200"/>
          </a:xfrm>
          <a:prstGeom prst="roundRect">
            <a:avLst>
              <a:gd name="adj" fmla="val 6857"/>
            </a:avLst>
          </a:prstGeom>
          <a:solidFill>
            <a:schemeClr val="bg2"/>
          </a:solidFill>
          <a:ln/>
        </p:spPr>
      </p:sp>
      <p:sp>
        <p:nvSpPr>
          <p:cNvPr id="9" name="pill-425"/>
          <p:cNvSpPr/>
          <p:nvPr/>
        </p:nvSpPr>
        <p:spPr>
          <a:xfrm>
            <a:off x="6521044" y="2148840"/>
            <a:ext cx="1188720" cy="310896"/>
          </a:xfrm>
          <a:prstGeom prst="roundRect">
            <a:avLst>
              <a:gd name="adj" fmla="val 50000"/>
            </a:avLst>
          </a:prstGeom>
          <a:solidFill>
            <a:schemeClr val="accent2"/>
          </a:solidFill>
          <a:ln/>
        </p:spPr>
      </p:sp>
      <p:sp>
        <p:nvSpPr>
          <p:cNvPr id="10" name="text-426"/>
          <p:cNvSpPr txBox="1"/>
          <p:nvPr/>
        </p:nvSpPr>
        <p:spPr>
          <a:xfrm>
            <a:off x="6521044"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rPr>
              <a:t>SPECIFIC</a:t>
            </a:r>
            <a:endParaRPr lang="en-US" sz="1100" dirty="0"/>
          </a:p>
        </p:txBody>
      </p:sp>
      <p:sp>
        <p:nvSpPr>
          <p:cNvPr id="11" name="text-427"/>
          <p:cNvSpPr txBox="1"/>
          <p:nvPr/>
        </p:nvSpPr>
        <p:spPr>
          <a:xfrm>
            <a:off x="6521044"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build a one-page site for a bakery with a menu and a contact form</a:t>
            </a:r>
            <a:endParaRPr lang="en-US" sz="1400" dirty="0"/>
          </a:p>
        </p:txBody>
      </p:sp>
      <p:sp>
        <p:nvSpPr>
          <p:cNvPr id="12" name="card-428"/>
          <p:cNvSpPr/>
          <p:nvPr/>
        </p:nvSpPr>
        <p:spPr>
          <a:xfrm>
            <a:off x="548640" y="3794760"/>
            <a:ext cx="3515258" cy="2057400"/>
          </a:xfrm>
          <a:prstGeom prst="roundRect">
            <a:avLst>
              <a:gd name="adj" fmla="val 5333"/>
            </a:avLst>
          </a:prstGeom>
          <a:solidFill>
            <a:schemeClr val="bg2"/>
          </a:solidFill>
          <a:ln/>
        </p:spPr>
      </p:sp>
      <p:sp>
        <p:nvSpPr>
          <p:cNvPr id="13" name="badge-429"/>
          <p:cNvSpPr/>
          <p:nvPr/>
        </p:nvSpPr>
        <p:spPr>
          <a:xfrm>
            <a:off x="822960" y="4069080"/>
            <a:ext cx="530352" cy="530352"/>
          </a:xfrm>
          <a:prstGeom prst="ellipse">
            <a:avLst/>
          </a:prstGeom>
          <a:solidFill>
            <a:schemeClr val="accent1"/>
          </a:solidFill>
          <a:ln/>
        </p:spPr>
      </p:sp>
      <p:pic>
        <p:nvPicPr>
          <p:cNvPr id="14" name="icon-430" descr="preencoded.png">    </p:cNvPr>
          <p:cNvPicPr>
            <a:picLocks noChangeAspect="1"/>
          </p:cNvPicPr>
          <p:nvPr/>
        </p:nvPicPr>
        <p:blipFill>
          <a:blip r:embed="rId1"/>
          <a:stretch>
            <a:fillRect/>
          </a:stretch>
        </p:blipFill>
        <p:spPr>
          <a:xfrm>
            <a:off x="966155" y="4212275"/>
            <a:ext cx="243962" cy="243962"/>
          </a:xfrm>
          <a:prstGeom prst="rect">
            <a:avLst/>
          </a:prstGeom>
        </p:spPr>
      </p:pic>
      <p:sp>
        <p:nvSpPr>
          <p:cNvPr id="15" name="text-431"/>
          <p:cNvSpPr txBox="1"/>
          <p:nvPr/>
        </p:nvSpPr>
        <p:spPr>
          <a:xfrm>
            <a:off x="1536192"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Plan before big jobs</a:t>
            </a:r>
            <a:endParaRPr lang="en-US" sz="1800" dirty="0"/>
          </a:p>
        </p:txBody>
      </p:sp>
      <p:sp>
        <p:nvSpPr>
          <p:cNvPr id="16" name="text-432"/>
          <p:cNvSpPr txBox="1"/>
          <p:nvPr/>
        </p:nvSpPr>
        <p:spPr>
          <a:xfrm>
            <a:off x="822960"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Use Plan mode so the agent shows its approach before it writes code</a:t>
            </a:r>
            <a:endParaRPr lang="en-US" sz="1400" dirty="0"/>
          </a:p>
        </p:txBody>
      </p:sp>
      <p:sp>
        <p:nvSpPr>
          <p:cNvPr id="17" name="card-433"/>
          <p:cNvSpPr/>
          <p:nvPr/>
        </p:nvSpPr>
        <p:spPr>
          <a:xfrm>
            <a:off x="4338218" y="3794760"/>
            <a:ext cx="3515258" cy="2057400"/>
          </a:xfrm>
          <a:prstGeom prst="roundRect">
            <a:avLst>
              <a:gd name="adj" fmla="val 5333"/>
            </a:avLst>
          </a:prstGeom>
          <a:solidFill>
            <a:schemeClr val="bg2"/>
          </a:solidFill>
          <a:ln/>
        </p:spPr>
      </p:sp>
      <p:sp>
        <p:nvSpPr>
          <p:cNvPr id="18" name="badge-434"/>
          <p:cNvSpPr/>
          <p:nvPr/>
        </p:nvSpPr>
        <p:spPr>
          <a:xfrm>
            <a:off x="4612538" y="4069080"/>
            <a:ext cx="530352" cy="530352"/>
          </a:xfrm>
          <a:prstGeom prst="ellipse">
            <a:avLst/>
          </a:prstGeom>
          <a:solidFill>
            <a:schemeClr val="accent1"/>
          </a:solidFill>
          <a:ln/>
        </p:spPr>
      </p:sp>
      <p:pic>
        <p:nvPicPr>
          <p:cNvPr id="19" name="icon-435" descr="preencoded.png">    </p:cNvPr>
          <p:cNvPicPr>
            <a:picLocks noChangeAspect="1"/>
          </p:cNvPicPr>
          <p:nvPr/>
        </p:nvPicPr>
        <p:blipFill>
          <a:blip r:embed="rId2"/>
          <a:stretch>
            <a:fillRect/>
          </a:stretch>
        </p:blipFill>
        <p:spPr>
          <a:xfrm>
            <a:off x="4755733" y="4212275"/>
            <a:ext cx="243962" cy="243962"/>
          </a:xfrm>
          <a:prstGeom prst="rect">
            <a:avLst/>
          </a:prstGeom>
        </p:spPr>
      </p:pic>
      <p:sp>
        <p:nvSpPr>
          <p:cNvPr id="20" name="text-436"/>
          <p:cNvSpPr txBox="1"/>
          <p:nvPr/>
        </p:nvSpPr>
        <p:spPr>
          <a:xfrm>
            <a:off x="5325770"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Point to files</a:t>
            </a:r>
            <a:endParaRPr lang="en-US" sz="1800" dirty="0"/>
          </a:p>
        </p:txBody>
      </p:sp>
      <p:sp>
        <p:nvSpPr>
          <p:cNvPr id="21" name="text-437"/>
          <p:cNvSpPr txBox="1"/>
          <p:nvPr/>
        </p:nvSpPr>
        <p:spPr>
          <a:xfrm>
            <a:off x="4612538"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Type @ and a file name to give the agent the exact context</a:t>
            </a:r>
            <a:endParaRPr lang="en-US" sz="1400" dirty="0"/>
          </a:p>
        </p:txBody>
      </p:sp>
      <p:sp>
        <p:nvSpPr>
          <p:cNvPr id="22" name="card-438"/>
          <p:cNvSpPr/>
          <p:nvPr/>
        </p:nvSpPr>
        <p:spPr>
          <a:xfrm>
            <a:off x="8127797" y="3794760"/>
            <a:ext cx="3515258" cy="2057400"/>
          </a:xfrm>
          <a:prstGeom prst="roundRect">
            <a:avLst>
              <a:gd name="adj" fmla="val 5333"/>
            </a:avLst>
          </a:prstGeom>
          <a:solidFill>
            <a:schemeClr val="bg2"/>
          </a:solidFill>
          <a:ln/>
        </p:spPr>
      </p:sp>
      <p:sp>
        <p:nvSpPr>
          <p:cNvPr id="23" name="badge-439"/>
          <p:cNvSpPr/>
          <p:nvPr/>
        </p:nvSpPr>
        <p:spPr>
          <a:xfrm>
            <a:off x="8402117" y="4069080"/>
            <a:ext cx="530352" cy="530352"/>
          </a:xfrm>
          <a:prstGeom prst="ellipse">
            <a:avLst/>
          </a:prstGeom>
          <a:solidFill>
            <a:schemeClr val="accent1"/>
          </a:solidFill>
          <a:ln/>
        </p:spPr>
      </p:sp>
      <p:pic>
        <p:nvPicPr>
          <p:cNvPr id="24" name="icon-440" descr="preencoded.png">    </p:cNvPr>
          <p:cNvPicPr>
            <a:picLocks noChangeAspect="1"/>
          </p:cNvPicPr>
          <p:nvPr/>
        </p:nvPicPr>
        <p:blipFill>
          <a:blip r:embed="rId3"/>
          <a:stretch>
            <a:fillRect/>
          </a:stretch>
        </p:blipFill>
        <p:spPr>
          <a:xfrm>
            <a:off x="8545312" y="4212275"/>
            <a:ext cx="243962" cy="243962"/>
          </a:xfrm>
          <a:prstGeom prst="rect">
            <a:avLst/>
          </a:prstGeom>
        </p:spPr>
      </p:pic>
      <p:sp>
        <p:nvSpPr>
          <p:cNvPr id="25" name="text-441"/>
          <p:cNvSpPr txBox="1"/>
          <p:nvPr/>
        </p:nvSpPr>
        <p:spPr>
          <a:xfrm>
            <a:off x="9115349" y="4069080"/>
            <a:ext cx="2326538" cy="530352"/>
          </a:xfrm>
          <a:prstGeom prst="rect">
            <a:avLst/>
          </a:prstGeom>
          <a:noFill/>
          <a:ln/>
        </p:spPr>
        <p:txBody>
          <a:bodyPr wrap="square" lIns="0" tIns="0" rIns="0" bIns="0" rtlCol="0" anchor="ctr"/>
          <a:lstStyle/>
          <a:p>
            <a:pPr indent="0" marL="0">
              <a:buNone/>
            </a:pPr>
            <a:r>
              <a:rPr lang="en-US" sz="1800" b="1" dirty="0">
                <a:solidFill>
                  <a:schemeClr val="tx1"/>
                </a:solidFill>
              </a:rPr>
              <a:t>Comment on the plan</a:t>
            </a:r>
            <a:endParaRPr lang="en-US" sz="1800" dirty="0"/>
          </a:p>
        </p:txBody>
      </p:sp>
      <p:sp>
        <p:nvSpPr>
          <p:cNvPr id="26" name="text-442"/>
          <p:cNvSpPr txBox="1"/>
          <p:nvPr/>
        </p:nvSpPr>
        <p:spPr>
          <a:xfrm>
            <a:off x="8402117" y="4818888"/>
            <a:ext cx="2966618" cy="868680"/>
          </a:xfrm>
          <a:prstGeom prst="rect">
            <a:avLst/>
          </a:prstGeom>
          <a:noFill/>
          <a:ln/>
        </p:spPr>
        <p:txBody>
          <a:bodyPr wrap="square" lIns="0" tIns="0" rIns="0" bIns="0" rtlCol="0" anchor="t"/>
          <a:lstStyle/>
          <a:p>
            <a:pPr indent="0" marL="0">
              <a:buNone/>
            </a:pPr>
            <a:r>
              <a:rPr lang="en-US" sz="1400" dirty="0">
                <a:solidFill>
                  <a:schemeClr val="tx2"/>
                </a:solidFill>
              </a:rPr>
              <a:t>Ask for changes to the plan before you click Proceed</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Five habits keep a beginner safe</a:t>
            </a:r>
            <a:endParaRPr lang="en-US" sz="3000" dirty="0"/>
          </a:p>
        </p:txBody>
      </p:sp>
      <p:sp>
        <p:nvSpPr>
          <p:cNvPr id="4" name="card-443"/>
          <p:cNvSpPr/>
          <p:nvPr/>
        </p:nvSpPr>
        <p:spPr>
          <a:xfrm>
            <a:off x="548640" y="1920240"/>
            <a:ext cx="6492240" cy="658368"/>
          </a:xfrm>
          <a:prstGeom prst="roundRect">
            <a:avLst>
              <a:gd name="adj" fmla="val 16667"/>
            </a:avLst>
          </a:prstGeom>
          <a:solidFill>
            <a:schemeClr val="bg2"/>
          </a:solidFill>
          <a:ln/>
        </p:spPr>
      </p:sp>
      <p:sp>
        <p:nvSpPr>
          <p:cNvPr id="5" name="step-444"/>
          <p:cNvSpPr/>
          <p:nvPr/>
        </p:nvSpPr>
        <p:spPr>
          <a:xfrm>
            <a:off x="685800" y="2020824"/>
            <a:ext cx="457200" cy="457200"/>
          </a:xfrm>
          <a:prstGeom prst="ellipse">
            <a:avLst/>
          </a:prstGeom>
          <a:solidFill>
            <a:schemeClr val="accent1"/>
          </a:solidFill>
          <a:ln/>
        </p:spPr>
      </p:sp>
      <p:sp>
        <p:nvSpPr>
          <p:cNvPr id="6" name="text-445"/>
          <p:cNvSpPr txBox="1"/>
          <p:nvPr/>
        </p:nvSpPr>
        <p:spPr>
          <a:xfrm>
            <a:off x="685800" y="2020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7" name="text-446"/>
          <p:cNvSpPr txBox="1"/>
          <p:nvPr/>
        </p:nvSpPr>
        <p:spPr>
          <a:xfrm>
            <a:off x="1325880" y="1920240"/>
            <a:ext cx="5577840" cy="658368"/>
          </a:xfrm>
          <a:prstGeom prst="rect">
            <a:avLst/>
          </a:prstGeom>
          <a:noFill/>
          <a:ln/>
        </p:spPr>
        <p:txBody>
          <a:bodyPr wrap="square" lIns="0" tIns="0" rIns="0" bIns="0" rtlCol="0" anchor="ctr"/>
          <a:lstStyle/>
          <a:p>
            <a:pPr indent="0" marL="0">
              <a:buNone/>
            </a:pPr>
            <a:r>
              <a:rPr lang="en-US" sz="1600" dirty="0">
                <a:solidFill>
                  <a:schemeClr val="tx1"/>
                </a:solidFill>
              </a:rPr>
              <a:t>Keep request-review switched on while you learn</a:t>
            </a:r>
            <a:endParaRPr lang="en-US" sz="1600" dirty="0"/>
          </a:p>
        </p:txBody>
      </p:sp>
      <p:sp>
        <p:nvSpPr>
          <p:cNvPr id="8" name="card-447"/>
          <p:cNvSpPr/>
          <p:nvPr/>
        </p:nvSpPr>
        <p:spPr>
          <a:xfrm>
            <a:off x="548640" y="2706624"/>
            <a:ext cx="6492240" cy="658368"/>
          </a:xfrm>
          <a:prstGeom prst="roundRect">
            <a:avLst>
              <a:gd name="adj" fmla="val 16667"/>
            </a:avLst>
          </a:prstGeom>
          <a:solidFill>
            <a:schemeClr val="bg2"/>
          </a:solidFill>
          <a:ln/>
        </p:spPr>
      </p:sp>
      <p:sp>
        <p:nvSpPr>
          <p:cNvPr id="9" name="step-448"/>
          <p:cNvSpPr/>
          <p:nvPr/>
        </p:nvSpPr>
        <p:spPr>
          <a:xfrm>
            <a:off x="685800" y="2807208"/>
            <a:ext cx="457200" cy="457200"/>
          </a:xfrm>
          <a:prstGeom prst="ellipse">
            <a:avLst/>
          </a:prstGeom>
          <a:solidFill>
            <a:schemeClr val="accent1"/>
          </a:solidFill>
          <a:ln/>
        </p:spPr>
      </p:sp>
      <p:sp>
        <p:nvSpPr>
          <p:cNvPr id="10" name="text-449"/>
          <p:cNvSpPr txBox="1"/>
          <p:nvPr/>
        </p:nvSpPr>
        <p:spPr>
          <a:xfrm>
            <a:off x="68580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1" name="text-450"/>
          <p:cNvSpPr txBox="1"/>
          <p:nvPr/>
        </p:nvSpPr>
        <p:spPr>
          <a:xfrm>
            <a:off x="1325880" y="2706624"/>
            <a:ext cx="5577840" cy="658368"/>
          </a:xfrm>
          <a:prstGeom prst="rect">
            <a:avLst/>
          </a:prstGeom>
          <a:noFill/>
          <a:ln/>
        </p:spPr>
        <p:txBody>
          <a:bodyPr wrap="square" lIns="0" tIns="0" rIns="0" bIns="0" rtlCol="0" anchor="ctr"/>
          <a:lstStyle/>
          <a:p>
            <a:pPr indent="0" marL="0">
              <a:buNone/>
            </a:pPr>
            <a:r>
              <a:rPr lang="en-US" sz="1600" dirty="0">
                <a:solidFill>
                  <a:schemeClr val="tx1"/>
                </a:solidFill>
              </a:rPr>
              <a:t>Read the Implementation Plan before you click Proceed</a:t>
            </a:r>
            <a:endParaRPr lang="en-US" sz="1600" dirty="0"/>
          </a:p>
        </p:txBody>
      </p:sp>
      <p:sp>
        <p:nvSpPr>
          <p:cNvPr id="12" name="card-451"/>
          <p:cNvSpPr/>
          <p:nvPr/>
        </p:nvSpPr>
        <p:spPr>
          <a:xfrm>
            <a:off x="548640" y="3493008"/>
            <a:ext cx="6492240" cy="658368"/>
          </a:xfrm>
          <a:prstGeom prst="roundRect">
            <a:avLst>
              <a:gd name="adj" fmla="val 16667"/>
            </a:avLst>
          </a:prstGeom>
          <a:solidFill>
            <a:schemeClr val="bg2"/>
          </a:solidFill>
          <a:ln/>
        </p:spPr>
      </p:sp>
      <p:sp>
        <p:nvSpPr>
          <p:cNvPr id="13" name="step-452"/>
          <p:cNvSpPr/>
          <p:nvPr/>
        </p:nvSpPr>
        <p:spPr>
          <a:xfrm>
            <a:off x="685800" y="3593592"/>
            <a:ext cx="457200" cy="457200"/>
          </a:xfrm>
          <a:prstGeom prst="ellipse">
            <a:avLst/>
          </a:prstGeom>
          <a:solidFill>
            <a:schemeClr val="accent1"/>
          </a:solidFill>
          <a:ln/>
        </p:spPr>
      </p:sp>
      <p:sp>
        <p:nvSpPr>
          <p:cNvPr id="14" name="text-453"/>
          <p:cNvSpPr txBox="1"/>
          <p:nvPr/>
        </p:nvSpPr>
        <p:spPr>
          <a:xfrm>
            <a:off x="685800" y="3593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15" name="text-454"/>
          <p:cNvSpPr txBox="1"/>
          <p:nvPr/>
        </p:nvSpPr>
        <p:spPr>
          <a:xfrm>
            <a:off x="1325880" y="3493008"/>
            <a:ext cx="5577840" cy="658368"/>
          </a:xfrm>
          <a:prstGeom prst="rect">
            <a:avLst/>
          </a:prstGeom>
          <a:noFill/>
          <a:ln/>
        </p:spPr>
        <p:txBody>
          <a:bodyPr wrap="square" lIns="0" tIns="0" rIns="0" bIns="0" rtlCol="0" anchor="ctr"/>
          <a:lstStyle/>
          <a:p>
            <a:pPr indent="0" marL="0">
              <a:buNone/>
            </a:pPr>
            <a:r>
              <a:rPr lang="en-US" sz="1600" dirty="0">
                <a:solidFill>
                  <a:schemeClr val="tx1"/>
                </a:solidFill>
              </a:rPr>
              <a:t>Trust only folders whose contents you know</a:t>
            </a:r>
            <a:endParaRPr lang="en-US" sz="1600" dirty="0"/>
          </a:p>
        </p:txBody>
      </p:sp>
      <p:sp>
        <p:nvSpPr>
          <p:cNvPr id="16" name="card-455"/>
          <p:cNvSpPr/>
          <p:nvPr/>
        </p:nvSpPr>
        <p:spPr>
          <a:xfrm>
            <a:off x="548640" y="4279392"/>
            <a:ext cx="6492240" cy="658368"/>
          </a:xfrm>
          <a:prstGeom prst="roundRect">
            <a:avLst>
              <a:gd name="adj" fmla="val 16667"/>
            </a:avLst>
          </a:prstGeom>
          <a:solidFill>
            <a:schemeClr val="bg2"/>
          </a:solidFill>
          <a:ln/>
        </p:spPr>
      </p:sp>
      <p:sp>
        <p:nvSpPr>
          <p:cNvPr id="17" name="step-456"/>
          <p:cNvSpPr/>
          <p:nvPr/>
        </p:nvSpPr>
        <p:spPr>
          <a:xfrm>
            <a:off x="685800" y="4379976"/>
            <a:ext cx="457200" cy="457200"/>
          </a:xfrm>
          <a:prstGeom prst="ellipse">
            <a:avLst/>
          </a:prstGeom>
          <a:solidFill>
            <a:schemeClr val="accent1"/>
          </a:solidFill>
          <a:ln/>
        </p:spPr>
      </p:sp>
      <p:sp>
        <p:nvSpPr>
          <p:cNvPr id="18" name="text-457"/>
          <p:cNvSpPr txBox="1"/>
          <p:nvPr/>
        </p:nvSpPr>
        <p:spPr>
          <a:xfrm>
            <a:off x="68580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4</a:t>
            </a:r>
            <a:endParaRPr lang="en-US" sz="1600" dirty="0"/>
          </a:p>
        </p:txBody>
      </p:sp>
      <p:sp>
        <p:nvSpPr>
          <p:cNvPr id="19" name="text-458"/>
          <p:cNvSpPr txBox="1"/>
          <p:nvPr/>
        </p:nvSpPr>
        <p:spPr>
          <a:xfrm>
            <a:off x="1325880" y="4279392"/>
            <a:ext cx="5577840" cy="658368"/>
          </a:xfrm>
          <a:prstGeom prst="rect">
            <a:avLst/>
          </a:prstGeom>
          <a:noFill/>
          <a:ln/>
        </p:spPr>
        <p:txBody>
          <a:bodyPr wrap="square" lIns="0" tIns="0" rIns="0" bIns="0" rtlCol="0" anchor="ctr"/>
          <a:lstStyle/>
          <a:p>
            <a:pPr indent="0" marL="0">
              <a:buNone/>
            </a:pPr>
            <a:r>
              <a:rPr lang="en-US" sz="1600" dirty="0">
                <a:solidFill>
                  <a:schemeClr val="tx1"/>
                </a:solidFill>
              </a:rPr>
              <a:t>Limit each project to the folders and tools it needs</a:t>
            </a:r>
            <a:endParaRPr lang="en-US" sz="1600" dirty="0"/>
          </a:p>
        </p:txBody>
      </p:sp>
      <p:sp>
        <p:nvSpPr>
          <p:cNvPr id="20" name="card-459"/>
          <p:cNvSpPr/>
          <p:nvPr/>
        </p:nvSpPr>
        <p:spPr>
          <a:xfrm>
            <a:off x="548640" y="5065776"/>
            <a:ext cx="6492240" cy="658368"/>
          </a:xfrm>
          <a:prstGeom prst="roundRect">
            <a:avLst>
              <a:gd name="adj" fmla="val 16667"/>
            </a:avLst>
          </a:prstGeom>
          <a:solidFill>
            <a:schemeClr val="bg2"/>
          </a:solidFill>
          <a:ln/>
        </p:spPr>
      </p:sp>
      <p:sp>
        <p:nvSpPr>
          <p:cNvPr id="21" name="step-460"/>
          <p:cNvSpPr/>
          <p:nvPr/>
        </p:nvSpPr>
        <p:spPr>
          <a:xfrm>
            <a:off x="685800" y="5166360"/>
            <a:ext cx="457200" cy="457200"/>
          </a:xfrm>
          <a:prstGeom prst="ellipse">
            <a:avLst/>
          </a:prstGeom>
          <a:solidFill>
            <a:schemeClr val="accent1"/>
          </a:solidFill>
          <a:ln/>
        </p:spPr>
      </p:sp>
      <p:sp>
        <p:nvSpPr>
          <p:cNvPr id="22" name="text-461"/>
          <p:cNvSpPr txBox="1"/>
          <p:nvPr/>
        </p:nvSpPr>
        <p:spPr>
          <a:xfrm>
            <a:off x="68580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5</a:t>
            </a:r>
            <a:endParaRPr lang="en-US" sz="1600" dirty="0"/>
          </a:p>
        </p:txBody>
      </p:sp>
      <p:sp>
        <p:nvSpPr>
          <p:cNvPr id="23" name="text-462"/>
          <p:cNvSpPr txBox="1"/>
          <p:nvPr/>
        </p:nvSpPr>
        <p:spPr>
          <a:xfrm>
            <a:off x="1325880" y="5065776"/>
            <a:ext cx="5577840" cy="658368"/>
          </a:xfrm>
          <a:prstGeom prst="rect">
            <a:avLst/>
          </a:prstGeom>
          <a:noFill/>
          <a:ln/>
        </p:spPr>
        <p:txBody>
          <a:bodyPr wrap="square" lIns="0" tIns="0" rIns="0" bIns="0" rtlCol="0" anchor="ctr"/>
          <a:lstStyle/>
          <a:p>
            <a:pPr indent="0" marL="0">
              <a:buNone/>
            </a:pPr>
            <a:r>
              <a:rPr lang="en-US" sz="1600" dirty="0">
                <a:solidFill>
                  <a:schemeClr val="tx1"/>
                </a:solidFill>
              </a:rPr>
              <a:t>Avoid always-proceed on a computer you care about</a:t>
            </a:r>
            <a:endParaRPr lang="en-US" sz="1600" dirty="0"/>
          </a:p>
        </p:txBody>
      </p:sp>
      <p:sp>
        <p:nvSpPr>
          <p:cNvPr id="24" name="card-463"/>
          <p:cNvSpPr/>
          <p:nvPr/>
        </p:nvSpPr>
        <p:spPr>
          <a:xfrm>
            <a:off x="7360920" y="1920240"/>
            <a:ext cx="4282135" cy="3803904"/>
          </a:xfrm>
          <a:prstGeom prst="roundRect">
            <a:avLst>
              <a:gd name="adj" fmla="val 2885"/>
            </a:avLst>
          </a:prstGeom>
          <a:solidFill>
            <a:schemeClr val="tx1"/>
          </a:solidFill>
          <a:ln/>
        </p:spPr>
      </p:sp>
      <p:sp>
        <p:nvSpPr>
          <p:cNvPr id="25" name="badge-464"/>
          <p:cNvSpPr/>
          <p:nvPr/>
        </p:nvSpPr>
        <p:spPr>
          <a:xfrm>
            <a:off x="7680960" y="2240280"/>
            <a:ext cx="566928" cy="566928"/>
          </a:xfrm>
          <a:prstGeom prst="ellipse">
            <a:avLst/>
          </a:prstGeom>
          <a:solidFill>
            <a:schemeClr val="accent6"/>
          </a:solidFill>
          <a:ln/>
        </p:spPr>
      </p:sp>
      <p:pic>
        <p:nvPicPr>
          <p:cNvPr id="26" name="icon-465" descr="preencoded.png">    </p:cNvPr>
          <p:cNvPicPr>
            <a:picLocks noChangeAspect="1"/>
          </p:cNvPicPr>
          <p:nvPr/>
        </p:nvPicPr>
        <p:blipFill>
          <a:blip r:embed="rId1"/>
          <a:stretch>
            <a:fillRect/>
          </a:stretch>
        </p:blipFill>
        <p:spPr>
          <a:xfrm>
            <a:off x="7834031" y="2393351"/>
            <a:ext cx="260787" cy="260787"/>
          </a:xfrm>
          <a:prstGeom prst="rect">
            <a:avLst/>
          </a:prstGeom>
        </p:spPr>
      </p:pic>
      <p:sp>
        <p:nvSpPr>
          <p:cNvPr id="27" name="text-466"/>
          <p:cNvSpPr txBox="1"/>
          <p:nvPr/>
        </p:nvSpPr>
        <p:spPr>
          <a:xfrm>
            <a:off x="7680960" y="3017520"/>
            <a:ext cx="3642055" cy="822960"/>
          </a:xfrm>
          <a:prstGeom prst="rect">
            <a:avLst/>
          </a:prstGeom>
          <a:noFill/>
          <a:ln/>
        </p:spPr>
        <p:txBody>
          <a:bodyPr wrap="square" lIns="0" tIns="0" rIns="0" bIns="0" rtlCol="0" anchor="t"/>
          <a:lstStyle/>
          <a:p>
            <a:pPr indent="0" marL="0">
              <a:buNone/>
            </a:pPr>
            <a:r>
              <a:rPr lang="en-US" sz="2200" b="1" dirty="0">
                <a:solidFill>
                  <a:schemeClr val="bg1"/>
                </a:solidFill>
              </a:rPr>
              <a:t>Agents act on your real computer</a:t>
            </a:r>
            <a:endParaRPr lang="en-US" sz="2200" dirty="0"/>
          </a:p>
        </p:txBody>
      </p:sp>
      <p:sp>
        <p:nvSpPr>
          <p:cNvPr id="28" name="text-467"/>
          <p:cNvSpPr txBox="1"/>
          <p:nvPr/>
        </p:nvSpPr>
        <p:spPr>
          <a:xfrm>
            <a:off x="7680960" y="3977640"/>
            <a:ext cx="3642055" cy="1554480"/>
          </a:xfrm>
          <a:prstGeom prst="rect">
            <a:avLst/>
          </a:prstGeom>
          <a:noFill/>
          <a:ln/>
        </p:spPr>
        <p:txBody>
          <a:bodyPr wrap="square" lIns="0" tIns="0" rIns="0" bIns="0" rtlCol="0" anchor="t"/>
          <a:lstStyle/>
          <a:p>
            <a:pPr indent="0" marL="0">
              <a:buNone/>
            </a:pPr>
            <a:r>
              <a:rPr lang="en-US" sz="1400" dirty="0">
                <a:solidFill>
                  <a:schemeClr val="accent5"/>
                </a:solidFill>
              </a:rPr>
              <a:t>An agent can create, change and delete files and run commands. Permission prompts are your safety net, so read them before you approve.</a:t>
            </a:r>
            <a:endParaRPr lang="en-US" sz="1400" dirty="0"/>
          </a:p>
        </p:txBody>
      </p:sp>
      <p:sp>
        <p:nvSpPr>
          <p:cNvPr id="29" name="text-468"/>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Codelabs, Getting Started with Google Antigravity and Hands-on with Antigravity CLI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Antigravity sits beside two tools you may already know</a:t>
            </a:r>
            <a:endParaRPr lang="en-US" sz="3000" dirty="0"/>
          </a:p>
        </p:txBody>
      </p:sp>
      <p:graphicFrame>
        <p:nvGraphicFramePr>
          <p:cNvPr id="20" name="table-469"/>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651760"/>
                <a:gridCol w="2814218"/>
                <a:gridCol w="2814218"/>
                <a:gridCol w="2814218"/>
              </a:tblGrid>
              <a:tr h="502920">
                <a:tc>
                  <a:txBody>
                    <a:bodyPr/>
                    <a:lstStyle/>
                    <a:p>
                      <a:pPr indent="0" marL="0">
                        <a:buNone/>
                      </a:pP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Antigravity</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Claude Code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Codex</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r>
              <a:tr h="502920">
                <a:tc>
                  <a:txBody>
                    <a:bodyPr/>
                    <a:lstStyle/>
                    <a:p>
                      <a:pPr indent="0" marL="0">
                        <a:buNone/>
                      </a:pPr>
                      <a:r>
                        <a:rPr lang="en-US" sz="1400" b="1" dirty="0">
                          <a:solidFill>
                            <a:schemeClr val="tx1"/>
                          </a:solidFill>
                        </a:rPr>
                        <a:t>Made by</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Google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Anthropic</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OpenAI</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Main models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Gemini</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Claude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GPT</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Terminal command</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agy</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claude</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codex</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Project instructions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AGENTS.md or GEMINI.md</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CLAUDE.md</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AGENTS.md</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Easiest start</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Antigravity desktop app</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Claude desktop app</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ChatGPT desktop app</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bl>
          </a:graphicData>
        </a:graphic>
      </p:graphicFrame>
      <p:sp>
        <p:nvSpPr>
          <p:cNvPr id="5" name="card-470"/>
          <p:cNvSpPr/>
          <p:nvPr/>
        </p:nvSpPr>
        <p:spPr>
          <a:xfrm>
            <a:off x="548640" y="5212080"/>
            <a:ext cx="11094415" cy="685800"/>
          </a:xfrm>
          <a:prstGeom prst="roundRect">
            <a:avLst>
              <a:gd name="adj" fmla="val 16000"/>
            </a:avLst>
          </a:prstGeom>
          <a:solidFill>
            <a:schemeClr val="bg2"/>
          </a:solidFill>
          <a:ln/>
        </p:spPr>
      </p:sp>
      <p:sp>
        <p:nvSpPr>
          <p:cNvPr id="6" name="badge-471"/>
          <p:cNvSpPr/>
          <p:nvPr/>
        </p:nvSpPr>
        <p:spPr>
          <a:xfrm>
            <a:off x="685800" y="5353812"/>
            <a:ext cx="402336" cy="402336"/>
          </a:xfrm>
          <a:prstGeom prst="ellipse">
            <a:avLst/>
          </a:prstGeom>
          <a:solidFill>
            <a:schemeClr val="accent2"/>
          </a:solidFill>
          <a:ln/>
        </p:spPr>
      </p:sp>
      <p:pic>
        <p:nvPicPr>
          <p:cNvPr id="7" name="icon-472" descr="preencoded.png">    </p:cNvPr>
          <p:cNvPicPr>
            <a:picLocks noChangeAspect="1"/>
          </p:cNvPicPr>
          <p:nvPr/>
        </p:nvPicPr>
        <p:blipFill>
          <a:blip r:embed="rId1"/>
          <a:stretch>
            <a:fillRect/>
          </a:stretch>
        </p:blipFill>
        <p:spPr>
          <a:xfrm>
            <a:off x="794431" y="5462443"/>
            <a:ext cx="185075" cy="185075"/>
          </a:xfrm>
          <a:prstGeom prst="rect">
            <a:avLst/>
          </a:prstGeom>
        </p:spPr>
      </p:pic>
      <p:sp>
        <p:nvSpPr>
          <p:cNvPr id="8" name="text-473"/>
          <p:cNvSpPr txBox="1"/>
          <p:nvPr/>
        </p:nvSpPr>
        <p:spPr>
          <a:xfrm>
            <a:off x="1261872" y="5212080"/>
            <a:ext cx="10198303" cy="685800"/>
          </a:xfrm>
          <a:prstGeom prst="rect">
            <a:avLst/>
          </a:prstGeom>
          <a:noFill/>
          <a:ln/>
        </p:spPr>
        <p:txBody>
          <a:bodyPr wrap="square" lIns="0" tIns="0" rIns="0" bIns="0" rtlCol="0" anchor="ctr"/>
          <a:lstStyle/>
          <a:p>
            <a:pPr indent="0" marL="0">
              <a:buNone/>
            </a:pPr>
            <a:r>
              <a:rPr lang="en-US" sz="1400" dirty="0">
                <a:solidFill>
                  <a:schemeClr val="tx1"/>
                </a:solidFill>
              </a:rPr>
              <a:t>All three are agentic coding tools: you describe a task, an agent does it and you review. The words differ; the idea is the same.</a:t>
            </a:r>
            <a:endParaRPr lang="en-US" sz="1400" dirty="0"/>
          </a:p>
        </p:txBody>
      </p:sp>
      <p:sp>
        <p:nvSpPr>
          <p:cNvPr id="9" name="text-47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Anthropic and OpenAI documentation; CoinGecko integration guide for the instruction file names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A learning path from day one to confident user</a:t>
            </a:r>
            <a:endParaRPr lang="en-US" sz="3000" dirty="0"/>
          </a:p>
        </p:txBody>
      </p:sp>
      <p:sp>
        <p:nvSpPr>
          <p:cNvPr id="4" name="rail-475"/>
          <p:cNvSpPr/>
          <p:nvPr/>
        </p:nvSpPr>
        <p:spPr>
          <a:xfrm>
            <a:off x="822960" y="2194560"/>
            <a:ext cx="8526551" cy="0"/>
          </a:xfrm>
          <a:prstGeom prst="line">
            <a:avLst/>
          </a:prstGeom>
          <a:noFill/>
          <a:ln w="38100">
            <a:solidFill>
              <a:schemeClr val="accent5"/>
            </a:solidFill>
            <a:prstDash val="solid"/>
          </a:ln>
        </p:spPr>
      </p:sp>
      <p:sp>
        <p:nvSpPr>
          <p:cNvPr id="5" name="step-476"/>
          <p:cNvSpPr/>
          <p:nvPr/>
        </p:nvSpPr>
        <p:spPr>
          <a:xfrm>
            <a:off x="548640" y="1920240"/>
            <a:ext cx="548640" cy="548640"/>
          </a:xfrm>
          <a:prstGeom prst="ellipse">
            <a:avLst/>
          </a:prstGeom>
          <a:solidFill>
            <a:schemeClr val="accent1"/>
          </a:solidFill>
          <a:ln/>
        </p:spPr>
      </p:sp>
      <p:sp>
        <p:nvSpPr>
          <p:cNvPr id="6" name="text-477"/>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7" name="text-478"/>
          <p:cNvSpPr txBox="1"/>
          <p:nvPr/>
        </p:nvSpPr>
        <p:spPr>
          <a:xfrm>
            <a:off x="548640"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Day one</a:t>
            </a:r>
            <a:endParaRPr lang="en-US" sz="2000" dirty="0"/>
          </a:p>
        </p:txBody>
      </p:sp>
      <p:sp>
        <p:nvSpPr>
          <p:cNvPr id="8" name="text-479"/>
          <p:cNvSpPr txBox="1"/>
          <p:nvPr/>
        </p:nvSpPr>
        <p:spPr>
          <a:xfrm>
            <a:off x="548640"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Install the desktop app, create a project and chat with an agent</a:t>
            </a:r>
            <a:endParaRPr lang="en-US" sz="1400" dirty="0"/>
          </a:p>
        </p:txBody>
      </p:sp>
      <p:sp>
        <p:nvSpPr>
          <p:cNvPr id="9" name="card-480"/>
          <p:cNvSpPr/>
          <p:nvPr/>
        </p:nvSpPr>
        <p:spPr>
          <a:xfrm>
            <a:off x="548640" y="4434840"/>
            <a:ext cx="2567864" cy="1051560"/>
          </a:xfrm>
          <a:prstGeom prst="roundRect">
            <a:avLst>
              <a:gd name="adj" fmla="val 10435"/>
            </a:avLst>
          </a:prstGeom>
          <a:solidFill>
            <a:schemeClr val="bg2"/>
          </a:solidFill>
          <a:ln/>
        </p:spPr>
      </p:sp>
      <p:sp>
        <p:nvSpPr>
          <p:cNvPr id="10" name="text-481"/>
          <p:cNvSpPr txBox="1"/>
          <p:nvPr/>
        </p:nvSpPr>
        <p:spPr>
          <a:xfrm>
            <a:off x="777240"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1" name="text-482"/>
          <p:cNvSpPr txBox="1"/>
          <p:nvPr/>
        </p:nvSpPr>
        <p:spPr>
          <a:xfrm>
            <a:off x="777240"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Hold a first conversation</a:t>
            </a:r>
            <a:endParaRPr lang="en-US" sz="1400" dirty="0"/>
          </a:p>
        </p:txBody>
      </p:sp>
      <p:sp>
        <p:nvSpPr>
          <p:cNvPr id="12" name="step-483"/>
          <p:cNvSpPr/>
          <p:nvPr/>
        </p:nvSpPr>
        <p:spPr>
          <a:xfrm>
            <a:off x="3390824" y="1920240"/>
            <a:ext cx="548640" cy="548640"/>
          </a:xfrm>
          <a:prstGeom prst="ellipse">
            <a:avLst/>
          </a:prstGeom>
          <a:solidFill>
            <a:schemeClr val="accent1"/>
          </a:solidFill>
          <a:ln/>
        </p:spPr>
      </p:sp>
      <p:sp>
        <p:nvSpPr>
          <p:cNvPr id="13" name="text-484"/>
          <p:cNvSpPr txBox="1"/>
          <p:nvPr/>
        </p:nvSpPr>
        <p:spPr>
          <a:xfrm>
            <a:off x="3390824"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4" name="text-485"/>
          <p:cNvSpPr txBox="1"/>
          <p:nvPr/>
        </p:nvSpPr>
        <p:spPr>
          <a:xfrm>
            <a:off x="3390824"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week</a:t>
            </a:r>
            <a:endParaRPr lang="en-US" sz="2000" dirty="0"/>
          </a:p>
        </p:txBody>
      </p:sp>
      <p:sp>
        <p:nvSpPr>
          <p:cNvPr id="15" name="text-486"/>
          <p:cNvSpPr txBox="1"/>
          <p:nvPr/>
        </p:nvSpPr>
        <p:spPr>
          <a:xfrm>
            <a:off x="3390824"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Build a small app in Plan mode and read every artifact</a:t>
            </a:r>
            <a:endParaRPr lang="en-US" sz="1400" dirty="0"/>
          </a:p>
        </p:txBody>
      </p:sp>
      <p:sp>
        <p:nvSpPr>
          <p:cNvPr id="16" name="card-487"/>
          <p:cNvSpPr/>
          <p:nvPr/>
        </p:nvSpPr>
        <p:spPr>
          <a:xfrm>
            <a:off x="3390824" y="4434840"/>
            <a:ext cx="2567864" cy="1051560"/>
          </a:xfrm>
          <a:prstGeom prst="roundRect">
            <a:avLst>
              <a:gd name="adj" fmla="val 10435"/>
            </a:avLst>
          </a:prstGeom>
          <a:solidFill>
            <a:schemeClr val="bg2"/>
          </a:solidFill>
          <a:ln/>
        </p:spPr>
      </p:sp>
      <p:sp>
        <p:nvSpPr>
          <p:cNvPr id="17" name="text-488"/>
          <p:cNvSpPr txBox="1"/>
          <p:nvPr/>
        </p:nvSpPr>
        <p:spPr>
          <a:xfrm>
            <a:off x="3619424"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8" name="text-489"/>
          <p:cNvSpPr txBox="1"/>
          <p:nvPr/>
        </p:nvSpPr>
        <p:spPr>
          <a:xfrm>
            <a:off x="3619424"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Review an agent's work</a:t>
            </a:r>
            <a:endParaRPr lang="en-US" sz="1400" dirty="0"/>
          </a:p>
        </p:txBody>
      </p:sp>
      <p:sp>
        <p:nvSpPr>
          <p:cNvPr id="19" name="step-490"/>
          <p:cNvSpPr/>
          <p:nvPr/>
        </p:nvSpPr>
        <p:spPr>
          <a:xfrm>
            <a:off x="6233008" y="1920240"/>
            <a:ext cx="548640" cy="548640"/>
          </a:xfrm>
          <a:prstGeom prst="ellipse">
            <a:avLst/>
          </a:prstGeom>
          <a:solidFill>
            <a:schemeClr val="accent1"/>
          </a:solidFill>
          <a:ln/>
        </p:spPr>
      </p:sp>
      <p:sp>
        <p:nvSpPr>
          <p:cNvPr id="20" name="text-491"/>
          <p:cNvSpPr txBox="1"/>
          <p:nvPr/>
        </p:nvSpPr>
        <p:spPr>
          <a:xfrm>
            <a:off x="623300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21" name="text-492"/>
          <p:cNvSpPr txBox="1"/>
          <p:nvPr/>
        </p:nvSpPr>
        <p:spPr>
          <a:xfrm>
            <a:off x="6233008"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month</a:t>
            </a:r>
            <a:endParaRPr lang="en-US" sz="2000" dirty="0"/>
          </a:p>
        </p:txBody>
      </p:sp>
      <p:sp>
        <p:nvSpPr>
          <p:cNvPr id="22" name="text-493"/>
          <p:cNvSpPr txBox="1"/>
          <p:nvPr/>
        </p:nvSpPr>
        <p:spPr>
          <a:xfrm>
            <a:off x="6233008"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Add a rule and a skill, and connect one MCP server</a:t>
            </a:r>
            <a:endParaRPr lang="en-US" sz="1400" dirty="0"/>
          </a:p>
        </p:txBody>
      </p:sp>
      <p:sp>
        <p:nvSpPr>
          <p:cNvPr id="23" name="card-494"/>
          <p:cNvSpPr/>
          <p:nvPr/>
        </p:nvSpPr>
        <p:spPr>
          <a:xfrm>
            <a:off x="6233008" y="4434840"/>
            <a:ext cx="2567864" cy="1051560"/>
          </a:xfrm>
          <a:prstGeom prst="roundRect">
            <a:avLst>
              <a:gd name="adj" fmla="val 10435"/>
            </a:avLst>
          </a:prstGeom>
          <a:solidFill>
            <a:schemeClr val="bg2"/>
          </a:solidFill>
          <a:ln/>
        </p:spPr>
      </p:sp>
      <p:sp>
        <p:nvSpPr>
          <p:cNvPr id="24" name="text-495"/>
          <p:cNvSpPr txBox="1"/>
          <p:nvPr/>
        </p:nvSpPr>
        <p:spPr>
          <a:xfrm>
            <a:off x="6461608"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25" name="text-496"/>
          <p:cNvSpPr txBox="1"/>
          <p:nvPr/>
        </p:nvSpPr>
        <p:spPr>
          <a:xfrm>
            <a:off x="6461608"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Tailor agents to your project</a:t>
            </a:r>
            <a:endParaRPr lang="en-US" sz="1400" dirty="0"/>
          </a:p>
        </p:txBody>
      </p:sp>
      <p:sp>
        <p:nvSpPr>
          <p:cNvPr id="26" name="step-497"/>
          <p:cNvSpPr/>
          <p:nvPr/>
        </p:nvSpPr>
        <p:spPr>
          <a:xfrm>
            <a:off x="9075191" y="1920240"/>
            <a:ext cx="548640" cy="548640"/>
          </a:xfrm>
          <a:prstGeom prst="ellipse">
            <a:avLst/>
          </a:prstGeom>
          <a:solidFill>
            <a:schemeClr val="accent1"/>
          </a:solidFill>
          <a:ln/>
        </p:spPr>
      </p:sp>
      <p:sp>
        <p:nvSpPr>
          <p:cNvPr id="27" name="text-498"/>
          <p:cNvSpPr txBox="1"/>
          <p:nvPr/>
        </p:nvSpPr>
        <p:spPr>
          <a:xfrm>
            <a:off x="9075191"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8" name="text-499"/>
          <p:cNvSpPr txBox="1"/>
          <p:nvPr/>
        </p:nvSpPr>
        <p:spPr>
          <a:xfrm>
            <a:off x="9075191"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Later</a:t>
            </a:r>
            <a:endParaRPr lang="en-US" sz="2000" dirty="0"/>
          </a:p>
        </p:txBody>
      </p:sp>
      <p:sp>
        <p:nvSpPr>
          <p:cNvPr id="29" name="text-500"/>
          <p:cNvSpPr txBox="1"/>
          <p:nvPr/>
        </p:nvSpPr>
        <p:spPr>
          <a:xfrm>
            <a:off x="9075191"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Run agents in parallel, schedule tasks and try the CLI</a:t>
            </a:r>
            <a:endParaRPr lang="en-US" sz="1400" dirty="0"/>
          </a:p>
        </p:txBody>
      </p:sp>
      <p:sp>
        <p:nvSpPr>
          <p:cNvPr id="30" name="card-501"/>
          <p:cNvSpPr/>
          <p:nvPr/>
        </p:nvSpPr>
        <p:spPr>
          <a:xfrm>
            <a:off x="9075191" y="4434840"/>
            <a:ext cx="2567864" cy="1051560"/>
          </a:xfrm>
          <a:prstGeom prst="roundRect">
            <a:avLst>
              <a:gd name="adj" fmla="val 10435"/>
            </a:avLst>
          </a:prstGeom>
          <a:solidFill>
            <a:schemeClr val="bg2"/>
          </a:solidFill>
          <a:ln/>
        </p:spPr>
      </p:sp>
      <p:sp>
        <p:nvSpPr>
          <p:cNvPr id="31" name="text-502"/>
          <p:cNvSpPr txBox="1"/>
          <p:nvPr/>
        </p:nvSpPr>
        <p:spPr>
          <a:xfrm>
            <a:off x="9303791"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32" name="text-503"/>
          <p:cNvSpPr txBox="1"/>
          <p:nvPr/>
        </p:nvSpPr>
        <p:spPr>
          <a:xfrm>
            <a:off x="9303791"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Manage several agents</a:t>
            </a:r>
            <a:endParaRPr lang="en-US" sz="1400" dirty="0"/>
          </a:p>
        </p:txBody>
      </p:sp>
      <p:sp>
        <p:nvSpPr>
          <p:cNvPr id="33" name="text-504"/>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A suggested path only; go at your own pace.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tx1"/>
                </a:solidFill>
              </a:rPr>
              <a:t>Where to learn more, and names that have changed</a:t>
            </a:r>
            <a:endParaRPr lang="en-US" sz="3000" dirty="0"/>
          </a:p>
        </p:txBody>
      </p:sp>
      <p:sp>
        <p:nvSpPr>
          <p:cNvPr id="4" name="text-505"/>
          <p:cNvSpPr txBox="1"/>
          <p:nvPr/>
        </p:nvSpPr>
        <p:spPr>
          <a:xfrm>
            <a:off x="548640" y="1920240"/>
            <a:ext cx="5120640" cy="365760"/>
          </a:xfrm>
          <a:prstGeom prst="rect">
            <a:avLst/>
          </a:prstGeom>
          <a:noFill/>
          <a:ln/>
        </p:spPr>
        <p:txBody>
          <a:bodyPr wrap="square" lIns="0" tIns="0" rIns="0" bIns="0" rtlCol="0" anchor="t"/>
          <a:lstStyle/>
          <a:p>
            <a:pPr indent="0" marL="0">
              <a:buNone/>
            </a:pPr>
            <a:r>
              <a:rPr lang="en-US" sz="1800" b="1" dirty="0">
                <a:solidFill>
                  <a:schemeClr val="tx1"/>
                </a:solidFill>
              </a:rPr>
              <a:t>Good places to learn</a:t>
            </a:r>
            <a:endParaRPr lang="en-US" sz="1800" dirty="0"/>
          </a:p>
        </p:txBody>
      </p:sp>
      <p:sp>
        <p:nvSpPr>
          <p:cNvPr id="5" name="badge-506"/>
          <p:cNvSpPr/>
          <p:nvPr/>
        </p:nvSpPr>
        <p:spPr>
          <a:xfrm>
            <a:off x="548640" y="2551176"/>
            <a:ext cx="548640" cy="548640"/>
          </a:xfrm>
          <a:prstGeom prst="ellipse">
            <a:avLst/>
          </a:prstGeom>
          <a:solidFill>
            <a:schemeClr val="accent1"/>
          </a:solidFill>
          <a:ln/>
        </p:spPr>
      </p:sp>
      <p:pic>
        <p:nvPicPr>
          <p:cNvPr id="6" name="icon-507" descr="preencoded.png">    </p:cNvPr>
          <p:cNvPicPr>
            <a:picLocks noChangeAspect="1"/>
          </p:cNvPicPr>
          <p:nvPr/>
        </p:nvPicPr>
        <p:blipFill>
          <a:blip r:embed="rId1"/>
          <a:stretch>
            <a:fillRect/>
          </a:stretch>
        </p:blipFill>
        <p:spPr>
          <a:xfrm>
            <a:off x="696773" y="2699309"/>
            <a:ext cx="252374" cy="252374"/>
          </a:xfrm>
          <a:prstGeom prst="rect">
            <a:avLst/>
          </a:prstGeom>
        </p:spPr>
      </p:pic>
      <p:sp>
        <p:nvSpPr>
          <p:cNvPr id="7" name="text-508"/>
          <p:cNvSpPr txBox="1"/>
          <p:nvPr/>
        </p:nvSpPr>
        <p:spPr>
          <a:xfrm>
            <a:off x="1325880" y="2514600"/>
            <a:ext cx="4343400" cy="292608"/>
          </a:xfrm>
          <a:prstGeom prst="rect">
            <a:avLst/>
          </a:prstGeom>
          <a:noFill/>
          <a:ln/>
        </p:spPr>
        <p:txBody>
          <a:bodyPr wrap="square" lIns="0" tIns="0" rIns="0" bIns="0" rtlCol="0" anchor="t"/>
          <a:lstStyle/>
          <a:p>
            <a:pPr indent="0" marL="0">
              <a:buNone/>
            </a:pPr>
            <a:r>
              <a:rPr lang="en-US" sz="1600" b="1" dirty="0">
                <a:solidFill>
                  <a:schemeClr val="tx1"/>
                </a:solidFill>
              </a:rPr>
              <a:t>Official documentation</a:t>
            </a:r>
            <a:endParaRPr lang="en-US" sz="1600" dirty="0"/>
          </a:p>
        </p:txBody>
      </p:sp>
      <p:sp>
        <p:nvSpPr>
          <p:cNvPr id="8" name="text-509"/>
          <p:cNvSpPr txBox="1"/>
          <p:nvPr/>
        </p:nvSpPr>
        <p:spPr>
          <a:xfrm>
            <a:off x="1325880" y="2852928"/>
            <a:ext cx="4343400" cy="457200"/>
          </a:xfrm>
          <a:prstGeom prst="rect">
            <a:avLst/>
          </a:prstGeom>
          <a:noFill/>
          <a:ln/>
        </p:spPr>
        <p:txBody>
          <a:bodyPr wrap="square" lIns="0" tIns="0" rIns="0" bIns="0" rtlCol="0" anchor="t"/>
          <a:lstStyle/>
          <a:p>
            <a:pPr indent="0" marL="0">
              <a:buNone/>
            </a:pPr>
            <a:r>
              <a:rPr lang="en-US" sz="1400" dirty="0">
                <a:solidFill>
                  <a:schemeClr val="tx2"/>
                </a:solidFill>
              </a:rPr>
              <a:t>antigravity.google/docs</a:t>
            </a:r>
            <a:endParaRPr lang="en-US" sz="1400" dirty="0"/>
          </a:p>
        </p:txBody>
      </p:sp>
      <p:sp>
        <p:nvSpPr>
          <p:cNvPr id="9" name="badge-510"/>
          <p:cNvSpPr/>
          <p:nvPr/>
        </p:nvSpPr>
        <p:spPr>
          <a:xfrm>
            <a:off x="548640" y="3557016"/>
            <a:ext cx="548640" cy="548640"/>
          </a:xfrm>
          <a:prstGeom prst="ellipse">
            <a:avLst/>
          </a:prstGeom>
          <a:solidFill>
            <a:schemeClr val="accent1"/>
          </a:solidFill>
          <a:ln/>
        </p:spPr>
      </p:sp>
      <p:pic>
        <p:nvPicPr>
          <p:cNvPr id="10" name="icon-511" descr="preencoded.png">    </p:cNvPr>
          <p:cNvPicPr>
            <a:picLocks noChangeAspect="1"/>
          </p:cNvPicPr>
          <p:nvPr/>
        </p:nvPicPr>
        <p:blipFill>
          <a:blip r:embed="rId2"/>
          <a:stretch>
            <a:fillRect/>
          </a:stretch>
        </p:blipFill>
        <p:spPr>
          <a:xfrm>
            <a:off x="696773" y="3705149"/>
            <a:ext cx="252374" cy="252374"/>
          </a:xfrm>
          <a:prstGeom prst="rect">
            <a:avLst/>
          </a:prstGeom>
        </p:spPr>
      </p:pic>
      <p:sp>
        <p:nvSpPr>
          <p:cNvPr id="11" name="text-512"/>
          <p:cNvSpPr txBox="1"/>
          <p:nvPr/>
        </p:nvSpPr>
        <p:spPr>
          <a:xfrm>
            <a:off x="1325880" y="3520440"/>
            <a:ext cx="4343400" cy="292608"/>
          </a:xfrm>
          <a:prstGeom prst="rect">
            <a:avLst/>
          </a:prstGeom>
          <a:noFill/>
          <a:ln/>
        </p:spPr>
        <p:txBody>
          <a:bodyPr wrap="square" lIns="0" tIns="0" rIns="0" bIns="0" rtlCol="0" anchor="t"/>
          <a:lstStyle/>
          <a:p>
            <a:pPr indent="0" marL="0">
              <a:buNone/>
            </a:pPr>
            <a:r>
              <a:rPr lang="en-US" sz="1600" b="1" dirty="0">
                <a:solidFill>
                  <a:schemeClr val="tx1"/>
                </a:solidFill>
              </a:rPr>
              <a:t>Google Codelabs</a:t>
            </a:r>
            <a:endParaRPr lang="en-US" sz="1600" dirty="0"/>
          </a:p>
        </p:txBody>
      </p:sp>
      <p:sp>
        <p:nvSpPr>
          <p:cNvPr id="12" name="text-513"/>
          <p:cNvSpPr txBox="1"/>
          <p:nvPr/>
        </p:nvSpPr>
        <p:spPr>
          <a:xfrm>
            <a:off x="1325880" y="3858768"/>
            <a:ext cx="4343400" cy="457200"/>
          </a:xfrm>
          <a:prstGeom prst="rect">
            <a:avLst/>
          </a:prstGeom>
          <a:noFill/>
          <a:ln/>
        </p:spPr>
        <p:txBody>
          <a:bodyPr wrap="square" lIns="0" tIns="0" rIns="0" bIns="0" rtlCol="0" anchor="t"/>
          <a:lstStyle/>
          <a:p>
            <a:pPr indent="0" marL="0">
              <a:buNone/>
            </a:pPr>
            <a:r>
              <a:rPr lang="en-US" sz="1400" dirty="0">
                <a:solidFill>
                  <a:schemeClr val="tx2"/>
                </a:solidFill>
              </a:rPr>
              <a:t>Free step-by-step tutorials, including a getting-started lab</a:t>
            </a:r>
            <a:endParaRPr lang="en-US" sz="1400" dirty="0"/>
          </a:p>
        </p:txBody>
      </p:sp>
      <p:sp>
        <p:nvSpPr>
          <p:cNvPr id="13" name="badge-514"/>
          <p:cNvSpPr/>
          <p:nvPr/>
        </p:nvSpPr>
        <p:spPr>
          <a:xfrm>
            <a:off x="548640" y="4562856"/>
            <a:ext cx="548640" cy="548640"/>
          </a:xfrm>
          <a:prstGeom prst="ellipse">
            <a:avLst/>
          </a:prstGeom>
          <a:solidFill>
            <a:schemeClr val="accent1"/>
          </a:solidFill>
          <a:ln/>
        </p:spPr>
      </p:sp>
      <p:pic>
        <p:nvPicPr>
          <p:cNvPr id="14" name="icon-515" descr="preencoded.png">    </p:cNvPr>
          <p:cNvPicPr>
            <a:picLocks noChangeAspect="1"/>
          </p:cNvPicPr>
          <p:nvPr/>
        </p:nvPicPr>
        <p:blipFill>
          <a:blip r:embed="rId3"/>
          <a:stretch>
            <a:fillRect/>
          </a:stretch>
        </p:blipFill>
        <p:spPr>
          <a:xfrm>
            <a:off x="696773" y="4710989"/>
            <a:ext cx="252374" cy="252374"/>
          </a:xfrm>
          <a:prstGeom prst="rect">
            <a:avLst/>
          </a:prstGeom>
        </p:spPr>
      </p:pic>
      <p:sp>
        <p:nvSpPr>
          <p:cNvPr id="15" name="text-516"/>
          <p:cNvSpPr txBox="1"/>
          <p:nvPr/>
        </p:nvSpPr>
        <p:spPr>
          <a:xfrm>
            <a:off x="1325880" y="4526280"/>
            <a:ext cx="4343400" cy="292608"/>
          </a:xfrm>
          <a:prstGeom prst="rect">
            <a:avLst/>
          </a:prstGeom>
          <a:noFill/>
          <a:ln/>
        </p:spPr>
        <p:txBody>
          <a:bodyPr wrap="square" lIns="0" tIns="0" rIns="0" bIns="0" rtlCol="0" anchor="t"/>
          <a:lstStyle/>
          <a:p>
            <a:pPr indent="0" marL="0">
              <a:buNone/>
            </a:pPr>
            <a:r>
              <a:rPr lang="en-US" sz="1600" b="1" dirty="0">
                <a:solidFill>
                  <a:schemeClr val="tx1"/>
                </a:solidFill>
              </a:rPr>
              <a:t>YouTube channel</a:t>
            </a:r>
            <a:endParaRPr lang="en-US" sz="1600" dirty="0"/>
          </a:p>
        </p:txBody>
      </p:sp>
      <p:sp>
        <p:nvSpPr>
          <p:cNvPr id="16" name="text-517"/>
          <p:cNvSpPr txBox="1"/>
          <p:nvPr/>
        </p:nvSpPr>
        <p:spPr>
          <a:xfrm>
            <a:off x="1325880" y="4864608"/>
            <a:ext cx="4343400" cy="457200"/>
          </a:xfrm>
          <a:prstGeom prst="rect">
            <a:avLst/>
          </a:prstGeom>
          <a:noFill/>
          <a:ln/>
        </p:spPr>
        <p:txBody>
          <a:bodyPr wrap="square" lIns="0" tIns="0" rIns="0" bIns="0" rtlCol="0" anchor="t"/>
          <a:lstStyle/>
          <a:p>
            <a:pPr indent="0" marL="0">
              <a:buNone/>
            </a:pPr>
            <a:r>
              <a:rPr lang="en-US" sz="1400" dirty="0">
                <a:solidFill>
                  <a:schemeClr val="tx2"/>
                </a:solidFill>
              </a:rPr>
              <a:t>Demonstrations on the Google Antigravity channel</a:t>
            </a:r>
            <a:endParaRPr lang="en-US" sz="1400" dirty="0"/>
          </a:p>
        </p:txBody>
      </p:sp>
      <p:sp>
        <p:nvSpPr>
          <p:cNvPr id="17" name="text-518"/>
          <p:cNvSpPr txBox="1"/>
          <p:nvPr/>
        </p:nvSpPr>
        <p:spPr>
          <a:xfrm>
            <a:off x="5971032" y="1920240"/>
            <a:ext cx="5672023" cy="365760"/>
          </a:xfrm>
          <a:prstGeom prst="rect">
            <a:avLst/>
          </a:prstGeom>
          <a:noFill/>
          <a:ln/>
        </p:spPr>
        <p:txBody>
          <a:bodyPr wrap="square" lIns="0" tIns="0" rIns="0" bIns="0" rtlCol="0" anchor="t"/>
          <a:lstStyle/>
          <a:p>
            <a:pPr indent="0" marL="0">
              <a:buNone/>
            </a:pPr>
            <a:r>
              <a:rPr lang="en-US" sz="1800" b="1" dirty="0">
                <a:solidFill>
                  <a:schemeClr val="tx1"/>
                </a:solidFill>
              </a:rPr>
              <a:t>Older names you may still see</a:t>
            </a:r>
            <a:endParaRPr lang="en-US" sz="1800" dirty="0"/>
          </a:p>
        </p:txBody>
      </p:sp>
      <p:graphicFrame>
        <p:nvGraphicFramePr>
          <p:cNvPr id="22" name="table-519"/>
          <p:cNvGraphicFramePr>
            <a:graphicFrameLocks noGrp="1"/>
          </p:cNvGraphicFramePr>
          <p:nvPr>
            <p:extLst>
              <p:ext uri="{D42A27DB-BD31-4B8C-83A1-F6EECF244321}">
                <p14:modId xmlns:p14="http://schemas.microsoft.com/office/powerpoint/2010/main" val="1579011935"/>
              </p:ext>
            </p:extLst>
          </p:nvPr>
        </p:nvGraphicFramePr>
        <p:xfrm>
          <a:off x="5971032" y="2514600"/>
          <a:ext cx="5672023" cy="914400"/>
        </p:xfrm>
        <a:graphic>
          <a:graphicData uri="http://schemas.openxmlformats.org/drawingml/2006/table">
            <a:tbl>
              <a:tblPr/>
              <a:tblGrid>
                <a:gridCol w="3062893"/>
                <a:gridCol w="2609131"/>
              </a:tblGrid>
              <a:tr h="530352">
                <a:tc>
                  <a:txBody>
                    <a:bodyPr/>
                    <a:lstStyle/>
                    <a:p>
                      <a:pPr indent="0" marL="0">
                        <a:buNone/>
                      </a:pPr>
                      <a:r>
                        <a:rPr lang="en-US" sz="1400" b="1" dirty="0">
                          <a:solidFill>
                            <a:schemeClr val="bg1"/>
                          </a:solidFill>
                        </a:rPr>
                        <a:t>Older name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Now</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accent3"/>
                    </a:solidFill>
                  </a:tcPr>
                </a:tc>
              </a:tr>
              <a:tr h="530352">
                <a:tc>
                  <a:txBody>
                    <a:bodyPr/>
                    <a:lstStyle/>
                    <a:p>
                      <a:pPr indent="0" marL="0">
                        <a:buNone/>
                      </a:pPr>
                      <a:r>
                        <a:rPr lang="en-US" sz="1400" dirty="0">
                          <a:solidFill>
                            <a:schemeClr val="tx1"/>
                          </a:solidFill>
                        </a:rPr>
                        <a:t>Antigravity (the 2025 editor)</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Antigravity IDE</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Agent Manager, inside the editor</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Antigravity desktop app</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r h="530352">
                <a:tc>
                  <a:txBody>
                    <a:bodyPr/>
                    <a:lstStyle/>
                    <a:p>
                      <a:pPr indent="0" marL="0">
                        <a:buNone/>
                      </a:pPr>
                      <a:r>
                        <a:rPr lang="en-US" sz="1400" dirty="0">
                          <a:solidFill>
                            <a:schemeClr val="tx1"/>
                          </a:solidFill>
                        </a:rPr>
                        <a:t>Gemini CLI</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Antigravity CLI (agy)</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Gemini CLI extensions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Antigravity plugins</a:t>
                      </a:r>
                      <a:endParaRPr lang="en-US" sz="1400" dirty="0"/>
                    </a:p>
                  </a:txBody>
                  <a:tcPr marL="128016" marR="91440" marT="36576" marB="36576" anchor="ctr">
                    <a:lnL w="9525" cap="flat" cmpd="sng" algn="ctr">
                      <a:solidFill>
                        <a:srgbClr val="DDD6FA"/>
                      </a:solidFill>
                      <a:prstDash val="solid"/>
                      <a:round/>
                      <a:headEnd type="none" w="med" len="med"/>
                      <a:tailEnd type="none" w="med" len="med"/>
                    </a:lnL>
                    <a:lnR w="9525" cap="flat" cmpd="sng" algn="ctr">
                      <a:solidFill>
                        <a:srgbClr val="DDD6FA"/>
                      </a:solidFill>
                      <a:prstDash val="solid"/>
                      <a:round/>
                      <a:headEnd type="none" w="med" len="med"/>
                      <a:tailEnd type="none" w="med" len="med"/>
                    </a:lnR>
                    <a:lnT w="9525" cap="flat" cmpd="sng" algn="ctr">
                      <a:solidFill>
                        <a:srgbClr val="DDD6FA"/>
                      </a:solidFill>
                      <a:prstDash val="solid"/>
                      <a:round/>
                      <a:headEnd type="none" w="med" len="med"/>
                      <a:tailEnd type="none" w="med" len="med"/>
                    </a:lnT>
                    <a:lnB w="9525" cap="flat" cmpd="sng" algn="ctr">
                      <a:solidFill>
                        <a:srgbClr val="DDD6FA"/>
                      </a:solidFill>
                      <a:prstDash val="solid"/>
                      <a:round/>
                      <a:headEnd type="none" w="med" len="med"/>
                      <a:tailEnd type="none" w="med" len="med"/>
                    </a:lnB>
                    <a:solidFill>
                      <a:schemeClr val="bg2"/>
                    </a:solidFill>
                  </a:tcPr>
                </a:tc>
              </a:tr>
            </a:tbl>
          </a:graphicData>
        </a:graphic>
      </p:graphicFrame>
      <p:sp>
        <p:nvSpPr>
          <p:cNvPr id="19" name="text-52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Google Codelabs (2026); Google Developers Blog, Transitioning Gemini CLI to Antigravity CLI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SUMMARY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000" b="1" dirty="0">
                <a:solidFill>
                  <a:schemeClr val="bg1"/>
                </a:solidFill>
              </a:rPr>
              <a:t>Three things to remember about Antigravity</a:t>
            </a:r>
            <a:endParaRPr lang="en-US" sz="3000" dirty="0"/>
          </a:p>
        </p:txBody>
      </p:sp>
      <p:sp>
        <p:nvSpPr>
          <p:cNvPr id="4" name="card-521"/>
          <p:cNvSpPr/>
          <p:nvPr/>
        </p:nvSpPr>
        <p:spPr>
          <a:xfrm>
            <a:off x="548640" y="2057400"/>
            <a:ext cx="3454298" cy="2788920"/>
          </a:xfrm>
          <a:prstGeom prst="roundRect">
            <a:avLst>
              <a:gd name="adj" fmla="val 3934"/>
            </a:avLst>
          </a:prstGeom>
          <a:solidFill>
            <a:schemeClr val="tx2"/>
          </a:solidFill>
          <a:ln/>
        </p:spPr>
      </p:sp>
      <p:sp>
        <p:nvSpPr>
          <p:cNvPr id="5" name="text-522"/>
          <p:cNvSpPr txBox="1"/>
          <p:nvPr/>
        </p:nvSpPr>
        <p:spPr>
          <a:xfrm>
            <a:off x="822960"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01</a:t>
            </a:r>
            <a:endParaRPr lang="en-US" sz="2800" dirty="0"/>
          </a:p>
        </p:txBody>
      </p:sp>
      <p:sp>
        <p:nvSpPr>
          <p:cNvPr id="6" name="text-523"/>
          <p:cNvSpPr txBox="1"/>
          <p:nvPr/>
        </p:nvSpPr>
        <p:spPr>
          <a:xfrm>
            <a:off x="822960"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Agents do the work</a:t>
            </a:r>
            <a:endParaRPr lang="en-US" sz="2000" dirty="0"/>
          </a:p>
        </p:txBody>
      </p:sp>
      <p:sp>
        <p:nvSpPr>
          <p:cNvPr id="7" name="text-524"/>
          <p:cNvSpPr txBox="1"/>
          <p:nvPr/>
        </p:nvSpPr>
        <p:spPr>
          <a:xfrm>
            <a:off x="822960"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You describe the task and manage the agents, rather than typing every line.</a:t>
            </a:r>
            <a:endParaRPr lang="en-US" sz="1600" dirty="0"/>
          </a:p>
        </p:txBody>
      </p:sp>
      <p:sp>
        <p:nvSpPr>
          <p:cNvPr id="8" name="card-525"/>
          <p:cNvSpPr/>
          <p:nvPr/>
        </p:nvSpPr>
        <p:spPr>
          <a:xfrm>
            <a:off x="4368698" y="2057400"/>
            <a:ext cx="3454298" cy="2788920"/>
          </a:xfrm>
          <a:prstGeom prst="roundRect">
            <a:avLst>
              <a:gd name="adj" fmla="val 3934"/>
            </a:avLst>
          </a:prstGeom>
          <a:solidFill>
            <a:schemeClr val="tx2"/>
          </a:solidFill>
          <a:ln/>
        </p:spPr>
      </p:sp>
      <p:sp>
        <p:nvSpPr>
          <p:cNvPr id="9" name="text-526"/>
          <p:cNvSpPr txBox="1"/>
          <p:nvPr/>
        </p:nvSpPr>
        <p:spPr>
          <a:xfrm>
            <a:off x="4643018"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02</a:t>
            </a:r>
            <a:endParaRPr lang="en-US" sz="2800" dirty="0"/>
          </a:p>
        </p:txBody>
      </p:sp>
      <p:sp>
        <p:nvSpPr>
          <p:cNvPr id="10" name="text-527"/>
          <p:cNvSpPr txBox="1"/>
          <p:nvPr/>
        </p:nvSpPr>
        <p:spPr>
          <a:xfrm>
            <a:off x="4643018"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Artifacts are the proof</a:t>
            </a:r>
            <a:endParaRPr lang="en-US" sz="2000" dirty="0"/>
          </a:p>
        </p:txBody>
      </p:sp>
      <p:sp>
        <p:nvSpPr>
          <p:cNvPr id="11" name="text-528"/>
          <p:cNvSpPr txBox="1"/>
          <p:nvPr/>
        </p:nvSpPr>
        <p:spPr>
          <a:xfrm>
            <a:off x="4643018"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Plans, diffs, screenshots and walkthroughs let you check what was done.</a:t>
            </a:r>
            <a:endParaRPr lang="en-US" sz="1600" dirty="0"/>
          </a:p>
        </p:txBody>
      </p:sp>
      <p:sp>
        <p:nvSpPr>
          <p:cNvPr id="12" name="card-529"/>
          <p:cNvSpPr/>
          <p:nvPr/>
        </p:nvSpPr>
        <p:spPr>
          <a:xfrm>
            <a:off x="8188757" y="2057400"/>
            <a:ext cx="3454298" cy="2788920"/>
          </a:xfrm>
          <a:prstGeom prst="roundRect">
            <a:avLst>
              <a:gd name="adj" fmla="val 3934"/>
            </a:avLst>
          </a:prstGeom>
          <a:solidFill>
            <a:schemeClr val="tx2"/>
          </a:solidFill>
          <a:ln/>
        </p:spPr>
      </p:sp>
      <p:sp>
        <p:nvSpPr>
          <p:cNvPr id="13" name="text-530"/>
          <p:cNvSpPr txBox="1"/>
          <p:nvPr/>
        </p:nvSpPr>
        <p:spPr>
          <a:xfrm>
            <a:off x="8463077"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03</a:t>
            </a:r>
            <a:endParaRPr lang="en-US" sz="2800" dirty="0"/>
          </a:p>
        </p:txBody>
      </p:sp>
      <p:sp>
        <p:nvSpPr>
          <p:cNvPr id="14" name="text-531"/>
          <p:cNvSpPr txBox="1"/>
          <p:nvPr/>
        </p:nvSpPr>
        <p:spPr>
          <a:xfrm>
            <a:off x="8463077"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Start safely</a:t>
            </a:r>
            <a:endParaRPr lang="en-US" sz="2000" dirty="0"/>
          </a:p>
        </p:txBody>
      </p:sp>
      <p:sp>
        <p:nvSpPr>
          <p:cNvPr id="15" name="text-532"/>
          <p:cNvSpPr txBox="1"/>
          <p:nvPr/>
        </p:nvSpPr>
        <p:spPr>
          <a:xfrm>
            <a:off x="8463077"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Use the desktop app, keep request-review on and begin with small tasks.</a:t>
            </a:r>
            <a:endParaRPr lang="en-US" sz="1600" dirty="0"/>
          </a:p>
        </p:txBody>
      </p:sp>
      <p:sp>
        <p:nvSpPr>
          <p:cNvPr id="16" name="text-533"/>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2000" dirty="0">
                <a:solidFill>
                  <a:schemeClr val="accent5"/>
                </a:solidFill>
              </a:rPr>
              <a:t>Your next step: download it from  </a:t>
            </a:r>
            <a:pPr indent="0" marL="0">
              <a:buNone/>
            </a:pPr>
            <a:r>
              <a:rPr lang="en-US" sz="2000" b="1" dirty="0">
                <a:solidFill>
                  <a:schemeClr val="bg1"/>
                </a:solidFill>
                <a:latin typeface="Courier New" pitchFamily="34" charset="0"/>
                <a:ea typeface="Courier New" pitchFamily="34" charset="-122"/>
                <a:cs typeface="Courier New" pitchFamily="34" charset="-120"/>
              </a:rPr>
              <a:t>antigravity.google/download</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ntigravity Beginner">
  <a:themeElements>
    <a:clrScheme name="Antigravity Beginner">
      <a:dk1>
        <a:srgbClr val="17152E"/>
      </a:dk1>
      <a:lt1>
        <a:srgbClr val="FFFFFF"/>
      </a:lt1>
      <a:dk2>
        <a:srgbClr val="2E2A57"/>
      </a:dk2>
      <a:lt2>
        <a:srgbClr val="F2F0FA"/>
      </a:lt2>
      <a:accent1>
        <a:srgbClr val="5A3FD0"/>
      </a:accent1>
      <a:accent2>
        <a:srgbClr val="0B8A7A"/>
      </a:accent2>
      <a:accent3>
        <a:srgbClr val="3A2A8C"/>
      </a:accent3>
      <a:accent4>
        <a:srgbClr val="66637A"/>
      </a:accent4>
      <a:accent5>
        <a:srgbClr val="DDD6FA"/>
      </a:accent5>
      <a:accent6>
        <a:srgbClr val="C2553A"/>
      </a:accent6>
      <a:hlink>
        <a:srgbClr val="5A3FD0"/>
      </a:hlink>
      <a:folHlink>
        <a:srgbClr val="66637A"/>
      </a:folHlink>
    </a:clrScheme>
    <a:fontScheme name="Antigravity Beginn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Antigravity from zero: a beginner's guide</dc:title>
  <dc:subject>PptxGenJS Presentation</dc:subject>
  <dc:creator>PptxGenJS</dc:creator>
  <cp:lastModifiedBy>PptxGenJS</cp:lastModifiedBy>
  <cp:revision>1</cp:revision>
  <dcterms:created xsi:type="dcterms:W3CDTF">2026-10-05T12:32:00Z</dcterms:created>
  <dcterms:modified xsi:type="dcterms:W3CDTF">2026-10-05T12:32:00Z</dcterms:modified>
</cp:coreProperties>
</file>