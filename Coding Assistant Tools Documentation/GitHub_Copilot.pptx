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d56a635-740f-9861-3187-3654b1b31b1e}">
          <p14:sldIdLst>
            <p14:sldId id="256"/>
          </p14:sldIdLst>
        </p14:section>
        <p14:section name="1 What it is" id="{93cf6ac1-2b6c-708b-e8b2-9f15fb8823fc}">
          <p14:sldIdLst>
            <p14:sldId id="257"/>
            <p14:sldId id="258"/>
            <p14:sldId id="259"/>
            <p14:sldId id="260"/>
          </p14:sldIdLst>
        </p14:section>
        <p14:section name="2 Getting started" id="{a4e16562-442f-58c6-1b6c-2097cc59b26b}">
          <p14:sldIdLst>
            <p14:sldId id="261"/>
            <p14:sldId id="262"/>
            <p14:sldId id="263"/>
          </p14:sldIdLst>
        </p14:section>
        <p14:section name="3 Terminology" id="{dae769e6-1484-9269-9578-aedbb9bc68dc}">
          <p14:sldIdLst>
            <p14:sldId id="264"/>
            <p14:sldId id="265"/>
            <p14:sldId id="266"/>
            <p14:sldId id="267"/>
            <p14:sldId id="268"/>
            <p14:sldId id="269"/>
            <p14:sldId id="270"/>
            <p14:sldId id="271"/>
            <p14:sldId id="272"/>
          </p14:sldIdLst>
        </p14:section>
        <p14:section name="4 Using it" id="{75ff493c-c6f1-5aeb-0767-bcefa62db2f2}">
          <p14:sldIdLst>
            <p14:sldId id="273"/>
            <p14:sldId id="274"/>
            <p14:sldId id="275"/>
            <p14:sldId id="276"/>
            <p14:sldId id="277"/>
          </p14:sldIdLst>
        </p14:section>
        <p14:section name="5 Next steps" id="{c9122569-f563-4e87-4ff9-faa49a195d33}">
          <p14:sldIdLst>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assumes no experience with AI coding tools. By the end you will know what GitHub Copilot is, the vocabulary around it, and how to get your first suggestion. The panel on the right is an illustration, not a screenshot: the italic lines stand for a suggestion Copilot offers as you type, and the card below stands for a pull request opened by a Copilot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Copilot is an AI assistant for writing software. It is made by GitHub, the website where much of the world's code is stored, which Microsoft owns. Unlike a separate app, Copilot mostly lives inside tools programmers already use: code editors, the GitHub website and the terminal. It helps in three ways. It suggests code as you type. It answers questions in a chat panel. And its agents can carry out whole tasks. GitHub's documentation groups the first two as assistive features and the third as agentic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a very common confusion. Microsoft uses the Copilot name for several products. GitHub Copilot, the subject of this deck, is for software development. Microsoft Copilot is a general AI chat assistant. Microsoft 365 Copilot adds AI to office applications such as Word, Excel and Teams. They are priced and licensed independently. If someone says 'I have Copilot at work', ask which one they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history. Copilot was announced as a technical preview on 29 June 2021, working in Visual Studio Code and powered by OpenAI's Codex model. It left preview on 21 June 2022 as a paid subscription. A free plan followed in late 2024. In 2025 the product moved beyond suggestions: agent mode was announced in February and a cloud-based coding agent in May. In June 2026 billing changed from counting premium requests to usage-based AI Credits. Copilot now offers models from several AI companies, including OpenAI, Anthropic, Google and xAI.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is available in many places. The most common is your code editor: Visual Studio Code, Visual Studio, the JetBrains family, Xcode and Eclipse are all supported. On the GitHub website you can chat about a file, a repository or a pull request. Copilot CLI brings an agent to the terminal. The GitHub Copilot app is a desktop application built around agents. And GitHub Mobile lets you chat on a phone. A beginner should start in VS Code, highlighted on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very little to begin. First, a personal GitHub account, which is free. Second, access to a Copilot plan; Copilot Free lets you explore a limited set of features without subscribing. Third, somewhere to use it: Visual Studio Code is the usual choice, but you can also just chat with Copilot on the GitHub website. Verified students can get Copilot Student at no cost, and GitHub says verified teachers and maintainers of popular open-source projects may be eligible for free access to Copilot Pro.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steps follow GitHub's quickstart for Visual Studio Code. Step one: sign up, starting with Copilot Free. Step two: install the latest VS Code and sign in to your GitHub account from inside it. Step three: open the Chat view; the shortcut is Control-Alt-I on Windows and Linux, or Control-Command-I on a Mac, and there is also a chat icon in the title bar. Step four: start typing code. GitHub's own example is to type a function header and watch Copilot suggest the whole body in grey; pressing Tab accepts it. Other editors need the Copilot extension or plugin installed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has four individual plans and two for organisations. Free costs nothing and includes limited use, with code completions capped at 2,000 a month. Pro is 10 dollars a month, Pro+ is 39 and Max is 100; the main difference is how many AI Credits you get and which models you can use. Business is 19 dollars per seat and Enterprise 39 per seat, adding central management and policy controls. AI Credits are the unit GitHub uses to measure chat and agent usage; the figures shown are the total monthly allowances from GitHub's plans page. Ordinary code completions do not use credits on paid plans. All plans include Copilot CLI and the Copilot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words to learn first. An inline suggestion is the autocomplete-style grey text, sometimes called ghost text or a code completion. A next edit suggestion goes further: it predicts the location of your next edit and proposes it. Copilot Chat is the conversational side. A prompt is whatever you type to Copilot. The model is the underlying AI system; on Free and Student plans Copilot picks it automatically, and paid plans let you choose. AI Credits are how usage of chat and agents is measured and billed.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Copilot's agents work through GitHub, so a beginner needs a little GitHub vocabulary. A repository, or repo, is a project and its history. A branch is a separate line of work. A commit is a saved snapshot. A pull request, or PR, proposes merging a branch and is where review happens. An issue is a tracked note about a bug or task. GitHub Actions is GitHub's automation service, which also provides the environment where the cloud agent runs. With these six words, the next few slides will make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editor, the chat panel can work in different modes. Ask mode is conversational: it answers and explains without changing your files. Plan mode produces a plan for you to review before any code is written. Agent mode is the autonomous one: GitHub describes it as Copilot determining which files to change, offering code changes and terminal commands for your approval, and iterating until the task is complete. Mode names have changed over time, and older guides also mention an Edit mode, so check the mode picker in your own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Chat has three kinds of shortcut, each starting with a symbol. Slash commands are shortcuts for common jobs: /explain, /fix and /tests are the ones beginners use most. Chat variables start with a hash and tell Copilot exactly what to look at, such as the current file or your selection. Chat participants start with an at-sign and bring in specialised knowledge, for example @terminal for the terminal or @github for GitHub-specific skills. This list is from the VS Code version of GitHub's cheat sheet; other editors have slightly different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calls these the agentic features: they can work autonomously, but typically need human approval for sensitive actions such as running a terminal command or merging a pull request. Agent mode works inside your editor. The cloud agent works on GitHub's servers. Copilot CLI is the terminal agent. Copilot code review gives AI-generated review suggestions. The GitHub Copilot app is a desktop application for running and managing several agent sessions. And, in public preview, you can use third-party coding agents alongside Copilot, such as Anthropic's Claude and OpenAI's Codex.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cloud agent, earlier called the coding agent, is the feature that most resembles handing work to a colleague. You assign it a GitHub issue or describe a task. It researches the repository and creates an implementation plan. It then makes code changes on a branch, in a cloud environment powered by GitHub Actions. You review the diff, iterate with it, and create a pull request when you are ready; it can also open the pull request directly. You stay responsible for the final review and the merge. Third-party guides say this feature is limited to paid plans, so check your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features add context to Copilot so its answers fit your project. Custom instructions are standing guidance, covered on the next slide. Prompt files are reusable prompts stored as Markdown files. Copilot Spaces gather code, documents and specifications for a particular task. MCP, the Model Context Protocol, is the shared standard for connecting AI tools to outside systems; the same idea appears in Claude Code, Codex, Cursor and Antigravity. Agent skills are folders of instructions and scripts loaded when relevant. Custom agents are specialised versions of the cloud agent. Copilot Memory, in public preview, lets Copilot store useful facts about a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instructions are the first customisation worth learning. Personal instructions apply to your own chats on GitHub.com. Repository instructions live in the project, most commonly in a file called copilot-instructions.md inside a .github folder, as illustrated on the right; they apply to everyone working in that repository. You can also write path-specific instruction files for particular folders or file types. Organization instructions are set by owners on Copilot Business or Enterprise. Copilot also reads agent instruction files such as AGENTS.md, the same file used by other coding agents. When they conflict, personal instructions take priority, then repository, then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control words. Approval: agents typically need your permission for sensitive actions; in Copilot CLI the choices are yes once, yes for the rest of the session, or no with new directions. Folder trust: the CLI asks you to confirm you trust the files in a folder before it starts. Keep: in VS Code, after an agent makes changes you review them and select Keep to accept. Sandboxing restricts what agent-run commands can touch. Content exclusion tells Copilot to ignore certain files. And the public code filter blocks suggestions that match publicly available code, which matters for licensing.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as a reference. In VS Code, Tab accepts a suggestion and Escape dismisses it; the Chat view opens with Control-Alt-I, or Control-Command-I on a Mac; inline chat, a small prompt box inside your code, opens with Control-I or Command-I. In Chat, the slash commands and the #file variable cover most everyday needs. In the terminal, Copilot CLI starts with the command copilot; /login signs you in, Shift-Tab toggles plan mode, an at-sign adds a file to your prompt, and an exclamation mark runs a shell command directly. Shortcuts can be changed, so yours may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first session that is safe and useful. The first three steps happen in Chat and are taken from GitHub's quickstart: ask Copilot to explain a file, ask how the code could be improved, and ask for tests. None of these changes your code unless you choose to apply the result. The fourth step happens in the editor itself: type the first line of a function and wait a moment for the grey suggestion, then press Tab to accept it or keep typing to ignore it. The function name here is my shortened version of GitHub's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common jobs, in rough order of how much you hand over. Understanding code, fixing a bug and writing tests are quick chat commands. Building a feature suits agent mode in the editor: describe the result you want and review the changes it proposes. Reviewing changes uses Copilot code review, which you request on a pull request. And delegating a task means assigning a GitHub issue to the cloud agent, which then works on its own and comes back with changes for you to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clearer the prompt, the less Copilot has to guess. A specific prompt names the language, the inputs and the result you expect. Three habits help. Give context: Copilot works from the file and selection in front of it, and you can add more with chat variables. Break large tasks into small steps. And treat the first answer as a draft: run it, see what happens, and tell Copilot precisely what to change. These are general good practices for working with any AI coding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habits. Read suggestions before accepting them; pressing Tab is a decision. Explore unfamiliar code in Ask mode, which changes nothing. When an agent asks to run a command, approve one at a time until you understand what it tends to do. Treat a pull request from Copilot like one from a colleague: read the changes and run the tests before merging. And never paste passwords or keys into a prompt. The panel on the right is the main message: AI-generated code can contain bugs or vulnerabilities, so review and testing remain your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seen the earlier decks, this table links the five tools. Copilot comes from GitHub, part of Microsoft, and is mainly an add-on to the editor you already use, plus features on GitHub itself. Cursor is its own editor. Antigravity is a desktop app with an editor. Claude Code and Codex began as terminal tools and now have apps. Copilot and Cursor both offer models from several companies. Each has a terminal command and a place for standing project instructions. The ideas carry across all five: suggestions, chat, agents, plans, approvals, skills and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suggested order, not an official curriculum. On day one, get used to suggestions and to asking Chat questions. In the first week, use the slash commands and let agent mode make one small change that you review. In the first month, write custom instructions so Copilot follows your project's conventions, and try Copilot code review. The terminal agent, the cloud agent and the desktop app can wait until you want to delegate larger pieces of work; some of these may need a paid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dependable places to keep learning: GitHub's documentation, the tutorials and prompt cookbook inside it, and the GitHub Community forum. The table matters because Copilot's names have changed. The coding agent is now called the cloud agent. Premium requests were replaced by AI Credits in 2026. Code completion is now usually called inline suggestions. And the older Copilot extension for the GitHub command-line tool has been succeeded by the standalone Copilot CLI, started with the command copilot. If an older guide uses a name on the left, look for the one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ideas. One: Copilot helps at three levels, suggesting code, answering questions and acting through agents. Two: you stay in charge, by choosing what to accept and by reviewing what agents produce. Three: start with the free plan in VS Code and build up from small, low-risk tasks. Then invite the audience to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GitHub Copilot from zero  |  A beginner's guide</a:t>
            </a:r>
            <a:endParaRPr lang="en-US" sz="1000" dirty="0"/>
          </a:p>
        </p:txBody>
      </p:sp>
      <p:sp>
        <p:nvSpPr>
          <p:cNvPr id="3" name="Text 1"/>
          <p:cNvSpPr/>
          <p:nvPr>
            <p:ph idx="101" type="body" hasCustomPrompt="1"/>
          </p:nvPr>
        </p:nvSpPr>
        <p:spPr>
          <a:xfrm>
            <a:off x="822960" y="457200"/>
            <a:ext cx="10820095" cy="274320"/>
          </a:xfrm>
          <a:prstGeom prst="rect">
            <a:avLst/>
          </a:prstGeom>
          <a:noFill/>
          <a:ln/>
        </p:spPr>
        <p:txBody>
          <a:bodyPr wrap="square" rtlCol="0"/>
          <a:lstStyle>
            <a:lvl1pPr indent="0" marL="0">
              <a:buNone/>
              <a:defRPr lang="en-US" sz="1200" b="1"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D111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371600"/>
            <a:ext cx="5669280" cy="274320"/>
          </a:xfrm>
          <a:prstGeom prst="rect">
            <a:avLst/>
          </a:prstGeom>
          <a:noFill/>
          <a:ln/>
        </p:spPr>
        <p:txBody>
          <a:bodyPr wrap="square" rtlCol="0"/>
          <a:lstStyle>
            <a:lvl1pPr indent="0" marL="0">
              <a:buNone/>
              <a:defRPr lang="en-US" sz="1200" b="1" dirty="0">
                <a:solidFill>
                  <a:schemeClr val="accent5"/>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548640" y="1783080"/>
            <a:ext cx="59436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657600"/>
            <a:ext cx="5669280" cy="91440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GitHub Copilot from zero  |  A beginner's guide</a:t>
            </a:r>
            <a:endParaRPr lang="en-US" sz="1000" dirty="0"/>
          </a:p>
        </p:txBody>
      </p:sp>
      <p:sp>
        <p:nvSpPr>
          <p:cNvPr id="3" name="Text 1"/>
          <p:cNvSpPr/>
          <p:nvPr>
            <p:ph idx="101" type="body" hasCustomPrompt="1"/>
          </p:nvPr>
        </p:nvSpPr>
        <p:spPr>
          <a:xfrm>
            <a:off x="822960" y="457200"/>
            <a:ext cx="10820095" cy="274320"/>
          </a:xfrm>
          <a:prstGeom prst="rect">
            <a:avLst/>
          </a:prstGeom>
          <a:noFill/>
          <a:ln/>
        </p:spPr>
        <p:txBody>
          <a:bodyPr wrap="square" rtlCol="0"/>
          <a:lstStyle>
            <a:lvl1pPr indent="0" marL="0">
              <a:buNone/>
              <a:defRPr lang="en-US" sz="1200" b="1" dirty="0">
                <a:solidFill>
                  <a:schemeClr val="accent5"/>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2.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node-1"/>
          <p:cNvSpPr/>
          <p:nvPr/>
        </p:nvSpPr>
        <p:spPr>
          <a:xfrm>
            <a:off x="548640" y="1417320"/>
            <a:ext cx="173736" cy="173736"/>
          </a:xfrm>
          <a:prstGeom prst="ellipse">
            <a:avLst/>
          </a:prstGeom>
          <a:solidFill>
            <a:schemeClr val="tx1"/>
          </a:solidFill>
          <a:ln w="31750">
            <a:solidFill>
              <a:schemeClr val="accent5"/>
            </a:solidFill>
            <a:prstDash val="solid"/>
          </a:ln>
        </p:spPr>
      </p:sp>
      <p:sp>
        <p:nvSpPr>
          <p:cNvPr id="3" name="Text 0"/>
          <p:cNvSpPr/>
          <p:nvPr>
            <p:ph idx="100" type="body" hasCustomPrompt="1"/>
          </p:nvPr>
        </p:nvSpPr>
        <p:spPr>
          <a:xfrm>
            <a:off x="822960" y="1371600"/>
            <a:ext cx="5669280" cy="27432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A BEGINNER'S GUIDE</a:t>
            </a:r>
            <a:endParaRPr lang="en-US" sz="1200" dirty="0"/>
          </a:p>
        </p:txBody>
      </p:sp>
      <p:sp>
        <p:nvSpPr>
          <p:cNvPr id="4" name="Text 0"/>
          <p:cNvSpPr/>
          <p:nvPr>
            <p:ph idx="101" type="title" hasCustomPrompt="1"/>
          </p:nvPr>
        </p:nvSpPr>
        <p:spPr>
          <a:xfrm>
            <a:off x="548640" y="1783080"/>
            <a:ext cx="5943600" cy="1737360"/>
          </a:xfrm>
          <a:prstGeom prst="rect">
            <a:avLst/>
          </a:prstGeom>
          <a:noFill/>
          <a:ln/>
        </p:spPr>
        <p:txBody>
          <a:bodyPr wrap="square" lIns="0" tIns="0" rIns="0" bIns="0" rtlCol="0" anchor="t"/>
          <a:lstStyle/>
          <a:p>
            <a:pPr algn="l" indent="0" marL="0">
              <a:buNone/>
            </a:pPr>
            <a:r>
              <a:rPr lang="en-US" sz="4400" b="1" dirty="0">
                <a:solidFill>
                  <a:schemeClr val="bg1"/>
                </a:solidFill>
              </a:rPr>
              <a:t>GitHub Copilot</a:t>
            </a:r>
            <a:endParaRPr lang="en-US" sz="4400" dirty="0"/>
          </a:p>
          <a:p>
            <a:pPr algn="l" indent="0" marL="0">
              <a:buNone/>
            </a:pPr>
            <a:r>
              <a:rPr lang="en-US" sz="4400" b="1" dirty="0">
                <a:solidFill>
                  <a:schemeClr val="bg1"/>
                </a:solidFill>
              </a:rPr>
              <a:t>from zero</a:t>
            </a:r>
            <a:endParaRPr lang="en-US" sz="4400" dirty="0"/>
          </a:p>
        </p:txBody>
      </p:sp>
      <p:sp>
        <p:nvSpPr>
          <p:cNvPr id="5" name="Text 0"/>
          <p:cNvSpPr/>
          <p:nvPr>
            <p:ph idx="102" type="body" hasCustomPrompt="1"/>
          </p:nvPr>
        </p:nvSpPr>
        <p:spPr>
          <a:xfrm>
            <a:off x="548640" y="3657600"/>
            <a:ext cx="5669280" cy="914400"/>
          </a:xfrm>
          <a:prstGeom prst="rect">
            <a:avLst/>
          </a:prstGeom>
          <a:noFill/>
          <a:ln/>
        </p:spPr>
        <p:txBody>
          <a:bodyPr wrap="square" lIns="0" tIns="0" rIns="0" bIns="0" rtlCol="0" anchor="t"/>
          <a:lstStyle/>
          <a:p>
            <a:pPr indent="0" marL="0">
              <a:buNone/>
            </a:pPr>
            <a:r>
              <a:rPr lang="en-US" sz="1800" dirty="0">
                <a:solidFill>
                  <a:schemeClr val="accent5"/>
                </a:solidFill>
              </a:rPr>
              <a:t>What it is, the words you will hear, and how to get your first AI suggestion</a:t>
            </a:r>
            <a:endParaRPr lang="en-US" sz="1800" dirty="0"/>
          </a:p>
        </p:txBody>
      </p:sp>
      <p:sp>
        <p:nvSpPr>
          <p:cNvPr id="6" name="text-2"/>
          <p:cNvSpPr txBox="1"/>
          <p:nvPr/>
        </p:nvSpPr>
        <p:spPr>
          <a:xfrm>
            <a:off x="548640" y="5120640"/>
            <a:ext cx="5943600" cy="27432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No experience with AI coding tools needed</a:t>
            </a:r>
            <a:endParaRPr lang="en-US" sz="1200" dirty="0"/>
          </a:p>
        </p:txBody>
      </p:sp>
      <p:sp>
        <p:nvSpPr>
          <p:cNvPr id="7" name="card-3"/>
          <p:cNvSpPr/>
          <p:nvPr/>
        </p:nvSpPr>
        <p:spPr>
          <a:xfrm>
            <a:off x="6949440" y="1188720"/>
            <a:ext cx="4690872" cy="4434840"/>
          </a:xfrm>
          <a:prstGeom prst="roundRect">
            <a:avLst>
              <a:gd name="adj" fmla="val 1856"/>
            </a:avLst>
          </a:prstGeom>
          <a:solidFill>
            <a:schemeClr val="tx2"/>
          </a:solidFill>
          <a:ln/>
        </p:spPr>
      </p:sp>
      <p:sp>
        <p:nvSpPr>
          <p:cNvPr id="8" name="pill-4"/>
          <p:cNvSpPr/>
          <p:nvPr/>
        </p:nvSpPr>
        <p:spPr>
          <a:xfrm>
            <a:off x="7223760" y="1444752"/>
            <a:ext cx="1051560" cy="329184"/>
          </a:xfrm>
          <a:prstGeom prst="roundRect">
            <a:avLst>
              <a:gd name="adj" fmla="val 50000"/>
            </a:avLst>
          </a:prstGeom>
          <a:solidFill>
            <a:schemeClr val="tx1"/>
          </a:solidFill>
          <a:ln/>
        </p:spPr>
      </p:sp>
      <p:sp>
        <p:nvSpPr>
          <p:cNvPr id="9" name="text-5"/>
          <p:cNvSpPr txBox="1"/>
          <p:nvPr/>
        </p:nvSpPr>
        <p:spPr>
          <a:xfrm>
            <a:off x="7223760" y="1444752"/>
            <a:ext cx="1051560"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days.js</a:t>
            </a:r>
            <a:endParaRPr lang="en-US" sz="1200" dirty="0"/>
          </a:p>
        </p:txBody>
      </p:sp>
      <p:sp>
        <p:nvSpPr>
          <p:cNvPr id="10" name="text-6"/>
          <p:cNvSpPr txBox="1"/>
          <p:nvPr/>
        </p:nvSpPr>
        <p:spPr>
          <a:xfrm>
            <a:off x="7223760" y="2011680"/>
            <a:ext cx="4142232" cy="1143000"/>
          </a:xfrm>
          <a:prstGeom prst="rect">
            <a:avLst/>
          </a:prstGeom>
          <a:noFill/>
          <a:ln/>
        </p:spPr>
        <p:txBody>
          <a:bodyPr wrap="square" lIns="0" tIns="0" rIns="0" bIns="0" rtlCol="0" anchor="t"/>
          <a:lstStyle/>
          <a:p>
            <a:pPr indent="0" marL="0">
              <a:spcAft>
                <a:spcPts val="300"/>
              </a:spcAft>
              <a:buNone/>
            </a:pPr>
            <a:r>
              <a:rPr lang="en-US" sz="1400" dirty="0">
                <a:solidFill>
                  <a:schemeClr val="bg1"/>
                </a:solidFill>
                <a:latin typeface="Courier New" pitchFamily="34" charset="0"/>
                <a:ea typeface="Courier New" pitchFamily="34" charset="-122"/>
                <a:cs typeface="Courier New" pitchFamily="34" charset="-120"/>
              </a:rPr>
              <a:t>function daysBetween(begin, end) {</a:t>
            </a:r>
            <a:endParaRPr lang="en-US" sz="1400" dirty="0"/>
          </a:p>
          <a:p>
            <a:pPr indent="0" marL="0">
              <a:spcAft>
                <a:spcPts val="300"/>
              </a:spcAft>
              <a:buNone/>
            </a:pPr>
            <a:r>
              <a:rPr lang="en-US" sz="1400" i="1" dirty="0">
                <a:solidFill>
                  <a:schemeClr val="accent5"/>
                </a:solidFill>
                <a:latin typeface="Courier New" pitchFamily="34" charset="0"/>
                <a:ea typeface="Courier New" pitchFamily="34" charset="-122"/>
                <a:cs typeface="Courier New" pitchFamily="34" charset="-120"/>
              </a:rPr>
              <a:t>  const ms = end - begin;</a:t>
            </a:r>
            <a:endParaRPr lang="en-US" sz="1400" dirty="0"/>
          </a:p>
          <a:p>
            <a:pPr indent="0" marL="0">
              <a:spcAft>
                <a:spcPts val="300"/>
              </a:spcAft>
              <a:buNone/>
            </a:pPr>
            <a:r>
              <a:rPr lang="en-US" sz="1400" i="1" dirty="0">
                <a:solidFill>
                  <a:schemeClr val="accent5"/>
                </a:solidFill>
                <a:latin typeface="Courier New" pitchFamily="34" charset="0"/>
                <a:ea typeface="Courier New" pitchFamily="34" charset="-122"/>
                <a:cs typeface="Courier New" pitchFamily="34" charset="-120"/>
              </a:rPr>
              <a:t>  return Math.round(ms / 86400000);</a:t>
            </a:r>
            <a:endParaRPr lang="en-US" sz="1400" dirty="0"/>
          </a:p>
          <a:p>
            <a:pPr indent="0" marL="0">
              <a:spcAft>
                <a:spcPts val="300"/>
              </a:spcAft>
              <a:buNone/>
            </a:pPr>
            <a:r>
              <a:rPr lang="en-US" sz="1400" i="1" dirty="0">
                <a:solidFill>
                  <a:schemeClr val="accent5"/>
                </a:solidFill>
                <a:latin typeface="Courier New" pitchFamily="34" charset="0"/>
                <a:ea typeface="Courier New" pitchFamily="34" charset="-122"/>
                <a:cs typeface="Courier New" pitchFamily="34" charset="-120"/>
              </a:rPr>
              <a:t>}</a:t>
            </a:r>
            <a:endParaRPr lang="en-US" sz="1400" dirty="0"/>
          </a:p>
        </p:txBody>
      </p:sp>
      <p:sp>
        <p:nvSpPr>
          <p:cNvPr id="11" name="pill-7"/>
          <p:cNvSpPr/>
          <p:nvPr/>
        </p:nvSpPr>
        <p:spPr>
          <a:xfrm>
            <a:off x="9628632" y="3291840"/>
            <a:ext cx="1737360" cy="329184"/>
          </a:xfrm>
          <a:prstGeom prst="roundRect">
            <a:avLst>
              <a:gd name="adj" fmla="val 50000"/>
            </a:avLst>
          </a:prstGeom>
          <a:solidFill>
            <a:schemeClr val="accent1"/>
          </a:solidFill>
          <a:ln/>
        </p:spPr>
      </p:sp>
      <p:sp>
        <p:nvSpPr>
          <p:cNvPr id="12" name="text-8"/>
          <p:cNvSpPr txBox="1"/>
          <p:nvPr/>
        </p:nvSpPr>
        <p:spPr>
          <a:xfrm>
            <a:off x="9628632" y="3291840"/>
            <a:ext cx="1737360"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Tab to accept</a:t>
            </a:r>
            <a:endParaRPr lang="en-US" sz="1200" dirty="0"/>
          </a:p>
        </p:txBody>
      </p:sp>
      <p:sp>
        <p:nvSpPr>
          <p:cNvPr id="13" name="card-9"/>
          <p:cNvSpPr/>
          <p:nvPr/>
        </p:nvSpPr>
        <p:spPr>
          <a:xfrm>
            <a:off x="7223760" y="3977640"/>
            <a:ext cx="4142232" cy="1325880"/>
          </a:xfrm>
          <a:prstGeom prst="roundRect">
            <a:avLst>
              <a:gd name="adj" fmla="val 6207"/>
            </a:avLst>
          </a:prstGeom>
          <a:solidFill>
            <a:schemeClr val="tx1"/>
          </a:solidFill>
          <a:ln/>
        </p:spPr>
      </p:sp>
      <p:sp>
        <p:nvSpPr>
          <p:cNvPr id="14" name="node-10"/>
          <p:cNvSpPr/>
          <p:nvPr/>
        </p:nvSpPr>
        <p:spPr>
          <a:xfrm>
            <a:off x="7452360" y="4233672"/>
            <a:ext cx="182880" cy="182880"/>
          </a:xfrm>
          <a:prstGeom prst="ellipse">
            <a:avLst/>
          </a:prstGeom>
          <a:solidFill>
            <a:schemeClr val="accent2"/>
          </a:solidFill>
          <a:ln w="31750">
            <a:solidFill>
              <a:schemeClr val="accent5"/>
            </a:solidFill>
            <a:prstDash val="solid"/>
          </a:ln>
        </p:spPr>
      </p:sp>
      <p:sp>
        <p:nvSpPr>
          <p:cNvPr id="15" name="text-11"/>
          <p:cNvSpPr txBox="1"/>
          <p:nvPr/>
        </p:nvSpPr>
        <p:spPr>
          <a:xfrm>
            <a:off x="7790688" y="4160520"/>
            <a:ext cx="3319272" cy="329184"/>
          </a:xfrm>
          <a:prstGeom prst="rect">
            <a:avLst/>
          </a:prstGeom>
          <a:noFill/>
          <a:ln/>
        </p:spPr>
        <p:txBody>
          <a:bodyPr wrap="square" lIns="0" tIns="0" rIns="0" bIns="0" rtlCol="0" anchor="ctr"/>
          <a:lstStyle/>
          <a:p>
            <a:pPr indent="0" marL="0">
              <a:buNone/>
            </a:pPr>
            <a:r>
              <a:rPr lang="en-US" sz="1400" b="1" dirty="0">
                <a:solidFill>
                  <a:schemeClr val="bg1"/>
                </a:solidFill>
              </a:rPr>
              <a:t>Copilot opened a pull request</a:t>
            </a:r>
            <a:endParaRPr lang="en-US" sz="1400" dirty="0"/>
          </a:p>
        </p:txBody>
      </p:sp>
      <p:sp>
        <p:nvSpPr>
          <p:cNvPr id="16" name="text-12"/>
          <p:cNvSpPr txBox="1"/>
          <p:nvPr/>
        </p:nvSpPr>
        <p:spPr>
          <a:xfrm>
            <a:off x="7790688" y="4498848"/>
            <a:ext cx="3319272" cy="274320"/>
          </a:xfrm>
          <a:prstGeom prst="rect">
            <a:avLst/>
          </a:prstGeom>
          <a:noFill/>
          <a:ln/>
        </p:spPr>
        <p:txBody>
          <a:bodyPr wrap="square" lIns="0" tIns="0" rIns="0" bIns="0" rtlCol="0" anchor="t"/>
          <a:lstStyle/>
          <a:p>
            <a:pPr indent="0" marL="0">
              <a:buNone/>
            </a:pPr>
            <a:r>
              <a:rPr lang="en-US" sz="1200" dirty="0">
                <a:solidFill>
                  <a:schemeClr val="accent5"/>
                </a:solidFill>
              </a:rPr>
              <a:t>Add tax to the cart total</a:t>
            </a:r>
            <a:endParaRPr lang="en-US" sz="1200" dirty="0"/>
          </a:p>
        </p:txBody>
      </p:sp>
      <p:sp>
        <p:nvSpPr>
          <p:cNvPr id="17" name="pill-13"/>
          <p:cNvSpPr/>
          <p:nvPr/>
        </p:nvSpPr>
        <p:spPr>
          <a:xfrm>
            <a:off x="7790688" y="4846320"/>
            <a:ext cx="1828800" cy="292608"/>
          </a:xfrm>
          <a:prstGeom prst="roundRect">
            <a:avLst>
              <a:gd name="adj" fmla="val 50000"/>
            </a:avLst>
          </a:prstGeom>
          <a:solidFill>
            <a:schemeClr val="accent2"/>
          </a:solidFill>
          <a:ln/>
        </p:spPr>
      </p:sp>
      <p:sp>
        <p:nvSpPr>
          <p:cNvPr id="18" name="text-14"/>
          <p:cNvSpPr txBox="1"/>
          <p:nvPr/>
        </p:nvSpPr>
        <p:spPr>
          <a:xfrm>
            <a:off x="7790688" y="4846320"/>
            <a:ext cx="182880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Ready for review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node-15"/>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GitHub Copilot is an AI coding assistant from GitHub</a:t>
            </a:r>
            <a:endParaRPr lang="en-US" sz="3000" dirty="0"/>
          </a:p>
        </p:txBody>
      </p:sp>
      <p:sp>
        <p:nvSpPr>
          <p:cNvPr id="5" name="text-16"/>
          <p:cNvSpPr txBox="1"/>
          <p:nvPr/>
        </p:nvSpPr>
        <p:spPr>
          <a:xfrm>
            <a:off x="548640" y="1920240"/>
            <a:ext cx="11094415" cy="548640"/>
          </a:xfrm>
          <a:prstGeom prst="rect">
            <a:avLst/>
          </a:prstGeom>
          <a:noFill/>
          <a:ln/>
        </p:spPr>
        <p:txBody>
          <a:bodyPr wrap="square" lIns="0" tIns="0" rIns="0" bIns="0" rtlCol="0" anchor="t"/>
          <a:lstStyle/>
          <a:p>
            <a:pPr indent="0" marL="0">
              <a:buNone/>
            </a:pPr>
            <a:r>
              <a:rPr lang="en-US" sz="1800" dirty="0">
                <a:solidFill>
                  <a:schemeClr val="tx2"/>
                </a:solidFill>
              </a:rPr>
              <a:t>It works inside the tools programmers already use, and helps in three ways.</a:t>
            </a:r>
            <a:endParaRPr lang="en-US" sz="1800" dirty="0"/>
          </a:p>
        </p:txBody>
      </p:sp>
      <p:sp>
        <p:nvSpPr>
          <p:cNvPr id="6" name="card-17"/>
          <p:cNvSpPr/>
          <p:nvPr/>
        </p:nvSpPr>
        <p:spPr>
          <a:xfrm>
            <a:off x="548640" y="2743200"/>
            <a:ext cx="3515258" cy="2240280"/>
          </a:xfrm>
          <a:prstGeom prst="roundRect">
            <a:avLst>
              <a:gd name="adj" fmla="val 3673"/>
            </a:avLst>
          </a:prstGeom>
          <a:solidFill>
            <a:schemeClr val="bg2"/>
          </a:solidFill>
          <a:ln/>
        </p:spPr>
      </p:sp>
      <p:sp>
        <p:nvSpPr>
          <p:cNvPr id="7" name="tile-18"/>
          <p:cNvSpPr/>
          <p:nvPr/>
        </p:nvSpPr>
        <p:spPr>
          <a:xfrm>
            <a:off x="822960" y="3017520"/>
            <a:ext cx="566928" cy="566928"/>
          </a:xfrm>
          <a:prstGeom prst="roundRect">
            <a:avLst>
              <a:gd name="adj" fmla="val 14516"/>
            </a:avLst>
          </a:prstGeom>
          <a:solidFill>
            <a:schemeClr val="accent5"/>
          </a:solidFill>
          <a:ln/>
        </p:spPr>
      </p:sp>
      <p:pic>
        <p:nvPicPr>
          <p:cNvPr id="8" name="icon-19" descr="preencoded.png">    </p:cNvPr>
          <p:cNvPicPr>
            <a:picLocks noChangeAspect="1"/>
          </p:cNvPicPr>
          <p:nvPr/>
        </p:nvPicPr>
        <p:blipFill>
          <a:blip r:embed="rId1"/>
          <a:stretch>
            <a:fillRect/>
          </a:stretch>
        </p:blipFill>
        <p:spPr>
          <a:xfrm>
            <a:off x="964692" y="3159252"/>
            <a:ext cx="283464" cy="283464"/>
          </a:xfrm>
          <a:prstGeom prst="rect">
            <a:avLst/>
          </a:prstGeom>
        </p:spPr>
      </p:pic>
      <p:sp>
        <p:nvSpPr>
          <p:cNvPr id="9" name="text-20"/>
          <p:cNvSpPr txBox="1"/>
          <p:nvPr/>
        </p:nvSpPr>
        <p:spPr>
          <a:xfrm>
            <a:off x="1572768" y="3017520"/>
            <a:ext cx="2235098" cy="566928"/>
          </a:xfrm>
          <a:prstGeom prst="rect">
            <a:avLst/>
          </a:prstGeom>
          <a:noFill/>
          <a:ln/>
        </p:spPr>
        <p:txBody>
          <a:bodyPr wrap="square" lIns="0" tIns="0" rIns="0" bIns="0" rtlCol="0" anchor="ctr"/>
          <a:lstStyle/>
          <a:p>
            <a:pPr indent="0" marL="0">
              <a:buNone/>
            </a:pPr>
            <a:r>
              <a:rPr lang="en-US" sz="2000" b="1" dirty="0">
                <a:solidFill>
                  <a:schemeClr val="tx1"/>
                </a:solidFill>
              </a:rPr>
              <a:t>It suggests</a:t>
            </a:r>
            <a:endParaRPr lang="en-US" sz="2000" dirty="0"/>
          </a:p>
        </p:txBody>
      </p:sp>
      <p:sp>
        <p:nvSpPr>
          <p:cNvPr id="10" name="text-21"/>
          <p:cNvSpPr txBox="1"/>
          <p:nvPr/>
        </p:nvSpPr>
        <p:spPr>
          <a:xfrm>
            <a:off x="822960" y="3840480"/>
            <a:ext cx="2966618" cy="914400"/>
          </a:xfrm>
          <a:prstGeom prst="rect">
            <a:avLst/>
          </a:prstGeom>
          <a:noFill/>
          <a:ln/>
        </p:spPr>
        <p:txBody>
          <a:bodyPr wrap="square" lIns="0" tIns="0" rIns="0" bIns="0" rtlCol="0" anchor="t"/>
          <a:lstStyle/>
          <a:p>
            <a:pPr indent="0" marL="0">
              <a:buNone/>
            </a:pPr>
            <a:r>
              <a:rPr lang="en-US" sz="1400" dirty="0">
                <a:solidFill>
                  <a:schemeClr val="tx2"/>
                </a:solidFill>
              </a:rPr>
              <a:t>As you type, it proposes the next lines of code in grey text</a:t>
            </a:r>
            <a:endParaRPr lang="en-US" sz="1400" dirty="0"/>
          </a:p>
        </p:txBody>
      </p:sp>
      <p:sp>
        <p:nvSpPr>
          <p:cNvPr id="11" name="card-22"/>
          <p:cNvSpPr/>
          <p:nvPr/>
        </p:nvSpPr>
        <p:spPr>
          <a:xfrm>
            <a:off x="4338218" y="2743200"/>
            <a:ext cx="3515258" cy="2240280"/>
          </a:xfrm>
          <a:prstGeom prst="roundRect">
            <a:avLst>
              <a:gd name="adj" fmla="val 3673"/>
            </a:avLst>
          </a:prstGeom>
          <a:solidFill>
            <a:schemeClr val="bg2"/>
          </a:solidFill>
          <a:ln/>
        </p:spPr>
      </p:sp>
      <p:sp>
        <p:nvSpPr>
          <p:cNvPr id="12" name="tile-23"/>
          <p:cNvSpPr/>
          <p:nvPr/>
        </p:nvSpPr>
        <p:spPr>
          <a:xfrm>
            <a:off x="4612538" y="3017520"/>
            <a:ext cx="566928" cy="566928"/>
          </a:xfrm>
          <a:prstGeom prst="roundRect">
            <a:avLst>
              <a:gd name="adj" fmla="val 14516"/>
            </a:avLst>
          </a:prstGeom>
          <a:solidFill>
            <a:schemeClr val="accent5"/>
          </a:solidFill>
          <a:ln/>
        </p:spPr>
      </p:sp>
      <p:pic>
        <p:nvPicPr>
          <p:cNvPr id="13" name="icon-24" descr="preencoded.png">    </p:cNvPr>
          <p:cNvPicPr>
            <a:picLocks noChangeAspect="1"/>
          </p:cNvPicPr>
          <p:nvPr/>
        </p:nvPicPr>
        <p:blipFill>
          <a:blip r:embed="rId2"/>
          <a:stretch>
            <a:fillRect/>
          </a:stretch>
        </p:blipFill>
        <p:spPr>
          <a:xfrm>
            <a:off x="4754270" y="3159252"/>
            <a:ext cx="283464" cy="283464"/>
          </a:xfrm>
          <a:prstGeom prst="rect">
            <a:avLst/>
          </a:prstGeom>
        </p:spPr>
      </p:pic>
      <p:sp>
        <p:nvSpPr>
          <p:cNvPr id="14" name="text-25"/>
          <p:cNvSpPr txBox="1"/>
          <p:nvPr/>
        </p:nvSpPr>
        <p:spPr>
          <a:xfrm>
            <a:off x="5362346" y="3017520"/>
            <a:ext cx="2235098" cy="566928"/>
          </a:xfrm>
          <a:prstGeom prst="rect">
            <a:avLst/>
          </a:prstGeom>
          <a:noFill/>
          <a:ln/>
        </p:spPr>
        <p:txBody>
          <a:bodyPr wrap="square" lIns="0" tIns="0" rIns="0" bIns="0" rtlCol="0" anchor="ctr"/>
          <a:lstStyle/>
          <a:p>
            <a:pPr indent="0" marL="0">
              <a:buNone/>
            </a:pPr>
            <a:r>
              <a:rPr lang="en-US" sz="2000" b="1" dirty="0">
                <a:solidFill>
                  <a:schemeClr val="tx1"/>
                </a:solidFill>
              </a:rPr>
              <a:t>It answers</a:t>
            </a:r>
            <a:endParaRPr lang="en-US" sz="2000" dirty="0"/>
          </a:p>
        </p:txBody>
      </p:sp>
      <p:sp>
        <p:nvSpPr>
          <p:cNvPr id="15" name="text-26"/>
          <p:cNvSpPr txBox="1"/>
          <p:nvPr/>
        </p:nvSpPr>
        <p:spPr>
          <a:xfrm>
            <a:off x="4612538" y="3840480"/>
            <a:ext cx="2966618" cy="914400"/>
          </a:xfrm>
          <a:prstGeom prst="rect">
            <a:avLst/>
          </a:prstGeom>
          <a:noFill/>
          <a:ln/>
        </p:spPr>
        <p:txBody>
          <a:bodyPr wrap="square" lIns="0" tIns="0" rIns="0" bIns="0" rtlCol="0" anchor="t"/>
          <a:lstStyle/>
          <a:p>
            <a:pPr indent="0" marL="0">
              <a:buNone/>
            </a:pPr>
            <a:r>
              <a:rPr lang="en-US" sz="1400" dirty="0">
                <a:solidFill>
                  <a:schemeClr val="tx2"/>
                </a:solidFill>
              </a:rPr>
              <a:t>In a chat panel, it explains code and answers coding questions</a:t>
            </a:r>
            <a:endParaRPr lang="en-US" sz="1400" dirty="0"/>
          </a:p>
        </p:txBody>
      </p:sp>
      <p:sp>
        <p:nvSpPr>
          <p:cNvPr id="16" name="card-27"/>
          <p:cNvSpPr/>
          <p:nvPr/>
        </p:nvSpPr>
        <p:spPr>
          <a:xfrm>
            <a:off x="8127797" y="2743200"/>
            <a:ext cx="3515258" cy="2240280"/>
          </a:xfrm>
          <a:prstGeom prst="roundRect">
            <a:avLst>
              <a:gd name="adj" fmla="val 3673"/>
            </a:avLst>
          </a:prstGeom>
          <a:solidFill>
            <a:schemeClr val="bg2"/>
          </a:solidFill>
          <a:ln/>
        </p:spPr>
      </p:sp>
      <p:sp>
        <p:nvSpPr>
          <p:cNvPr id="17" name="tile-28"/>
          <p:cNvSpPr/>
          <p:nvPr/>
        </p:nvSpPr>
        <p:spPr>
          <a:xfrm>
            <a:off x="8402117" y="3017520"/>
            <a:ext cx="566928" cy="566928"/>
          </a:xfrm>
          <a:prstGeom prst="roundRect">
            <a:avLst>
              <a:gd name="adj" fmla="val 14516"/>
            </a:avLst>
          </a:prstGeom>
          <a:solidFill>
            <a:schemeClr val="accent5"/>
          </a:solidFill>
          <a:ln/>
        </p:spPr>
      </p:sp>
      <p:pic>
        <p:nvPicPr>
          <p:cNvPr id="18" name="icon-29" descr="preencoded.png">    </p:cNvPr>
          <p:cNvPicPr>
            <a:picLocks noChangeAspect="1"/>
          </p:cNvPicPr>
          <p:nvPr/>
        </p:nvPicPr>
        <p:blipFill>
          <a:blip r:embed="rId3"/>
          <a:stretch>
            <a:fillRect/>
          </a:stretch>
        </p:blipFill>
        <p:spPr>
          <a:xfrm>
            <a:off x="8543849" y="3159252"/>
            <a:ext cx="283464" cy="283464"/>
          </a:xfrm>
          <a:prstGeom prst="rect">
            <a:avLst/>
          </a:prstGeom>
        </p:spPr>
      </p:pic>
      <p:sp>
        <p:nvSpPr>
          <p:cNvPr id="19" name="text-30"/>
          <p:cNvSpPr txBox="1"/>
          <p:nvPr/>
        </p:nvSpPr>
        <p:spPr>
          <a:xfrm>
            <a:off x="9151925" y="3017520"/>
            <a:ext cx="2235098" cy="566928"/>
          </a:xfrm>
          <a:prstGeom prst="rect">
            <a:avLst/>
          </a:prstGeom>
          <a:noFill/>
          <a:ln/>
        </p:spPr>
        <p:txBody>
          <a:bodyPr wrap="square" lIns="0" tIns="0" rIns="0" bIns="0" rtlCol="0" anchor="ctr"/>
          <a:lstStyle/>
          <a:p>
            <a:pPr indent="0" marL="0">
              <a:buNone/>
            </a:pPr>
            <a:r>
              <a:rPr lang="en-US" sz="2000" b="1" dirty="0">
                <a:solidFill>
                  <a:schemeClr val="tx1"/>
                </a:solidFill>
              </a:rPr>
              <a:t>It acts</a:t>
            </a:r>
            <a:endParaRPr lang="en-US" sz="2000" dirty="0"/>
          </a:p>
        </p:txBody>
      </p:sp>
      <p:sp>
        <p:nvSpPr>
          <p:cNvPr id="20" name="text-31"/>
          <p:cNvSpPr txBox="1"/>
          <p:nvPr/>
        </p:nvSpPr>
        <p:spPr>
          <a:xfrm>
            <a:off x="8402117" y="3840480"/>
            <a:ext cx="2966618" cy="914400"/>
          </a:xfrm>
          <a:prstGeom prst="rect">
            <a:avLst/>
          </a:prstGeom>
          <a:noFill/>
          <a:ln/>
        </p:spPr>
        <p:txBody>
          <a:bodyPr wrap="square" lIns="0" tIns="0" rIns="0" bIns="0" rtlCol="0" anchor="t"/>
          <a:lstStyle/>
          <a:p>
            <a:pPr indent="0" marL="0">
              <a:buNone/>
            </a:pPr>
            <a:r>
              <a:rPr lang="en-US" sz="1400" dirty="0">
                <a:solidFill>
                  <a:schemeClr val="tx2"/>
                </a:solidFill>
              </a:rPr>
              <a:t>Its agents edit files, run commands and open pull requests for you</a:t>
            </a:r>
            <a:endParaRPr lang="en-US" sz="1400" dirty="0"/>
          </a:p>
        </p:txBody>
      </p:sp>
      <p:sp>
        <p:nvSpPr>
          <p:cNvPr id="21" name="card-32"/>
          <p:cNvSpPr/>
          <p:nvPr/>
        </p:nvSpPr>
        <p:spPr>
          <a:xfrm>
            <a:off x="548640" y="5257800"/>
            <a:ext cx="11094415" cy="640080"/>
          </a:xfrm>
          <a:prstGeom prst="roundRect">
            <a:avLst>
              <a:gd name="adj" fmla="val 12857"/>
            </a:avLst>
          </a:prstGeom>
          <a:solidFill>
            <a:schemeClr val="accent5"/>
          </a:solidFill>
          <a:ln/>
        </p:spPr>
      </p:sp>
      <p:sp>
        <p:nvSpPr>
          <p:cNvPr id="22" name="tile-33"/>
          <p:cNvSpPr/>
          <p:nvPr/>
        </p:nvSpPr>
        <p:spPr>
          <a:xfrm>
            <a:off x="685800" y="5376672"/>
            <a:ext cx="402336" cy="402336"/>
          </a:xfrm>
          <a:prstGeom prst="roundRect">
            <a:avLst>
              <a:gd name="adj" fmla="val 20455"/>
            </a:avLst>
          </a:prstGeom>
          <a:solidFill>
            <a:schemeClr val="bg1"/>
          </a:solidFill>
          <a:ln/>
        </p:spPr>
      </p:sp>
      <p:pic>
        <p:nvPicPr>
          <p:cNvPr id="23" name="icon-34" descr="preencoded.png">    </p:cNvPr>
          <p:cNvPicPr>
            <a:picLocks noChangeAspect="1"/>
          </p:cNvPicPr>
          <p:nvPr/>
        </p:nvPicPr>
        <p:blipFill>
          <a:blip r:embed="rId4"/>
          <a:stretch>
            <a:fillRect/>
          </a:stretch>
        </p:blipFill>
        <p:spPr>
          <a:xfrm>
            <a:off x="786384" y="5477256"/>
            <a:ext cx="201168" cy="201168"/>
          </a:xfrm>
          <a:prstGeom prst="rect">
            <a:avLst/>
          </a:prstGeom>
        </p:spPr>
      </p:pic>
      <p:sp>
        <p:nvSpPr>
          <p:cNvPr id="24" name="text-35"/>
          <p:cNvSpPr txBox="1"/>
          <p:nvPr/>
        </p:nvSpPr>
        <p:spPr>
          <a:xfrm>
            <a:off x="1261872" y="5257800"/>
            <a:ext cx="10198303" cy="640080"/>
          </a:xfrm>
          <a:prstGeom prst="rect">
            <a:avLst/>
          </a:prstGeom>
          <a:noFill/>
          <a:ln/>
        </p:spPr>
        <p:txBody>
          <a:bodyPr wrap="square" lIns="0" tIns="0" rIns="0" bIns="0" rtlCol="0" anchor="ctr"/>
          <a:lstStyle/>
          <a:p>
            <a:pPr indent="0" marL="0">
              <a:buNone/>
            </a:pPr>
            <a:r>
              <a:rPr lang="en-US" sz="1400" dirty="0">
                <a:solidFill>
                  <a:schemeClr val="tx1"/>
                </a:solidFill>
              </a:rPr>
              <a:t>Copilot is made by GitHub, the code-hosting company owned by Microsoft.</a:t>
            </a:r>
            <a:endParaRPr lang="en-US" sz="1400" dirty="0"/>
          </a:p>
        </p:txBody>
      </p:sp>
      <p:sp>
        <p:nvSpPr>
          <p:cNvPr id="25" name="text-36"/>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GitHub Docs, GitHub Copilot features; Wikipedia, GitHub Copilot.</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ode-37"/>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Three different products share the Copilot name</a:t>
            </a:r>
            <a:endParaRPr lang="en-US" sz="3000" dirty="0"/>
          </a:p>
        </p:txBody>
      </p:sp>
      <p:sp>
        <p:nvSpPr>
          <p:cNvPr id="5" name="card-38"/>
          <p:cNvSpPr/>
          <p:nvPr/>
        </p:nvSpPr>
        <p:spPr>
          <a:xfrm>
            <a:off x="548640" y="1920240"/>
            <a:ext cx="3515258" cy="3063240"/>
          </a:xfrm>
          <a:prstGeom prst="roundRect">
            <a:avLst>
              <a:gd name="adj" fmla="val 2687"/>
            </a:avLst>
          </a:prstGeom>
          <a:solidFill>
            <a:schemeClr val="accent5"/>
          </a:solidFill>
          <a:ln/>
        </p:spPr>
      </p:sp>
      <p:sp>
        <p:nvSpPr>
          <p:cNvPr id="6" name="text-39"/>
          <p:cNvSpPr txBox="1"/>
          <p:nvPr/>
        </p:nvSpPr>
        <p:spPr>
          <a:xfrm>
            <a:off x="822960" y="2176272"/>
            <a:ext cx="2966618" cy="365760"/>
          </a:xfrm>
          <a:prstGeom prst="rect">
            <a:avLst/>
          </a:prstGeom>
          <a:noFill/>
          <a:ln/>
        </p:spPr>
        <p:txBody>
          <a:bodyPr wrap="square" lIns="0" tIns="0" rIns="0" bIns="0" rtlCol="0" anchor="t"/>
          <a:lstStyle/>
          <a:p>
            <a:pPr indent="0" marL="0">
              <a:buNone/>
            </a:pPr>
            <a:r>
              <a:rPr lang="en-US" sz="2000" b="1" dirty="0">
                <a:solidFill>
                  <a:schemeClr val="tx1"/>
                </a:solidFill>
              </a:rPr>
              <a:t>GitHub Copilot</a:t>
            </a:r>
            <a:endParaRPr lang="en-US" sz="2000" dirty="0"/>
          </a:p>
        </p:txBody>
      </p:sp>
      <p:sp>
        <p:nvSpPr>
          <p:cNvPr id="7" name="pill-40"/>
          <p:cNvSpPr/>
          <p:nvPr/>
        </p:nvSpPr>
        <p:spPr>
          <a:xfrm>
            <a:off x="822960" y="2651760"/>
            <a:ext cx="1234440" cy="292608"/>
          </a:xfrm>
          <a:prstGeom prst="roundRect">
            <a:avLst>
              <a:gd name="adj" fmla="val 50000"/>
            </a:avLst>
          </a:prstGeom>
          <a:solidFill>
            <a:schemeClr val="accent1"/>
          </a:solidFill>
          <a:ln/>
        </p:spPr>
      </p:sp>
      <p:sp>
        <p:nvSpPr>
          <p:cNvPr id="8" name="text-41"/>
          <p:cNvSpPr txBox="1"/>
          <p:nvPr/>
        </p:nvSpPr>
        <p:spPr>
          <a:xfrm>
            <a:off x="822960" y="2651760"/>
            <a:ext cx="123444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THIS DECK</a:t>
            </a:r>
            <a:endParaRPr lang="en-US" sz="1100" dirty="0"/>
          </a:p>
        </p:txBody>
      </p:sp>
      <p:sp>
        <p:nvSpPr>
          <p:cNvPr id="9" name="text-42"/>
          <p:cNvSpPr txBox="1"/>
          <p:nvPr/>
        </p:nvSpPr>
        <p:spPr>
          <a:xfrm>
            <a:off x="822960" y="3154680"/>
            <a:ext cx="2966618"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WHAT IT IS FOR</a:t>
            </a:r>
            <a:endParaRPr lang="en-US" sz="1100" dirty="0"/>
          </a:p>
        </p:txBody>
      </p:sp>
      <p:sp>
        <p:nvSpPr>
          <p:cNvPr id="10" name="text-43"/>
          <p:cNvSpPr txBox="1"/>
          <p:nvPr/>
        </p:nvSpPr>
        <p:spPr>
          <a:xfrm>
            <a:off x="822960" y="3410712"/>
            <a:ext cx="2966618" cy="502920"/>
          </a:xfrm>
          <a:prstGeom prst="rect">
            <a:avLst/>
          </a:prstGeom>
          <a:noFill/>
          <a:ln/>
        </p:spPr>
        <p:txBody>
          <a:bodyPr wrap="square" lIns="0" tIns="0" rIns="0" bIns="0" rtlCol="0" anchor="t"/>
          <a:lstStyle/>
          <a:p>
            <a:pPr indent="0" marL="0">
              <a:buNone/>
            </a:pPr>
            <a:r>
              <a:rPr lang="en-US" sz="1400" dirty="0">
                <a:solidFill>
                  <a:schemeClr val="tx1"/>
                </a:solidFill>
              </a:rPr>
              <a:t>Writing and reviewing software</a:t>
            </a:r>
            <a:endParaRPr lang="en-US" sz="1400" dirty="0"/>
          </a:p>
        </p:txBody>
      </p:sp>
      <p:sp>
        <p:nvSpPr>
          <p:cNvPr id="11" name="text-44"/>
          <p:cNvSpPr txBox="1"/>
          <p:nvPr/>
        </p:nvSpPr>
        <p:spPr>
          <a:xfrm>
            <a:off x="822960" y="4023360"/>
            <a:ext cx="2966618"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WHERE IT LIVES</a:t>
            </a:r>
            <a:endParaRPr lang="en-US" sz="1100" dirty="0"/>
          </a:p>
        </p:txBody>
      </p:sp>
      <p:sp>
        <p:nvSpPr>
          <p:cNvPr id="12" name="text-45"/>
          <p:cNvSpPr txBox="1"/>
          <p:nvPr/>
        </p:nvSpPr>
        <p:spPr>
          <a:xfrm>
            <a:off x="822960" y="4279392"/>
            <a:ext cx="2966618" cy="548640"/>
          </a:xfrm>
          <a:prstGeom prst="rect">
            <a:avLst/>
          </a:prstGeom>
          <a:noFill/>
          <a:ln/>
        </p:spPr>
        <p:txBody>
          <a:bodyPr wrap="square" lIns="0" tIns="0" rIns="0" bIns="0" rtlCol="0" anchor="t"/>
          <a:lstStyle/>
          <a:p>
            <a:pPr indent="0" marL="0">
              <a:buNone/>
            </a:pPr>
            <a:r>
              <a:rPr lang="en-US" sz="1400" dirty="0">
                <a:solidFill>
                  <a:schemeClr val="tx1"/>
                </a:solidFill>
              </a:rPr>
              <a:t>Code editors, the terminal and GitHub.com</a:t>
            </a:r>
            <a:endParaRPr lang="en-US" sz="1400" dirty="0"/>
          </a:p>
        </p:txBody>
      </p:sp>
      <p:sp>
        <p:nvSpPr>
          <p:cNvPr id="13" name="card-46"/>
          <p:cNvSpPr/>
          <p:nvPr/>
        </p:nvSpPr>
        <p:spPr>
          <a:xfrm>
            <a:off x="4338218" y="1920240"/>
            <a:ext cx="3515258" cy="3063240"/>
          </a:xfrm>
          <a:prstGeom prst="roundRect">
            <a:avLst>
              <a:gd name="adj" fmla="val 2687"/>
            </a:avLst>
          </a:prstGeom>
          <a:solidFill>
            <a:schemeClr val="bg2"/>
          </a:solidFill>
          <a:ln/>
        </p:spPr>
      </p:sp>
      <p:sp>
        <p:nvSpPr>
          <p:cNvPr id="14" name="text-47"/>
          <p:cNvSpPr txBox="1"/>
          <p:nvPr/>
        </p:nvSpPr>
        <p:spPr>
          <a:xfrm>
            <a:off x="4612538" y="2176272"/>
            <a:ext cx="2966618" cy="365760"/>
          </a:xfrm>
          <a:prstGeom prst="rect">
            <a:avLst/>
          </a:prstGeom>
          <a:noFill/>
          <a:ln/>
        </p:spPr>
        <p:txBody>
          <a:bodyPr wrap="square" lIns="0" tIns="0" rIns="0" bIns="0" rtlCol="0" anchor="t"/>
          <a:lstStyle/>
          <a:p>
            <a:pPr indent="0" marL="0">
              <a:buNone/>
            </a:pPr>
            <a:r>
              <a:rPr lang="en-US" sz="2000" b="1" dirty="0">
                <a:solidFill>
                  <a:schemeClr val="tx1"/>
                </a:solidFill>
              </a:rPr>
              <a:t>Microsoft Copilot</a:t>
            </a:r>
            <a:endParaRPr lang="en-US" sz="2000" dirty="0"/>
          </a:p>
        </p:txBody>
      </p:sp>
      <p:sp>
        <p:nvSpPr>
          <p:cNvPr id="15" name="text-48"/>
          <p:cNvSpPr txBox="1"/>
          <p:nvPr/>
        </p:nvSpPr>
        <p:spPr>
          <a:xfrm>
            <a:off x="4612538" y="3154680"/>
            <a:ext cx="2966618"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WHAT IT IS FOR</a:t>
            </a:r>
            <a:endParaRPr lang="en-US" sz="1100" dirty="0"/>
          </a:p>
        </p:txBody>
      </p:sp>
      <p:sp>
        <p:nvSpPr>
          <p:cNvPr id="16" name="text-49"/>
          <p:cNvSpPr txBox="1"/>
          <p:nvPr/>
        </p:nvSpPr>
        <p:spPr>
          <a:xfrm>
            <a:off x="4612538" y="3410712"/>
            <a:ext cx="2966618" cy="502920"/>
          </a:xfrm>
          <a:prstGeom prst="rect">
            <a:avLst/>
          </a:prstGeom>
          <a:noFill/>
          <a:ln/>
        </p:spPr>
        <p:txBody>
          <a:bodyPr wrap="square" lIns="0" tIns="0" rIns="0" bIns="0" rtlCol="0" anchor="t"/>
          <a:lstStyle/>
          <a:p>
            <a:pPr indent="0" marL="0">
              <a:buNone/>
            </a:pPr>
            <a:r>
              <a:rPr lang="en-US" sz="1400" dirty="0">
                <a:solidFill>
                  <a:schemeClr val="tx1"/>
                </a:solidFill>
              </a:rPr>
              <a:t>General questions, writing and images</a:t>
            </a:r>
            <a:endParaRPr lang="en-US" sz="1400" dirty="0"/>
          </a:p>
        </p:txBody>
      </p:sp>
      <p:sp>
        <p:nvSpPr>
          <p:cNvPr id="17" name="text-50"/>
          <p:cNvSpPr txBox="1"/>
          <p:nvPr/>
        </p:nvSpPr>
        <p:spPr>
          <a:xfrm>
            <a:off x="4612538" y="4023360"/>
            <a:ext cx="2966618"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WHERE IT LIVES</a:t>
            </a:r>
            <a:endParaRPr lang="en-US" sz="1100" dirty="0"/>
          </a:p>
        </p:txBody>
      </p:sp>
      <p:sp>
        <p:nvSpPr>
          <p:cNvPr id="18" name="text-51"/>
          <p:cNvSpPr txBox="1"/>
          <p:nvPr/>
        </p:nvSpPr>
        <p:spPr>
          <a:xfrm>
            <a:off x="4612538" y="4279392"/>
            <a:ext cx="2966618" cy="548640"/>
          </a:xfrm>
          <a:prstGeom prst="rect">
            <a:avLst/>
          </a:prstGeom>
          <a:noFill/>
          <a:ln/>
        </p:spPr>
        <p:txBody>
          <a:bodyPr wrap="square" lIns="0" tIns="0" rIns="0" bIns="0" rtlCol="0" anchor="t"/>
          <a:lstStyle/>
          <a:p>
            <a:pPr indent="0" marL="0">
              <a:buNone/>
            </a:pPr>
            <a:r>
              <a:rPr lang="en-US" sz="1400" dirty="0">
                <a:solidFill>
                  <a:schemeClr val="tx1"/>
                </a:solidFill>
              </a:rPr>
              <a:t>The web, Windows and mobile apps</a:t>
            </a:r>
            <a:endParaRPr lang="en-US" sz="1400" dirty="0"/>
          </a:p>
        </p:txBody>
      </p:sp>
      <p:sp>
        <p:nvSpPr>
          <p:cNvPr id="19" name="card-52"/>
          <p:cNvSpPr/>
          <p:nvPr/>
        </p:nvSpPr>
        <p:spPr>
          <a:xfrm>
            <a:off x="8127797" y="1920240"/>
            <a:ext cx="3515258" cy="3063240"/>
          </a:xfrm>
          <a:prstGeom prst="roundRect">
            <a:avLst>
              <a:gd name="adj" fmla="val 2687"/>
            </a:avLst>
          </a:prstGeom>
          <a:solidFill>
            <a:schemeClr val="bg2"/>
          </a:solidFill>
          <a:ln/>
        </p:spPr>
      </p:sp>
      <p:sp>
        <p:nvSpPr>
          <p:cNvPr id="20" name="text-53"/>
          <p:cNvSpPr txBox="1"/>
          <p:nvPr/>
        </p:nvSpPr>
        <p:spPr>
          <a:xfrm>
            <a:off x="8402117" y="2176272"/>
            <a:ext cx="2966618" cy="365760"/>
          </a:xfrm>
          <a:prstGeom prst="rect">
            <a:avLst/>
          </a:prstGeom>
          <a:noFill/>
          <a:ln/>
        </p:spPr>
        <p:txBody>
          <a:bodyPr wrap="square" lIns="0" tIns="0" rIns="0" bIns="0" rtlCol="0" anchor="t"/>
          <a:lstStyle/>
          <a:p>
            <a:pPr indent="0" marL="0">
              <a:buNone/>
            </a:pPr>
            <a:r>
              <a:rPr lang="en-US" sz="2000" b="1" dirty="0">
                <a:solidFill>
                  <a:schemeClr val="tx1"/>
                </a:solidFill>
              </a:rPr>
              <a:t>Microsoft 365 Copilot</a:t>
            </a:r>
            <a:endParaRPr lang="en-US" sz="2000" dirty="0"/>
          </a:p>
        </p:txBody>
      </p:sp>
      <p:sp>
        <p:nvSpPr>
          <p:cNvPr id="21" name="text-54"/>
          <p:cNvSpPr txBox="1"/>
          <p:nvPr/>
        </p:nvSpPr>
        <p:spPr>
          <a:xfrm>
            <a:off x="8402117" y="3154680"/>
            <a:ext cx="2966618"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WHAT IT IS FOR</a:t>
            </a:r>
            <a:endParaRPr lang="en-US" sz="1100" dirty="0"/>
          </a:p>
        </p:txBody>
      </p:sp>
      <p:sp>
        <p:nvSpPr>
          <p:cNvPr id="22" name="text-55"/>
          <p:cNvSpPr txBox="1"/>
          <p:nvPr/>
        </p:nvSpPr>
        <p:spPr>
          <a:xfrm>
            <a:off x="8402117" y="3410712"/>
            <a:ext cx="2966618" cy="502920"/>
          </a:xfrm>
          <a:prstGeom prst="rect">
            <a:avLst/>
          </a:prstGeom>
          <a:noFill/>
          <a:ln/>
        </p:spPr>
        <p:txBody>
          <a:bodyPr wrap="square" lIns="0" tIns="0" rIns="0" bIns="0" rtlCol="0" anchor="t"/>
          <a:lstStyle/>
          <a:p>
            <a:pPr indent="0" marL="0">
              <a:buNone/>
            </a:pPr>
            <a:r>
              <a:rPr lang="en-US" sz="1400" dirty="0">
                <a:solidFill>
                  <a:schemeClr val="tx1"/>
                </a:solidFill>
              </a:rPr>
              <a:t>Office work such as documents and email</a:t>
            </a:r>
            <a:endParaRPr lang="en-US" sz="1400" dirty="0"/>
          </a:p>
        </p:txBody>
      </p:sp>
      <p:sp>
        <p:nvSpPr>
          <p:cNvPr id="23" name="text-56"/>
          <p:cNvSpPr txBox="1"/>
          <p:nvPr/>
        </p:nvSpPr>
        <p:spPr>
          <a:xfrm>
            <a:off x="8402117" y="4023360"/>
            <a:ext cx="2966618"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WHERE IT LIVES</a:t>
            </a:r>
            <a:endParaRPr lang="en-US" sz="1100" dirty="0"/>
          </a:p>
        </p:txBody>
      </p:sp>
      <p:sp>
        <p:nvSpPr>
          <p:cNvPr id="24" name="text-57"/>
          <p:cNvSpPr txBox="1"/>
          <p:nvPr/>
        </p:nvSpPr>
        <p:spPr>
          <a:xfrm>
            <a:off x="8402117" y="4279392"/>
            <a:ext cx="2966618" cy="548640"/>
          </a:xfrm>
          <a:prstGeom prst="rect">
            <a:avLst/>
          </a:prstGeom>
          <a:noFill/>
          <a:ln/>
        </p:spPr>
        <p:txBody>
          <a:bodyPr wrap="square" lIns="0" tIns="0" rIns="0" bIns="0" rtlCol="0" anchor="t"/>
          <a:lstStyle/>
          <a:p>
            <a:pPr indent="0" marL="0">
              <a:buNone/>
            </a:pPr>
            <a:r>
              <a:rPr lang="en-US" sz="1400" dirty="0">
                <a:solidFill>
                  <a:schemeClr val="tx1"/>
                </a:solidFill>
              </a:rPr>
              <a:t>Word, Excel, PowerPoint, Outlook and Teams</a:t>
            </a:r>
            <a:endParaRPr lang="en-US" sz="1400" dirty="0"/>
          </a:p>
        </p:txBody>
      </p:sp>
      <p:sp>
        <p:nvSpPr>
          <p:cNvPr id="25" name="card-58"/>
          <p:cNvSpPr/>
          <p:nvPr/>
        </p:nvSpPr>
        <p:spPr>
          <a:xfrm>
            <a:off x="548640" y="5257800"/>
            <a:ext cx="11094415" cy="640080"/>
          </a:xfrm>
          <a:prstGeom prst="roundRect">
            <a:avLst>
              <a:gd name="adj" fmla="val 12857"/>
            </a:avLst>
          </a:prstGeom>
          <a:solidFill>
            <a:schemeClr val="accent5"/>
          </a:solidFill>
          <a:ln/>
        </p:spPr>
      </p:sp>
      <p:sp>
        <p:nvSpPr>
          <p:cNvPr id="26" name="tile-59"/>
          <p:cNvSpPr/>
          <p:nvPr/>
        </p:nvSpPr>
        <p:spPr>
          <a:xfrm>
            <a:off x="685800" y="5376672"/>
            <a:ext cx="402336" cy="402336"/>
          </a:xfrm>
          <a:prstGeom prst="roundRect">
            <a:avLst>
              <a:gd name="adj" fmla="val 20455"/>
            </a:avLst>
          </a:prstGeom>
          <a:solidFill>
            <a:schemeClr val="bg1"/>
          </a:solidFill>
          <a:ln/>
        </p:spPr>
      </p:sp>
      <p:pic>
        <p:nvPicPr>
          <p:cNvPr id="27" name="icon-60" descr="preencoded.png">    </p:cNvPr>
          <p:cNvPicPr>
            <a:picLocks noChangeAspect="1"/>
          </p:cNvPicPr>
          <p:nvPr/>
        </p:nvPicPr>
        <p:blipFill>
          <a:blip r:embed="rId1"/>
          <a:stretch>
            <a:fillRect/>
          </a:stretch>
        </p:blipFill>
        <p:spPr>
          <a:xfrm>
            <a:off x="786384" y="5477256"/>
            <a:ext cx="201168" cy="201168"/>
          </a:xfrm>
          <a:prstGeom prst="rect">
            <a:avLst/>
          </a:prstGeom>
        </p:spPr>
      </p:pic>
      <p:sp>
        <p:nvSpPr>
          <p:cNvPr id="28" name="text-61"/>
          <p:cNvSpPr txBox="1"/>
          <p:nvPr/>
        </p:nvSpPr>
        <p:spPr>
          <a:xfrm>
            <a:off x="1261872" y="5257800"/>
            <a:ext cx="10198303" cy="640080"/>
          </a:xfrm>
          <a:prstGeom prst="rect">
            <a:avLst/>
          </a:prstGeom>
          <a:noFill/>
          <a:ln/>
        </p:spPr>
        <p:txBody>
          <a:bodyPr wrap="square" lIns="0" tIns="0" rIns="0" bIns="0" rtlCol="0" anchor="ctr"/>
          <a:lstStyle/>
          <a:p>
            <a:pPr indent="0" marL="0">
              <a:buNone/>
            </a:pPr>
            <a:r>
              <a:rPr lang="en-US" sz="1400" dirty="0">
                <a:solidFill>
                  <a:schemeClr val="tx1"/>
                </a:solidFill>
              </a:rPr>
              <a:t>They are separate products with separate plans. Paying for one does not give you the others.</a:t>
            </a:r>
            <a:endParaRPr lang="en-US" sz="1400" dirty="0"/>
          </a:p>
        </p:txBody>
      </p:sp>
      <p:sp>
        <p:nvSpPr>
          <p:cNvPr id="29" name="text-62"/>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GitHub Docs; eesel AI, Copilot pricing 2026 (May 2026). The Microsoft columns are a brief orientation only.</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ode-63"/>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From autocomplete to agents in five years</a:t>
            </a:r>
            <a:endParaRPr lang="en-US" sz="3000" dirty="0"/>
          </a:p>
        </p:txBody>
      </p:sp>
      <p:sp>
        <p:nvSpPr>
          <p:cNvPr id="5" name="rail-64"/>
          <p:cNvSpPr/>
          <p:nvPr/>
        </p:nvSpPr>
        <p:spPr>
          <a:xfrm>
            <a:off x="640080" y="2194560"/>
            <a:ext cx="9058412" cy="0"/>
          </a:xfrm>
          <a:prstGeom prst="line">
            <a:avLst/>
          </a:prstGeom>
          <a:noFill/>
          <a:ln w="50800">
            <a:solidFill>
              <a:schemeClr val="accent5"/>
            </a:solidFill>
            <a:prstDash val="solid"/>
          </a:ln>
        </p:spPr>
      </p:sp>
      <p:sp>
        <p:nvSpPr>
          <p:cNvPr id="6" name="node-65"/>
          <p:cNvSpPr/>
          <p:nvPr/>
        </p:nvSpPr>
        <p:spPr>
          <a:xfrm>
            <a:off x="548640" y="2066544"/>
            <a:ext cx="256032" cy="256032"/>
          </a:xfrm>
          <a:prstGeom prst="ellipse">
            <a:avLst/>
          </a:prstGeom>
          <a:solidFill>
            <a:schemeClr val="bg1"/>
          </a:solidFill>
          <a:ln w="31750">
            <a:solidFill>
              <a:schemeClr val="accent1"/>
            </a:solidFill>
            <a:prstDash val="solid"/>
          </a:ln>
        </p:spPr>
      </p:sp>
      <p:sp>
        <p:nvSpPr>
          <p:cNvPr id="7" name="text-66"/>
          <p:cNvSpPr txBox="1"/>
          <p:nvPr/>
        </p:nvSpPr>
        <p:spPr>
          <a:xfrm>
            <a:off x="548640" y="2606040"/>
            <a:ext cx="2036003" cy="36576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Jun 2021</a:t>
            </a:r>
            <a:endParaRPr lang="en-US" sz="1800" dirty="0"/>
          </a:p>
        </p:txBody>
      </p:sp>
      <p:sp>
        <p:nvSpPr>
          <p:cNvPr id="8" name="text-67"/>
          <p:cNvSpPr txBox="1"/>
          <p:nvPr/>
        </p:nvSpPr>
        <p:spPr>
          <a:xfrm>
            <a:off x="548640" y="3108960"/>
            <a:ext cx="2036003" cy="365760"/>
          </a:xfrm>
          <a:prstGeom prst="rect">
            <a:avLst/>
          </a:prstGeom>
          <a:noFill/>
          <a:ln/>
        </p:spPr>
        <p:txBody>
          <a:bodyPr wrap="square" lIns="0" tIns="0" rIns="0" bIns="0" rtlCol="0" anchor="t"/>
          <a:lstStyle/>
          <a:p>
            <a:pPr indent="0" marL="0">
              <a:buNone/>
            </a:pPr>
            <a:r>
              <a:rPr lang="en-US" sz="1800" b="1" dirty="0">
                <a:solidFill>
                  <a:schemeClr val="tx1"/>
                </a:solidFill>
              </a:rPr>
              <a:t>Technical preview</a:t>
            </a:r>
            <a:endParaRPr lang="en-US" sz="1800" dirty="0"/>
          </a:p>
        </p:txBody>
      </p:sp>
      <p:sp>
        <p:nvSpPr>
          <p:cNvPr id="9" name="text-68"/>
          <p:cNvSpPr txBox="1"/>
          <p:nvPr/>
        </p:nvSpPr>
        <p:spPr>
          <a:xfrm>
            <a:off x="548640" y="3566160"/>
            <a:ext cx="1944563" cy="1097280"/>
          </a:xfrm>
          <a:prstGeom prst="rect">
            <a:avLst/>
          </a:prstGeom>
          <a:noFill/>
          <a:ln/>
        </p:spPr>
        <p:txBody>
          <a:bodyPr wrap="square" lIns="0" tIns="0" rIns="0" bIns="0" rtlCol="0" anchor="t"/>
          <a:lstStyle/>
          <a:p>
            <a:pPr indent="0" marL="0">
              <a:buNone/>
            </a:pPr>
            <a:r>
              <a:rPr lang="en-US" sz="1400" dirty="0">
                <a:solidFill>
                  <a:schemeClr val="tx2"/>
                </a:solidFill>
              </a:rPr>
              <a:t>Launches in VS Code as an AI pair programmer</a:t>
            </a:r>
            <a:endParaRPr lang="en-US" sz="1400" dirty="0"/>
          </a:p>
        </p:txBody>
      </p:sp>
      <p:sp>
        <p:nvSpPr>
          <p:cNvPr id="10" name="node-69"/>
          <p:cNvSpPr/>
          <p:nvPr/>
        </p:nvSpPr>
        <p:spPr>
          <a:xfrm>
            <a:off x="2813243" y="2066544"/>
            <a:ext cx="256032" cy="256032"/>
          </a:xfrm>
          <a:prstGeom prst="ellipse">
            <a:avLst/>
          </a:prstGeom>
          <a:solidFill>
            <a:schemeClr val="bg1"/>
          </a:solidFill>
          <a:ln w="31750">
            <a:solidFill>
              <a:schemeClr val="accent1"/>
            </a:solidFill>
            <a:prstDash val="solid"/>
          </a:ln>
        </p:spPr>
      </p:sp>
      <p:sp>
        <p:nvSpPr>
          <p:cNvPr id="11" name="text-70"/>
          <p:cNvSpPr txBox="1"/>
          <p:nvPr/>
        </p:nvSpPr>
        <p:spPr>
          <a:xfrm>
            <a:off x="2813243" y="2606040"/>
            <a:ext cx="2036003" cy="36576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Jun 2022</a:t>
            </a:r>
            <a:endParaRPr lang="en-US" sz="1800" dirty="0"/>
          </a:p>
        </p:txBody>
      </p:sp>
      <p:sp>
        <p:nvSpPr>
          <p:cNvPr id="12" name="text-71"/>
          <p:cNvSpPr txBox="1"/>
          <p:nvPr/>
        </p:nvSpPr>
        <p:spPr>
          <a:xfrm>
            <a:off x="2813243" y="3108960"/>
            <a:ext cx="2036003" cy="365760"/>
          </a:xfrm>
          <a:prstGeom prst="rect">
            <a:avLst/>
          </a:prstGeom>
          <a:noFill/>
          <a:ln/>
        </p:spPr>
        <p:txBody>
          <a:bodyPr wrap="square" lIns="0" tIns="0" rIns="0" bIns="0" rtlCol="0" anchor="t"/>
          <a:lstStyle/>
          <a:p>
            <a:pPr indent="0" marL="0">
              <a:buNone/>
            </a:pPr>
            <a:r>
              <a:rPr lang="en-US" sz="1800" b="1" dirty="0">
                <a:solidFill>
                  <a:schemeClr val="tx1"/>
                </a:solidFill>
              </a:rPr>
              <a:t>General release</a:t>
            </a:r>
            <a:endParaRPr lang="en-US" sz="1800" dirty="0"/>
          </a:p>
        </p:txBody>
      </p:sp>
      <p:sp>
        <p:nvSpPr>
          <p:cNvPr id="13" name="text-72"/>
          <p:cNvSpPr txBox="1"/>
          <p:nvPr/>
        </p:nvSpPr>
        <p:spPr>
          <a:xfrm>
            <a:off x="2813243" y="3566160"/>
            <a:ext cx="1944563" cy="1097280"/>
          </a:xfrm>
          <a:prstGeom prst="rect">
            <a:avLst/>
          </a:prstGeom>
          <a:noFill/>
          <a:ln/>
        </p:spPr>
        <p:txBody>
          <a:bodyPr wrap="square" lIns="0" tIns="0" rIns="0" bIns="0" rtlCol="0" anchor="t"/>
          <a:lstStyle/>
          <a:p>
            <a:pPr indent="0" marL="0">
              <a:buNone/>
            </a:pPr>
            <a:r>
              <a:rPr lang="en-US" sz="1400" dirty="0">
                <a:solidFill>
                  <a:schemeClr val="tx2"/>
                </a:solidFill>
              </a:rPr>
              <a:t>Opens to all developers as a paid subscription</a:t>
            </a:r>
            <a:endParaRPr lang="en-US" sz="1400" dirty="0"/>
          </a:p>
        </p:txBody>
      </p:sp>
      <p:sp>
        <p:nvSpPr>
          <p:cNvPr id="14" name="node-73"/>
          <p:cNvSpPr/>
          <p:nvPr/>
        </p:nvSpPr>
        <p:spPr>
          <a:xfrm>
            <a:off x="5077846" y="2066544"/>
            <a:ext cx="256032" cy="256032"/>
          </a:xfrm>
          <a:prstGeom prst="ellipse">
            <a:avLst/>
          </a:prstGeom>
          <a:solidFill>
            <a:schemeClr val="bg1"/>
          </a:solidFill>
          <a:ln w="31750">
            <a:solidFill>
              <a:schemeClr val="accent1"/>
            </a:solidFill>
            <a:prstDash val="solid"/>
          </a:ln>
        </p:spPr>
      </p:sp>
      <p:sp>
        <p:nvSpPr>
          <p:cNvPr id="15" name="text-74"/>
          <p:cNvSpPr txBox="1"/>
          <p:nvPr/>
        </p:nvSpPr>
        <p:spPr>
          <a:xfrm>
            <a:off x="5077846" y="2606040"/>
            <a:ext cx="2036003" cy="36576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Late 2024</a:t>
            </a:r>
            <a:endParaRPr lang="en-US" sz="1800" dirty="0"/>
          </a:p>
        </p:txBody>
      </p:sp>
      <p:sp>
        <p:nvSpPr>
          <p:cNvPr id="16" name="text-75"/>
          <p:cNvSpPr txBox="1"/>
          <p:nvPr/>
        </p:nvSpPr>
        <p:spPr>
          <a:xfrm>
            <a:off x="5077846" y="3108960"/>
            <a:ext cx="2036003" cy="365760"/>
          </a:xfrm>
          <a:prstGeom prst="rect">
            <a:avLst/>
          </a:prstGeom>
          <a:noFill/>
          <a:ln/>
        </p:spPr>
        <p:txBody>
          <a:bodyPr wrap="square" lIns="0" tIns="0" rIns="0" bIns="0" rtlCol="0" anchor="t"/>
          <a:lstStyle/>
          <a:p>
            <a:pPr indent="0" marL="0">
              <a:buNone/>
            </a:pPr>
            <a:r>
              <a:rPr lang="en-US" sz="1800" b="1" dirty="0">
                <a:solidFill>
                  <a:schemeClr val="tx1"/>
                </a:solidFill>
              </a:rPr>
              <a:t>Copilot Free</a:t>
            </a:r>
            <a:endParaRPr lang="en-US" sz="1800" dirty="0"/>
          </a:p>
        </p:txBody>
      </p:sp>
      <p:sp>
        <p:nvSpPr>
          <p:cNvPr id="17" name="text-76"/>
          <p:cNvSpPr txBox="1"/>
          <p:nvPr/>
        </p:nvSpPr>
        <p:spPr>
          <a:xfrm>
            <a:off x="5077846" y="3566160"/>
            <a:ext cx="1944563" cy="1097280"/>
          </a:xfrm>
          <a:prstGeom prst="rect">
            <a:avLst/>
          </a:prstGeom>
          <a:noFill/>
          <a:ln/>
        </p:spPr>
        <p:txBody>
          <a:bodyPr wrap="square" lIns="0" tIns="0" rIns="0" bIns="0" rtlCol="0" anchor="t"/>
          <a:lstStyle/>
          <a:p>
            <a:pPr indent="0" marL="0">
              <a:buNone/>
            </a:pPr>
            <a:r>
              <a:rPr lang="en-US" sz="1400" dirty="0">
                <a:solidFill>
                  <a:schemeClr val="tx2"/>
                </a:solidFill>
              </a:rPr>
              <a:t>A free plan arrives, with monthly limits</a:t>
            </a:r>
            <a:endParaRPr lang="en-US" sz="1400" dirty="0"/>
          </a:p>
        </p:txBody>
      </p:sp>
      <p:sp>
        <p:nvSpPr>
          <p:cNvPr id="18" name="node-77"/>
          <p:cNvSpPr/>
          <p:nvPr/>
        </p:nvSpPr>
        <p:spPr>
          <a:xfrm>
            <a:off x="7342449" y="2066544"/>
            <a:ext cx="256032" cy="256032"/>
          </a:xfrm>
          <a:prstGeom prst="ellipse">
            <a:avLst/>
          </a:prstGeom>
          <a:solidFill>
            <a:schemeClr val="bg1"/>
          </a:solidFill>
          <a:ln w="31750">
            <a:solidFill>
              <a:schemeClr val="accent1"/>
            </a:solidFill>
            <a:prstDash val="solid"/>
          </a:ln>
        </p:spPr>
      </p:sp>
      <p:sp>
        <p:nvSpPr>
          <p:cNvPr id="19" name="text-78"/>
          <p:cNvSpPr txBox="1"/>
          <p:nvPr/>
        </p:nvSpPr>
        <p:spPr>
          <a:xfrm>
            <a:off x="7342449" y="2606040"/>
            <a:ext cx="2036003" cy="36576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2025</a:t>
            </a:r>
            <a:endParaRPr lang="en-US" sz="1800" dirty="0"/>
          </a:p>
        </p:txBody>
      </p:sp>
      <p:sp>
        <p:nvSpPr>
          <p:cNvPr id="20" name="text-79"/>
          <p:cNvSpPr txBox="1"/>
          <p:nvPr/>
        </p:nvSpPr>
        <p:spPr>
          <a:xfrm>
            <a:off x="7342449" y="3108960"/>
            <a:ext cx="2036003" cy="365760"/>
          </a:xfrm>
          <a:prstGeom prst="rect">
            <a:avLst/>
          </a:prstGeom>
          <a:noFill/>
          <a:ln/>
        </p:spPr>
        <p:txBody>
          <a:bodyPr wrap="square" lIns="0" tIns="0" rIns="0" bIns="0" rtlCol="0" anchor="t"/>
          <a:lstStyle/>
          <a:p>
            <a:pPr indent="0" marL="0">
              <a:buNone/>
            </a:pPr>
            <a:r>
              <a:rPr lang="en-US" sz="1800" b="1" dirty="0">
                <a:solidFill>
                  <a:schemeClr val="tx1"/>
                </a:solidFill>
              </a:rPr>
              <a:t>Agents arrive</a:t>
            </a:r>
            <a:endParaRPr lang="en-US" sz="1800" dirty="0"/>
          </a:p>
        </p:txBody>
      </p:sp>
      <p:sp>
        <p:nvSpPr>
          <p:cNvPr id="21" name="text-80"/>
          <p:cNvSpPr txBox="1"/>
          <p:nvPr/>
        </p:nvSpPr>
        <p:spPr>
          <a:xfrm>
            <a:off x="7342449" y="3566160"/>
            <a:ext cx="1944563" cy="1097280"/>
          </a:xfrm>
          <a:prstGeom prst="rect">
            <a:avLst/>
          </a:prstGeom>
          <a:noFill/>
          <a:ln/>
        </p:spPr>
        <p:txBody>
          <a:bodyPr wrap="square" lIns="0" tIns="0" rIns="0" bIns="0" rtlCol="0" anchor="t"/>
          <a:lstStyle/>
          <a:p>
            <a:pPr indent="0" marL="0">
              <a:buNone/>
            </a:pPr>
            <a:r>
              <a:rPr lang="en-US" sz="1400" dirty="0">
                <a:solidFill>
                  <a:schemeClr val="tx2"/>
                </a:solidFill>
              </a:rPr>
              <a:t>Agent mode in February, a cloud coding agent in May</a:t>
            </a:r>
            <a:endParaRPr lang="en-US" sz="1400" dirty="0"/>
          </a:p>
        </p:txBody>
      </p:sp>
      <p:sp>
        <p:nvSpPr>
          <p:cNvPr id="22" name="node-81"/>
          <p:cNvSpPr/>
          <p:nvPr/>
        </p:nvSpPr>
        <p:spPr>
          <a:xfrm>
            <a:off x="9607052" y="2066544"/>
            <a:ext cx="256032" cy="256032"/>
          </a:xfrm>
          <a:prstGeom prst="ellipse">
            <a:avLst/>
          </a:prstGeom>
          <a:solidFill>
            <a:schemeClr val="bg1"/>
          </a:solidFill>
          <a:ln w="31750">
            <a:solidFill>
              <a:schemeClr val="accent1"/>
            </a:solidFill>
            <a:prstDash val="solid"/>
          </a:ln>
        </p:spPr>
      </p:sp>
      <p:sp>
        <p:nvSpPr>
          <p:cNvPr id="23" name="text-82"/>
          <p:cNvSpPr txBox="1"/>
          <p:nvPr/>
        </p:nvSpPr>
        <p:spPr>
          <a:xfrm>
            <a:off x="9607052" y="2606040"/>
            <a:ext cx="2036003" cy="36576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Jun 2026</a:t>
            </a:r>
            <a:endParaRPr lang="en-US" sz="1800" dirty="0"/>
          </a:p>
        </p:txBody>
      </p:sp>
      <p:sp>
        <p:nvSpPr>
          <p:cNvPr id="24" name="text-83"/>
          <p:cNvSpPr txBox="1"/>
          <p:nvPr/>
        </p:nvSpPr>
        <p:spPr>
          <a:xfrm>
            <a:off x="9607052" y="3108960"/>
            <a:ext cx="2036003" cy="365760"/>
          </a:xfrm>
          <a:prstGeom prst="rect">
            <a:avLst/>
          </a:prstGeom>
          <a:noFill/>
          <a:ln/>
        </p:spPr>
        <p:txBody>
          <a:bodyPr wrap="square" lIns="0" tIns="0" rIns="0" bIns="0" rtlCol="0" anchor="t"/>
          <a:lstStyle/>
          <a:p>
            <a:pPr indent="0" marL="0">
              <a:buNone/>
            </a:pPr>
            <a:r>
              <a:rPr lang="en-US" sz="1800" b="1" dirty="0">
                <a:solidFill>
                  <a:schemeClr val="tx1"/>
                </a:solidFill>
              </a:rPr>
              <a:t>AI Credits</a:t>
            </a:r>
            <a:endParaRPr lang="en-US" sz="1800" dirty="0"/>
          </a:p>
        </p:txBody>
      </p:sp>
      <p:sp>
        <p:nvSpPr>
          <p:cNvPr id="25" name="text-84"/>
          <p:cNvSpPr txBox="1"/>
          <p:nvPr/>
        </p:nvSpPr>
        <p:spPr>
          <a:xfrm>
            <a:off x="9607052" y="3566160"/>
            <a:ext cx="1944563" cy="1097280"/>
          </a:xfrm>
          <a:prstGeom prst="rect">
            <a:avLst/>
          </a:prstGeom>
          <a:noFill/>
          <a:ln/>
        </p:spPr>
        <p:txBody>
          <a:bodyPr wrap="square" lIns="0" tIns="0" rIns="0" bIns="0" rtlCol="0" anchor="t"/>
          <a:lstStyle/>
          <a:p>
            <a:pPr indent="0" marL="0">
              <a:buNone/>
            </a:pPr>
            <a:r>
              <a:rPr lang="en-US" sz="1400" dirty="0">
                <a:solidFill>
                  <a:schemeClr val="tx2"/>
                </a:solidFill>
              </a:rPr>
              <a:t>Billing moves to usage-based AI Credits</a:t>
            </a:r>
            <a:endParaRPr lang="en-US" sz="1400" dirty="0"/>
          </a:p>
        </p:txBody>
      </p:sp>
      <p:sp>
        <p:nvSpPr>
          <p:cNvPr id="26" name="card-85"/>
          <p:cNvSpPr/>
          <p:nvPr/>
        </p:nvSpPr>
        <p:spPr>
          <a:xfrm>
            <a:off x="548640" y="5029200"/>
            <a:ext cx="11094415" cy="685800"/>
          </a:xfrm>
          <a:prstGeom prst="roundRect">
            <a:avLst>
              <a:gd name="adj" fmla="val 12000"/>
            </a:avLst>
          </a:prstGeom>
          <a:solidFill>
            <a:schemeClr val="accent5"/>
          </a:solidFill>
          <a:ln/>
        </p:spPr>
      </p:sp>
      <p:sp>
        <p:nvSpPr>
          <p:cNvPr id="27" name="tile-86"/>
          <p:cNvSpPr/>
          <p:nvPr/>
        </p:nvSpPr>
        <p:spPr>
          <a:xfrm>
            <a:off x="685800" y="5170932"/>
            <a:ext cx="402336" cy="402336"/>
          </a:xfrm>
          <a:prstGeom prst="roundRect">
            <a:avLst>
              <a:gd name="adj" fmla="val 20455"/>
            </a:avLst>
          </a:prstGeom>
          <a:solidFill>
            <a:schemeClr val="bg1"/>
          </a:solidFill>
          <a:ln/>
        </p:spPr>
      </p:sp>
      <p:pic>
        <p:nvPicPr>
          <p:cNvPr id="28" name="icon-87" descr="preencoded.png">    </p:cNvPr>
          <p:cNvPicPr>
            <a:picLocks noChangeAspect="1"/>
          </p:cNvPicPr>
          <p:nvPr/>
        </p:nvPicPr>
        <p:blipFill>
          <a:blip r:embed="rId1"/>
          <a:stretch>
            <a:fillRect/>
          </a:stretch>
        </p:blipFill>
        <p:spPr>
          <a:xfrm>
            <a:off x="786384" y="5271516"/>
            <a:ext cx="201168" cy="201168"/>
          </a:xfrm>
          <a:prstGeom prst="rect">
            <a:avLst/>
          </a:prstGeom>
        </p:spPr>
      </p:pic>
      <p:sp>
        <p:nvSpPr>
          <p:cNvPr id="29" name="text-88"/>
          <p:cNvSpPr txBox="1"/>
          <p:nvPr/>
        </p:nvSpPr>
        <p:spPr>
          <a:xfrm>
            <a:off x="1261872" y="5029200"/>
            <a:ext cx="10198303" cy="685800"/>
          </a:xfrm>
          <a:prstGeom prst="rect">
            <a:avLst/>
          </a:prstGeom>
          <a:noFill/>
          <a:ln/>
        </p:spPr>
        <p:txBody>
          <a:bodyPr wrap="square" lIns="0" tIns="0" rIns="0" bIns="0" rtlCol="0" anchor="ctr"/>
          <a:lstStyle/>
          <a:p>
            <a:pPr indent="0" marL="0">
              <a:buNone/>
            </a:pPr>
            <a:r>
              <a:rPr lang="en-US" sz="1400" dirty="0">
                <a:solidFill>
                  <a:schemeClr val="tx1"/>
                </a:solidFill>
              </a:rPr>
              <a:t>The first version ran on one OpenAI model. Today you can choose among models from several companies.</a:t>
            </a:r>
            <a:endParaRPr lang="en-US" sz="1400" dirty="0"/>
          </a:p>
        </p:txBody>
      </p:sp>
      <p:sp>
        <p:nvSpPr>
          <p:cNvPr id="30" name="text-89"/>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Wikipedia, GitHub Copilot; GitHub Docs; third-party pricing guides for the 2024 and 2026 dates.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ode-90"/>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You can use Copilot in five places</a:t>
            </a:r>
            <a:endParaRPr lang="en-US" sz="3000" dirty="0"/>
          </a:p>
        </p:txBody>
      </p:sp>
      <p:sp>
        <p:nvSpPr>
          <p:cNvPr id="5" name="card-91"/>
          <p:cNvSpPr/>
          <p:nvPr/>
        </p:nvSpPr>
        <p:spPr>
          <a:xfrm>
            <a:off x="548640" y="1920240"/>
            <a:ext cx="2036003" cy="3017520"/>
          </a:xfrm>
          <a:prstGeom prst="roundRect">
            <a:avLst>
              <a:gd name="adj" fmla="val 4042"/>
            </a:avLst>
          </a:prstGeom>
          <a:solidFill>
            <a:schemeClr val="accent5"/>
          </a:solidFill>
          <a:ln/>
        </p:spPr>
      </p:sp>
      <p:sp>
        <p:nvSpPr>
          <p:cNvPr id="6" name="tile-92"/>
          <p:cNvSpPr/>
          <p:nvPr/>
        </p:nvSpPr>
        <p:spPr>
          <a:xfrm>
            <a:off x="749808" y="2148840"/>
            <a:ext cx="566928" cy="566928"/>
          </a:xfrm>
          <a:prstGeom prst="roundRect">
            <a:avLst>
              <a:gd name="adj" fmla="val 14516"/>
            </a:avLst>
          </a:prstGeom>
          <a:solidFill>
            <a:schemeClr val="bg1"/>
          </a:solidFill>
          <a:ln/>
        </p:spPr>
      </p:sp>
      <p:pic>
        <p:nvPicPr>
          <p:cNvPr id="7" name="icon-93" descr="preencoded.png">    </p:cNvPr>
          <p:cNvPicPr>
            <a:picLocks noChangeAspect="1"/>
          </p:cNvPicPr>
          <p:nvPr/>
        </p:nvPicPr>
        <p:blipFill>
          <a:blip r:embed="rId1"/>
          <a:stretch>
            <a:fillRect/>
          </a:stretch>
        </p:blipFill>
        <p:spPr>
          <a:xfrm>
            <a:off x="891540" y="2290572"/>
            <a:ext cx="283464" cy="283464"/>
          </a:xfrm>
          <a:prstGeom prst="rect">
            <a:avLst/>
          </a:prstGeom>
        </p:spPr>
      </p:pic>
      <p:sp>
        <p:nvSpPr>
          <p:cNvPr id="8" name="text-94"/>
          <p:cNvSpPr txBox="1"/>
          <p:nvPr/>
        </p:nvSpPr>
        <p:spPr>
          <a:xfrm>
            <a:off x="749808"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Your code editor</a:t>
            </a:r>
            <a:endParaRPr lang="en-US" sz="1600" dirty="0"/>
          </a:p>
        </p:txBody>
      </p:sp>
      <p:sp>
        <p:nvSpPr>
          <p:cNvPr id="9" name="text-95"/>
          <p:cNvSpPr txBox="1"/>
          <p:nvPr/>
        </p:nvSpPr>
        <p:spPr>
          <a:xfrm>
            <a:off x="749808"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VS Code, Visual Studio, JetBrains, Xcode and Eclipse</a:t>
            </a:r>
            <a:endParaRPr lang="en-US" sz="1400" dirty="0"/>
          </a:p>
        </p:txBody>
      </p:sp>
      <p:sp>
        <p:nvSpPr>
          <p:cNvPr id="10" name="card-96"/>
          <p:cNvSpPr/>
          <p:nvPr/>
        </p:nvSpPr>
        <p:spPr>
          <a:xfrm>
            <a:off x="2813243" y="1920240"/>
            <a:ext cx="2036003" cy="3017520"/>
          </a:xfrm>
          <a:prstGeom prst="roundRect">
            <a:avLst>
              <a:gd name="adj" fmla="val 4042"/>
            </a:avLst>
          </a:prstGeom>
          <a:solidFill>
            <a:schemeClr val="bg2"/>
          </a:solidFill>
          <a:ln/>
        </p:spPr>
      </p:sp>
      <p:sp>
        <p:nvSpPr>
          <p:cNvPr id="11" name="tile-97"/>
          <p:cNvSpPr/>
          <p:nvPr/>
        </p:nvSpPr>
        <p:spPr>
          <a:xfrm>
            <a:off x="3014411" y="2148840"/>
            <a:ext cx="566928" cy="566928"/>
          </a:xfrm>
          <a:prstGeom prst="roundRect">
            <a:avLst>
              <a:gd name="adj" fmla="val 14516"/>
            </a:avLst>
          </a:prstGeom>
          <a:solidFill>
            <a:schemeClr val="accent5"/>
          </a:solidFill>
          <a:ln/>
        </p:spPr>
      </p:sp>
      <p:pic>
        <p:nvPicPr>
          <p:cNvPr id="12" name="icon-98" descr="preencoded.png">    </p:cNvPr>
          <p:cNvPicPr>
            <a:picLocks noChangeAspect="1"/>
          </p:cNvPicPr>
          <p:nvPr/>
        </p:nvPicPr>
        <p:blipFill>
          <a:blip r:embed="rId2"/>
          <a:stretch>
            <a:fillRect/>
          </a:stretch>
        </p:blipFill>
        <p:spPr>
          <a:xfrm>
            <a:off x="3156143" y="2290572"/>
            <a:ext cx="283464" cy="283464"/>
          </a:xfrm>
          <a:prstGeom prst="rect">
            <a:avLst/>
          </a:prstGeom>
        </p:spPr>
      </p:pic>
      <p:sp>
        <p:nvSpPr>
          <p:cNvPr id="13" name="text-99"/>
          <p:cNvSpPr txBox="1"/>
          <p:nvPr/>
        </p:nvSpPr>
        <p:spPr>
          <a:xfrm>
            <a:off x="3014411"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GitHub.com</a:t>
            </a:r>
            <a:endParaRPr lang="en-US" sz="1600" dirty="0"/>
          </a:p>
        </p:txBody>
      </p:sp>
      <p:sp>
        <p:nvSpPr>
          <p:cNvPr id="14" name="text-100"/>
          <p:cNvSpPr txBox="1"/>
          <p:nvPr/>
        </p:nvSpPr>
        <p:spPr>
          <a:xfrm>
            <a:off x="3014411"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Chat about a repository, issue or pull request in the browser</a:t>
            </a:r>
            <a:endParaRPr lang="en-US" sz="1400" dirty="0"/>
          </a:p>
        </p:txBody>
      </p:sp>
      <p:sp>
        <p:nvSpPr>
          <p:cNvPr id="15" name="card-101"/>
          <p:cNvSpPr/>
          <p:nvPr/>
        </p:nvSpPr>
        <p:spPr>
          <a:xfrm>
            <a:off x="5077846" y="1920240"/>
            <a:ext cx="2036003" cy="3017520"/>
          </a:xfrm>
          <a:prstGeom prst="roundRect">
            <a:avLst>
              <a:gd name="adj" fmla="val 4042"/>
            </a:avLst>
          </a:prstGeom>
          <a:solidFill>
            <a:schemeClr val="bg2"/>
          </a:solidFill>
          <a:ln/>
        </p:spPr>
      </p:sp>
      <p:sp>
        <p:nvSpPr>
          <p:cNvPr id="16" name="tile-102"/>
          <p:cNvSpPr/>
          <p:nvPr/>
        </p:nvSpPr>
        <p:spPr>
          <a:xfrm>
            <a:off x="5279014" y="2148840"/>
            <a:ext cx="566928" cy="566928"/>
          </a:xfrm>
          <a:prstGeom prst="roundRect">
            <a:avLst>
              <a:gd name="adj" fmla="val 14516"/>
            </a:avLst>
          </a:prstGeom>
          <a:solidFill>
            <a:schemeClr val="accent5"/>
          </a:solidFill>
          <a:ln/>
        </p:spPr>
      </p:sp>
      <p:pic>
        <p:nvPicPr>
          <p:cNvPr id="17" name="icon-103" descr="preencoded.png">    </p:cNvPr>
          <p:cNvPicPr>
            <a:picLocks noChangeAspect="1"/>
          </p:cNvPicPr>
          <p:nvPr/>
        </p:nvPicPr>
        <p:blipFill>
          <a:blip r:embed="rId3"/>
          <a:stretch>
            <a:fillRect/>
          </a:stretch>
        </p:blipFill>
        <p:spPr>
          <a:xfrm>
            <a:off x="5420746" y="2290572"/>
            <a:ext cx="283464" cy="283464"/>
          </a:xfrm>
          <a:prstGeom prst="rect">
            <a:avLst/>
          </a:prstGeom>
        </p:spPr>
      </p:pic>
      <p:sp>
        <p:nvSpPr>
          <p:cNvPr id="18" name="text-104"/>
          <p:cNvSpPr txBox="1"/>
          <p:nvPr/>
        </p:nvSpPr>
        <p:spPr>
          <a:xfrm>
            <a:off x="5279014"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Copilot CLI</a:t>
            </a:r>
            <a:endParaRPr lang="en-US" sz="1600" dirty="0"/>
          </a:p>
        </p:txBody>
      </p:sp>
      <p:sp>
        <p:nvSpPr>
          <p:cNvPr id="19" name="text-105"/>
          <p:cNvSpPr txBox="1"/>
          <p:nvPr/>
        </p:nvSpPr>
        <p:spPr>
          <a:xfrm>
            <a:off x="5279014"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The terminal version, started by typing copilot</a:t>
            </a:r>
            <a:endParaRPr lang="en-US" sz="1400" dirty="0"/>
          </a:p>
        </p:txBody>
      </p:sp>
      <p:sp>
        <p:nvSpPr>
          <p:cNvPr id="20" name="card-106"/>
          <p:cNvSpPr/>
          <p:nvPr/>
        </p:nvSpPr>
        <p:spPr>
          <a:xfrm>
            <a:off x="7342449" y="1920240"/>
            <a:ext cx="2036003" cy="3017520"/>
          </a:xfrm>
          <a:prstGeom prst="roundRect">
            <a:avLst>
              <a:gd name="adj" fmla="val 4042"/>
            </a:avLst>
          </a:prstGeom>
          <a:solidFill>
            <a:schemeClr val="bg2"/>
          </a:solidFill>
          <a:ln/>
        </p:spPr>
      </p:sp>
      <p:sp>
        <p:nvSpPr>
          <p:cNvPr id="21" name="tile-107"/>
          <p:cNvSpPr/>
          <p:nvPr/>
        </p:nvSpPr>
        <p:spPr>
          <a:xfrm>
            <a:off x="7543617" y="2148840"/>
            <a:ext cx="566928" cy="566928"/>
          </a:xfrm>
          <a:prstGeom prst="roundRect">
            <a:avLst>
              <a:gd name="adj" fmla="val 14516"/>
            </a:avLst>
          </a:prstGeom>
          <a:solidFill>
            <a:schemeClr val="accent5"/>
          </a:solidFill>
          <a:ln/>
        </p:spPr>
      </p:sp>
      <p:pic>
        <p:nvPicPr>
          <p:cNvPr id="22" name="icon-108" descr="preencoded.png">    </p:cNvPr>
          <p:cNvPicPr>
            <a:picLocks noChangeAspect="1"/>
          </p:cNvPicPr>
          <p:nvPr/>
        </p:nvPicPr>
        <p:blipFill>
          <a:blip r:embed="rId4"/>
          <a:stretch>
            <a:fillRect/>
          </a:stretch>
        </p:blipFill>
        <p:spPr>
          <a:xfrm>
            <a:off x="7685349" y="2290572"/>
            <a:ext cx="283464" cy="283464"/>
          </a:xfrm>
          <a:prstGeom prst="rect">
            <a:avLst/>
          </a:prstGeom>
        </p:spPr>
      </p:pic>
      <p:sp>
        <p:nvSpPr>
          <p:cNvPr id="23" name="text-109"/>
          <p:cNvSpPr txBox="1"/>
          <p:nvPr/>
        </p:nvSpPr>
        <p:spPr>
          <a:xfrm>
            <a:off x="7543617"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Copilot app</a:t>
            </a:r>
            <a:endParaRPr lang="en-US" sz="1600" dirty="0"/>
          </a:p>
        </p:txBody>
      </p:sp>
      <p:sp>
        <p:nvSpPr>
          <p:cNvPr id="24" name="text-110"/>
          <p:cNvSpPr txBox="1"/>
          <p:nvPr/>
        </p:nvSpPr>
        <p:spPr>
          <a:xfrm>
            <a:off x="7543617"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A desktop app for running several agent sessions at once</a:t>
            </a:r>
            <a:endParaRPr lang="en-US" sz="1400" dirty="0"/>
          </a:p>
        </p:txBody>
      </p:sp>
      <p:sp>
        <p:nvSpPr>
          <p:cNvPr id="25" name="card-111"/>
          <p:cNvSpPr/>
          <p:nvPr/>
        </p:nvSpPr>
        <p:spPr>
          <a:xfrm>
            <a:off x="9607052" y="1920240"/>
            <a:ext cx="2036003" cy="3017520"/>
          </a:xfrm>
          <a:prstGeom prst="roundRect">
            <a:avLst>
              <a:gd name="adj" fmla="val 4042"/>
            </a:avLst>
          </a:prstGeom>
          <a:solidFill>
            <a:schemeClr val="bg2"/>
          </a:solidFill>
          <a:ln/>
        </p:spPr>
      </p:sp>
      <p:sp>
        <p:nvSpPr>
          <p:cNvPr id="26" name="tile-112"/>
          <p:cNvSpPr/>
          <p:nvPr/>
        </p:nvSpPr>
        <p:spPr>
          <a:xfrm>
            <a:off x="9808220" y="2148840"/>
            <a:ext cx="566928" cy="566928"/>
          </a:xfrm>
          <a:prstGeom prst="roundRect">
            <a:avLst>
              <a:gd name="adj" fmla="val 14516"/>
            </a:avLst>
          </a:prstGeom>
          <a:solidFill>
            <a:schemeClr val="accent5"/>
          </a:solidFill>
          <a:ln/>
        </p:spPr>
      </p:sp>
      <p:pic>
        <p:nvPicPr>
          <p:cNvPr id="27" name="icon-113" descr="preencoded.png">    </p:cNvPr>
          <p:cNvPicPr>
            <a:picLocks noChangeAspect="1"/>
          </p:cNvPicPr>
          <p:nvPr/>
        </p:nvPicPr>
        <p:blipFill>
          <a:blip r:embed="rId5"/>
          <a:stretch>
            <a:fillRect/>
          </a:stretch>
        </p:blipFill>
        <p:spPr>
          <a:xfrm>
            <a:off x="9949952" y="2290572"/>
            <a:ext cx="283464" cy="283464"/>
          </a:xfrm>
          <a:prstGeom prst="rect">
            <a:avLst/>
          </a:prstGeom>
        </p:spPr>
      </p:pic>
      <p:sp>
        <p:nvSpPr>
          <p:cNvPr id="28" name="text-114"/>
          <p:cNvSpPr txBox="1"/>
          <p:nvPr/>
        </p:nvSpPr>
        <p:spPr>
          <a:xfrm>
            <a:off x="9808220"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GitHub Mobile</a:t>
            </a:r>
            <a:endParaRPr lang="en-US" sz="1600" dirty="0"/>
          </a:p>
        </p:txBody>
      </p:sp>
      <p:sp>
        <p:nvSpPr>
          <p:cNvPr id="29" name="text-115"/>
          <p:cNvSpPr txBox="1"/>
          <p:nvPr/>
        </p:nvSpPr>
        <p:spPr>
          <a:xfrm>
            <a:off x="9808220"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Chat with Copilot from your phone</a:t>
            </a:r>
            <a:endParaRPr lang="en-US" sz="1400" dirty="0"/>
          </a:p>
        </p:txBody>
      </p:sp>
      <p:sp>
        <p:nvSpPr>
          <p:cNvPr id="30" name="card-116"/>
          <p:cNvSpPr/>
          <p:nvPr/>
        </p:nvSpPr>
        <p:spPr>
          <a:xfrm>
            <a:off x="548640" y="5212080"/>
            <a:ext cx="11094415" cy="640080"/>
          </a:xfrm>
          <a:prstGeom prst="roundRect">
            <a:avLst>
              <a:gd name="adj" fmla="val 12857"/>
            </a:avLst>
          </a:prstGeom>
          <a:solidFill>
            <a:schemeClr val="accent5"/>
          </a:solidFill>
          <a:ln/>
        </p:spPr>
      </p:sp>
      <p:sp>
        <p:nvSpPr>
          <p:cNvPr id="31" name="tile-117"/>
          <p:cNvSpPr/>
          <p:nvPr/>
        </p:nvSpPr>
        <p:spPr>
          <a:xfrm>
            <a:off x="685800" y="5330952"/>
            <a:ext cx="402336" cy="402336"/>
          </a:xfrm>
          <a:prstGeom prst="roundRect">
            <a:avLst>
              <a:gd name="adj" fmla="val 20455"/>
            </a:avLst>
          </a:prstGeom>
          <a:solidFill>
            <a:schemeClr val="bg1"/>
          </a:solidFill>
          <a:ln/>
        </p:spPr>
      </p:sp>
      <p:pic>
        <p:nvPicPr>
          <p:cNvPr id="32" name="icon-118" descr="preencoded.png">    </p:cNvPr>
          <p:cNvPicPr>
            <a:picLocks noChangeAspect="1"/>
          </p:cNvPicPr>
          <p:nvPr/>
        </p:nvPicPr>
        <p:blipFill>
          <a:blip r:embed="rId6"/>
          <a:stretch>
            <a:fillRect/>
          </a:stretch>
        </p:blipFill>
        <p:spPr>
          <a:xfrm>
            <a:off x="786384" y="5431536"/>
            <a:ext cx="201168" cy="201168"/>
          </a:xfrm>
          <a:prstGeom prst="rect">
            <a:avLst/>
          </a:prstGeom>
        </p:spPr>
      </p:pic>
      <p:sp>
        <p:nvSpPr>
          <p:cNvPr id="33" name="text-119"/>
          <p:cNvSpPr txBox="1"/>
          <p:nvPr/>
        </p:nvSpPr>
        <p:spPr>
          <a:xfrm>
            <a:off x="1261872" y="5212080"/>
            <a:ext cx="10198303" cy="640080"/>
          </a:xfrm>
          <a:prstGeom prst="rect">
            <a:avLst/>
          </a:prstGeom>
          <a:noFill/>
          <a:ln/>
        </p:spPr>
        <p:txBody>
          <a:bodyPr wrap="square" lIns="0" tIns="0" rIns="0" bIns="0" rtlCol="0" anchor="ctr"/>
          <a:lstStyle/>
          <a:p>
            <a:pPr indent="0" marL="0">
              <a:buNone/>
            </a:pPr>
            <a:r>
              <a:rPr lang="en-US" sz="1400" dirty="0">
                <a:solidFill>
                  <a:schemeClr val="tx1"/>
                </a:solidFill>
              </a:rPr>
              <a:t>Starting from zero? Use VS Code with Copilot Free. Everything else can wait.</a:t>
            </a:r>
            <a:endParaRPr lang="en-US" sz="1400" dirty="0"/>
          </a:p>
        </p:txBody>
      </p:sp>
      <p:sp>
        <p:nvSpPr>
          <p:cNvPr id="34" name="text-120"/>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GitHub Docs, docs.github.com/copilot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ode-121"/>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2  |  GETTING STARTED</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You need three things before you start</a:t>
            </a:r>
            <a:endParaRPr lang="en-US" sz="3000" dirty="0"/>
          </a:p>
        </p:txBody>
      </p:sp>
      <p:sp>
        <p:nvSpPr>
          <p:cNvPr id="5" name="card-122"/>
          <p:cNvSpPr/>
          <p:nvPr/>
        </p:nvSpPr>
        <p:spPr>
          <a:xfrm>
            <a:off x="548640" y="1920240"/>
            <a:ext cx="3515258" cy="3017520"/>
          </a:xfrm>
          <a:prstGeom prst="roundRect">
            <a:avLst>
              <a:gd name="adj" fmla="val 2727"/>
            </a:avLst>
          </a:prstGeom>
          <a:solidFill>
            <a:schemeClr val="bg2"/>
          </a:solidFill>
          <a:ln/>
        </p:spPr>
      </p:sp>
      <p:sp>
        <p:nvSpPr>
          <p:cNvPr id="6" name="text-123"/>
          <p:cNvSpPr txBox="1"/>
          <p:nvPr/>
        </p:nvSpPr>
        <p:spPr>
          <a:xfrm>
            <a:off x="822960" y="2194560"/>
            <a:ext cx="1097280" cy="548640"/>
          </a:xfrm>
          <a:prstGeom prst="rect">
            <a:avLst/>
          </a:prstGeom>
          <a:noFill/>
          <a:ln/>
        </p:spPr>
        <p:txBody>
          <a:bodyPr wrap="square" lIns="0" tIns="0" rIns="0" bIns="0" rtlCol="0" anchor="t"/>
          <a:lstStyle/>
          <a:p>
            <a:pPr indent="0" marL="0">
              <a:buNone/>
            </a:pPr>
            <a:r>
              <a:rPr lang="en-US" sz="3200" b="1" dirty="0">
                <a:solidFill>
                  <a:schemeClr val="accent1"/>
                </a:solidFill>
                <a:latin typeface="Courier New" pitchFamily="34" charset="0"/>
                <a:ea typeface="Courier New" pitchFamily="34" charset="-122"/>
                <a:cs typeface="Courier New" pitchFamily="34" charset="-120"/>
              </a:rPr>
              <a:t>01</a:t>
            </a:r>
            <a:endParaRPr lang="en-US" sz="3200" dirty="0"/>
          </a:p>
        </p:txBody>
      </p:sp>
      <p:sp>
        <p:nvSpPr>
          <p:cNvPr id="7" name="tile-124"/>
          <p:cNvSpPr/>
          <p:nvPr/>
        </p:nvSpPr>
        <p:spPr>
          <a:xfrm>
            <a:off x="3222650" y="2194560"/>
            <a:ext cx="566928" cy="566928"/>
          </a:xfrm>
          <a:prstGeom prst="roundRect">
            <a:avLst>
              <a:gd name="adj" fmla="val 14516"/>
            </a:avLst>
          </a:prstGeom>
          <a:solidFill>
            <a:schemeClr val="accent5"/>
          </a:solidFill>
          <a:ln/>
        </p:spPr>
      </p:sp>
      <p:pic>
        <p:nvPicPr>
          <p:cNvPr id="8" name="icon-125" descr="preencoded.png">    </p:cNvPr>
          <p:cNvPicPr>
            <a:picLocks noChangeAspect="1"/>
          </p:cNvPicPr>
          <p:nvPr/>
        </p:nvPicPr>
        <p:blipFill>
          <a:blip r:embed="rId1"/>
          <a:stretch>
            <a:fillRect/>
          </a:stretch>
        </p:blipFill>
        <p:spPr>
          <a:xfrm>
            <a:off x="3364382" y="2336292"/>
            <a:ext cx="283464" cy="283464"/>
          </a:xfrm>
          <a:prstGeom prst="rect">
            <a:avLst/>
          </a:prstGeom>
        </p:spPr>
      </p:pic>
      <p:sp>
        <p:nvSpPr>
          <p:cNvPr id="9" name="text-126"/>
          <p:cNvSpPr txBox="1"/>
          <p:nvPr/>
        </p:nvSpPr>
        <p:spPr>
          <a:xfrm>
            <a:off x="822960" y="3063240"/>
            <a:ext cx="2966618" cy="365760"/>
          </a:xfrm>
          <a:prstGeom prst="rect">
            <a:avLst/>
          </a:prstGeom>
          <a:noFill/>
          <a:ln/>
        </p:spPr>
        <p:txBody>
          <a:bodyPr wrap="square" lIns="0" tIns="0" rIns="0" bIns="0" rtlCol="0" anchor="t"/>
          <a:lstStyle/>
          <a:p>
            <a:pPr indent="0" marL="0">
              <a:buNone/>
            </a:pPr>
            <a:r>
              <a:rPr lang="en-US" sz="2000" b="1" dirty="0">
                <a:solidFill>
                  <a:schemeClr val="tx1"/>
                </a:solidFill>
              </a:rPr>
              <a:t>A GitHub account</a:t>
            </a:r>
            <a:endParaRPr lang="en-US" sz="2000" dirty="0"/>
          </a:p>
        </p:txBody>
      </p:sp>
      <p:sp>
        <p:nvSpPr>
          <p:cNvPr id="10" name="text-127"/>
          <p:cNvSpPr txBox="1"/>
          <p:nvPr/>
        </p:nvSpPr>
        <p:spPr>
          <a:xfrm>
            <a:off x="822960" y="3566160"/>
            <a:ext cx="2966618" cy="1097280"/>
          </a:xfrm>
          <a:prstGeom prst="rect">
            <a:avLst/>
          </a:prstGeom>
          <a:noFill/>
          <a:ln/>
        </p:spPr>
        <p:txBody>
          <a:bodyPr wrap="square" lIns="0" tIns="0" rIns="0" bIns="0" rtlCol="0" anchor="t"/>
          <a:lstStyle/>
          <a:p>
            <a:pPr indent="0" marL="0">
              <a:buNone/>
            </a:pPr>
            <a:r>
              <a:rPr lang="en-US" sz="1400" dirty="0">
                <a:solidFill>
                  <a:schemeClr val="tx2"/>
                </a:solidFill>
              </a:rPr>
              <a:t>Free to create at github.com. Copilot is tied to this account</a:t>
            </a:r>
            <a:endParaRPr lang="en-US" sz="1400" dirty="0"/>
          </a:p>
        </p:txBody>
      </p:sp>
      <p:sp>
        <p:nvSpPr>
          <p:cNvPr id="11" name="card-128"/>
          <p:cNvSpPr/>
          <p:nvPr/>
        </p:nvSpPr>
        <p:spPr>
          <a:xfrm>
            <a:off x="4338218" y="1920240"/>
            <a:ext cx="3515258" cy="3017520"/>
          </a:xfrm>
          <a:prstGeom prst="roundRect">
            <a:avLst>
              <a:gd name="adj" fmla="val 2727"/>
            </a:avLst>
          </a:prstGeom>
          <a:solidFill>
            <a:schemeClr val="bg2"/>
          </a:solidFill>
          <a:ln/>
        </p:spPr>
      </p:sp>
      <p:sp>
        <p:nvSpPr>
          <p:cNvPr id="12" name="text-129"/>
          <p:cNvSpPr txBox="1"/>
          <p:nvPr/>
        </p:nvSpPr>
        <p:spPr>
          <a:xfrm>
            <a:off x="4612538" y="2194560"/>
            <a:ext cx="1097280" cy="548640"/>
          </a:xfrm>
          <a:prstGeom prst="rect">
            <a:avLst/>
          </a:prstGeom>
          <a:noFill/>
          <a:ln/>
        </p:spPr>
        <p:txBody>
          <a:bodyPr wrap="square" lIns="0" tIns="0" rIns="0" bIns="0" rtlCol="0" anchor="t"/>
          <a:lstStyle/>
          <a:p>
            <a:pPr indent="0" marL="0">
              <a:buNone/>
            </a:pPr>
            <a:r>
              <a:rPr lang="en-US" sz="3200" b="1" dirty="0">
                <a:solidFill>
                  <a:schemeClr val="accent1"/>
                </a:solidFill>
                <a:latin typeface="Courier New" pitchFamily="34" charset="0"/>
                <a:ea typeface="Courier New" pitchFamily="34" charset="-122"/>
                <a:cs typeface="Courier New" pitchFamily="34" charset="-120"/>
              </a:rPr>
              <a:t>02</a:t>
            </a:r>
            <a:endParaRPr lang="en-US" sz="3200" dirty="0"/>
          </a:p>
        </p:txBody>
      </p:sp>
      <p:sp>
        <p:nvSpPr>
          <p:cNvPr id="13" name="tile-130"/>
          <p:cNvSpPr/>
          <p:nvPr/>
        </p:nvSpPr>
        <p:spPr>
          <a:xfrm>
            <a:off x="7012229" y="2194560"/>
            <a:ext cx="566928" cy="566928"/>
          </a:xfrm>
          <a:prstGeom prst="roundRect">
            <a:avLst>
              <a:gd name="adj" fmla="val 14516"/>
            </a:avLst>
          </a:prstGeom>
          <a:solidFill>
            <a:schemeClr val="accent5"/>
          </a:solidFill>
          <a:ln/>
        </p:spPr>
      </p:sp>
      <p:pic>
        <p:nvPicPr>
          <p:cNvPr id="14" name="icon-131" descr="preencoded.png">    </p:cNvPr>
          <p:cNvPicPr>
            <a:picLocks noChangeAspect="1"/>
          </p:cNvPicPr>
          <p:nvPr/>
        </p:nvPicPr>
        <p:blipFill>
          <a:blip r:embed="rId2"/>
          <a:stretch>
            <a:fillRect/>
          </a:stretch>
        </p:blipFill>
        <p:spPr>
          <a:xfrm>
            <a:off x="7153961" y="2336292"/>
            <a:ext cx="283464" cy="283464"/>
          </a:xfrm>
          <a:prstGeom prst="rect">
            <a:avLst/>
          </a:prstGeom>
        </p:spPr>
      </p:pic>
      <p:sp>
        <p:nvSpPr>
          <p:cNvPr id="15" name="text-132"/>
          <p:cNvSpPr txBox="1"/>
          <p:nvPr/>
        </p:nvSpPr>
        <p:spPr>
          <a:xfrm>
            <a:off x="4612538" y="3063240"/>
            <a:ext cx="2966618" cy="365760"/>
          </a:xfrm>
          <a:prstGeom prst="rect">
            <a:avLst/>
          </a:prstGeom>
          <a:noFill/>
          <a:ln/>
        </p:spPr>
        <p:txBody>
          <a:bodyPr wrap="square" lIns="0" tIns="0" rIns="0" bIns="0" rtlCol="0" anchor="t"/>
          <a:lstStyle/>
          <a:p>
            <a:pPr indent="0" marL="0">
              <a:buNone/>
            </a:pPr>
            <a:r>
              <a:rPr lang="en-US" sz="2000" b="1" dirty="0">
                <a:solidFill>
                  <a:schemeClr val="tx1"/>
                </a:solidFill>
              </a:rPr>
              <a:t>A Copilot plan</a:t>
            </a:r>
            <a:endParaRPr lang="en-US" sz="2000" dirty="0"/>
          </a:p>
        </p:txBody>
      </p:sp>
      <p:sp>
        <p:nvSpPr>
          <p:cNvPr id="16" name="text-133"/>
          <p:cNvSpPr txBox="1"/>
          <p:nvPr/>
        </p:nvSpPr>
        <p:spPr>
          <a:xfrm>
            <a:off x="4612538" y="3566160"/>
            <a:ext cx="2966618" cy="1097280"/>
          </a:xfrm>
          <a:prstGeom prst="rect">
            <a:avLst/>
          </a:prstGeom>
          <a:noFill/>
          <a:ln/>
        </p:spPr>
        <p:txBody>
          <a:bodyPr wrap="square" lIns="0" tIns="0" rIns="0" bIns="0" rtlCol="0" anchor="t"/>
          <a:lstStyle/>
          <a:p>
            <a:pPr indent="0" marL="0">
              <a:buNone/>
            </a:pPr>
            <a:r>
              <a:rPr lang="en-US" sz="1400" dirty="0">
                <a:solidFill>
                  <a:schemeClr val="tx2"/>
                </a:solidFill>
              </a:rPr>
              <a:t>Copilot Free is enough to begin, with no subscription</a:t>
            </a:r>
            <a:endParaRPr lang="en-US" sz="1400" dirty="0"/>
          </a:p>
        </p:txBody>
      </p:sp>
      <p:sp>
        <p:nvSpPr>
          <p:cNvPr id="17" name="card-134"/>
          <p:cNvSpPr/>
          <p:nvPr/>
        </p:nvSpPr>
        <p:spPr>
          <a:xfrm>
            <a:off x="8127797" y="1920240"/>
            <a:ext cx="3515258" cy="3017520"/>
          </a:xfrm>
          <a:prstGeom prst="roundRect">
            <a:avLst>
              <a:gd name="adj" fmla="val 2727"/>
            </a:avLst>
          </a:prstGeom>
          <a:solidFill>
            <a:schemeClr val="bg2"/>
          </a:solidFill>
          <a:ln/>
        </p:spPr>
      </p:sp>
      <p:sp>
        <p:nvSpPr>
          <p:cNvPr id="18" name="text-135"/>
          <p:cNvSpPr txBox="1"/>
          <p:nvPr/>
        </p:nvSpPr>
        <p:spPr>
          <a:xfrm>
            <a:off x="8402117" y="2194560"/>
            <a:ext cx="1097280" cy="548640"/>
          </a:xfrm>
          <a:prstGeom prst="rect">
            <a:avLst/>
          </a:prstGeom>
          <a:noFill/>
          <a:ln/>
        </p:spPr>
        <p:txBody>
          <a:bodyPr wrap="square" lIns="0" tIns="0" rIns="0" bIns="0" rtlCol="0" anchor="t"/>
          <a:lstStyle/>
          <a:p>
            <a:pPr indent="0" marL="0">
              <a:buNone/>
            </a:pPr>
            <a:r>
              <a:rPr lang="en-US" sz="3200" b="1" dirty="0">
                <a:solidFill>
                  <a:schemeClr val="accent1"/>
                </a:solidFill>
                <a:latin typeface="Courier New" pitchFamily="34" charset="0"/>
                <a:ea typeface="Courier New" pitchFamily="34" charset="-122"/>
                <a:cs typeface="Courier New" pitchFamily="34" charset="-120"/>
              </a:rPr>
              <a:t>03</a:t>
            </a:r>
            <a:endParaRPr lang="en-US" sz="3200" dirty="0"/>
          </a:p>
        </p:txBody>
      </p:sp>
      <p:sp>
        <p:nvSpPr>
          <p:cNvPr id="19" name="tile-136"/>
          <p:cNvSpPr/>
          <p:nvPr/>
        </p:nvSpPr>
        <p:spPr>
          <a:xfrm>
            <a:off x="10801807" y="2194560"/>
            <a:ext cx="566928" cy="566928"/>
          </a:xfrm>
          <a:prstGeom prst="roundRect">
            <a:avLst>
              <a:gd name="adj" fmla="val 14516"/>
            </a:avLst>
          </a:prstGeom>
          <a:solidFill>
            <a:schemeClr val="accent5"/>
          </a:solidFill>
          <a:ln/>
        </p:spPr>
      </p:sp>
      <p:pic>
        <p:nvPicPr>
          <p:cNvPr id="20" name="icon-137" descr="preencoded.png">    </p:cNvPr>
          <p:cNvPicPr>
            <a:picLocks noChangeAspect="1"/>
          </p:cNvPicPr>
          <p:nvPr/>
        </p:nvPicPr>
        <p:blipFill>
          <a:blip r:embed="rId3"/>
          <a:stretch>
            <a:fillRect/>
          </a:stretch>
        </p:blipFill>
        <p:spPr>
          <a:xfrm>
            <a:off x="10943539" y="2336292"/>
            <a:ext cx="283464" cy="283464"/>
          </a:xfrm>
          <a:prstGeom prst="rect">
            <a:avLst/>
          </a:prstGeom>
        </p:spPr>
      </p:pic>
      <p:sp>
        <p:nvSpPr>
          <p:cNvPr id="21" name="text-138"/>
          <p:cNvSpPr txBox="1"/>
          <p:nvPr/>
        </p:nvSpPr>
        <p:spPr>
          <a:xfrm>
            <a:off x="8402117" y="3063240"/>
            <a:ext cx="2966618" cy="365760"/>
          </a:xfrm>
          <a:prstGeom prst="rect">
            <a:avLst/>
          </a:prstGeom>
          <a:noFill/>
          <a:ln/>
        </p:spPr>
        <p:txBody>
          <a:bodyPr wrap="square" lIns="0" tIns="0" rIns="0" bIns="0" rtlCol="0" anchor="t"/>
          <a:lstStyle/>
          <a:p>
            <a:pPr indent="0" marL="0">
              <a:buNone/>
            </a:pPr>
            <a:r>
              <a:rPr lang="en-US" sz="2000" b="1" dirty="0">
                <a:solidFill>
                  <a:schemeClr val="tx1"/>
                </a:solidFill>
              </a:rPr>
              <a:t>A code editor</a:t>
            </a:r>
            <a:endParaRPr lang="en-US" sz="2000" dirty="0"/>
          </a:p>
        </p:txBody>
      </p:sp>
      <p:sp>
        <p:nvSpPr>
          <p:cNvPr id="22" name="text-139"/>
          <p:cNvSpPr txBox="1"/>
          <p:nvPr/>
        </p:nvSpPr>
        <p:spPr>
          <a:xfrm>
            <a:off x="8402117" y="3566160"/>
            <a:ext cx="2966618" cy="1097280"/>
          </a:xfrm>
          <a:prstGeom prst="rect">
            <a:avLst/>
          </a:prstGeom>
          <a:noFill/>
          <a:ln/>
        </p:spPr>
        <p:txBody>
          <a:bodyPr wrap="square" lIns="0" tIns="0" rIns="0" bIns="0" rtlCol="0" anchor="t"/>
          <a:lstStyle/>
          <a:p>
            <a:pPr indent="0" marL="0">
              <a:buNone/>
            </a:pPr>
            <a:r>
              <a:rPr lang="en-US" sz="1400" dirty="0">
                <a:solidFill>
                  <a:schemeClr val="tx2"/>
                </a:solidFill>
              </a:rPr>
              <a:t>VS Code is the usual choice. A web browser alone also works</a:t>
            </a:r>
            <a:endParaRPr lang="en-US" sz="1400" dirty="0"/>
          </a:p>
        </p:txBody>
      </p:sp>
      <p:sp>
        <p:nvSpPr>
          <p:cNvPr id="23" name="card-140"/>
          <p:cNvSpPr/>
          <p:nvPr/>
        </p:nvSpPr>
        <p:spPr>
          <a:xfrm>
            <a:off x="548640" y="5212080"/>
            <a:ext cx="11094415" cy="640080"/>
          </a:xfrm>
          <a:prstGeom prst="roundRect">
            <a:avLst>
              <a:gd name="adj" fmla="val 12857"/>
            </a:avLst>
          </a:prstGeom>
          <a:solidFill>
            <a:schemeClr val="accent5"/>
          </a:solidFill>
          <a:ln/>
        </p:spPr>
      </p:sp>
      <p:sp>
        <p:nvSpPr>
          <p:cNvPr id="24" name="tile-141"/>
          <p:cNvSpPr/>
          <p:nvPr/>
        </p:nvSpPr>
        <p:spPr>
          <a:xfrm>
            <a:off x="685800" y="5330952"/>
            <a:ext cx="402336" cy="402336"/>
          </a:xfrm>
          <a:prstGeom prst="roundRect">
            <a:avLst>
              <a:gd name="adj" fmla="val 20455"/>
            </a:avLst>
          </a:prstGeom>
          <a:solidFill>
            <a:schemeClr val="bg1"/>
          </a:solidFill>
          <a:ln/>
        </p:spPr>
      </p:sp>
      <p:pic>
        <p:nvPicPr>
          <p:cNvPr id="25" name="icon-142" descr="preencoded.png">    </p:cNvPr>
          <p:cNvPicPr>
            <a:picLocks noChangeAspect="1"/>
          </p:cNvPicPr>
          <p:nvPr/>
        </p:nvPicPr>
        <p:blipFill>
          <a:blip r:embed="rId4"/>
          <a:stretch>
            <a:fillRect/>
          </a:stretch>
        </p:blipFill>
        <p:spPr>
          <a:xfrm>
            <a:off x="786384" y="5431536"/>
            <a:ext cx="201168" cy="201168"/>
          </a:xfrm>
          <a:prstGeom prst="rect">
            <a:avLst/>
          </a:prstGeom>
        </p:spPr>
      </p:pic>
      <p:sp>
        <p:nvSpPr>
          <p:cNvPr id="26" name="text-143"/>
          <p:cNvSpPr txBox="1"/>
          <p:nvPr/>
        </p:nvSpPr>
        <p:spPr>
          <a:xfrm>
            <a:off x="1261872" y="5212080"/>
            <a:ext cx="10198303" cy="640080"/>
          </a:xfrm>
          <a:prstGeom prst="rect">
            <a:avLst/>
          </a:prstGeom>
          <a:noFill/>
          <a:ln/>
        </p:spPr>
        <p:txBody>
          <a:bodyPr wrap="square" lIns="0" tIns="0" rIns="0" bIns="0" rtlCol="0" anchor="ctr"/>
          <a:lstStyle/>
          <a:p>
            <a:pPr indent="0" marL="0">
              <a:buNone/>
            </a:pPr>
            <a:r>
              <a:rPr lang="en-US" sz="1400" dirty="0">
                <a:solidFill>
                  <a:schemeClr val="tx1"/>
                </a:solidFill>
              </a:rPr>
              <a:t>Verified students can get Copilot Student for free. Teachers and open-source maintainers may qualify for Pro.</a:t>
            </a:r>
            <a:endParaRPr lang="en-US" sz="1400" dirty="0"/>
          </a:p>
        </p:txBody>
      </p:sp>
      <p:sp>
        <p:nvSpPr>
          <p:cNvPr id="27" name="text-144"/>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GitHub Docs, Quickstart for GitHub Copilot and Plans for GitHub Copilot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ode-145"/>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2  |  GETTING STARTED</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Start in four steps with VS Code</a:t>
            </a:r>
            <a:endParaRPr lang="en-US" sz="3000" dirty="0"/>
          </a:p>
        </p:txBody>
      </p:sp>
      <p:sp>
        <p:nvSpPr>
          <p:cNvPr id="5" name="step-146"/>
          <p:cNvSpPr/>
          <p:nvPr/>
        </p:nvSpPr>
        <p:spPr>
          <a:xfrm>
            <a:off x="548640" y="2048256"/>
            <a:ext cx="548640" cy="548640"/>
          </a:xfrm>
          <a:prstGeom prst="ellipse">
            <a:avLst/>
          </a:prstGeom>
          <a:solidFill>
            <a:schemeClr val="accent1"/>
          </a:solidFill>
          <a:ln/>
        </p:spPr>
      </p:sp>
      <p:sp>
        <p:nvSpPr>
          <p:cNvPr id="6" name="text-147"/>
          <p:cNvSpPr txBox="1"/>
          <p:nvPr/>
        </p:nvSpPr>
        <p:spPr>
          <a:xfrm>
            <a:off x="548640" y="204825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7" name="text-148"/>
          <p:cNvSpPr txBox="1"/>
          <p:nvPr/>
        </p:nvSpPr>
        <p:spPr>
          <a:xfrm>
            <a:off x="1325880" y="1920240"/>
            <a:ext cx="2926080" cy="804672"/>
          </a:xfrm>
          <a:prstGeom prst="rect">
            <a:avLst/>
          </a:prstGeom>
          <a:noFill/>
          <a:ln/>
        </p:spPr>
        <p:txBody>
          <a:bodyPr wrap="square" lIns="0" tIns="0" rIns="0" bIns="0" rtlCol="0" anchor="ctr"/>
          <a:lstStyle/>
          <a:p>
            <a:pPr indent="0" marL="0">
              <a:buNone/>
            </a:pPr>
            <a:r>
              <a:rPr lang="en-US" sz="1800" b="1" dirty="0">
                <a:solidFill>
                  <a:schemeClr val="tx1"/>
                </a:solidFill>
              </a:rPr>
              <a:t>Sign up</a:t>
            </a:r>
            <a:endParaRPr lang="en-US" sz="1800" dirty="0"/>
          </a:p>
        </p:txBody>
      </p:sp>
      <p:sp>
        <p:nvSpPr>
          <p:cNvPr id="8" name="card-149"/>
          <p:cNvSpPr/>
          <p:nvPr/>
        </p:nvSpPr>
        <p:spPr>
          <a:xfrm>
            <a:off x="4480560" y="1920240"/>
            <a:ext cx="7162495" cy="804672"/>
          </a:xfrm>
          <a:prstGeom prst="roundRect">
            <a:avLst>
              <a:gd name="adj" fmla="val 10227"/>
            </a:avLst>
          </a:prstGeom>
          <a:solidFill>
            <a:schemeClr val="bg2"/>
          </a:solidFill>
          <a:ln/>
        </p:spPr>
      </p:sp>
      <p:sp>
        <p:nvSpPr>
          <p:cNvPr id="9" name="text-150"/>
          <p:cNvSpPr txBox="1"/>
          <p:nvPr/>
        </p:nvSpPr>
        <p:spPr>
          <a:xfrm>
            <a:off x="4754880" y="1920240"/>
            <a:ext cx="6613855" cy="804672"/>
          </a:xfrm>
          <a:prstGeom prst="rect">
            <a:avLst/>
          </a:prstGeom>
          <a:noFill/>
          <a:ln/>
        </p:spPr>
        <p:txBody>
          <a:bodyPr wrap="square" lIns="0" tIns="0" rIns="0" bIns="0" rtlCol="0" anchor="ctr"/>
          <a:lstStyle/>
          <a:p>
            <a:pPr indent="0" marL="0">
              <a:buNone/>
            </a:pPr>
            <a:r>
              <a:rPr lang="en-US" sz="1600" dirty="0">
                <a:solidFill>
                  <a:schemeClr val="tx1"/>
                </a:solidFill>
              </a:rPr>
              <a:t>Go to github.com/copilot and start with Copilot Free</a:t>
            </a:r>
            <a:endParaRPr lang="en-US" sz="1600" dirty="0"/>
          </a:p>
        </p:txBody>
      </p:sp>
      <p:sp>
        <p:nvSpPr>
          <p:cNvPr id="10" name="step-151"/>
          <p:cNvSpPr/>
          <p:nvPr/>
        </p:nvSpPr>
        <p:spPr>
          <a:xfrm>
            <a:off x="548640" y="3035808"/>
            <a:ext cx="548640" cy="548640"/>
          </a:xfrm>
          <a:prstGeom prst="ellipse">
            <a:avLst/>
          </a:prstGeom>
          <a:solidFill>
            <a:schemeClr val="accent1"/>
          </a:solidFill>
          <a:ln/>
        </p:spPr>
      </p:sp>
      <p:sp>
        <p:nvSpPr>
          <p:cNvPr id="11" name="text-152"/>
          <p:cNvSpPr txBox="1"/>
          <p:nvPr/>
        </p:nvSpPr>
        <p:spPr>
          <a:xfrm>
            <a:off x="548640" y="303580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2</a:t>
            </a:r>
            <a:endParaRPr lang="en-US" sz="1800" dirty="0"/>
          </a:p>
        </p:txBody>
      </p:sp>
      <p:sp>
        <p:nvSpPr>
          <p:cNvPr id="12" name="text-153"/>
          <p:cNvSpPr txBox="1"/>
          <p:nvPr/>
        </p:nvSpPr>
        <p:spPr>
          <a:xfrm>
            <a:off x="1325880" y="2907792"/>
            <a:ext cx="2926080" cy="804672"/>
          </a:xfrm>
          <a:prstGeom prst="rect">
            <a:avLst/>
          </a:prstGeom>
          <a:noFill/>
          <a:ln/>
        </p:spPr>
        <p:txBody>
          <a:bodyPr wrap="square" lIns="0" tIns="0" rIns="0" bIns="0" rtlCol="0" anchor="ctr"/>
          <a:lstStyle/>
          <a:p>
            <a:pPr indent="0" marL="0">
              <a:buNone/>
            </a:pPr>
            <a:r>
              <a:rPr lang="en-US" sz="1800" b="1" dirty="0">
                <a:solidFill>
                  <a:schemeClr val="tx1"/>
                </a:solidFill>
              </a:rPr>
              <a:t>Set up VS Code</a:t>
            </a:r>
            <a:endParaRPr lang="en-US" sz="1800" dirty="0"/>
          </a:p>
        </p:txBody>
      </p:sp>
      <p:sp>
        <p:nvSpPr>
          <p:cNvPr id="13" name="card-154"/>
          <p:cNvSpPr/>
          <p:nvPr/>
        </p:nvSpPr>
        <p:spPr>
          <a:xfrm>
            <a:off x="4480560" y="2907792"/>
            <a:ext cx="7162495" cy="804672"/>
          </a:xfrm>
          <a:prstGeom prst="roundRect">
            <a:avLst>
              <a:gd name="adj" fmla="val 10227"/>
            </a:avLst>
          </a:prstGeom>
          <a:solidFill>
            <a:schemeClr val="bg2"/>
          </a:solidFill>
          <a:ln/>
        </p:spPr>
      </p:sp>
      <p:sp>
        <p:nvSpPr>
          <p:cNvPr id="14" name="text-155"/>
          <p:cNvSpPr txBox="1"/>
          <p:nvPr/>
        </p:nvSpPr>
        <p:spPr>
          <a:xfrm>
            <a:off x="4754880" y="2907792"/>
            <a:ext cx="6613855" cy="804672"/>
          </a:xfrm>
          <a:prstGeom prst="rect">
            <a:avLst/>
          </a:prstGeom>
          <a:noFill/>
          <a:ln/>
        </p:spPr>
        <p:txBody>
          <a:bodyPr wrap="square" lIns="0" tIns="0" rIns="0" bIns="0" rtlCol="0" anchor="ctr"/>
          <a:lstStyle/>
          <a:p>
            <a:pPr indent="0" marL="0">
              <a:buNone/>
            </a:pPr>
            <a:r>
              <a:rPr lang="en-US" sz="1600" dirty="0">
                <a:solidFill>
                  <a:schemeClr val="tx1"/>
                </a:solidFill>
              </a:rPr>
              <a:t>Install the latest VS Code and sign in to GitHub inside it</a:t>
            </a:r>
            <a:endParaRPr lang="en-US" sz="1600" dirty="0"/>
          </a:p>
        </p:txBody>
      </p:sp>
      <p:sp>
        <p:nvSpPr>
          <p:cNvPr id="15" name="step-156"/>
          <p:cNvSpPr/>
          <p:nvPr/>
        </p:nvSpPr>
        <p:spPr>
          <a:xfrm>
            <a:off x="548640" y="4023360"/>
            <a:ext cx="548640" cy="548640"/>
          </a:xfrm>
          <a:prstGeom prst="ellipse">
            <a:avLst/>
          </a:prstGeom>
          <a:solidFill>
            <a:schemeClr val="accent1"/>
          </a:solidFill>
          <a:ln/>
        </p:spPr>
      </p:sp>
      <p:sp>
        <p:nvSpPr>
          <p:cNvPr id="16" name="text-157"/>
          <p:cNvSpPr txBox="1"/>
          <p:nvPr/>
        </p:nvSpPr>
        <p:spPr>
          <a:xfrm>
            <a:off x="548640" y="4023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3</a:t>
            </a:r>
            <a:endParaRPr lang="en-US" sz="1800" dirty="0"/>
          </a:p>
        </p:txBody>
      </p:sp>
      <p:sp>
        <p:nvSpPr>
          <p:cNvPr id="17" name="text-158"/>
          <p:cNvSpPr txBox="1"/>
          <p:nvPr/>
        </p:nvSpPr>
        <p:spPr>
          <a:xfrm>
            <a:off x="1325880" y="3895344"/>
            <a:ext cx="2926080" cy="804672"/>
          </a:xfrm>
          <a:prstGeom prst="rect">
            <a:avLst/>
          </a:prstGeom>
          <a:noFill/>
          <a:ln/>
        </p:spPr>
        <p:txBody>
          <a:bodyPr wrap="square" lIns="0" tIns="0" rIns="0" bIns="0" rtlCol="0" anchor="ctr"/>
          <a:lstStyle/>
          <a:p>
            <a:pPr indent="0" marL="0">
              <a:buNone/>
            </a:pPr>
            <a:r>
              <a:rPr lang="en-US" sz="1800" b="1" dirty="0">
                <a:solidFill>
                  <a:schemeClr val="tx1"/>
                </a:solidFill>
              </a:rPr>
              <a:t>Open Chat</a:t>
            </a:r>
            <a:endParaRPr lang="en-US" sz="1800" dirty="0"/>
          </a:p>
        </p:txBody>
      </p:sp>
      <p:sp>
        <p:nvSpPr>
          <p:cNvPr id="18" name="card-159"/>
          <p:cNvSpPr/>
          <p:nvPr/>
        </p:nvSpPr>
        <p:spPr>
          <a:xfrm>
            <a:off x="4480560" y="3895344"/>
            <a:ext cx="7162495" cy="804672"/>
          </a:xfrm>
          <a:prstGeom prst="roundRect">
            <a:avLst>
              <a:gd name="adj" fmla="val 10227"/>
            </a:avLst>
          </a:prstGeom>
          <a:solidFill>
            <a:schemeClr val="bg2"/>
          </a:solidFill>
          <a:ln/>
        </p:spPr>
      </p:sp>
      <p:sp>
        <p:nvSpPr>
          <p:cNvPr id="19" name="text-160"/>
          <p:cNvSpPr txBox="1"/>
          <p:nvPr/>
        </p:nvSpPr>
        <p:spPr>
          <a:xfrm>
            <a:off x="4754880" y="3895344"/>
            <a:ext cx="6613855" cy="804672"/>
          </a:xfrm>
          <a:prstGeom prst="rect">
            <a:avLst/>
          </a:prstGeom>
          <a:noFill/>
          <a:ln/>
        </p:spPr>
        <p:txBody>
          <a:bodyPr wrap="square" lIns="0" tIns="0" rIns="0" bIns="0" rtlCol="0" anchor="ctr"/>
          <a:lstStyle/>
          <a:p>
            <a:pPr indent="0" marL="0">
              <a:buNone/>
            </a:pPr>
            <a:r>
              <a:rPr lang="en-US" sz="1600" dirty="0">
                <a:solidFill>
                  <a:schemeClr val="tx1"/>
                </a:solidFill>
              </a:rPr>
              <a:t>Press Ctrl+Alt+I, or Ctrl+Cmd+I on a Mac, and ask a question</a:t>
            </a:r>
            <a:endParaRPr lang="en-US" sz="1600" dirty="0"/>
          </a:p>
        </p:txBody>
      </p:sp>
      <p:sp>
        <p:nvSpPr>
          <p:cNvPr id="20" name="step-161"/>
          <p:cNvSpPr/>
          <p:nvPr/>
        </p:nvSpPr>
        <p:spPr>
          <a:xfrm>
            <a:off x="548640" y="5010912"/>
            <a:ext cx="548640" cy="548640"/>
          </a:xfrm>
          <a:prstGeom prst="ellipse">
            <a:avLst/>
          </a:prstGeom>
          <a:solidFill>
            <a:schemeClr val="accent1"/>
          </a:solidFill>
          <a:ln/>
        </p:spPr>
      </p:sp>
      <p:sp>
        <p:nvSpPr>
          <p:cNvPr id="21" name="text-162"/>
          <p:cNvSpPr txBox="1"/>
          <p:nvPr/>
        </p:nvSpPr>
        <p:spPr>
          <a:xfrm>
            <a:off x="548640" y="501091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4</a:t>
            </a:r>
            <a:endParaRPr lang="en-US" sz="1800" dirty="0"/>
          </a:p>
        </p:txBody>
      </p:sp>
      <p:sp>
        <p:nvSpPr>
          <p:cNvPr id="22" name="text-163"/>
          <p:cNvSpPr txBox="1"/>
          <p:nvPr/>
        </p:nvSpPr>
        <p:spPr>
          <a:xfrm>
            <a:off x="1325880" y="4882896"/>
            <a:ext cx="2926080" cy="804672"/>
          </a:xfrm>
          <a:prstGeom prst="rect">
            <a:avLst/>
          </a:prstGeom>
          <a:noFill/>
          <a:ln/>
        </p:spPr>
        <p:txBody>
          <a:bodyPr wrap="square" lIns="0" tIns="0" rIns="0" bIns="0" rtlCol="0" anchor="ctr"/>
          <a:lstStyle/>
          <a:p>
            <a:pPr indent="0" marL="0">
              <a:buNone/>
            </a:pPr>
            <a:r>
              <a:rPr lang="en-US" sz="1800" b="1" dirty="0">
                <a:solidFill>
                  <a:schemeClr val="tx1"/>
                </a:solidFill>
              </a:rPr>
              <a:t>Accept a suggestion</a:t>
            </a:r>
            <a:endParaRPr lang="en-US" sz="1800" dirty="0"/>
          </a:p>
        </p:txBody>
      </p:sp>
      <p:sp>
        <p:nvSpPr>
          <p:cNvPr id="23" name="card-164"/>
          <p:cNvSpPr/>
          <p:nvPr/>
        </p:nvSpPr>
        <p:spPr>
          <a:xfrm>
            <a:off x="4480560" y="4882896"/>
            <a:ext cx="7162495" cy="804672"/>
          </a:xfrm>
          <a:prstGeom prst="roundRect">
            <a:avLst>
              <a:gd name="adj" fmla="val 10227"/>
            </a:avLst>
          </a:prstGeom>
          <a:solidFill>
            <a:schemeClr val="bg2"/>
          </a:solidFill>
          <a:ln/>
        </p:spPr>
      </p:sp>
      <p:sp>
        <p:nvSpPr>
          <p:cNvPr id="24" name="text-165"/>
          <p:cNvSpPr txBox="1"/>
          <p:nvPr/>
        </p:nvSpPr>
        <p:spPr>
          <a:xfrm>
            <a:off x="4754880" y="4882896"/>
            <a:ext cx="6613855" cy="804672"/>
          </a:xfrm>
          <a:prstGeom prst="rect">
            <a:avLst/>
          </a:prstGeom>
          <a:noFill/>
          <a:ln/>
        </p:spPr>
        <p:txBody>
          <a:bodyPr wrap="square" lIns="0" tIns="0" rIns="0" bIns="0" rtlCol="0" anchor="ctr"/>
          <a:lstStyle/>
          <a:p>
            <a:pPr indent="0" marL="0">
              <a:buNone/>
            </a:pPr>
            <a:r>
              <a:rPr lang="en-US" sz="1600" dirty="0">
                <a:solidFill>
                  <a:schemeClr val="tx1"/>
                </a:solidFill>
              </a:rPr>
              <a:t>Start typing code, then press Tab to accept the grey suggestion</a:t>
            </a:r>
            <a:endParaRPr lang="en-US" sz="1600" dirty="0"/>
          </a:p>
        </p:txBody>
      </p:sp>
      <p:sp>
        <p:nvSpPr>
          <p:cNvPr id="25" name="text-166"/>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No editor yet? Open a file on GitHub.com and click the Copilot icon. Source: GitHub Docs, Quickstart for GitHub Copilot.</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ode-167"/>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2  |  GETTING STARTED</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Plans run from free to enterprise</a:t>
            </a:r>
            <a:endParaRPr lang="en-US" sz="3000" dirty="0"/>
          </a:p>
        </p:txBody>
      </p:sp>
      <p:graphicFrame>
        <p:nvGraphicFramePr>
          <p:cNvPr id="9" name="table-168"/>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2377440"/>
                <a:gridCol w="2103120"/>
                <a:gridCol w="2377440"/>
                <a:gridCol w="4236415"/>
              </a:tblGrid>
              <a:tr h="457200">
                <a:tc>
                  <a:txBody>
                    <a:bodyPr/>
                    <a:lstStyle/>
                    <a:p>
                      <a:pPr indent="0" marL="0">
                        <a:buNone/>
                      </a:pPr>
                      <a:r>
                        <a:rPr lang="en-US" sz="1400" b="1" dirty="0">
                          <a:solidFill>
                            <a:schemeClr val="bg1"/>
                          </a:solidFill>
                        </a:rPr>
                        <a:t>Plan</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Price per month</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AI Credits per month</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Made for</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3"/>
                    </a:solidFill>
                  </a:tcPr>
                </a:tc>
              </a:tr>
              <a:tr h="457200">
                <a:tc>
                  <a:txBody>
                    <a:bodyPr/>
                    <a:lstStyle/>
                    <a:p>
                      <a:pPr indent="0" marL="0">
                        <a:buNone/>
                      </a:pPr>
                      <a:r>
                        <a:rPr lang="en-US" sz="1400" b="1" dirty="0">
                          <a:solidFill>
                            <a:schemeClr val="tx1"/>
                          </a:solidFill>
                        </a:rPr>
                        <a:t>Copilot Free</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An allowance</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Trying it out; 2,000 completions a month</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Copilot Pro</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1,500</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Individuals who want a choice of models</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Copilot Pro+</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$39</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7,000</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Power users who want premium models</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Copilot Max</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$100</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20,000</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Sustained, high-volume use</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Copilot Business</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$19 per seat</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1,900</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Organisations that need central management</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Copilot Enterprise</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$39 per seat</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3,900</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Companies on GitHub Enterprise Cloud</a:t>
                      </a:r>
                      <a:endParaRPr lang="en-US" sz="1400" dirty="0"/>
                    </a:p>
                  </a:txBody>
                  <a:tcPr marL="128016" marR="91440"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r>
            </a:tbl>
          </a:graphicData>
        </a:graphic>
      </p:graphicFrame>
      <p:sp>
        <p:nvSpPr>
          <p:cNvPr id="6" name="card-169"/>
          <p:cNvSpPr/>
          <p:nvPr/>
        </p:nvSpPr>
        <p:spPr>
          <a:xfrm>
            <a:off x="548640" y="5257800"/>
            <a:ext cx="11094415" cy="640080"/>
          </a:xfrm>
          <a:prstGeom prst="roundRect">
            <a:avLst>
              <a:gd name="adj" fmla="val 12857"/>
            </a:avLst>
          </a:prstGeom>
          <a:solidFill>
            <a:schemeClr val="accent5"/>
          </a:solidFill>
          <a:ln/>
        </p:spPr>
      </p:sp>
      <p:sp>
        <p:nvSpPr>
          <p:cNvPr id="7" name="tile-170"/>
          <p:cNvSpPr/>
          <p:nvPr/>
        </p:nvSpPr>
        <p:spPr>
          <a:xfrm>
            <a:off x="685800" y="5376672"/>
            <a:ext cx="402336" cy="402336"/>
          </a:xfrm>
          <a:prstGeom prst="roundRect">
            <a:avLst>
              <a:gd name="adj" fmla="val 20455"/>
            </a:avLst>
          </a:prstGeom>
          <a:solidFill>
            <a:schemeClr val="bg1"/>
          </a:solidFill>
          <a:ln/>
        </p:spPr>
      </p:sp>
      <p:pic>
        <p:nvPicPr>
          <p:cNvPr id="8" name="icon-171" descr="preencoded.png">    </p:cNvPr>
          <p:cNvPicPr>
            <a:picLocks noChangeAspect="1"/>
          </p:cNvPicPr>
          <p:nvPr/>
        </p:nvPicPr>
        <p:blipFill>
          <a:blip r:embed="rId1"/>
          <a:stretch>
            <a:fillRect/>
          </a:stretch>
        </p:blipFill>
        <p:spPr>
          <a:xfrm>
            <a:off x="786384" y="5477256"/>
            <a:ext cx="201168" cy="201168"/>
          </a:xfrm>
          <a:prstGeom prst="rect">
            <a:avLst/>
          </a:prstGeom>
        </p:spPr>
      </p:pic>
      <p:sp>
        <p:nvSpPr>
          <p:cNvPr id="9" name="text-172"/>
          <p:cNvSpPr txBox="1"/>
          <p:nvPr/>
        </p:nvSpPr>
        <p:spPr>
          <a:xfrm>
            <a:off x="1261872" y="5257800"/>
            <a:ext cx="10198303" cy="640080"/>
          </a:xfrm>
          <a:prstGeom prst="rect">
            <a:avLst/>
          </a:prstGeom>
          <a:noFill/>
          <a:ln/>
        </p:spPr>
        <p:txBody>
          <a:bodyPr wrap="square" lIns="0" tIns="0" rIns="0" bIns="0" rtlCol="0" anchor="ctr"/>
          <a:lstStyle/>
          <a:p>
            <a:pPr indent="0" marL="0">
              <a:buNone/>
            </a:pPr>
            <a:r>
              <a:rPr lang="en-US" sz="1400" dirty="0">
                <a:solidFill>
                  <a:schemeClr val="tx1"/>
                </a:solidFill>
              </a:rPr>
              <a:t>On paid plans, code completions are unlimited and are not charged in AI Credits.</a:t>
            </a:r>
            <a:endParaRPr lang="en-US" sz="1400" dirty="0"/>
          </a:p>
        </p:txBody>
      </p:sp>
      <p:sp>
        <p:nvSpPr>
          <p:cNvPr id="10" name="text-173"/>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GitHub Docs, Plans for GitHub Copilot (October 2026). Prices in US dollars; they change, so check github.com before you buy.</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ode-174"/>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core words come up in every session</a:t>
            </a:r>
            <a:endParaRPr lang="en-US" sz="3000" dirty="0"/>
          </a:p>
        </p:txBody>
      </p:sp>
      <p:sp>
        <p:nvSpPr>
          <p:cNvPr id="5" name="card-175"/>
          <p:cNvSpPr/>
          <p:nvPr/>
        </p:nvSpPr>
        <p:spPr>
          <a:xfrm>
            <a:off x="548640" y="1920240"/>
            <a:ext cx="11094415" cy="566928"/>
          </a:xfrm>
          <a:prstGeom prst="roundRect">
            <a:avLst>
              <a:gd name="adj" fmla="val 14516"/>
            </a:avLst>
          </a:prstGeom>
          <a:solidFill>
            <a:schemeClr val="bg2"/>
          </a:solidFill>
          <a:ln/>
        </p:spPr>
      </p:sp>
      <p:sp>
        <p:nvSpPr>
          <p:cNvPr id="6" name="text-176"/>
          <p:cNvSpPr txBox="1"/>
          <p:nvPr/>
        </p:nvSpPr>
        <p:spPr>
          <a:xfrm>
            <a:off x="868680" y="1920240"/>
            <a:ext cx="265176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inline suggestion</a:t>
            </a:r>
            <a:endParaRPr lang="en-US" sz="1400" dirty="0"/>
          </a:p>
        </p:txBody>
      </p:sp>
      <p:sp>
        <p:nvSpPr>
          <p:cNvPr id="7" name="text-177"/>
          <p:cNvSpPr txBox="1"/>
          <p:nvPr/>
        </p:nvSpPr>
        <p:spPr>
          <a:xfrm>
            <a:off x="3657600" y="1920240"/>
            <a:ext cx="7711135" cy="566928"/>
          </a:xfrm>
          <a:prstGeom prst="rect">
            <a:avLst/>
          </a:prstGeom>
          <a:noFill/>
          <a:ln/>
        </p:spPr>
        <p:txBody>
          <a:bodyPr wrap="square" lIns="0" tIns="0" rIns="0" bIns="0" rtlCol="0" anchor="ctr"/>
          <a:lstStyle/>
          <a:p>
            <a:pPr indent="0" marL="0">
              <a:buNone/>
            </a:pPr>
            <a:r>
              <a:rPr lang="en-US" sz="1400" dirty="0">
                <a:solidFill>
                  <a:schemeClr val="tx1"/>
                </a:solidFill>
              </a:rPr>
              <a:t>Grey text Copilot proposes as you type; press Tab to accept it</a:t>
            </a:r>
            <a:endParaRPr lang="en-US" sz="1400" dirty="0"/>
          </a:p>
        </p:txBody>
      </p:sp>
      <p:sp>
        <p:nvSpPr>
          <p:cNvPr id="8" name="card-178"/>
          <p:cNvSpPr/>
          <p:nvPr/>
        </p:nvSpPr>
        <p:spPr>
          <a:xfrm>
            <a:off x="548640" y="2596896"/>
            <a:ext cx="11094415" cy="566928"/>
          </a:xfrm>
          <a:prstGeom prst="roundRect">
            <a:avLst>
              <a:gd name="adj" fmla="val 14516"/>
            </a:avLst>
          </a:prstGeom>
          <a:solidFill>
            <a:schemeClr val="bg2"/>
          </a:solidFill>
          <a:ln/>
        </p:spPr>
      </p:sp>
      <p:sp>
        <p:nvSpPr>
          <p:cNvPr id="9" name="text-179"/>
          <p:cNvSpPr txBox="1"/>
          <p:nvPr/>
        </p:nvSpPr>
        <p:spPr>
          <a:xfrm>
            <a:off x="868680" y="2596896"/>
            <a:ext cx="265176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next edit suggestion</a:t>
            </a:r>
            <a:endParaRPr lang="en-US" sz="1400" dirty="0"/>
          </a:p>
        </p:txBody>
      </p:sp>
      <p:sp>
        <p:nvSpPr>
          <p:cNvPr id="10" name="text-180"/>
          <p:cNvSpPr txBox="1"/>
          <p:nvPr/>
        </p:nvSpPr>
        <p:spPr>
          <a:xfrm>
            <a:off x="3657600" y="2596896"/>
            <a:ext cx="7711135" cy="566928"/>
          </a:xfrm>
          <a:prstGeom prst="rect">
            <a:avLst/>
          </a:prstGeom>
          <a:noFill/>
          <a:ln/>
        </p:spPr>
        <p:txBody>
          <a:bodyPr wrap="square" lIns="0" tIns="0" rIns="0" bIns="0" rtlCol="0" anchor="ctr"/>
          <a:lstStyle/>
          <a:p>
            <a:pPr indent="0" marL="0">
              <a:buNone/>
            </a:pPr>
            <a:r>
              <a:rPr lang="en-US" sz="1400" dirty="0">
                <a:solidFill>
                  <a:schemeClr val="tx1"/>
                </a:solidFill>
              </a:rPr>
              <a:t>A prediction of where you will edit next, with the change ready to accept</a:t>
            </a:r>
            <a:endParaRPr lang="en-US" sz="1400" dirty="0"/>
          </a:p>
        </p:txBody>
      </p:sp>
      <p:sp>
        <p:nvSpPr>
          <p:cNvPr id="11" name="card-181"/>
          <p:cNvSpPr/>
          <p:nvPr/>
        </p:nvSpPr>
        <p:spPr>
          <a:xfrm>
            <a:off x="548640" y="3273552"/>
            <a:ext cx="11094415" cy="566928"/>
          </a:xfrm>
          <a:prstGeom prst="roundRect">
            <a:avLst>
              <a:gd name="adj" fmla="val 14516"/>
            </a:avLst>
          </a:prstGeom>
          <a:solidFill>
            <a:schemeClr val="bg2"/>
          </a:solidFill>
          <a:ln/>
        </p:spPr>
      </p:sp>
      <p:sp>
        <p:nvSpPr>
          <p:cNvPr id="12" name="text-182"/>
          <p:cNvSpPr txBox="1"/>
          <p:nvPr/>
        </p:nvSpPr>
        <p:spPr>
          <a:xfrm>
            <a:off x="868680" y="3273552"/>
            <a:ext cx="265176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Copilot Chat</a:t>
            </a:r>
            <a:endParaRPr lang="en-US" sz="1400" dirty="0"/>
          </a:p>
        </p:txBody>
      </p:sp>
      <p:sp>
        <p:nvSpPr>
          <p:cNvPr id="13" name="text-183"/>
          <p:cNvSpPr txBox="1"/>
          <p:nvPr/>
        </p:nvSpPr>
        <p:spPr>
          <a:xfrm>
            <a:off x="3657600" y="3273552"/>
            <a:ext cx="7711135" cy="566928"/>
          </a:xfrm>
          <a:prstGeom prst="rect">
            <a:avLst/>
          </a:prstGeom>
          <a:noFill/>
          <a:ln/>
        </p:spPr>
        <p:txBody>
          <a:bodyPr wrap="square" lIns="0" tIns="0" rIns="0" bIns="0" rtlCol="0" anchor="ctr"/>
          <a:lstStyle/>
          <a:p>
            <a:pPr indent="0" marL="0">
              <a:buNone/>
            </a:pPr>
            <a:r>
              <a:rPr lang="en-US" sz="1400" dirty="0">
                <a:solidFill>
                  <a:schemeClr val="tx1"/>
                </a:solidFill>
              </a:rPr>
              <a:t>A chat panel for coding questions, in your editor, on GitHub and on mobile</a:t>
            </a:r>
            <a:endParaRPr lang="en-US" sz="1400" dirty="0"/>
          </a:p>
        </p:txBody>
      </p:sp>
      <p:sp>
        <p:nvSpPr>
          <p:cNvPr id="14" name="card-184"/>
          <p:cNvSpPr/>
          <p:nvPr/>
        </p:nvSpPr>
        <p:spPr>
          <a:xfrm>
            <a:off x="548640" y="3950208"/>
            <a:ext cx="11094415" cy="566928"/>
          </a:xfrm>
          <a:prstGeom prst="roundRect">
            <a:avLst>
              <a:gd name="adj" fmla="val 14516"/>
            </a:avLst>
          </a:prstGeom>
          <a:solidFill>
            <a:schemeClr val="bg2"/>
          </a:solidFill>
          <a:ln/>
        </p:spPr>
      </p:sp>
      <p:sp>
        <p:nvSpPr>
          <p:cNvPr id="15" name="text-185"/>
          <p:cNvSpPr txBox="1"/>
          <p:nvPr/>
        </p:nvSpPr>
        <p:spPr>
          <a:xfrm>
            <a:off x="868680" y="3950208"/>
            <a:ext cx="265176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prompt</a:t>
            </a:r>
            <a:endParaRPr lang="en-US" sz="1400" dirty="0"/>
          </a:p>
        </p:txBody>
      </p:sp>
      <p:sp>
        <p:nvSpPr>
          <p:cNvPr id="16" name="text-186"/>
          <p:cNvSpPr txBox="1"/>
          <p:nvPr/>
        </p:nvSpPr>
        <p:spPr>
          <a:xfrm>
            <a:off x="3657600" y="3950208"/>
            <a:ext cx="7711135" cy="566928"/>
          </a:xfrm>
          <a:prstGeom prst="rect">
            <a:avLst/>
          </a:prstGeom>
          <a:noFill/>
          <a:ln/>
        </p:spPr>
        <p:txBody>
          <a:bodyPr wrap="square" lIns="0" tIns="0" rIns="0" bIns="0" rtlCol="0" anchor="ctr"/>
          <a:lstStyle/>
          <a:p>
            <a:pPr indent="0" marL="0">
              <a:buNone/>
            </a:pPr>
            <a:r>
              <a:rPr lang="en-US" sz="1400" dirty="0">
                <a:solidFill>
                  <a:schemeClr val="tx1"/>
                </a:solidFill>
              </a:rPr>
              <a:t>What you type to tell Copilot what you want</a:t>
            </a:r>
            <a:endParaRPr lang="en-US" sz="1400" dirty="0"/>
          </a:p>
        </p:txBody>
      </p:sp>
      <p:sp>
        <p:nvSpPr>
          <p:cNvPr id="17" name="card-187"/>
          <p:cNvSpPr/>
          <p:nvPr/>
        </p:nvSpPr>
        <p:spPr>
          <a:xfrm>
            <a:off x="548640" y="4626864"/>
            <a:ext cx="11094415" cy="566928"/>
          </a:xfrm>
          <a:prstGeom prst="roundRect">
            <a:avLst>
              <a:gd name="adj" fmla="val 14516"/>
            </a:avLst>
          </a:prstGeom>
          <a:solidFill>
            <a:schemeClr val="bg2"/>
          </a:solidFill>
          <a:ln/>
        </p:spPr>
      </p:sp>
      <p:sp>
        <p:nvSpPr>
          <p:cNvPr id="18" name="text-188"/>
          <p:cNvSpPr txBox="1"/>
          <p:nvPr/>
        </p:nvSpPr>
        <p:spPr>
          <a:xfrm>
            <a:off x="868680" y="4626864"/>
            <a:ext cx="265176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model</a:t>
            </a:r>
            <a:endParaRPr lang="en-US" sz="1400" dirty="0"/>
          </a:p>
        </p:txBody>
      </p:sp>
      <p:sp>
        <p:nvSpPr>
          <p:cNvPr id="19" name="text-189"/>
          <p:cNvSpPr txBox="1"/>
          <p:nvPr/>
        </p:nvSpPr>
        <p:spPr>
          <a:xfrm>
            <a:off x="3657600" y="4626864"/>
            <a:ext cx="7711135" cy="566928"/>
          </a:xfrm>
          <a:prstGeom prst="rect">
            <a:avLst/>
          </a:prstGeom>
          <a:noFill/>
          <a:ln/>
        </p:spPr>
        <p:txBody>
          <a:bodyPr wrap="square" lIns="0" tIns="0" rIns="0" bIns="0" rtlCol="0" anchor="ctr"/>
          <a:lstStyle/>
          <a:p>
            <a:pPr indent="0" marL="0">
              <a:buNone/>
            </a:pPr>
            <a:r>
              <a:rPr lang="en-US" sz="1400" dirty="0">
                <a:solidFill>
                  <a:schemeClr val="tx1"/>
                </a:solidFill>
              </a:rPr>
              <a:t>The AI system that produces the answers; Copilot offers several</a:t>
            </a:r>
            <a:endParaRPr lang="en-US" sz="1400" dirty="0"/>
          </a:p>
        </p:txBody>
      </p:sp>
      <p:sp>
        <p:nvSpPr>
          <p:cNvPr id="20" name="card-190"/>
          <p:cNvSpPr/>
          <p:nvPr/>
        </p:nvSpPr>
        <p:spPr>
          <a:xfrm>
            <a:off x="548640" y="5303520"/>
            <a:ext cx="11094415" cy="566928"/>
          </a:xfrm>
          <a:prstGeom prst="roundRect">
            <a:avLst>
              <a:gd name="adj" fmla="val 14516"/>
            </a:avLst>
          </a:prstGeom>
          <a:solidFill>
            <a:schemeClr val="bg2"/>
          </a:solidFill>
          <a:ln/>
        </p:spPr>
      </p:sp>
      <p:sp>
        <p:nvSpPr>
          <p:cNvPr id="21" name="text-191"/>
          <p:cNvSpPr txBox="1"/>
          <p:nvPr/>
        </p:nvSpPr>
        <p:spPr>
          <a:xfrm>
            <a:off x="868680" y="5303520"/>
            <a:ext cx="265176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AI Credits</a:t>
            </a:r>
            <a:endParaRPr lang="en-US" sz="1400" dirty="0"/>
          </a:p>
        </p:txBody>
      </p:sp>
      <p:sp>
        <p:nvSpPr>
          <p:cNvPr id="22" name="text-192"/>
          <p:cNvSpPr txBox="1"/>
          <p:nvPr/>
        </p:nvSpPr>
        <p:spPr>
          <a:xfrm>
            <a:off x="3657600" y="5303520"/>
            <a:ext cx="7711135" cy="566928"/>
          </a:xfrm>
          <a:prstGeom prst="rect">
            <a:avLst/>
          </a:prstGeom>
          <a:noFill/>
          <a:ln/>
        </p:spPr>
        <p:txBody>
          <a:bodyPr wrap="square" lIns="0" tIns="0" rIns="0" bIns="0" rtlCol="0" anchor="ctr"/>
          <a:lstStyle/>
          <a:p>
            <a:pPr indent="0" marL="0">
              <a:buNone/>
            </a:pPr>
            <a:r>
              <a:rPr lang="en-US" sz="1400" dirty="0">
                <a:solidFill>
                  <a:schemeClr val="tx1"/>
                </a:solidFill>
              </a:rPr>
              <a:t>The unit that measures chat and agent usage; each plan includes a monthly amount</a:t>
            </a:r>
            <a:endParaRPr lang="en-US" sz="1400" dirty="0"/>
          </a:p>
        </p:txBody>
      </p:sp>
      <p:sp>
        <p:nvSpPr>
          <p:cNvPr id="23" name="text-193"/>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GitHub Docs, docs.github.com/copilot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ode-194"/>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GitHub words you need alongside Copilot</a:t>
            </a:r>
            <a:endParaRPr lang="en-US" sz="3000" dirty="0"/>
          </a:p>
        </p:txBody>
      </p:sp>
      <p:sp>
        <p:nvSpPr>
          <p:cNvPr id="5" name="card-195"/>
          <p:cNvSpPr/>
          <p:nvPr/>
        </p:nvSpPr>
        <p:spPr>
          <a:xfrm>
            <a:off x="548640" y="1920240"/>
            <a:ext cx="11094415" cy="566928"/>
          </a:xfrm>
          <a:prstGeom prst="roundRect">
            <a:avLst>
              <a:gd name="adj" fmla="val 14516"/>
            </a:avLst>
          </a:prstGeom>
          <a:solidFill>
            <a:schemeClr val="bg2"/>
          </a:solidFill>
          <a:ln/>
        </p:spPr>
      </p:sp>
      <p:sp>
        <p:nvSpPr>
          <p:cNvPr id="6" name="text-196"/>
          <p:cNvSpPr txBox="1"/>
          <p:nvPr/>
        </p:nvSpPr>
        <p:spPr>
          <a:xfrm>
            <a:off x="868680" y="1920240"/>
            <a:ext cx="265176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repository</a:t>
            </a:r>
            <a:endParaRPr lang="en-US" sz="1400" dirty="0"/>
          </a:p>
        </p:txBody>
      </p:sp>
      <p:sp>
        <p:nvSpPr>
          <p:cNvPr id="7" name="text-197"/>
          <p:cNvSpPr txBox="1"/>
          <p:nvPr/>
        </p:nvSpPr>
        <p:spPr>
          <a:xfrm>
            <a:off x="3657600" y="1920240"/>
            <a:ext cx="7711135" cy="566928"/>
          </a:xfrm>
          <a:prstGeom prst="rect">
            <a:avLst/>
          </a:prstGeom>
          <a:noFill/>
          <a:ln/>
        </p:spPr>
        <p:txBody>
          <a:bodyPr wrap="square" lIns="0" tIns="0" rIns="0" bIns="0" rtlCol="0" anchor="ctr"/>
          <a:lstStyle/>
          <a:p>
            <a:pPr indent="0" marL="0">
              <a:buNone/>
            </a:pPr>
            <a:r>
              <a:rPr lang="en-US" sz="1400" dirty="0">
                <a:solidFill>
                  <a:schemeClr val="tx1"/>
                </a:solidFill>
              </a:rPr>
              <a:t>A project's folder of code and its full history, stored on GitHub; often called a repo</a:t>
            </a:r>
            <a:endParaRPr lang="en-US" sz="1400" dirty="0"/>
          </a:p>
        </p:txBody>
      </p:sp>
      <p:sp>
        <p:nvSpPr>
          <p:cNvPr id="8" name="card-198"/>
          <p:cNvSpPr/>
          <p:nvPr/>
        </p:nvSpPr>
        <p:spPr>
          <a:xfrm>
            <a:off x="548640" y="2596896"/>
            <a:ext cx="11094415" cy="566928"/>
          </a:xfrm>
          <a:prstGeom prst="roundRect">
            <a:avLst>
              <a:gd name="adj" fmla="val 14516"/>
            </a:avLst>
          </a:prstGeom>
          <a:solidFill>
            <a:schemeClr val="bg2"/>
          </a:solidFill>
          <a:ln/>
        </p:spPr>
      </p:sp>
      <p:sp>
        <p:nvSpPr>
          <p:cNvPr id="9" name="text-199"/>
          <p:cNvSpPr txBox="1"/>
          <p:nvPr/>
        </p:nvSpPr>
        <p:spPr>
          <a:xfrm>
            <a:off x="868680" y="2596896"/>
            <a:ext cx="265176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branch</a:t>
            </a:r>
            <a:endParaRPr lang="en-US" sz="1400" dirty="0"/>
          </a:p>
        </p:txBody>
      </p:sp>
      <p:sp>
        <p:nvSpPr>
          <p:cNvPr id="10" name="text-200"/>
          <p:cNvSpPr txBox="1"/>
          <p:nvPr/>
        </p:nvSpPr>
        <p:spPr>
          <a:xfrm>
            <a:off x="3657600" y="2596896"/>
            <a:ext cx="7711135" cy="566928"/>
          </a:xfrm>
          <a:prstGeom prst="rect">
            <a:avLst/>
          </a:prstGeom>
          <a:noFill/>
          <a:ln/>
        </p:spPr>
        <p:txBody>
          <a:bodyPr wrap="square" lIns="0" tIns="0" rIns="0" bIns="0" rtlCol="0" anchor="ctr"/>
          <a:lstStyle/>
          <a:p>
            <a:pPr indent="0" marL="0">
              <a:buNone/>
            </a:pPr>
            <a:r>
              <a:rPr lang="en-US" sz="1400" dirty="0">
                <a:solidFill>
                  <a:schemeClr val="tx1"/>
                </a:solidFill>
              </a:rPr>
              <a:t>A separate line of work, so changes do not disturb the main code</a:t>
            </a:r>
            <a:endParaRPr lang="en-US" sz="1400" dirty="0"/>
          </a:p>
        </p:txBody>
      </p:sp>
      <p:sp>
        <p:nvSpPr>
          <p:cNvPr id="11" name="card-201"/>
          <p:cNvSpPr/>
          <p:nvPr/>
        </p:nvSpPr>
        <p:spPr>
          <a:xfrm>
            <a:off x="548640" y="3273552"/>
            <a:ext cx="11094415" cy="566928"/>
          </a:xfrm>
          <a:prstGeom prst="roundRect">
            <a:avLst>
              <a:gd name="adj" fmla="val 14516"/>
            </a:avLst>
          </a:prstGeom>
          <a:solidFill>
            <a:schemeClr val="bg2"/>
          </a:solidFill>
          <a:ln/>
        </p:spPr>
      </p:sp>
      <p:sp>
        <p:nvSpPr>
          <p:cNvPr id="12" name="text-202"/>
          <p:cNvSpPr txBox="1"/>
          <p:nvPr/>
        </p:nvSpPr>
        <p:spPr>
          <a:xfrm>
            <a:off x="868680" y="3273552"/>
            <a:ext cx="265176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commit</a:t>
            </a:r>
            <a:endParaRPr lang="en-US" sz="1400" dirty="0"/>
          </a:p>
        </p:txBody>
      </p:sp>
      <p:sp>
        <p:nvSpPr>
          <p:cNvPr id="13" name="text-203"/>
          <p:cNvSpPr txBox="1"/>
          <p:nvPr/>
        </p:nvSpPr>
        <p:spPr>
          <a:xfrm>
            <a:off x="3657600" y="3273552"/>
            <a:ext cx="7711135" cy="566928"/>
          </a:xfrm>
          <a:prstGeom prst="rect">
            <a:avLst/>
          </a:prstGeom>
          <a:noFill/>
          <a:ln/>
        </p:spPr>
        <p:txBody>
          <a:bodyPr wrap="square" lIns="0" tIns="0" rIns="0" bIns="0" rtlCol="0" anchor="ctr"/>
          <a:lstStyle/>
          <a:p>
            <a:pPr indent="0" marL="0">
              <a:buNone/>
            </a:pPr>
            <a:r>
              <a:rPr lang="en-US" sz="1400" dirty="0">
                <a:solidFill>
                  <a:schemeClr val="tx1"/>
                </a:solidFill>
              </a:rPr>
              <a:t>A saved snapshot of changes, with a short message describing them</a:t>
            </a:r>
            <a:endParaRPr lang="en-US" sz="1400" dirty="0"/>
          </a:p>
        </p:txBody>
      </p:sp>
      <p:sp>
        <p:nvSpPr>
          <p:cNvPr id="14" name="card-204"/>
          <p:cNvSpPr/>
          <p:nvPr/>
        </p:nvSpPr>
        <p:spPr>
          <a:xfrm>
            <a:off x="548640" y="3950208"/>
            <a:ext cx="11094415" cy="566928"/>
          </a:xfrm>
          <a:prstGeom prst="roundRect">
            <a:avLst>
              <a:gd name="adj" fmla="val 14516"/>
            </a:avLst>
          </a:prstGeom>
          <a:solidFill>
            <a:schemeClr val="bg2"/>
          </a:solidFill>
          <a:ln/>
        </p:spPr>
      </p:sp>
      <p:sp>
        <p:nvSpPr>
          <p:cNvPr id="15" name="text-205"/>
          <p:cNvSpPr txBox="1"/>
          <p:nvPr/>
        </p:nvSpPr>
        <p:spPr>
          <a:xfrm>
            <a:off x="868680" y="3950208"/>
            <a:ext cx="265176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pull request</a:t>
            </a:r>
            <a:endParaRPr lang="en-US" sz="1400" dirty="0"/>
          </a:p>
        </p:txBody>
      </p:sp>
      <p:sp>
        <p:nvSpPr>
          <p:cNvPr id="16" name="text-206"/>
          <p:cNvSpPr txBox="1"/>
          <p:nvPr/>
        </p:nvSpPr>
        <p:spPr>
          <a:xfrm>
            <a:off x="3657600" y="3950208"/>
            <a:ext cx="7711135" cy="566928"/>
          </a:xfrm>
          <a:prstGeom prst="rect">
            <a:avLst/>
          </a:prstGeom>
          <a:noFill/>
          <a:ln/>
        </p:spPr>
        <p:txBody>
          <a:bodyPr wrap="square" lIns="0" tIns="0" rIns="0" bIns="0" rtlCol="0" anchor="ctr"/>
          <a:lstStyle/>
          <a:p>
            <a:pPr indent="0" marL="0">
              <a:buNone/>
            </a:pPr>
            <a:r>
              <a:rPr lang="en-US" sz="1400" dirty="0">
                <a:solidFill>
                  <a:schemeClr val="tx1"/>
                </a:solidFill>
              </a:rPr>
              <a:t>A proposal to merge a branch, where people review the changes first; a PR</a:t>
            </a:r>
            <a:endParaRPr lang="en-US" sz="1400" dirty="0"/>
          </a:p>
        </p:txBody>
      </p:sp>
      <p:sp>
        <p:nvSpPr>
          <p:cNvPr id="17" name="card-207"/>
          <p:cNvSpPr/>
          <p:nvPr/>
        </p:nvSpPr>
        <p:spPr>
          <a:xfrm>
            <a:off x="548640" y="4626864"/>
            <a:ext cx="11094415" cy="566928"/>
          </a:xfrm>
          <a:prstGeom prst="roundRect">
            <a:avLst>
              <a:gd name="adj" fmla="val 14516"/>
            </a:avLst>
          </a:prstGeom>
          <a:solidFill>
            <a:schemeClr val="bg2"/>
          </a:solidFill>
          <a:ln/>
        </p:spPr>
      </p:sp>
      <p:sp>
        <p:nvSpPr>
          <p:cNvPr id="18" name="text-208"/>
          <p:cNvSpPr txBox="1"/>
          <p:nvPr/>
        </p:nvSpPr>
        <p:spPr>
          <a:xfrm>
            <a:off x="868680" y="4626864"/>
            <a:ext cx="265176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issue</a:t>
            </a:r>
            <a:endParaRPr lang="en-US" sz="1400" dirty="0"/>
          </a:p>
        </p:txBody>
      </p:sp>
      <p:sp>
        <p:nvSpPr>
          <p:cNvPr id="19" name="text-209"/>
          <p:cNvSpPr txBox="1"/>
          <p:nvPr/>
        </p:nvSpPr>
        <p:spPr>
          <a:xfrm>
            <a:off x="3657600" y="4626864"/>
            <a:ext cx="7711135" cy="566928"/>
          </a:xfrm>
          <a:prstGeom prst="rect">
            <a:avLst/>
          </a:prstGeom>
          <a:noFill/>
          <a:ln/>
        </p:spPr>
        <p:txBody>
          <a:bodyPr wrap="square" lIns="0" tIns="0" rIns="0" bIns="0" rtlCol="0" anchor="ctr"/>
          <a:lstStyle/>
          <a:p>
            <a:pPr indent="0" marL="0">
              <a:buNone/>
            </a:pPr>
            <a:r>
              <a:rPr lang="en-US" sz="1400" dirty="0">
                <a:solidFill>
                  <a:schemeClr val="tx1"/>
                </a:solidFill>
              </a:rPr>
              <a:t>A tracked note describing a bug, a task or an idea for the project</a:t>
            </a:r>
            <a:endParaRPr lang="en-US" sz="1400" dirty="0"/>
          </a:p>
        </p:txBody>
      </p:sp>
      <p:sp>
        <p:nvSpPr>
          <p:cNvPr id="20" name="card-210"/>
          <p:cNvSpPr/>
          <p:nvPr/>
        </p:nvSpPr>
        <p:spPr>
          <a:xfrm>
            <a:off x="548640" y="5303520"/>
            <a:ext cx="11094415" cy="566928"/>
          </a:xfrm>
          <a:prstGeom prst="roundRect">
            <a:avLst>
              <a:gd name="adj" fmla="val 14516"/>
            </a:avLst>
          </a:prstGeom>
          <a:solidFill>
            <a:schemeClr val="bg2"/>
          </a:solidFill>
          <a:ln/>
        </p:spPr>
      </p:sp>
      <p:sp>
        <p:nvSpPr>
          <p:cNvPr id="21" name="text-211"/>
          <p:cNvSpPr txBox="1"/>
          <p:nvPr/>
        </p:nvSpPr>
        <p:spPr>
          <a:xfrm>
            <a:off x="868680" y="5303520"/>
            <a:ext cx="265176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GitHub Actions</a:t>
            </a:r>
            <a:endParaRPr lang="en-US" sz="1400" dirty="0"/>
          </a:p>
        </p:txBody>
      </p:sp>
      <p:sp>
        <p:nvSpPr>
          <p:cNvPr id="22" name="text-212"/>
          <p:cNvSpPr txBox="1"/>
          <p:nvPr/>
        </p:nvSpPr>
        <p:spPr>
          <a:xfrm>
            <a:off x="3657600" y="5303520"/>
            <a:ext cx="7711135" cy="566928"/>
          </a:xfrm>
          <a:prstGeom prst="rect">
            <a:avLst/>
          </a:prstGeom>
          <a:noFill/>
          <a:ln/>
        </p:spPr>
        <p:txBody>
          <a:bodyPr wrap="square" lIns="0" tIns="0" rIns="0" bIns="0" rtlCol="0" anchor="ctr"/>
          <a:lstStyle/>
          <a:p>
            <a:pPr indent="0" marL="0">
              <a:buNone/>
            </a:pPr>
            <a:r>
              <a:rPr lang="en-US" sz="1400" dirty="0">
                <a:solidFill>
                  <a:schemeClr val="tx1"/>
                </a:solidFill>
              </a:rPr>
              <a:t>GitHub's automation service; the cloud agent does its work there</a:t>
            </a:r>
            <a:endParaRPr lang="en-US" sz="1400" dirty="0"/>
          </a:p>
        </p:txBody>
      </p:sp>
      <p:sp>
        <p:nvSpPr>
          <p:cNvPr id="23" name="text-213"/>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General GitHub vocabulary, summarised for beginners. Source for the last row: Wikipedia, GitHub Copilot.</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ode-214"/>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Chat in the editor works in three modes</a:t>
            </a:r>
            <a:endParaRPr lang="en-US" sz="3000" dirty="0"/>
          </a:p>
        </p:txBody>
      </p:sp>
      <p:sp>
        <p:nvSpPr>
          <p:cNvPr id="5" name="card-215"/>
          <p:cNvSpPr/>
          <p:nvPr/>
        </p:nvSpPr>
        <p:spPr>
          <a:xfrm>
            <a:off x="548640" y="1920240"/>
            <a:ext cx="3515258" cy="3063240"/>
          </a:xfrm>
          <a:prstGeom prst="roundRect">
            <a:avLst>
              <a:gd name="adj" fmla="val 2687"/>
            </a:avLst>
          </a:prstGeom>
          <a:solidFill>
            <a:schemeClr val="bg2"/>
          </a:solidFill>
          <a:ln/>
        </p:spPr>
      </p:sp>
      <p:sp>
        <p:nvSpPr>
          <p:cNvPr id="6" name="tile-216"/>
          <p:cNvSpPr/>
          <p:nvPr/>
        </p:nvSpPr>
        <p:spPr>
          <a:xfrm>
            <a:off x="822960" y="2194560"/>
            <a:ext cx="566928" cy="566928"/>
          </a:xfrm>
          <a:prstGeom prst="roundRect">
            <a:avLst>
              <a:gd name="adj" fmla="val 14516"/>
            </a:avLst>
          </a:prstGeom>
          <a:solidFill>
            <a:schemeClr val="accent5"/>
          </a:solidFill>
          <a:ln/>
        </p:spPr>
      </p:sp>
      <p:pic>
        <p:nvPicPr>
          <p:cNvPr id="7" name="icon-217" descr="preencoded.png">    </p:cNvPr>
          <p:cNvPicPr>
            <a:picLocks noChangeAspect="1"/>
          </p:cNvPicPr>
          <p:nvPr/>
        </p:nvPicPr>
        <p:blipFill>
          <a:blip r:embed="rId1"/>
          <a:stretch>
            <a:fillRect/>
          </a:stretch>
        </p:blipFill>
        <p:spPr>
          <a:xfrm>
            <a:off x="964692" y="2336292"/>
            <a:ext cx="283464" cy="283464"/>
          </a:xfrm>
          <a:prstGeom prst="rect">
            <a:avLst/>
          </a:prstGeom>
        </p:spPr>
      </p:pic>
      <p:sp>
        <p:nvSpPr>
          <p:cNvPr id="8" name="text-218"/>
          <p:cNvSpPr txBox="1"/>
          <p:nvPr/>
        </p:nvSpPr>
        <p:spPr>
          <a:xfrm>
            <a:off x="1572768" y="2194560"/>
            <a:ext cx="2235098" cy="566928"/>
          </a:xfrm>
          <a:prstGeom prst="rect">
            <a:avLst/>
          </a:prstGeom>
          <a:noFill/>
          <a:ln/>
        </p:spPr>
        <p:txBody>
          <a:bodyPr wrap="square" lIns="0" tIns="0" rIns="0" bIns="0" rtlCol="0" anchor="ctr"/>
          <a:lstStyle/>
          <a:p>
            <a:pPr indent="0" marL="0">
              <a:buNone/>
            </a:pPr>
            <a:r>
              <a:rPr lang="en-US" sz="2200" b="1" dirty="0">
                <a:solidFill>
                  <a:schemeClr val="tx1"/>
                </a:solidFill>
              </a:rPr>
              <a:t>Ask</a:t>
            </a:r>
            <a:endParaRPr lang="en-US" sz="2200" dirty="0"/>
          </a:p>
        </p:txBody>
      </p:sp>
      <p:sp>
        <p:nvSpPr>
          <p:cNvPr id="9" name="text-219"/>
          <p:cNvSpPr txBox="1"/>
          <p:nvPr/>
        </p:nvSpPr>
        <p:spPr>
          <a:xfrm>
            <a:off x="822960" y="3063240"/>
            <a:ext cx="2966618" cy="1005840"/>
          </a:xfrm>
          <a:prstGeom prst="rect">
            <a:avLst/>
          </a:prstGeom>
          <a:noFill/>
          <a:ln/>
        </p:spPr>
        <p:txBody>
          <a:bodyPr wrap="square" lIns="0" tIns="0" rIns="0" bIns="0" rtlCol="0" anchor="t"/>
          <a:lstStyle/>
          <a:p>
            <a:pPr indent="0" marL="0">
              <a:buNone/>
            </a:pPr>
            <a:r>
              <a:rPr lang="en-US" sz="1600" dirty="0">
                <a:solidFill>
                  <a:schemeClr val="tx2"/>
                </a:solidFill>
              </a:rPr>
              <a:t>Answers questions and explains code in the chat panel</a:t>
            </a:r>
            <a:endParaRPr lang="en-US" sz="1600" dirty="0"/>
          </a:p>
        </p:txBody>
      </p:sp>
      <p:sp>
        <p:nvSpPr>
          <p:cNvPr id="10" name="pill-220"/>
          <p:cNvSpPr/>
          <p:nvPr/>
        </p:nvSpPr>
        <p:spPr>
          <a:xfrm>
            <a:off x="822960" y="4325112"/>
            <a:ext cx="2966618" cy="384048"/>
          </a:xfrm>
          <a:prstGeom prst="roundRect">
            <a:avLst>
              <a:gd name="adj" fmla="val 50000"/>
            </a:avLst>
          </a:prstGeom>
          <a:solidFill>
            <a:schemeClr val="accent3"/>
          </a:solidFill>
          <a:ln/>
        </p:spPr>
      </p:sp>
      <p:sp>
        <p:nvSpPr>
          <p:cNvPr id="11" name="text-221"/>
          <p:cNvSpPr txBox="1"/>
          <p:nvPr/>
        </p:nvSpPr>
        <p:spPr>
          <a:xfrm>
            <a:off x="822960" y="4325112"/>
            <a:ext cx="2966618"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CHANGES NOTHING</a:t>
            </a:r>
            <a:endParaRPr lang="en-US" sz="1200" dirty="0"/>
          </a:p>
        </p:txBody>
      </p:sp>
      <p:sp>
        <p:nvSpPr>
          <p:cNvPr id="12" name="card-222"/>
          <p:cNvSpPr/>
          <p:nvPr/>
        </p:nvSpPr>
        <p:spPr>
          <a:xfrm>
            <a:off x="4338218" y="1920240"/>
            <a:ext cx="3515258" cy="3063240"/>
          </a:xfrm>
          <a:prstGeom prst="roundRect">
            <a:avLst>
              <a:gd name="adj" fmla="val 2687"/>
            </a:avLst>
          </a:prstGeom>
          <a:solidFill>
            <a:schemeClr val="bg2"/>
          </a:solidFill>
          <a:ln/>
        </p:spPr>
      </p:sp>
      <p:sp>
        <p:nvSpPr>
          <p:cNvPr id="13" name="tile-223"/>
          <p:cNvSpPr/>
          <p:nvPr/>
        </p:nvSpPr>
        <p:spPr>
          <a:xfrm>
            <a:off x="4612538" y="2194560"/>
            <a:ext cx="566928" cy="566928"/>
          </a:xfrm>
          <a:prstGeom prst="roundRect">
            <a:avLst>
              <a:gd name="adj" fmla="val 14516"/>
            </a:avLst>
          </a:prstGeom>
          <a:solidFill>
            <a:schemeClr val="accent5"/>
          </a:solidFill>
          <a:ln/>
        </p:spPr>
      </p:sp>
      <p:pic>
        <p:nvPicPr>
          <p:cNvPr id="14" name="icon-224" descr="preencoded.png">    </p:cNvPr>
          <p:cNvPicPr>
            <a:picLocks noChangeAspect="1"/>
          </p:cNvPicPr>
          <p:nvPr/>
        </p:nvPicPr>
        <p:blipFill>
          <a:blip r:embed="rId2"/>
          <a:stretch>
            <a:fillRect/>
          </a:stretch>
        </p:blipFill>
        <p:spPr>
          <a:xfrm>
            <a:off x="4754270" y="2336292"/>
            <a:ext cx="283464" cy="283464"/>
          </a:xfrm>
          <a:prstGeom prst="rect">
            <a:avLst/>
          </a:prstGeom>
        </p:spPr>
      </p:pic>
      <p:sp>
        <p:nvSpPr>
          <p:cNvPr id="15" name="text-225"/>
          <p:cNvSpPr txBox="1"/>
          <p:nvPr/>
        </p:nvSpPr>
        <p:spPr>
          <a:xfrm>
            <a:off x="5362346" y="2194560"/>
            <a:ext cx="2235098" cy="566928"/>
          </a:xfrm>
          <a:prstGeom prst="rect">
            <a:avLst/>
          </a:prstGeom>
          <a:noFill/>
          <a:ln/>
        </p:spPr>
        <p:txBody>
          <a:bodyPr wrap="square" lIns="0" tIns="0" rIns="0" bIns="0" rtlCol="0" anchor="ctr"/>
          <a:lstStyle/>
          <a:p>
            <a:pPr indent="0" marL="0">
              <a:buNone/>
            </a:pPr>
            <a:r>
              <a:rPr lang="en-US" sz="2200" b="1" dirty="0">
                <a:solidFill>
                  <a:schemeClr val="tx1"/>
                </a:solidFill>
              </a:rPr>
              <a:t>Plan</a:t>
            </a:r>
            <a:endParaRPr lang="en-US" sz="2200" dirty="0"/>
          </a:p>
        </p:txBody>
      </p:sp>
      <p:sp>
        <p:nvSpPr>
          <p:cNvPr id="16" name="text-226"/>
          <p:cNvSpPr txBox="1"/>
          <p:nvPr/>
        </p:nvSpPr>
        <p:spPr>
          <a:xfrm>
            <a:off x="4612538" y="3063240"/>
            <a:ext cx="2966618" cy="1005840"/>
          </a:xfrm>
          <a:prstGeom prst="rect">
            <a:avLst/>
          </a:prstGeom>
          <a:noFill/>
          <a:ln/>
        </p:spPr>
        <p:txBody>
          <a:bodyPr wrap="square" lIns="0" tIns="0" rIns="0" bIns="0" rtlCol="0" anchor="t"/>
          <a:lstStyle/>
          <a:p>
            <a:pPr indent="0" marL="0">
              <a:buNone/>
            </a:pPr>
            <a:r>
              <a:rPr lang="en-US" sz="1600" dirty="0">
                <a:solidFill>
                  <a:schemeClr val="tx2"/>
                </a:solidFill>
              </a:rPr>
              <a:t>Works out a step-by-step plan for you to check before any coding</a:t>
            </a:r>
            <a:endParaRPr lang="en-US" sz="1600" dirty="0"/>
          </a:p>
        </p:txBody>
      </p:sp>
      <p:sp>
        <p:nvSpPr>
          <p:cNvPr id="17" name="pill-227"/>
          <p:cNvSpPr/>
          <p:nvPr/>
        </p:nvSpPr>
        <p:spPr>
          <a:xfrm>
            <a:off x="4612538" y="4325112"/>
            <a:ext cx="2966618" cy="384048"/>
          </a:xfrm>
          <a:prstGeom prst="roundRect">
            <a:avLst>
              <a:gd name="adj" fmla="val 50000"/>
            </a:avLst>
          </a:prstGeom>
          <a:solidFill>
            <a:schemeClr val="accent1"/>
          </a:solidFill>
          <a:ln/>
        </p:spPr>
      </p:sp>
      <p:sp>
        <p:nvSpPr>
          <p:cNvPr id="18" name="text-228"/>
          <p:cNvSpPr txBox="1"/>
          <p:nvPr/>
        </p:nvSpPr>
        <p:spPr>
          <a:xfrm>
            <a:off x="4612538" y="4325112"/>
            <a:ext cx="2966618"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PLANS FIRST</a:t>
            </a:r>
            <a:endParaRPr lang="en-US" sz="1200" dirty="0"/>
          </a:p>
        </p:txBody>
      </p:sp>
      <p:sp>
        <p:nvSpPr>
          <p:cNvPr id="19" name="card-229"/>
          <p:cNvSpPr/>
          <p:nvPr/>
        </p:nvSpPr>
        <p:spPr>
          <a:xfrm>
            <a:off x="8127797" y="1920240"/>
            <a:ext cx="3515258" cy="3063240"/>
          </a:xfrm>
          <a:prstGeom prst="roundRect">
            <a:avLst>
              <a:gd name="adj" fmla="val 2687"/>
            </a:avLst>
          </a:prstGeom>
          <a:solidFill>
            <a:schemeClr val="bg2"/>
          </a:solidFill>
          <a:ln/>
        </p:spPr>
      </p:sp>
      <p:sp>
        <p:nvSpPr>
          <p:cNvPr id="20" name="tile-230"/>
          <p:cNvSpPr/>
          <p:nvPr/>
        </p:nvSpPr>
        <p:spPr>
          <a:xfrm>
            <a:off x="8402117" y="2194560"/>
            <a:ext cx="566928" cy="566928"/>
          </a:xfrm>
          <a:prstGeom prst="roundRect">
            <a:avLst>
              <a:gd name="adj" fmla="val 14516"/>
            </a:avLst>
          </a:prstGeom>
          <a:solidFill>
            <a:schemeClr val="accent5"/>
          </a:solidFill>
          <a:ln/>
        </p:spPr>
      </p:sp>
      <p:pic>
        <p:nvPicPr>
          <p:cNvPr id="21" name="icon-231" descr="preencoded.png">    </p:cNvPr>
          <p:cNvPicPr>
            <a:picLocks noChangeAspect="1"/>
          </p:cNvPicPr>
          <p:nvPr/>
        </p:nvPicPr>
        <p:blipFill>
          <a:blip r:embed="rId3"/>
          <a:stretch>
            <a:fillRect/>
          </a:stretch>
        </p:blipFill>
        <p:spPr>
          <a:xfrm>
            <a:off x="8543849" y="2336292"/>
            <a:ext cx="283464" cy="283464"/>
          </a:xfrm>
          <a:prstGeom prst="rect">
            <a:avLst/>
          </a:prstGeom>
        </p:spPr>
      </p:pic>
      <p:sp>
        <p:nvSpPr>
          <p:cNvPr id="22" name="text-232"/>
          <p:cNvSpPr txBox="1"/>
          <p:nvPr/>
        </p:nvSpPr>
        <p:spPr>
          <a:xfrm>
            <a:off x="9151925" y="2194560"/>
            <a:ext cx="2235098" cy="566928"/>
          </a:xfrm>
          <a:prstGeom prst="rect">
            <a:avLst/>
          </a:prstGeom>
          <a:noFill/>
          <a:ln/>
        </p:spPr>
        <p:txBody>
          <a:bodyPr wrap="square" lIns="0" tIns="0" rIns="0" bIns="0" rtlCol="0" anchor="ctr"/>
          <a:lstStyle/>
          <a:p>
            <a:pPr indent="0" marL="0">
              <a:buNone/>
            </a:pPr>
            <a:r>
              <a:rPr lang="en-US" sz="2200" b="1" dirty="0">
                <a:solidFill>
                  <a:schemeClr val="tx1"/>
                </a:solidFill>
              </a:rPr>
              <a:t>Agent</a:t>
            </a:r>
            <a:endParaRPr lang="en-US" sz="2200" dirty="0"/>
          </a:p>
        </p:txBody>
      </p:sp>
      <p:sp>
        <p:nvSpPr>
          <p:cNvPr id="23" name="text-233"/>
          <p:cNvSpPr txBox="1"/>
          <p:nvPr/>
        </p:nvSpPr>
        <p:spPr>
          <a:xfrm>
            <a:off x="8402117" y="3063240"/>
            <a:ext cx="2966618" cy="1005840"/>
          </a:xfrm>
          <a:prstGeom prst="rect">
            <a:avLst/>
          </a:prstGeom>
          <a:noFill/>
          <a:ln/>
        </p:spPr>
        <p:txBody>
          <a:bodyPr wrap="square" lIns="0" tIns="0" rIns="0" bIns="0" rtlCol="0" anchor="t"/>
          <a:lstStyle/>
          <a:p>
            <a:pPr indent="0" marL="0">
              <a:buNone/>
            </a:pPr>
            <a:r>
              <a:rPr lang="en-US" sz="1600" dirty="0">
                <a:solidFill>
                  <a:schemeClr val="tx2"/>
                </a:solidFill>
              </a:rPr>
              <a:t>Picks the files, makes the edits, proposes commands and fixes its own errors</a:t>
            </a:r>
            <a:endParaRPr lang="en-US" sz="1600" dirty="0"/>
          </a:p>
        </p:txBody>
      </p:sp>
      <p:sp>
        <p:nvSpPr>
          <p:cNvPr id="24" name="pill-234"/>
          <p:cNvSpPr/>
          <p:nvPr/>
        </p:nvSpPr>
        <p:spPr>
          <a:xfrm>
            <a:off x="8402117" y="4325112"/>
            <a:ext cx="2966618" cy="384048"/>
          </a:xfrm>
          <a:prstGeom prst="roundRect">
            <a:avLst>
              <a:gd name="adj" fmla="val 50000"/>
            </a:avLst>
          </a:prstGeom>
          <a:solidFill>
            <a:schemeClr val="accent2"/>
          </a:solidFill>
          <a:ln/>
        </p:spPr>
      </p:sp>
      <p:sp>
        <p:nvSpPr>
          <p:cNvPr id="25" name="text-235"/>
          <p:cNvSpPr txBox="1"/>
          <p:nvPr/>
        </p:nvSpPr>
        <p:spPr>
          <a:xfrm>
            <a:off x="8402117" y="4325112"/>
            <a:ext cx="2966618" cy="38404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EDITS WITH APPROVAL</a:t>
            </a:r>
            <a:endParaRPr lang="en-US" sz="1200" dirty="0"/>
          </a:p>
        </p:txBody>
      </p:sp>
      <p:sp>
        <p:nvSpPr>
          <p:cNvPr id="26" name="card-236"/>
          <p:cNvSpPr/>
          <p:nvPr/>
        </p:nvSpPr>
        <p:spPr>
          <a:xfrm>
            <a:off x="548640" y="5257800"/>
            <a:ext cx="11094415" cy="640080"/>
          </a:xfrm>
          <a:prstGeom prst="roundRect">
            <a:avLst>
              <a:gd name="adj" fmla="val 12857"/>
            </a:avLst>
          </a:prstGeom>
          <a:solidFill>
            <a:schemeClr val="accent5"/>
          </a:solidFill>
          <a:ln/>
        </p:spPr>
      </p:sp>
      <p:sp>
        <p:nvSpPr>
          <p:cNvPr id="27" name="tile-237"/>
          <p:cNvSpPr/>
          <p:nvPr/>
        </p:nvSpPr>
        <p:spPr>
          <a:xfrm>
            <a:off x="685800" y="5376672"/>
            <a:ext cx="402336" cy="402336"/>
          </a:xfrm>
          <a:prstGeom prst="roundRect">
            <a:avLst>
              <a:gd name="adj" fmla="val 20455"/>
            </a:avLst>
          </a:prstGeom>
          <a:solidFill>
            <a:schemeClr val="bg1"/>
          </a:solidFill>
          <a:ln/>
        </p:spPr>
      </p:sp>
      <p:pic>
        <p:nvPicPr>
          <p:cNvPr id="28" name="icon-238" descr="preencoded.png">    </p:cNvPr>
          <p:cNvPicPr>
            <a:picLocks noChangeAspect="1"/>
          </p:cNvPicPr>
          <p:nvPr/>
        </p:nvPicPr>
        <p:blipFill>
          <a:blip r:embed="rId4"/>
          <a:stretch>
            <a:fillRect/>
          </a:stretch>
        </p:blipFill>
        <p:spPr>
          <a:xfrm>
            <a:off x="786384" y="5477256"/>
            <a:ext cx="201168" cy="201168"/>
          </a:xfrm>
          <a:prstGeom prst="rect">
            <a:avLst/>
          </a:prstGeom>
        </p:spPr>
      </p:pic>
      <p:sp>
        <p:nvSpPr>
          <p:cNvPr id="29" name="text-239"/>
          <p:cNvSpPr txBox="1"/>
          <p:nvPr/>
        </p:nvSpPr>
        <p:spPr>
          <a:xfrm>
            <a:off x="1261872" y="5257800"/>
            <a:ext cx="10198303" cy="640080"/>
          </a:xfrm>
          <a:prstGeom prst="rect">
            <a:avLst/>
          </a:prstGeom>
          <a:noFill/>
          <a:ln/>
        </p:spPr>
        <p:txBody>
          <a:bodyPr wrap="square" lIns="0" tIns="0" rIns="0" bIns="0" rtlCol="0" anchor="ctr"/>
          <a:lstStyle/>
          <a:p>
            <a:pPr indent="0" marL="0">
              <a:buNone/>
            </a:pPr>
            <a:r>
              <a:rPr lang="en-US" sz="1400" dirty="0">
                <a:solidFill>
                  <a:schemeClr val="tx1"/>
                </a:solidFill>
              </a:rPr>
              <a:t>In agent mode, Copilot offers code changes and terminal commands for your approval.</a:t>
            </a:r>
            <a:endParaRPr lang="en-US" sz="1400" dirty="0"/>
          </a:p>
        </p:txBody>
      </p:sp>
      <p:sp>
        <p:nvSpPr>
          <p:cNvPr id="30" name="text-240"/>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GitHub Docs, Features; third-party guides for Ask mode. Names are as in VS Code and can differ in other editors.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node-241"/>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Three symbols unlock shortcuts in Chat</a:t>
            </a:r>
            <a:endParaRPr lang="en-US" sz="3000" dirty="0"/>
          </a:p>
        </p:txBody>
      </p:sp>
      <p:sp>
        <p:nvSpPr>
          <p:cNvPr id="5" name="card-242"/>
          <p:cNvSpPr/>
          <p:nvPr/>
        </p:nvSpPr>
        <p:spPr>
          <a:xfrm>
            <a:off x="548640" y="1920240"/>
            <a:ext cx="3515258" cy="3977640"/>
          </a:xfrm>
          <a:prstGeom prst="roundRect">
            <a:avLst>
              <a:gd name="adj" fmla="val 2341"/>
            </a:avLst>
          </a:prstGeom>
          <a:solidFill>
            <a:schemeClr val="bg2"/>
          </a:solidFill>
          <a:ln/>
        </p:spPr>
      </p:sp>
      <p:sp>
        <p:nvSpPr>
          <p:cNvPr id="6" name="tile-243"/>
          <p:cNvSpPr/>
          <p:nvPr/>
        </p:nvSpPr>
        <p:spPr>
          <a:xfrm>
            <a:off x="822960" y="2176272"/>
            <a:ext cx="566928" cy="566928"/>
          </a:xfrm>
          <a:prstGeom prst="roundRect">
            <a:avLst>
              <a:gd name="adj" fmla="val 14516"/>
            </a:avLst>
          </a:prstGeom>
          <a:solidFill>
            <a:schemeClr val="accent5"/>
          </a:solidFill>
          <a:ln/>
        </p:spPr>
      </p:sp>
      <p:sp>
        <p:nvSpPr>
          <p:cNvPr id="7" name="text-244"/>
          <p:cNvSpPr txBox="1"/>
          <p:nvPr/>
        </p:nvSpPr>
        <p:spPr>
          <a:xfrm>
            <a:off x="822960" y="2176272"/>
            <a:ext cx="566928" cy="566928"/>
          </a:xfrm>
          <a:prstGeom prst="rect">
            <a:avLst/>
          </a:prstGeom>
          <a:noFill/>
          <a:ln/>
        </p:spPr>
        <p:txBody>
          <a:bodyPr wrap="square" lIns="0" tIns="0" rIns="0" bIns="0" rtlCol="0" anchor="ctr"/>
          <a:lstStyle/>
          <a:p>
            <a:pPr algn="ctr" indent="0" marL="0">
              <a:buNone/>
            </a:pPr>
            <a:r>
              <a:rPr lang="en-US" sz="2400" b="1" dirty="0">
                <a:solidFill>
                  <a:schemeClr val="accent1"/>
                </a:solidFill>
                <a:latin typeface="Courier New" pitchFamily="34" charset="0"/>
                <a:ea typeface="Courier New" pitchFamily="34" charset="-122"/>
                <a:cs typeface="Courier New" pitchFamily="34" charset="-120"/>
              </a:rPr>
              <a:t>/</a:t>
            </a:r>
            <a:endParaRPr lang="en-US" sz="2400" dirty="0"/>
          </a:p>
        </p:txBody>
      </p:sp>
      <p:sp>
        <p:nvSpPr>
          <p:cNvPr id="8" name="text-245"/>
          <p:cNvSpPr txBox="1"/>
          <p:nvPr/>
        </p:nvSpPr>
        <p:spPr>
          <a:xfrm>
            <a:off x="1554480" y="2157984"/>
            <a:ext cx="2280818" cy="310896"/>
          </a:xfrm>
          <a:prstGeom prst="rect">
            <a:avLst/>
          </a:prstGeom>
          <a:noFill/>
          <a:ln/>
        </p:spPr>
        <p:txBody>
          <a:bodyPr wrap="square" lIns="0" tIns="0" rIns="0" bIns="0" rtlCol="0" anchor="t"/>
          <a:lstStyle/>
          <a:p>
            <a:pPr indent="0" marL="0">
              <a:buNone/>
            </a:pPr>
            <a:r>
              <a:rPr lang="en-US" sz="1800" b="1" dirty="0">
                <a:solidFill>
                  <a:schemeClr val="tx1"/>
                </a:solidFill>
              </a:rPr>
              <a:t>Slash commands</a:t>
            </a:r>
            <a:endParaRPr lang="en-US" sz="1800" dirty="0"/>
          </a:p>
        </p:txBody>
      </p:sp>
      <p:sp>
        <p:nvSpPr>
          <p:cNvPr id="9" name="text-246"/>
          <p:cNvSpPr txBox="1"/>
          <p:nvPr/>
        </p:nvSpPr>
        <p:spPr>
          <a:xfrm>
            <a:off x="1554480" y="2487168"/>
            <a:ext cx="2280818" cy="274320"/>
          </a:xfrm>
          <a:prstGeom prst="rect">
            <a:avLst/>
          </a:prstGeom>
          <a:noFill/>
          <a:ln/>
        </p:spPr>
        <p:txBody>
          <a:bodyPr wrap="square" lIns="0" tIns="0" rIns="0" bIns="0" rtlCol="0" anchor="t"/>
          <a:lstStyle/>
          <a:p>
            <a:pPr indent="0" marL="0">
              <a:buNone/>
            </a:pPr>
            <a:r>
              <a:rPr lang="en-US" sz="1200" dirty="0">
                <a:solidFill>
                  <a:schemeClr val="accent4"/>
                </a:solidFill>
              </a:rPr>
              <a:t>Shortcuts for common jobs</a:t>
            </a:r>
            <a:endParaRPr lang="en-US" sz="1200" dirty="0"/>
          </a:p>
        </p:txBody>
      </p:sp>
      <p:sp>
        <p:nvSpPr>
          <p:cNvPr id="10" name="text-247"/>
          <p:cNvSpPr txBox="1"/>
          <p:nvPr/>
        </p:nvSpPr>
        <p:spPr>
          <a:xfrm>
            <a:off x="822960" y="301752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/explain</a:t>
            </a:r>
            <a:endParaRPr lang="en-US" sz="1400" dirty="0"/>
          </a:p>
        </p:txBody>
      </p:sp>
      <p:sp>
        <p:nvSpPr>
          <p:cNvPr id="11" name="text-248"/>
          <p:cNvSpPr txBox="1"/>
          <p:nvPr/>
        </p:nvSpPr>
        <p:spPr>
          <a:xfrm>
            <a:off x="822960" y="3291840"/>
            <a:ext cx="2966618" cy="256032"/>
          </a:xfrm>
          <a:prstGeom prst="rect">
            <a:avLst/>
          </a:prstGeom>
          <a:noFill/>
          <a:ln/>
        </p:spPr>
        <p:txBody>
          <a:bodyPr wrap="square" lIns="0" tIns="0" rIns="0" bIns="0" rtlCol="0" anchor="t"/>
          <a:lstStyle/>
          <a:p>
            <a:pPr indent="0" marL="0">
              <a:buNone/>
            </a:pPr>
            <a:r>
              <a:rPr lang="en-US" sz="1400" dirty="0">
                <a:solidFill>
                  <a:schemeClr val="tx2"/>
                </a:solidFill>
              </a:rPr>
              <a:t>Explain the code in the editor</a:t>
            </a:r>
            <a:endParaRPr lang="en-US" sz="1400" dirty="0"/>
          </a:p>
        </p:txBody>
      </p:sp>
      <p:sp>
        <p:nvSpPr>
          <p:cNvPr id="12" name="text-249"/>
          <p:cNvSpPr txBox="1"/>
          <p:nvPr/>
        </p:nvSpPr>
        <p:spPr>
          <a:xfrm>
            <a:off x="822960" y="370332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/fix</a:t>
            </a:r>
            <a:endParaRPr lang="en-US" sz="1400" dirty="0"/>
          </a:p>
        </p:txBody>
      </p:sp>
      <p:sp>
        <p:nvSpPr>
          <p:cNvPr id="13" name="text-250"/>
          <p:cNvSpPr txBox="1"/>
          <p:nvPr/>
        </p:nvSpPr>
        <p:spPr>
          <a:xfrm>
            <a:off x="822960" y="3977640"/>
            <a:ext cx="2966618" cy="256032"/>
          </a:xfrm>
          <a:prstGeom prst="rect">
            <a:avLst/>
          </a:prstGeom>
          <a:noFill/>
          <a:ln/>
        </p:spPr>
        <p:txBody>
          <a:bodyPr wrap="square" lIns="0" tIns="0" rIns="0" bIns="0" rtlCol="0" anchor="t"/>
          <a:lstStyle/>
          <a:p>
            <a:pPr indent="0" marL="0">
              <a:buNone/>
            </a:pPr>
            <a:r>
              <a:rPr lang="en-US" sz="1400" dirty="0">
                <a:solidFill>
                  <a:schemeClr val="tx2"/>
                </a:solidFill>
              </a:rPr>
              <a:t>Propose a fix for selected code</a:t>
            </a:r>
            <a:endParaRPr lang="en-US" sz="1400" dirty="0"/>
          </a:p>
        </p:txBody>
      </p:sp>
      <p:sp>
        <p:nvSpPr>
          <p:cNvPr id="14" name="text-251"/>
          <p:cNvSpPr txBox="1"/>
          <p:nvPr/>
        </p:nvSpPr>
        <p:spPr>
          <a:xfrm>
            <a:off x="822960" y="438912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/tests</a:t>
            </a:r>
            <a:endParaRPr lang="en-US" sz="1400" dirty="0"/>
          </a:p>
        </p:txBody>
      </p:sp>
      <p:sp>
        <p:nvSpPr>
          <p:cNvPr id="15" name="text-252"/>
          <p:cNvSpPr txBox="1"/>
          <p:nvPr/>
        </p:nvSpPr>
        <p:spPr>
          <a:xfrm>
            <a:off x="822960" y="4663440"/>
            <a:ext cx="2966618" cy="256032"/>
          </a:xfrm>
          <a:prstGeom prst="rect">
            <a:avLst/>
          </a:prstGeom>
          <a:noFill/>
          <a:ln/>
        </p:spPr>
        <p:txBody>
          <a:bodyPr wrap="square" lIns="0" tIns="0" rIns="0" bIns="0" rtlCol="0" anchor="t"/>
          <a:lstStyle/>
          <a:p>
            <a:pPr indent="0" marL="0">
              <a:buNone/>
            </a:pPr>
            <a:r>
              <a:rPr lang="en-US" sz="1400" dirty="0">
                <a:solidFill>
                  <a:schemeClr val="tx2"/>
                </a:solidFill>
              </a:rPr>
              <a:t>Generate unit tests</a:t>
            </a:r>
            <a:endParaRPr lang="en-US" sz="1400" dirty="0"/>
          </a:p>
        </p:txBody>
      </p:sp>
      <p:sp>
        <p:nvSpPr>
          <p:cNvPr id="16" name="text-253"/>
          <p:cNvSpPr txBox="1"/>
          <p:nvPr/>
        </p:nvSpPr>
        <p:spPr>
          <a:xfrm>
            <a:off x="822960" y="507492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/new</a:t>
            </a:r>
            <a:endParaRPr lang="en-US" sz="1400" dirty="0"/>
          </a:p>
        </p:txBody>
      </p:sp>
      <p:sp>
        <p:nvSpPr>
          <p:cNvPr id="17" name="text-254"/>
          <p:cNvSpPr txBox="1"/>
          <p:nvPr/>
        </p:nvSpPr>
        <p:spPr>
          <a:xfrm>
            <a:off x="822960" y="5349240"/>
            <a:ext cx="2966618" cy="256032"/>
          </a:xfrm>
          <a:prstGeom prst="rect">
            <a:avLst/>
          </a:prstGeom>
          <a:noFill/>
          <a:ln/>
        </p:spPr>
        <p:txBody>
          <a:bodyPr wrap="square" lIns="0" tIns="0" rIns="0" bIns="0" rtlCol="0" anchor="t"/>
          <a:lstStyle/>
          <a:p>
            <a:pPr indent="0" marL="0">
              <a:buNone/>
            </a:pPr>
            <a:r>
              <a:rPr lang="en-US" sz="1400" dirty="0">
                <a:solidFill>
                  <a:schemeClr val="tx2"/>
                </a:solidFill>
              </a:rPr>
              <a:t>Create a new project</a:t>
            </a:r>
            <a:endParaRPr lang="en-US" sz="1400" dirty="0"/>
          </a:p>
        </p:txBody>
      </p:sp>
      <p:sp>
        <p:nvSpPr>
          <p:cNvPr id="18" name="card-255"/>
          <p:cNvSpPr/>
          <p:nvPr/>
        </p:nvSpPr>
        <p:spPr>
          <a:xfrm>
            <a:off x="4338218" y="1920240"/>
            <a:ext cx="3515258" cy="3977640"/>
          </a:xfrm>
          <a:prstGeom prst="roundRect">
            <a:avLst>
              <a:gd name="adj" fmla="val 2341"/>
            </a:avLst>
          </a:prstGeom>
          <a:solidFill>
            <a:schemeClr val="bg2"/>
          </a:solidFill>
          <a:ln/>
        </p:spPr>
      </p:sp>
      <p:sp>
        <p:nvSpPr>
          <p:cNvPr id="19" name="tile-256"/>
          <p:cNvSpPr/>
          <p:nvPr/>
        </p:nvSpPr>
        <p:spPr>
          <a:xfrm>
            <a:off x="4612538" y="2176272"/>
            <a:ext cx="566928" cy="566928"/>
          </a:xfrm>
          <a:prstGeom prst="roundRect">
            <a:avLst>
              <a:gd name="adj" fmla="val 14516"/>
            </a:avLst>
          </a:prstGeom>
          <a:solidFill>
            <a:schemeClr val="accent5"/>
          </a:solidFill>
          <a:ln/>
        </p:spPr>
      </p:sp>
      <p:sp>
        <p:nvSpPr>
          <p:cNvPr id="20" name="text-257"/>
          <p:cNvSpPr txBox="1"/>
          <p:nvPr/>
        </p:nvSpPr>
        <p:spPr>
          <a:xfrm>
            <a:off x="4612538" y="2176272"/>
            <a:ext cx="566928" cy="566928"/>
          </a:xfrm>
          <a:prstGeom prst="rect">
            <a:avLst/>
          </a:prstGeom>
          <a:noFill/>
          <a:ln/>
        </p:spPr>
        <p:txBody>
          <a:bodyPr wrap="square" lIns="0" tIns="0" rIns="0" bIns="0" rtlCol="0" anchor="ctr"/>
          <a:lstStyle/>
          <a:p>
            <a:pPr algn="ctr" indent="0" marL="0">
              <a:buNone/>
            </a:pPr>
            <a:r>
              <a:rPr lang="en-US" sz="2400" b="1" dirty="0">
                <a:solidFill>
                  <a:schemeClr val="accent1"/>
                </a:solidFill>
                <a:latin typeface="Courier New" pitchFamily="34" charset="0"/>
                <a:ea typeface="Courier New" pitchFamily="34" charset="-122"/>
                <a:cs typeface="Courier New" pitchFamily="34" charset="-120"/>
              </a:rPr>
              <a:t>#</a:t>
            </a:r>
            <a:endParaRPr lang="en-US" sz="2400" dirty="0"/>
          </a:p>
        </p:txBody>
      </p:sp>
      <p:sp>
        <p:nvSpPr>
          <p:cNvPr id="21" name="text-258"/>
          <p:cNvSpPr txBox="1"/>
          <p:nvPr/>
        </p:nvSpPr>
        <p:spPr>
          <a:xfrm>
            <a:off x="5344058" y="2157984"/>
            <a:ext cx="2280818" cy="310896"/>
          </a:xfrm>
          <a:prstGeom prst="rect">
            <a:avLst/>
          </a:prstGeom>
          <a:noFill/>
          <a:ln/>
        </p:spPr>
        <p:txBody>
          <a:bodyPr wrap="square" lIns="0" tIns="0" rIns="0" bIns="0" rtlCol="0" anchor="t"/>
          <a:lstStyle/>
          <a:p>
            <a:pPr indent="0" marL="0">
              <a:buNone/>
            </a:pPr>
            <a:r>
              <a:rPr lang="en-US" sz="1800" b="1" dirty="0">
                <a:solidFill>
                  <a:schemeClr val="tx1"/>
                </a:solidFill>
              </a:rPr>
              <a:t>Chat variables</a:t>
            </a:r>
            <a:endParaRPr lang="en-US" sz="1800" dirty="0"/>
          </a:p>
        </p:txBody>
      </p:sp>
      <p:sp>
        <p:nvSpPr>
          <p:cNvPr id="22" name="text-259"/>
          <p:cNvSpPr txBox="1"/>
          <p:nvPr/>
        </p:nvSpPr>
        <p:spPr>
          <a:xfrm>
            <a:off x="5344058" y="2487168"/>
            <a:ext cx="2280818" cy="274320"/>
          </a:xfrm>
          <a:prstGeom prst="rect">
            <a:avLst/>
          </a:prstGeom>
          <a:noFill/>
          <a:ln/>
        </p:spPr>
        <p:txBody>
          <a:bodyPr wrap="square" lIns="0" tIns="0" rIns="0" bIns="0" rtlCol="0" anchor="t"/>
          <a:lstStyle/>
          <a:p>
            <a:pPr indent="0" marL="0">
              <a:buNone/>
            </a:pPr>
            <a:r>
              <a:rPr lang="en-US" sz="1200" dirty="0">
                <a:solidFill>
                  <a:schemeClr val="accent4"/>
                </a:solidFill>
              </a:rPr>
              <a:t>Point at specific context</a:t>
            </a:r>
            <a:endParaRPr lang="en-US" sz="1200" dirty="0"/>
          </a:p>
        </p:txBody>
      </p:sp>
      <p:sp>
        <p:nvSpPr>
          <p:cNvPr id="23" name="text-260"/>
          <p:cNvSpPr txBox="1"/>
          <p:nvPr/>
        </p:nvSpPr>
        <p:spPr>
          <a:xfrm>
            <a:off x="4612538" y="301752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#file</a:t>
            </a:r>
            <a:endParaRPr lang="en-US" sz="1400" dirty="0"/>
          </a:p>
        </p:txBody>
      </p:sp>
      <p:sp>
        <p:nvSpPr>
          <p:cNvPr id="24" name="text-261"/>
          <p:cNvSpPr txBox="1"/>
          <p:nvPr/>
        </p:nvSpPr>
        <p:spPr>
          <a:xfrm>
            <a:off x="4612538" y="3291840"/>
            <a:ext cx="2966618" cy="256032"/>
          </a:xfrm>
          <a:prstGeom prst="rect">
            <a:avLst/>
          </a:prstGeom>
          <a:noFill/>
          <a:ln/>
        </p:spPr>
        <p:txBody>
          <a:bodyPr wrap="square" lIns="0" tIns="0" rIns="0" bIns="0" rtlCol="0" anchor="t"/>
          <a:lstStyle/>
          <a:p>
            <a:pPr indent="0" marL="0">
              <a:buNone/>
            </a:pPr>
            <a:r>
              <a:rPr lang="en-US" sz="1400" dirty="0">
                <a:solidFill>
                  <a:schemeClr val="tx2"/>
                </a:solidFill>
              </a:rPr>
              <a:t>The current file</a:t>
            </a:r>
            <a:endParaRPr lang="en-US" sz="1400" dirty="0"/>
          </a:p>
        </p:txBody>
      </p:sp>
      <p:sp>
        <p:nvSpPr>
          <p:cNvPr id="25" name="text-262"/>
          <p:cNvSpPr txBox="1"/>
          <p:nvPr/>
        </p:nvSpPr>
        <p:spPr>
          <a:xfrm>
            <a:off x="4612538" y="370332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#selection</a:t>
            </a:r>
            <a:endParaRPr lang="en-US" sz="1400" dirty="0"/>
          </a:p>
        </p:txBody>
      </p:sp>
      <p:sp>
        <p:nvSpPr>
          <p:cNvPr id="26" name="text-263"/>
          <p:cNvSpPr txBox="1"/>
          <p:nvPr/>
        </p:nvSpPr>
        <p:spPr>
          <a:xfrm>
            <a:off x="4612538" y="3977640"/>
            <a:ext cx="2966618" cy="256032"/>
          </a:xfrm>
          <a:prstGeom prst="rect">
            <a:avLst/>
          </a:prstGeom>
          <a:noFill/>
          <a:ln/>
        </p:spPr>
        <p:txBody>
          <a:bodyPr wrap="square" lIns="0" tIns="0" rIns="0" bIns="0" rtlCol="0" anchor="t"/>
          <a:lstStyle/>
          <a:p>
            <a:pPr indent="0" marL="0">
              <a:buNone/>
            </a:pPr>
            <a:r>
              <a:rPr lang="en-US" sz="1400" dirty="0">
                <a:solidFill>
                  <a:schemeClr val="tx2"/>
                </a:solidFill>
              </a:rPr>
              <a:t>The text you have selected</a:t>
            </a:r>
            <a:endParaRPr lang="en-US" sz="1400" dirty="0"/>
          </a:p>
        </p:txBody>
      </p:sp>
      <p:sp>
        <p:nvSpPr>
          <p:cNvPr id="27" name="text-264"/>
          <p:cNvSpPr txBox="1"/>
          <p:nvPr/>
        </p:nvSpPr>
        <p:spPr>
          <a:xfrm>
            <a:off x="4612538" y="438912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#function</a:t>
            </a:r>
            <a:endParaRPr lang="en-US" sz="1400" dirty="0"/>
          </a:p>
        </p:txBody>
      </p:sp>
      <p:sp>
        <p:nvSpPr>
          <p:cNvPr id="28" name="text-265"/>
          <p:cNvSpPr txBox="1"/>
          <p:nvPr/>
        </p:nvSpPr>
        <p:spPr>
          <a:xfrm>
            <a:off x="4612538" y="4663440"/>
            <a:ext cx="2966618" cy="256032"/>
          </a:xfrm>
          <a:prstGeom prst="rect">
            <a:avLst/>
          </a:prstGeom>
          <a:noFill/>
          <a:ln/>
        </p:spPr>
        <p:txBody>
          <a:bodyPr wrap="square" lIns="0" tIns="0" rIns="0" bIns="0" rtlCol="0" anchor="t"/>
          <a:lstStyle/>
          <a:p>
            <a:pPr indent="0" marL="0">
              <a:buNone/>
            </a:pPr>
            <a:r>
              <a:rPr lang="en-US" sz="1400" dirty="0">
                <a:solidFill>
                  <a:schemeClr val="tx2"/>
                </a:solidFill>
              </a:rPr>
              <a:t>The current function</a:t>
            </a:r>
            <a:endParaRPr lang="en-US" sz="1400" dirty="0"/>
          </a:p>
        </p:txBody>
      </p:sp>
      <p:sp>
        <p:nvSpPr>
          <p:cNvPr id="29" name="text-266"/>
          <p:cNvSpPr txBox="1"/>
          <p:nvPr/>
        </p:nvSpPr>
        <p:spPr>
          <a:xfrm>
            <a:off x="4612538" y="507492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#project</a:t>
            </a:r>
            <a:endParaRPr lang="en-US" sz="1400" dirty="0"/>
          </a:p>
        </p:txBody>
      </p:sp>
      <p:sp>
        <p:nvSpPr>
          <p:cNvPr id="30" name="text-267"/>
          <p:cNvSpPr txBox="1"/>
          <p:nvPr/>
        </p:nvSpPr>
        <p:spPr>
          <a:xfrm>
            <a:off x="4612538" y="5349240"/>
            <a:ext cx="2966618" cy="256032"/>
          </a:xfrm>
          <a:prstGeom prst="rect">
            <a:avLst/>
          </a:prstGeom>
          <a:noFill/>
          <a:ln/>
        </p:spPr>
        <p:txBody>
          <a:bodyPr wrap="square" lIns="0" tIns="0" rIns="0" bIns="0" rtlCol="0" anchor="t"/>
          <a:lstStyle/>
          <a:p>
            <a:pPr indent="0" marL="0">
              <a:buNone/>
            </a:pPr>
            <a:r>
              <a:rPr lang="en-US" sz="1400" dirty="0">
                <a:solidFill>
                  <a:schemeClr val="tx2"/>
                </a:solidFill>
              </a:rPr>
              <a:t>The project as a whole</a:t>
            </a:r>
            <a:endParaRPr lang="en-US" sz="1400" dirty="0"/>
          </a:p>
        </p:txBody>
      </p:sp>
      <p:sp>
        <p:nvSpPr>
          <p:cNvPr id="31" name="card-268"/>
          <p:cNvSpPr/>
          <p:nvPr/>
        </p:nvSpPr>
        <p:spPr>
          <a:xfrm>
            <a:off x="8127797" y="1920240"/>
            <a:ext cx="3515258" cy="3977640"/>
          </a:xfrm>
          <a:prstGeom prst="roundRect">
            <a:avLst>
              <a:gd name="adj" fmla="val 2341"/>
            </a:avLst>
          </a:prstGeom>
          <a:solidFill>
            <a:schemeClr val="bg2"/>
          </a:solidFill>
          <a:ln/>
        </p:spPr>
      </p:sp>
      <p:sp>
        <p:nvSpPr>
          <p:cNvPr id="32" name="tile-269"/>
          <p:cNvSpPr/>
          <p:nvPr/>
        </p:nvSpPr>
        <p:spPr>
          <a:xfrm>
            <a:off x="8402117" y="2176272"/>
            <a:ext cx="566928" cy="566928"/>
          </a:xfrm>
          <a:prstGeom prst="roundRect">
            <a:avLst>
              <a:gd name="adj" fmla="val 14516"/>
            </a:avLst>
          </a:prstGeom>
          <a:solidFill>
            <a:schemeClr val="accent5"/>
          </a:solidFill>
          <a:ln/>
        </p:spPr>
      </p:sp>
      <p:sp>
        <p:nvSpPr>
          <p:cNvPr id="33" name="text-270"/>
          <p:cNvSpPr txBox="1"/>
          <p:nvPr/>
        </p:nvSpPr>
        <p:spPr>
          <a:xfrm>
            <a:off x="8402117" y="2176272"/>
            <a:ext cx="566928" cy="566928"/>
          </a:xfrm>
          <a:prstGeom prst="rect">
            <a:avLst/>
          </a:prstGeom>
          <a:noFill/>
          <a:ln/>
        </p:spPr>
        <p:txBody>
          <a:bodyPr wrap="square" lIns="0" tIns="0" rIns="0" bIns="0" rtlCol="0" anchor="ctr"/>
          <a:lstStyle/>
          <a:p>
            <a:pPr algn="ctr" indent="0" marL="0">
              <a:buNone/>
            </a:pPr>
            <a:r>
              <a:rPr lang="en-US" sz="2400" b="1" dirty="0">
                <a:solidFill>
                  <a:schemeClr val="accent1"/>
                </a:solidFill>
                <a:latin typeface="Courier New" pitchFamily="34" charset="0"/>
                <a:ea typeface="Courier New" pitchFamily="34" charset="-122"/>
                <a:cs typeface="Courier New" pitchFamily="34" charset="-120"/>
              </a:rPr>
              <a:t>@</a:t>
            </a:r>
            <a:endParaRPr lang="en-US" sz="2400" dirty="0"/>
          </a:p>
        </p:txBody>
      </p:sp>
      <p:sp>
        <p:nvSpPr>
          <p:cNvPr id="34" name="text-271"/>
          <p:cNvSpPr txBox="1"/>
          <p:nvPr/>
        </p:nvSpPr>
        <p:spPr>
          <a:xfrm>
            <a:off x="9133637" y="2157984"/>
            <a:ext cx="2280818" cy="310896"/>
          </a:xfrm>
          <a:prstGeom prst="rect">
            <a:avLst/>
          </a:prstGeom>
          <a:noFill/>
          <a:ln/>
        </p:spPr>
        <p:txBody>
          <a:bodyPr wrap="square" lIns="0" tIns="0" rIns="0" bIns="0" rtlCol="0" anchor="t"/>
          <a:lstStyle/>
          <a:p>
            <a:pPr indent="0" marL="0">
              <a:buNone/>
            </a:pPr>
            <a:r>
              <a:rPr lang="en-US" sz="1800" b="1" dirty="0">
                <a:solidFill>
                  <a:schemeClr val="tx1"/>
                </a:solidFill>
              </a:rPr>
              <a:t>Chat participants</a:t>
            </a:r>
            <a:endParaRPr lang="en-US" sz="1800" dirty="0"/>
          </a:p>
        </p:txBody>
      </p:sp>
      <p:sp>
        <p:nvSpPr>
          <p:cNvPr id="35" name="text-272"/>
          <p:cNvSpPr txBox="1"/>
          <p:nvPr/>
        </p:nvSpPr>
        <p:spPr>
          <a:xfrm>
            <a:off x="9133637" y="2487168"/>
            <a:ext cx="2280818" cy="274320"/>
          </a:xfrm>
          <a:prstGeom prst="rect">
            <a:avLst/>
          </a:prstGeom>
          <a:noFill/>
          <a:ln/>
        </p:spPr>
        <p:txBody>
          <a:bodyPr wrap="square" lIns="0" tIns="0" rIns="0" bIns="0" rtlCol="0" anchor="t"/>
          <a:lstStyle/>
          <a:p>
            <a:pPr indent="0" marL="0">
              <a:buNone/>
            </a:pPr>
            <a:r>
              <a:rPr lang="en-US" sz="1200" dirty="0">
                <a:solidFill>
                  <a:schemeClr val="accent4"/>
                </a:solidFill>
              </a:rPr>
              <a:t>Bring in a specialist</a:t>
            </a:r>
            <a:endParaRPr lang="en-US" sz="1200" dirty="0"/>
          </a:p>
        </p:txBody>
      </p:sp>
      <p:sp>
        <p:nvSpPr>
          <p:cNvPr id="36" name="text-273"/>
          <p:cNvSpPr txBox="1"/>
          <p:nvPr/>
        </p:nvSpPr>
        <p:spPr>
          <a:xfrm>
            <a:off x="8402117" y="301752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@github</a:t>
            </a:r>
            <a:endParaRPr lang="en-US" sz="1400" dirty="0"/>
          </a:p>
        </p:txBody>
      </p:sp>
      <p:sp>
        <p:nvSpPr>
          <p:cNvPr id="37" name="text-274"/>
          <p:cNvSpPr txBox="1"/>
          <p:nvPr/>
        </p:nvSpPr>
        <p:spPr>
          <a:xfrm>
            <a:off x="8402117" y="3291840"/>
            <a:ext cx="2966618" cy="256032"/>
          </a:xfrm>
          <a:prstGeom prst="rect">
            <a:avLst/>
          </a:prstGeom>
          <a:noFill/>
          <a:ln/>
        </p:spPr>
        <p:txBody>
          <a:bodyPr wrap="square" lIns="0" tIns="0" rIns="0" bIns="0" rtlCol="0" anchor="t"/>
          <a:lstStyle/>
          <a:p>
            <a:pPr indent="0" marL="0">
              <a:buNone/>
            </a:pPr>
            <a:r>
              <a:rPr lang="en-US" sz="1400" dirty="0">
                <a:solidFill>
                  <a:schemeClr val="tx2"/>
                </a:solidFill>
              </a:rPr>
              <a:t>GitHub-specific skills</a:t>
            </a:r>
            <a:endParaRPr lang="en-US" sz="1400" dirty="0"/>
          </a:p>
        </p:txBody>
      </p:sp>
      <p:sp>
        <p:nvSpPr>
          <p:cNvPr id="38" name="text-275"/>
          <p:cNvSpPr txBox="1"/>
          <p:nvPr/>
        </p:nvSpPr>
        <p:spPr>
          <a:xfrm>
            <a:off x="8402117" y="370332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@terminal</a:t>
            </a:r>
            <a:endParaRPr lang="en-US" sz="1400" dirty="0"/>
          </a:p>
        </p:txBody>
      </p:sp>
      <p:sp>
        <p:nvSpPr>
          <p:cNvPr id="39" name="text-276"/>
          <p:cNvSpPr txBox="1"/>
          <p:nvPr/>
        </p:nvSpPr>
        <p:spPr>
          <a:xfrm>
            <a:off x="8402117" y="3977640"/>
            <a:ext cx="2966618" cy="256032"/>
          </a:xfrm>
          <a:prstGeom prst="rect">
            <a:avLst/>
          </a:prstGeom>
          <a:noFill/>
          <a:ln/>
        </p:spPr>
        <p:txBody>
          <a:bodyPr wrap="square" lIns="0" tIns="0" rIns="0" bIns="0" rtlCol="0" anchor="t"/>
          <a:lstStyle/>
          <a:p>
            <a:pPr indent="0" marL="0">
              <a:buNone/>
            </a:pPr>
            <a:r>
              <a:rPr lang="en-US" sz="1400" dirty="0">
                <a:solidFill>
                  <a:schemeClr val="tx2"/>
                </a:solidFill>
              </a:rPr>
              <a:t>Knows the terminal's contents</a:t>
            </a:r>
            <a:endParaRPr lang="en-US" sz="1400" dirty="0"/>
          </a:p>
        </p:txBody>
      </p:sp>
      <p:sp>
        <p:nvSpPr>
          <p:cNvPr id="40" name="text-277"/>
          <p:cNvSpPr txBox="1"/>
          <p:nvPr/>
        </p:nvSpPr>
        <p:spPr>
          <a:xfrm>
            <a:off x="8402117" y="438912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@vscode</a:t>
            </a:r>
            <a:endParaRPr lang="en-US" sz="1400" dirty="0"/>
          </a:p>
        </p:txBody>
      </p:sp>
      <p:sp>
        <p:nvSpPr>
          <p:cNvPr id="41" name="text-278"/>
          <p:cNvSpPr txBox="1"/>
          <p:nvPr/>
        </p:nvSpPr>
        <p:spPr>
          <a:xfrm>
            <a:off x="8402117" y="4663440"/>
            <a:ext cx="2966618" cy="256032"/>
          </a:xfrm>
          <a:prstGeom prst="rect">
            <a:avLst/>
          </a:prstGeom>
          <a:noFill/>
          <a:ln/>
        </p:spPr>
        <p:txBody>
          <a:bodyPr wrap="square" lIns="0" tIns="0" rIns="0" bIns="0" rtlCol="0" anchor="t"/>
          <a:lstStyle/>
          <a:p>
            <a:pPr indent="0" marL="0">
              <a:buNone/>
            </a:pPr>
            <a:r>
              <a:rPr lang="en-US" sz="1400" dirty="0">
                <a:solidFill>
                  <a:schemeClr val="tx2"/>
                </a:solidFill>
              </a:rPr>
              <a:t>Knows VS Code's features</a:t>
            </a:r>
            <a:endParaRPr lang="en-US" sz="1400" dirty="0"/>
          </a:p>
        </p:txBody>
      </p:sp>
      <p:sp>
        <p:nvSpPr>
          <p:cNvPr id="42" name="text-279"/>
          <p:cNvSpPr txBox="1"/>
          <p:nvPr/>
        </p:nvSpPr>
        <p:spPr>
          <a:xfrm>
            <a:off x="8402117" y="507492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@azure</a:t>
            </a:r>
            <a:endParaRPr lang="en-US" sz="1400" dirty="0"/>
          </a:p>
        </p:txBody>
      </p:sp>
      <p:sp>
        <p:nvSpPr>
          <p:cNvPr id="43" name="text-280"/>
          <p:cNvSpPr txBox="1"/>
          <p:nvPr/>
        </p:nvSpPr>
        <p:spPr>
          <a:xfrm>
            <a:off x="8402117" y="5349240"/>
            <a:ext cx="2966618" cy="256032"/>
          </a:xfrm>
          <a:prstGeom prst="rect">
            <a:avLst/>
          </a:prstGeom>
          <a:noFill/>
          <a:ln/>
        </p:spPr>
        <p:txBody>
          <a:bodyPr wrap="square" lIns="0" tIns="0" rIns="0" bIns="0" rtlCol="0" anchor="t"/>
          <a:lstStyle/>
          <a:p>
            <a:pPr indent="0" marL="0">
              <a:buNone/>
            </a:pPr>
            <a:r>
              <a:rPr lang="en-US" sz="1400" dirty="0">
                <a:solidFill>
                  <a:schemeClr val="tx2"/>
                </a:solidFill>
              </a:rPr>
              <a:t>Knows Azure services</a:t>
            </a:r>
            <a:endParaRPr lang="en-US" sz="1400" dirty="0"/>
          </a:p>
        </p:txBody>
      </p:sp>
      <p:sp>
        <p:nvSpPr>
          <p:cNvPr id="44" name="text-281"/>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GitHub Docs, GitHub Copilot Chat cheat sheet, VS Code version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node-282"/>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agent features let Copilot work on its own</a:t>
            </a:r>
            <a:endParaRPr lang="en-US" sz="3000" dirty="0"/>
          </a:p>
        </p:txBody>
      </p:sp>
      <p:sp>
        <p:nvSpPr>
          <p:cNvPr id="5" name="card-283"/>
          <p:cNvSpPr/>
          <p:nvPr/>
        </p:nvSpPr>
        <p:spPr>
          <a:xfrm>
            <a:off x="548640" y="1920240"/>
            <a:ext cx="3515258" cy="1828800"/>
          </a:xfrm>
          <a:prstGeom prst="roundRect">
            <a:avLst>
              <a:gd name="adj" fmla="val 4500"/>
            </a:avLst>
          </a:prstGeom>
          <a:solidFill>
            <a:schemeClr val="bg2"/>
          </a:solidFill>
          <a:ln/>
        </p:spPr>
      </p:sp>
      <p:sp>
        <p:nvSpPr>
          <p:cNvPr id="6" name="tile-284"/>
          <p:cNvSpPr/>
          <p:nvPr/>
        </p:nvSpPr>
        <p:spPr>
          <a:xfrm>
            <a:off x="822960" y="2194560"/>
            <a:ext cx="530352" cy="530352"/>
          </a:xfrm>
          <a:prstGeom prst="roundRect">
            <a:avLst>
              <a:gd name="adj" fmla="val 15517"/>
            </a:avLst>
          </a:prstGeom>
          <a:solidFill>
            <a:schemeClr val="accent5"/>
          </a:solidFill>
          <a:ln/>
        </p:spPr>
      </p:sp>
      <p:pic>
        <p:nvPicPr>
          <p:cNvPr id="7" name="icon-285" descr="preencoded.png">    </p:cNvPr>
          <p:cNvPicPr>
            <a:picLocks noChangeAspect="1"/>
          </p:cNvPicPr>
          <p:nvPr/>
        </p:nvPicPr>
        <p:blipFill>
          <a:blip r:embed="rId1"/>
          <a:stretch>
            <a:fillRect/>
          </a:stretch>
        </p:blipFill>
        <p:spPr>
          <a:xfrm>
            <a:off x="955548" y="2327148"/>
            <a:ext cx="265176" cy="265176"/>
          </a:xfrm>
          <a:prstGeom prst="rect">
            <a:avLst/>
          </a:prstGeom>
        </p:spPr>
      </p:pic>
      <p:sp>
        <p:nvSpPr>
          <p:cNvPr id="8" name="text-286"/>
          <p:cNvSpPr txBox="1"/>
          <p:nvPr/>
        </p:nvSpPr>
        <p:spPr>
          <a:xfrm>
            <a:off x="1536192" y="219456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Agent mode</a:t>
            </a:r>
            <a:endParaRPr lang="en-US" sz="1800" dirty="0"/>
          </a:p>
        </p:txBody>
      </p:sp>
      <p:sp>
        <p:nvSpPr>
          <p:cNvPr id="9" name="text-287"/>
          <p:cNvSpPr txBox="1"/>
          <p:nvPr/>
        </p:nvSpPr>
        <p:spPr>
          <a:xfrm>
            <a:off x="822960" y="2907792"/>
            <a:ext cx="2966618" cy="749808"/>
          </a:xfrm>
          <a:prstGeom prst="rect">
            <a:avLst/>
          </a:prstGeom>
          <a:noFill/>
          <a:ln/>
        </p:spPr>
        <p:txBody>
          <a:bodyPr wrap="square" lIns="0" tIns="0" rIns="0" bIns="0" rtlCol="0" anchor="t"/>
          <a:lstStyle/>
          <a:p>
            <a:pPr indent="0" marL="0">
              <a:buNone/>
            </a:pPr>
            <a:r>
              <a:rPr lang="en-US" sz="1400" dirty="0">
                <a:solidFill>
                  <a:schemeClr val="tx2"/>
                </a:solidFill>
              </a:rPr>
              <a:t>Works through a task inside your editor, asking for approval</a:t>
            </a:r>
            <a:endParaRPr lang="en-US" sz="1400" dirty="0"/>
          </a:p>
        </p:txBody>
      </p:sp>
      <p:sp>
        <p:nvSpPr>
          <p:cNvPr id="10" name="card-288"/>
          <p:cNvSpPr/>
          <p:nvPr/>
        </p:nvSpPr>
        <p:spPr>
          <a:xfrm>
            <a:off x="4338218" y="1920240"/>
            <a:ext cx="3515258" cy="1828800"/>
          </a:xfrm>
          <a:prstGeom prst="roundRect">
            <a:avLst>
              <a:gd name="adj" fmla="val 4500"/>
            </a:avLst>
          </a:prstGeom>
          <a:solidFill>
            <a:schemeClr val="bg2"/>
          </a:solidFill>
          <a:ln/>
        </p:spPr>
      </p:sp>
      <p:sp>
        <p:nvSpPr>
          <p:cNvPr id="11" name="tile-289"/>
          <p:cNvSpPr/>
          <p:nvPr/>
        </p:nvSpPr>
        <p:spPr>
          <a:xfrm>
            <a:off x="4612538" y="2194560"/>
            <a:ext cx="530352" cy="530352"/>
          </a:xfrm>
          <a:prstGeom prst="roundRect">
            <a:avLst>
              <a:gd name="adj" fmla="val 15517"/>
            </a:avLst>
          </a:prstGeom>
          <a:solidFill>
            <a:schemeClr val="accent5"/>
          </a:solidFill>
          <a:ln/>
        </p:spPr>
      </p:sp>
      <p:pic>
        <p:nvPicPr>
          <p:cNvPr id="12" name="icon-290" descr="preencoded.png">    </p:cNvPr>
          <p:cNvPicPr>
            <a:picLocks noChangeAspect="1"/>
          </p:cNvPicPr>
          <p:nvPr/>
        </p:nvPicPr>
        <p:blipFill>
          <a:blip r:embed="rId2"/>
          <a:stretch>
            <a:fillRect/>
          </a:stretch>
        </p:blipFill>
        <p:spPr>
          <a:xfrm>
            <a:off x="4745126" y="2327148"/>
            <a:ext cx="265176" cy="265176"/>
          </a:xfrm>
          <a:prstGeom prst="rect">
            <a:avLst/>
          </a:prstGeom>
        </p:spPr>
      </p:pic>
      <p:sp>
        <p:nvSpPr>
          <p:cNvPr id="13" name="text-291"/>
          <p:cNvSpPr txBox="1"/>
          <p:nvPr/>
        </p:nvSpPr>
        <p:spPr>
          <a:xfrm>
            <a:off x="5325770" y="219456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Copilot cloud agent</a:t>
            </a:r>
            <a:endParaRPr lang="en-US" sz="1800" dirty="0"/>
          </a:p>
        </p:txBody>
      </p:sp>
      <p:sp>
        <p:nvSpPr>
          <p:cNvPr id="14" name="text-292"/>
          <p:cNvSpPr txBox="1"/>
          <p:nvPr/>
        </p:nvSpPr>
        <p:spPr>
          <a:xfrm>
            <a:off x="4612538" y="2907792"/>
            <a:ext cx="2966618" cy="749808"/>
          </a:xfrm>
          <a:prstGeom prst="rect">
            <a:avLst/>
          </a:prstGeom>
          <a:noFill/>
          <a:ln/>
        </p:spPr>
        <p:txBody>
          <a:bodyPr wrap="square" lIns="0" tIns="0" rIns="0" bIns="0" rtlCol="0" anchor="t"/>
          <a:lstStyle/>
          <a:p>
            <a:pPr indent="0" marL="0">
              <a:buNone/>
            </a:pPr>
            <a:r>
              <a:rPr lang="en-US" sz="1400" dirty="0">
                <a:solidFill>
                  <a:schemeClr val="tx2"/>
                </a:solidFill>
              </a:rPr>
              <a:t>Researches a repository, plans, and makes changes on a branch</a:t>
            </a:r>
            <a:endParaRPr lang="en-US" sz="1400" dirty="0"/>
          </a:p>
        </p:txBody>
      </p:sp>
      <p:sp>
        <p:nvSpPr>
          <p:cNvPr id="15" name="card-293"/>
          <p:cNvSpPr/>
          <p:nvPr/>
        </p:nvSpPr>
        <p:spPr>
          <a:xfrm>
            <a:off x="8127797" y="1920240"/>
            <a:ext cx="3515258" cy="1828800"/>
          </a:xfrm>
          <a:prstGeom prst="roundRect">
            <a:avLst>
              <a:gd name="adj" fmla="val 4500"/>
            </a:avLst>
          </a:prstGeom>
          <a:solidFill>
            <a:schemeClr val="bg2"/>
          </a:solidFill>
          <a:ln/>
        </p:spPr>
      </p:sp>
      <p:sp>
        <p:nvSpPr>
          <p:cNvPr id="16" name="tile-294"/>
          <p:cNvSpPr/>
          <p:nvPr/>
        </p:nvSpPr>
        <p:spPr>
          <a:xfrm>
            <a:off x="8402117" y="2194560"/>
            <a:ext cx="530352" cy="530352"/>
          </a:xfrm>
          <a:prstGeom prst="roundRect">
            <a:avLst>
              <a:gd name="adj" fmla="val 15517"/>
            </a:avLst>
          </a:prstGeom>
          <a:solidFill>
            <a:schemeClr val="accent5"/>
          </a:solidFill>
          <a:ln/>
        </p:spPr>
      </p:sp>
      <p:pic>
        <p:nvPicPr>
          <p:cNvPr id="17" name="icon-295" descr="preencoded.png">    </p:cNvPr>
          <p:cNvPicPr>
            <a:picLocks noChangeAspect="1"/>
          </p:cNvPicPr>
          <p:nvPr/>
        </p:nvPicPr>
        <p:blipFill>
          <a:blip r:embed="rId3"/>
          <a:stretch>
            <a:fillRect/>
          </a:stretch>
        </p:blipFill>
        <p:spPr>
          <a:xfrm>
            <a:off x="8534705" y="2327148"/>
            <a:ext cx="265176" cy="265176"/>
          </a:xfrm>
          <a:prstGeom prst="rect">
            <a:avLst/>
          </a:prstGeom>
        </p:spPr>
      </p:pic>
      <p:sp>
        <p:nvSpPr>
          <p:cNvPr id="18" name="text-296"/>
          <p:cNvSpPr txBox="1"/>
          <p:nvPr/>
        </p:nvSpPr>
        <p:spPr>
          <a:xfrm>
            <a:off x="9115349" y="219456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Copilot CLI</a:t>
            </a:r>
            <a:endParaRPr lang="en-US" sz="1800" dirty="0"/>
          </a:p>
        </p:txBody>
      </p:sp>
      <p:sp>
        <p:nvSpPr>
          <p:cNvPr id="19" name="text-297"/>
          <p:cNvSpPr txBox="1"/>
          <p:nvPr/>
        </p:nvSpPr>
        <p:spPr>
          <a:xfrm>
            <a:off x="8402117" y="2907792"/>
            <a:ext cx="2966618" cy="749808"/>
          </a:xfrm>
          <a:prstGeom prst="rect">
            <a:avLst/>
          </a:prstGeom>
          <a:noFill/>
          <a:ln/>
        </p:spPr>
        <p:txBody>
          <a:bodyPr wrap="square" lIns="0" tIns="0" rIns="0" bIns="0" rtlCol="0" anchor="t"/>
          <a:lstStyle/>
          <a:p>
            <a:pPr indent="0" marL="0">
              <a:buNone/>
            </a:pPr>
            <a:r>
              <a:rPr lang="en-US" sz="1400" dirty="0">
                <a:solidFill>
                  <a:schemeClr val="tx2"/>
                </a:solidFill>
              </a:rPr>
              <a:t>An agent in your terminal that can add features and fix bugs</a:t>
            </a:r>
            <a:endParaRPr lang="en-US" sz="1400" dirty="0"/>
          </a:p>
        </p:txBody>
      </p:sp>
      <p:sp>
        <p:nvSpPr>
          <p:cNvPr id="20" name="card-298"/>
          <p:cNvSpPr/>
          <p:nvPr/>
        </p:nvSpPr>
        <p:spPr>
          <a:xfrm>
            <a:off x="548640" y="4023360"/>
            <a:ext cx="3515258" cy="1828800"/>
          </a:xfrm>
          <a:prstGeom prst="roundRect">
            <a:avLst>
              <a:gd name="adj" fmla="val 4500"/>
            </a:avLst>
          </a:prstGeom>
          <a:solidFill>
            <a:schemeClr val="bg2"/>
          </a:solidFill>
          <a:ln/>
        </p:spPr>
      </p:sp>
      <p:sp>
        <p:nvSpPr>
          <p:cNvPr id="21" name="tile-299"/>
          <p:cNvSpPr/>
          <p:nvPr/>
        </p:nvSpPr>
        <p:spPr>
          <a:xfrm>
            <a:off x="822960" y="4297680"/>
            <a:ext cx="530352" cy="530352"/>
          </a:xfrm>
          <a:prstGeom prst="roundRect">
            <a:avLst>
              <a:gd name="adj" fmla="val 15517"/>
            </a:avLst>
          </a:prstGeom>
          <a:solidFill>
            <a:schemeClr val="accent5"/>
          </a:solidFill>
          <a:ln/>
        </p:spPr>
      </p:sp>
      <p:pic>
        <p:nvPicPr>
          <p:cNvPr id="22" name="icon-300" descr="preencoded.png">    </p:cNvPr>
          <p:cNvPicPr>
            <a:picLocks noChangeAspect="1"/>
          </p:cNvPicPr>
          <p:nvPr/>
        </p:nvPicPr>
        <p:blipFill>
          <a:blip r:embed="rId4"/>
          <a:stretch>
            <a:fillRect/>
          </a:stretch>
        </p:blipFill>
        <p:spPr>
          <a:xfrm>
            <a:off x="955548" y="4430268"/>
            <a:ext cx="265176" cy="265176"/>
          </a:xfrm>
          <a:prstGeom prst="rect">
            <a:avLst/>
          </a:prstGeom>
        </p:spPr>
      </p:pic>
      <p:sp>
        <p:nvSpPr>
          <p:cNvPr id="23" name="text-301"/>
          <p:cNvSpPr txBox="1"/>
          <p:nvPr/>
        </p:nvSpPr>
        <p:spPr>
          <a:xfrm>
            <a:off x="1536192" y="42976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Copilot code review</a:t>
            </a:r>
            <a:endParaRPr lang="en-US" sz="1800" dirty="0"/>
          </a:p>
        </p:txBody>
      </p:sp>
      <p:sp>
        <p:nvSpPr>
          <p:cNvPr id="24" name="text-302"/>
          <p:cNvSpPr txBox="1"/>
          <p:nvPr/>
        </p:nvSpPr>
        <p:spPr>
          <a:xfrm>
            <a:off x="822960" y="5010912"/>
            <a:ext cx="2966618" cy="749808"/>
          </a:xfrm>
          <a:prstGeom prst="rect">
            <a:avLst/>
          </a:prstGeom>
          <a:noFill/>
          <a:ln/>
        </p:spPr>
        <p:txBody>
          <a:bodyPr wrap="square" lIns="0" tIns="0" rIns="0" bIns="0" rtlCol="0" anchor="t"/>
          <a:lstStyle/>
          <a:p>
            <a:pPr indent="0" marL="0">
              <a:buNone/>
            </a:pPr>
            <a:r>
              <a:rPr lang="en-US" sz="1400" dirty="0">
                <a:solidFill>
                  <a:schemeClr val="tx2"/>
                </a:solidFill>
              </a:rPr>
              <a:t>Reviews code and suggests improvements</a:t>
            </a:r>
            <a:endParaRPr lang="en-US" sz="1400" dirty="0"/>
          </a:p>
        </p:txBody>
      </p:sp>
      <p:sp>
        <p:nvSpPr>
          <p:cNvPr id="25" name="card-303"/>
          <p:cNvSpPr/>
          <p:nvPr/>
        </p:nvSpPr>
        <p:spPr>
          <a:xfrm>
            <a:off x="4338218" y="4023360"/>
            <a:ext cx="3515258" cy="1828800"/>
          </a:xfrm>
          <a:prstGeom prst="roundRect">
            <a:avLst>
              <a:gd name="adj" fmla="val 4500"/>
            </a:avLst>
          </a:prstGeom>
          <a:solidFill>
            <a:schemeClr val="bg2"/>
          </a:solidFill>
          <a:ln/>
        </p:spPr>
      </p:sp>
      <p:sp>
        <p:nvSpPr>
          <p:cNvPr id="26" name="tile-304"/>
          <p:cNvSpPr/>
          <p:nvPr/>
        </p:nvSpPr>
        <p:spPr>
          <a:xfrm>
            <a:off x="4612538" y="4297680"/>
            <a:ext cx="530352" cy="530352"/>
          </a:xfrm>
          <a:prstGeom prst="roundRect">
            <a:avLst>
              <a:gd name="adj" fmla="val 15517"/>
            </a:avLst>
          </a:prstGeom>
          <a:solidFill>
            <a:schemeClr val="accent5"/>
          </a:solidFill>
          <a:ln/>
        </p:spPr>
      </p:sp>
      <p:pic>
        <p:nvPicPr>
          <p:cNvPr id="27" name="icon-305" descr="preencoded.png">    </p:cNvPr>
          <p:cNvPicPr>
            <a:picLocks noChangeAspect="1"/>
          </p:cNvPicPr>
          <p:nvPr/>
        </p:nvPicPr>
        <p:blipFill>
          <a:blip r:embed="rId5"/>
          <a:stretch>
            <a:fillRect/>
          </a:stretch>
        </p:blipFill>
        <p:spPr>
          <a:xfrm>
            <a:off x="4745126" y="4430268"/>
            <a:ext cx="265176" cy="265176"/>
          </a:xfrm>
          <a:prstGeom prst="rect">
            <a:avLst/>
          </a:prstGeom>
        </p:spPr>
      </p:pic>
      <p:sp>
        <p:nvSpPr>
          <p:cNvPr id="28" name="text-306"/>
          <p:cNvSpPr txBox="1"/>
          <p:nvPr/>
        </p:nvSpPr>
        <p:spPr>
          <a:xfrm>
            <a:off x="5325770" y="42976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GitHub Copilot app</a:t>
            </a:r>
            <a:endParaRPr lang="en-US" sz="1800" dirty="0"/>
          </a:p>
        </p:txBody>
      </p:sp>
      <p:sp>
        <p:nvSpPr>
          <p:cNvPr id="29" name="text-307"/>
          <p:cNvSpPr txBox="1"/>
          <p:nvPr/>
        </p:nvSpPr>
        <p:spPr>
          <a:xfrm>
            <a:off x="4612538" y="5010912"/>
            <a:ext cx="2966618" cy="749808"/>
          </a:xfrm>
          <a:prstGeom prst="rect">
            <a:avLst/>
          </a:prstGeom>
          <a:noFill/>
          <a:ln/>
        </p:spPr>
        <p:txBody>
          <a:bodyPr wrap="square" lIns="0" tIns="0" rIns="0" bIns="0" rtlCol="0" anchor="t"/>
          <a:lstStyle/>
          <a:p>
            <a:pPr indent="0" marL="0">
              <a:buNone/>
            </a:pPr>
            <a:r>
              <a:rPr lang="en-US" sz="1400" dirty="0">
                <a:solidFill>
                  <a:schemeClr val="tx2"/>
                </a:solidFill>
              </a:rPr>
              <a:t>A desktop app for running several agent sessions in parallel</a:t>
            </a:r>
            <a:endParaRPr lang="en-US" sz="1400" dirty="0"/>
          </a:p>
        </p:txBody>
      </p:sp>
      <p:sp>
        <p:nvSpPr>
          <p:cNvPr id="30" name="card-308"/>
          <p:cNvSpPr/>
          <p:nvPr/>
        </p:nvSpPr>
        <p:spPr>
          <a:xfrm>
            <a:off x="8127797" y="4023360"/>
            <a:ext cx="3515258" cy="1828800"/>
          </a:xfrm>
          <a:prstGeom prst="roundRect">
            <a:avLst>
              <a:gd name="adj" fmla="val 4500"/>
            </a:avLst>
          </a:prstGeom>
          <a:solidFill>
            <a:schemeClr val="bg2"/>
          </a:solidFill>
          <a:ln/>
        </p:spPr>
      </p:sp>
      <p:sp>
        <p:nvSpPr>
          <p:cNvPr id="31" name="tile-309"/>
          <p:cNvSpPr/>
          <p:nvPr/>
        </p:nvSpPr>
        <p:spPr>
          <a:xfrm>
            <a:off x="8402117" y="4297680"/>
            <a:ext cx="530352" cy="530352"/>
          </a:xfrm>
          <a:prstGeom prst="roundRect">
            <a:avLst>
              <a:gd name="adj" fmla="val 15517"/>
            </a:avLst>
          </a:prstGeom>
          <a:solidFill>
            <a:schemeClr val="accent5"/>
          </a:solidFill>
          <a:ln/>
        </p:spPr>
      </p:sp>
      <p:pic>
        <p:nvPicPr>
          <p:cNvPr id="32" name="icon-310" descr="preencoded.png">    </p:cNvPr>
          <p:cNvPicPr>
            <a:picLocks noChangeAspect="1"/>
          </p:cNvPicPr>
          <p:nvPr/>
        </p:nvPicPr>
        <p:blipFill>
          <a:blip r:embed="rId6"/>
          <a:stretch>
            <a:fillRect/>
          </a:stretch>
        </p:blipFill>
        <p:spPr>
          <a:xfrm>
            <a:off x="8534705" y="4430268"/>
            <a:ext cx="265176" cy="265176"/>
          </a:xfrm>
          <a:prstGeom prst="rect">
            <a:avLst/>
          </a:prstGeom>
        </p:spPr>
      </p:pic>
      <p:sp>
        <p:nvSpPr>
          <p:cNvPr id="33" name="text-311"/>
          <p:cNvSpPr txBox="1"/>
          <p:nvPr/>
        </p:nvSpPr>
        <p:spPr>
          <a:xfrm>
            <a:off x="9115349" y="42976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Third-party agents</a:t>
            </a:r>
            <a:endParaRPr lang="en-US" sz="1800" dirty="0"/>
          </a:p>
        </p:txBody>
      </p:sp>
      <p:sp>
        <p:nvSpPr>
          <p:cNvPr id="34" name="text-312"/>
          <p:cNvSpPr txBox="1"/>
          <p:nvPr/>
        </p:nvSpPr>
        <p:spPr>
          <a:xfrm>
            <a:off x="8402117" y="5010912"/>
            <a:ext cx="2966618" cy="749808"/>
          </a:xfrm>
          <a:prstGeom prst="rect">
            <a:avLst/>
          </a:prstGeom>
          <a:noFill/>
          <a:ln/>
        </p:spPr>
        <p:txBody>
          <a:bodyPr wrap="square" lIns="0" tIns="0" rIns="0" bIns="0" rtlCol="0" anchor="t"/>
          <a:lstStyle/>
          <a:p>
            <a:pPr indent="0" marL="0">
              <a:buNone/>
            </a:pPr>
            <a:r>
              <a:rPr lang="en-US" sz="1400" dirty="0">
                <a:solidFill>
                  <a:schemeClr val="tx2"/>
                </a:solidFill>
              </a:rPr>
              <a:t>Other companies' coding agents beside Copilot; a public preview</a:t>
            </a:r>
            <a:endParaRPr lang="en-US" sz="1400" dirty="0"/>
          </a:p>
        </p:txBody>
      </p:sp>
      <p:sp>
        <p:nvSpPr>
          <p:cNvPr id="35" name="text-313"/>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GitHub Docs, GitHub Copilot features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node-314"/>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The cloud agent turns an issue into a pull request</a:t>
            </a:r>
            <a:endParaRPr lang="en-US" sz="3000" dirty="0"/>
          </a:p>
        </p:txBody>
      </p:sp>
      <p:sp>
        <p:nvSpPr>
          <p:cNvPr id="5" name="card-315"/>
          <p:cNvSpPr/>
          <p:nvPr/>
        </p:nvSpPr>
        <p:spPr>
          <a:xfrm>
            <a:off x="548640" y="1920240"/>
            <a:ext cx="2468880" cy="2743200"/>
          </a:xfrm>
          <a:prstGeom prst="roundRect">
            <a:avLst>
              <a:gd name="adj" fmla="val 3333"/>
            </a:avLst>
          </a:prstGeom>
          <a:solidFill>
            <a:schemeClr val="bg2"/>
          </a:solidFill>
          <a:ln/>
        </p:spPr>
      </p:sp>
      <p:sp>
        <p:nvSpPr>
          <p:cNvPr id="6" name="text-316"/>
          <p:cNvSpPr txBox="1"/>
          <p:nvPr/>
        </p:nvSpPr>
        <p:spPr>
          <a:xfrm>
            <a:off x="804672" y="219456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01</a:t>
            </a:r>
            <a:endParaRPr lang="en-US" sz="2600" dirty="0"/>
          </a:p>
        </p:txBody>
      </p:sp>
      <p:sp>
        <p:nvSpPr>
          <p:cNvPr id="7" name="tile-317"/>
          <p:cNvSpPr/>
          <p:nvPr/>
        </p:nvSpPr>
        <p:spPr>
          <a:xfrm>
            <a:off x="2231136" y="2176272"/>
            <a:ext cx="530352" cy="530352"/>
          </a:xfrm>
          <a:prstGeom prst="roundRect">
            <a:avLst>
              <a:gd name="adj" fmla="val 15517"/>
            </a:avLst>
          </a:prstGeom>
          <a:solidFill>
            <a:schemeClr val="accent5"/>
          </a:solidFill>
          <a:ln/>
        </p:spPr>
      </p:sp>
      <p:pic>
        <p:nvPicPr>
          <p:cNvPr id="8" name="icon-318" descr="preencoded.png">    </p:cNvPr>
          <p:cNvPicPr>
            <a:picLocks noChangeAspect="1"/>
          </p:cNvPicPr>
          <p:nvPr/>
        </p:nvPicPr>
        <p:blipFill>
          <a:blip r:embed="rId1"/>
          <a:stretch>
            <a:fillRect/>
          </a:stretch>
        </p:blipFill>
        <p:spPr>
          <a:xfrm>
            <a:off x="2363724" y="2308860"/>
            <a:ext cx="265176" cy="265176"/>
          </a:xfrm>
          <a:prstGeom prst="rect">
            <a:avLst/>
          </a:prstGeom>
        </p:spPr>
      </p:pic>
      <p:sp>
        <p:nvSpPr>
          <p:cNvPr id="9" name="text-319"/>
          <p:cNvSpPr txBox="1"/>
          <p:nvPr/>
        </p:nvSpPr>
        <p:spPr>
          <a:xfrm>
            <a:off x="804672" y="2926080"/>
            <a:ext cx="2011680" cy="365760"/>
          </a:xfrm>
          <a:prstGeom prst="rect">
            <a:avLst/>
          </a:prstGeom>
          <a:noFill/>
          <a:ln/>
        </p:spPr>
        <p:txBody>
          <a:bodyPr wrap="square" lIns="0" tIns="0" rIns="0" bIns="0" rtlCol="0" anchor="t"/>
          <a:lstStyle/>
          <a:p>
            <a:pPr indent="0" marL="0">
              <a:buNone/>
            </a:pPr>
            <a:r>
              <a:rPr lang="en-US" sz="2000" b="1" dirty="0">
                <a:solidFill>
                  <a:schemeClr val="tx1"/>
                </a:solidFill>
              </a:rPr>
              <a:t>Assign</a:t>
            </a:r>
            <a:endParaRPr lang="en-US" sz="2000" dirty="0"/>
          </a:p>
        </p:txBody>
      </p:sp>
      <p:sp>
        <p:nvSpPr>
          <p:cNvPr id="10" name="text-320"/>
          <p:cNvSpPr txBox="1"/>
          <p:nvPr/>
        </p:nvSpPr>
        <p:spPr>
          <a:xfrm>
            <a:off x="804672" y="3383280"/>
            <a:ext cx="1993392" cy="1097280"/>
          </a:xfrm>
          <a:prstGeom prst="rect">
            <a:avLst/>
          </a:prstGeom>
          <a:noFill/>
          <a:ln/>
        </p:spPr>
        <p:txBody>
          <a:bodyPr wrap="square" lIns="0" tIns="0" rIns="0" bIns="0" rtlCol="0" anchor="t"/>
          <a:lstStyle/>
          <a:p>
            <a:pPr indent="0" marL="0">
              <a:buNone/>
            </a:pPr>
            <a:r>
              <a:rPr lang="en-US" sz="1400" dirty="0">
                <a:solidFill>
                  <a:schemeClr val="tx2"/>
                </a:solidFill>
              </a:rPr>
              <a:t>Assign a GitHub issue to Copilot, or describe the task</a:t>
            </a:r>
            <a:endParaRPr lang="en-US" sz="1400" dirty="0"/>
          </a:p>
        </p:txBody>
      </p:sp>
      <p:pic>
        <p:nvPicPr>
          <p:cNvPr id="11" name="chevron-321" descr="preencoded.png">    </p:cNvPr>
          <p:cNvPicPr>
            <a:picLocks noChangeAspect="1"/>
          </p:cNvPicPr>
          <p:nvPr/>
        </p:nvPicPr>
        <p:blipFill>
          <a:blip r:embed="rId2"/>
          <a:stretch>
            <a:fillRect/>
          </a:stretch>
        </p:blipFill>
        <p:spPr>
          <a:xfrm>
            <a:off x="3092653" y="3163824"/>
            <a:ext cx="256032" cy="256032"/>
          </a:xfrm>
          <a:prstGeom prst="rect">
            <a:avLst/>
          </a:prstGeom>
        </p:spPr>
      </p:pic>
      <p:sp>
        <p:nvSpPr>
          <p:cNvPr id="12" name="card-322"/>
          <p:cNvSpPr/>
          <p:nvPr/>
        </p:nvSpPr>
        <p:spPr>
          <a:xfrm>
            <a:off x="3423818" y="1920240"/>
            <a:ext cx="2468880" cy="2743200"/>
          </a:xfrm>
          <a:prstGeom prst="roundRect">
            <a:avLst>
              <a:gd name="adj" fmla="val 3333"/>
            </a:avLst>
          </a:prstGeom>
          <a:solidFill>
            <a:schemeClr val="bg2"/>
          </a:solidFill>
          <a:ln/>
        </p:spPr>
      </p:sp>
      <p:sp>
        <p:nvSpPr>
          <p:cNvPr id="13" name="text-323"/>
          <p:cNvSpPr txBox="1"/>
          <p:nvPr/>
        </p:nvSpPr>
        <p:spPr>
          <a:xfrm>
            <a:off x="3679850" y="219456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02</a:t>
            </a:r>
            <a:endParaRPr lang="en-US" sz="2600" dirty="0"/>
          </a:p>
        </p:txBody>
      </p:sp>
      <p:sp>
        <p:nvSpPr>
          <p:cNvPr id="14" name="tile-324"/>
          <p:cNvSpPr/>
          <p:nvPr/>
        </p:nvSpPr>
        <p:spPr>
          <a:xfrm>
            <a:off x="5106314" y="2176272"/>
            <a:ext cx="530352" cy="530352"/>
          </a:xfrm>
          <a:prstGeom prst="roundRect">
            <a:avLst>
              <a:gd name="adj" fmla="val 15517"/>
            </a:avLst>
          </a:prstGeom>
          <a:solidFill>
            <a:schemeClr val="accent5"/>
          </a:solidFill>
          <a:ln/>
        </p:spPr>
      </p:sp>
      <p:pic>
        <p:nvPicPr>
          <p:cNvPr id="15" name="icon-325" descr="preencoded.png">    </p:cNvPr>
          <p:cNvPicPr>
            <a:picLocks noChangeAspect="1"/>
          </p:cNvPicPr>
          <p:nvPr/>
        </p:nvPicPr>
        <p:blipFill>
          <a:blip r:embed="rId3"/>
          <a:stretch>
            <a:fillRect/>
          </a:stretch>
        </p:blipFill>
        <p:spPr>
          <a:xfrm>
            <a:off x="5238902" y="2308860"/>
            <a:ext cx="265176" cy="265176"/>
          </a:xfrm>
          <a:prstGeom prst="rect">
            <a:avLst/>
          </a:prstGeom>
        </p:spPr>
      </p:pic>
      <p:sp>
        <p:nvSpPr>
          <p:cNvPr id="16" name="text-326"/>
          <p:cNvSpPr txBox="1"/>
          <p:nvPr/>
        </p:nvSpPr>
        <p:spPr>
          <a:xfrm>
            <a:off x="3679850" y="2926080"/>
            <a:ext cx="2011680" cy="365760"/>
          </a:xfrm>
          <a:prstGeom prst="rect">
            <a:avLst/>
          </a:prstGeom>
          <a:noFill/>
          <a:ln/>
        </p:spPr>
        <p:txBody>
          <a:bodyPr wrap="square" lIns="0" tIns="0" rIns="0" bIns="0" rtlCol="0" anchor="t"/>
          <a:lstStyle/>
          <a:p>
            <a:pPr indent="0" marL="0">
              <a:buNone/>
            </a:pPr>
            <a:r>
              <a:rPr lang="en-US" sz="2000" b="1" dirty="0">
                <a:solidFill>
                  <a:schemeClr val="tx1"/>
                </a:solidFill>
              </a:rPr>
              <a:t>Research</a:t>
            </a:r>
            <a:endParaRPr lang="en-US" sz="2000" dirty="0"/>
          </a:p>
        </p:txBody>
      </p:sp>
      <p:sp>
        <p:nvSpPr>
          <p:cNvPr id="17" name="text-327"/>
          <p:cNvSpPr txBox="1"/>
          <p:nvPr/>
        </p:nvSpPr>
        <p:spPr>
          <a:xfrm>
            <a:off x="3679850" y="3383280"/>
            <a:ext cx="1993392" cy="1097280"/>
          </a:xfrm>
          <a:prstGeom prst="rect">
            <a:avLst/>
          </a:prstGeom>
          <a:noFill/>
          <a:ln/>
        </p:spPr>
        <p:txBody>
          <a:bodyPr wrap="square" lIns="0" tIns="0" rIns="0" bIns="0" rtlCol="0" anchor="t"/>
          <a:lstStyle/>
          <a:p>
            <a:pPr indent="0" marL="0">
              <a:buNone/>
            </a:pPr>
            <a:r>
              <a:rPr lang="en-US" sz="1400" dirty="0">
                <a:solidFill>
                  <a:schemeClr val="tx2"/>
                </a:solidFill>
              </a:rPr>
              <a:t>It studies the repository and writes an implementation plan</a:t>
            </a:r>
            <a:endParaRPr lang="en-US" sz="1400" dirty="0"/>
          </a:p>
        </p:txBody>
      </p:sp>
      <p:pic>
        <p:nvPicPr>
          <p:cNvPr id="18" name="chevron-328" descr="preencoded.png">    </p:cNvPr>
          <p:cNvPicPr>
            <a:picLocks noChangeAspect="1"/>
          </p:cNvPicPr>
          <p:nvPr/>
        </p:nvPicPr>
        <p:blipFill>
          <a:blip r:embed="rId4"/>
          <a:stretch>
            <a:fillRect/>
          </a:stretch>
        </p:blipFill>
        <p:spPr>
          <a:xfrm>
            <a:off x="5967832" y="3163824"/>
            <a:ext cx="256032" cy="256032"/>
          </a:xfrm>
          <a:prstGeom prst="rect">
            <a:avLst/>
          </a:prstGeom>
        </p:spPr>
      </p:pic>
      <p:sp>
        <p:nvSpPr>
          <p:cNvPr id="19" name="card-329"/>
          <p:cNvSpPr/>
          <p:nvPr/>
        </p:nvSpPr>
        <p:spPr>
          <a:xfrm>
            <a:off x="6298997" y="1920240"/>
            <a:ext cx="2468880" cy="2743200"/>
          </a:xfrm>
          <a:prstGeom prst="roundRect">
            <a:avLst>
              <a:gd name="adj" fmla="val 3333"/>
            </a:avLst>
          </a:prstGeom>
          <a:solidFill>
            <a:schemeClr val="bg2"/>
          </a:solidFill>
          <a:ln/>
        </p:spPr>
      </p:sp>
      <p:sp>
        <p:nvSpPr>
          <p:cNvPr id="20" name="text-330"/>
          <p:cNvSpPr txBox="1"/>
          <p:nvPr/>
        </p:nvSpPr>
        <p:spPr>
          <a:xfrm>
            <a:off x="6555029" y="219456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03</a:t>
            </a:r>
            <a:endParaRPr lang="en-US" sz="2600" dirty="0"/>
          </a:p>
        </p:txBody>
      </p:sp>
      <p:sp>
        <p:nvSpPr>
          <p:cNvPr id="21" name="tile-331"/>
          <p:cNvSpPr/>
          <p:nvPr/>
        </p:nvSpPr>
        <p:spPr>
          <a:xfrm>
            <a:off x="7981493" y="2176272"/>
            <a:ext cx="530352" cy="530352"/>
          </a:xfrm>
          <a:prstGeom prst="roundRect">
            <a:avLst>
              <a:gd name="adj" fmla="val 15517"/>
            </a:avLst>
          </a:prstGeom>
          <a:solidFill>
            <a:schemeClr val="accent5"/>
          </a:solidFill>
          <a:ln/>
        </p:spPr>
      </p:sp>
      <p:pic>
        <p:nvPicPr>
          <p:cNvPr id="22" name="icon-332" descr="preencoded.png">    </p:cNvPr>
          <p:cNvPicPr>
            <a:picLocks noChangeAspect="1"/>
          </p:cNvPicPr>
          <p:nvPr/>
        </p:nvPicPr>
        <p:blipFill>
          <a:blip r:embed="rId5"/>
          <a:stretch>
            <a:fillRect/>
          </a:stretch>
        </p:blipFill>
        <p:spPr>
          <a:xfrm>
            <a:off x="8114081" y="2308860"/>
            <a:ext cx="265176" cy="265176"/>
          </a:xfrm>
          <a:prstGeom prst="rect">
            <a:avLst/>
          </a:prstGeom>
        </p:spPr>
      </p:pic>
      <p:sp>
        <p:nvSpPr>
          <p:cNvPr id="23" name="text-333"/>
          <p:cNvSpPr txBox="1"/>
          <p:nvPr/>
        </p:nvSpPr>
        <p:spPr>
          <a:xfrm>
            <a:off x="6555029" y="2926080"/>
            <a:ext cx="2011680" cy="365760"/>
          </a:xfrm>
          <a:prstGeom prst="rect">
            <a:avLst/>
          </a:prstGeom>
          <a:noFill/>
          <a:ln/>
        </p:spPr>
        <p:txBody>
          <a:bodyPr wrap="square" lIns="0" tIns="0" rIns="0" bIns="0" rtlCol="0" anchor="t"/>
          <a:lstStyle/>
          <a:p>
            <a:pPr indent="0" marL="0">
              <a:buNone/>
            </a:pPr>
            <a:r>
              <a:rPr lang="en-US" sz="2000" b="1" dirty="0">
                <a:solidFill>
                  <a:schemeClr val="tx1"/>
                </a:solidFill>
              </a:rPr>
              <a:t>Change</a:t>
            </a:r>
            <a:endParaRPr lang="en-US" sz="2000" dirty="0"/>
          </a:p>
        </p:txBody>
      </p:sp>
      <p:sp>
        <p:nvSpPr>
          <p:cNvPr id="24" name="text-334"/>
          <p:cNvSpPr txBox="1"/>
          <p:nvPr/>
        </p:nvSpPr>
        <p:spPr>
          <a:xfrm>
            <a:off x="6555029" y="3383280"/>
            <a:ext cx="1993392" cy="1097280"/>
          </a:xfrm>
          <a:prstGeom prst="rect">
            <a:avLst/>
          </a:prstGeom>
          <a:noFill/>
          <a:ln/>
        </p:spPr>
        <p:txBody>
          <a:bodyPr wrap="square" lIns="0" tIns="0" rIns="0" bIns="0" rtlCol="0" anchor="t"/>
          <a:lstStyle/>
          <a:p>
            <a:pPr indent="0" marL="0">
              <a:buNone/>
            </a:pPr>
            <a:r>
              <a:rPr lang="en-US" sz="1400" dirty="0">
                <a:solidFill>
                  <a:schemeClr val="tx2"/>
                </a:solidFill>
              </a:rPr>
              <a:t>It makes the code changes on a separate branch</a:t>
            </a:r>
            <a:endParaRPr lang="en-US" sz="1400" dirty="0"/>
          </a:p>
        </p:txBody>
      </p:sp>
      <p:pic>
        <p:nvPicPr>
          <p:cNvPr id="25" name="chevron-335" descr="preencoded.png">    </p:cNvPr>
          <p:cNvPicPr>
            <a:picLocks noChangeAspect="1"/>
          </p:cNvPicPr>
          <p:nvPr/>
        </p:nvPicPr>
        <p:blipFill>
          <a:blip r:embed="rId6"/>
          <a:stretch>
            <a:fillRect/>
          </a:stretch>
        </p:blipFill>
        <p:spPr>
          <a:xfrm>
            <a:off x="8843010" y="3163824"/>
            <a:ext cx="256032" cy="256032"/>
          </a:xfrm>
          <a:prstGeom prst="rect">
            <a:avLst/>
          </a:prstGeom>
        </p:spPr>
      </p:pic>
      <p:sp>
        <p:nvSpPr>
          <p:cNvPr id="26" name="card-336"/>
          <p:cNvSpPr/>
          <p:nvPr/>
        </p:nvSpPr>
        <p:spPr>
          <a:xfrm>
            <a:off x="9174175" y="1920240"/>
            <a:ext cx="2468880" cy="2743200"/>
          </a:xfrm>
          <a:prstGeom prst="roundRect">
            <a:avLst>
              <a:gd name="adj" fmla="val 3333"/>
            </a:avLst>
          </a:prstGeom>
          <a:solidFill>
            <a:schemeClr val="accent5"/>
          </a:solidFill>
          <a:ln/>
        </p:spPr>
      </p:sp>
      <p:sp>
        <p:nvSpPr>
          <p:cNvPr id="27" name="text-337"/>
          <p:cNvSpPr txBox="1"/>
          <p:nvPr/>
        </p:nvSpPr>
        <p:spPr>
          <a:xfrm>
            <a:off x="9430207" y="2194560"/>
            <a:ext cx="914400" cy="45720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04</a:t>
            </a:r>
            <a:endParaRPr lang="en-US" sz="2600" dirty="0"/>
          </a:p>
        </p:txBody>
      </p:sp>
      <p:sp>
        <p:nvSpPr>
          <p:cNvPr id="28" name="tile-338"/>
          <p:cNvSpPr/>
          <p:nvPr/>
        </p:nvSpPr>
        <p:spPr>
          <a:xfrm>
            <a:off x="10856671" y="2176272"/>
            <a:ext cx="530352" cy="530352"/>
          </a:xfrm>
          <a:prstGeom prst="roundRect">
            <a:avLst>
              <a:gd name="adj" fmla="val 15517"/>
            </a:avLst>
          </a:prstGeom>
          <a:solidFill>
            <a:schemeClr val="bg1"/>
          </a:solidFill>
          <a:ln/>
        </p:spPr>
      </p:sp>
      <p:pic>
        <p:nvPicPr>
          <p:cNvPr id="29" name="icon-339" descr="preencoded.png">    </p:cNvPr>
          <p:cNvPicPr>
            <a:picLocks noChangeAspect="1"/>
          </p:cNvPicPr>
          <p:nvPr/>
        </p:nvPicPr>
        <p:blipFill>
          <a:blip r:embed="rId7"/>
          <a:stretch>
            <a:fillRect/>
          </a:stretch>
        </p:blipFill>
        <p:spPr>
          <a:xfrm>
            <a:off x="10989259" y="2308860"/>
            <a:ext cx="265176" cy="265176"/>
          </a:xfrm>
          <a:prstGeom prst="rect">
            <a:avLst/>
          </a:prstGeom>
        </p:spPr>
      </p:pic>
      <p:sp>
        <p:nvSpPr>
          <p:cNvPr id="30" name="text-340"/>
          <p:cNvSpPr txBox="1"/>
          <p:nvPr/>
        </p:nvSpPr>
        <p:spPr>
          <a:xfrm>
            <a:off x="9430207" y="2926080"/>
            <a:ext cx="2011680" cy="365760"/>
          </a:xfrm>
          <a:prstGeom prst="rect">
            <a:avLst/>
          </a:prstGeom>
          <a:noFill/>
          <a:ln/>
        </p:spPr>
        <p:txBody>
          <a:bodyPr wrap="square" lIns="0" tIns="0" rIns="0" bIns="0" rtlCol="0" anchor="t"/>
          <a:lstStyle/>
          <a:p>
            <a:pPr indent="0" marL="0">
              <a:buNone/>
            </a:pPr>
            <a:r>
              <a:rPr lang="en-US" sz="2000" b="1" dirty="0">
                <a:solidFill>
                  <a:schemeClr val="tx1"/>
                </a:solidFill>
              </a:rPr>
              <a:t>Review</a:t>
            </a:r>
            <a:endParaRPr lang="en-US" sz="2000" dirty="0"/>
          </a:p>
        </p:txBody>
      </p:sp>
      <p:sp>
        <p:nvSpPr>
          <p:cNvPr id="31" name="text-341"/>
          <p:cNvSpPr txBox="1"/>
          <p:nvPr/>
        </p:nvSpPr>
        <p:spPr>
          <a:xfrm>
            <a:off x="9430207" y="3383280"/>
            <a:ext cx="1993392" cy="1097280"/>
          </a:xfrm>
          <a:prstGeom prst="rect">
            <a:avLst/>
          </a:prstGeom>
          <a:noFill/>
          <a:ln/>
        </p:spPr>
        <p:txBody>
          <a:bodyPr wrap="square" lIns="0" tIns="0" rIns="0" bIns="0" rtlCol="0" anchor="t"/>
          <a:lstStyle/>
          <a:p>
            <a:pPr indent="0" marL="0">
              <a:buNone/>
            </a:pPr>
            <a:r>
              <a:rPr lang="en-US" sz="1400" dirty="0">
                <a:solidFill>
                  <a:schemeClr val="tx2"/>
                </a:solidFill>
              </a:rPr>
              <a:t>You read the diff, ask for changes, then create a pull request</a:t>
            </a:r>
            <a:endParaRPr lang="en-US" sz="1400" dirty="0"/>
          </a:p>
        </p:txBody>
      </p:sp>
      <p:sp>
        <p:nvSpPr>
          <p:cNvPr id="32" name="card-342"/>
          <p:cNvSpPr/>
          <p:nvPr/>
        </p:nvSpPr>
        <p:spPr>
          <a:xfrm>
            <a:off x="548640" y="4937760"/>
            <a:ext cx="11094415" cy="685800"/>
          </a:xfrm>
          <a:prstGeom prst="roundRect">
            <a:avLst>
              <a:gd name="adj" fmla="val 12000"/>
            </a:avLst>
          </a:prstGeom>
          <a:solidFill>
            <a:schemeClr val="accent5"/>
          </a:solidFill>
          <a:ln/>
        </p:spPr>
      </p:sp>
      <p:sp>
        <p:nvSpPr>
          <p:cNvPr id="33" name="tile-343"/>
          <p:cNvSpPr/>
          <p:nvPr/>
        </p:nvSpPr>
        <p:spPr>
          <a:xfrm>
            <a:off x="685800" y="5079492"/>
            <a:ext cx="402336" cy="402336"/>
          </a:xfrm>
          <a:prstGeom prst="roundRect">
            <a:avLst>
              <a:gd name="adj" fmla="val 20455"/>
            </a:avLst>
          </a:prstGeom>
          <a:solidFill>
            <a:schemeClr val="bg1"/>
          </a:solidFill>
          <a:ln/>
        </p:spPr>
      </p:sp>
      <p:pic>
        <p:nvPicPr>
          <p:cNvPr id="34" name="icon-344" descr="preencoded.png">    </p:cNvPr>
          <p:cNvPicPr>
            <a:picLocks noChangeAspect="1"/>
          </p:cNvPicPr>
          <p:nvPr/>
        </p:nvPicPr>
        <p:blipFill>
          <a:blip r:embed="rId8"/>
          <a:stretch>
            <a:fillRect/>
          </a:stretch>
        </p:blipFill>
        <p:spPr>
          <a:xfrm>
            <a:off x="786384" y="5180076"/>
            <a:ext cx="201168" cy="201168"/>
          </a:xfrm>
          <a:prstGeom prst="rect">
            <a:avLst/>
          </a:prstGeom>
        </p:spPr>
      </p:pic>
      <p:sp>
        <p:nvSpPr>
          <p:cNvPr id="35" name="text-345"/>
          <p:cNvSpPr txBox="1"/>
          <p:nvPr/>
        </p:nvSpPr>
        <p:spPr>
          <a:xfrm>
            <a:off x="1261872" y="4937760"/>
            <a:ext cx="10198303" cy="685800"/>
          </a:xfrm>
          <a:prstGeom prst="rect">
            <a:avLst/>
          </a:prstGeom>
          <a:noFill/>
          <a:ln/>
        </p:spPr>
        <p:txBody>
          <a:bodyPr wrap="square" lIns="0" tIns="0" rIns="0" bIns="0" rtlCol="0" anchor="ctr"/>
          <a:lstStyle/>
          <a:p>
            <a:pPr indent="0" marL="0">
              <a:buNone/>
            </a:pPr>
            <a:r>
              <a:rPr lang="en-US" sz="1400" dirty="0">
                <a:solidFill>
                  <a:schemeClr val="tx1"/>
                </a:solidFill>
              </a:rPr>
              <a:t>It works in a cloud environment powered by GitHub Actions, not on your computer.</a:t>
            </a:r>
            <a:endParaRPr lang="en-US" sz="1400" dirty="0"/>
          </a:p>
        </p:txBody>
      </p:sp>
      <p:sp>
        <p:nvSpPr>
          <p:cNvPr id="36" name="text-346"/>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GitHub Docs, GitHub Copilot features; Wikipedia. Third-party guides report that the cloud agent needs a paid plan.</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node-347"/>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features tailor Copilot to your project</a:t>
            </a:r>
            <a:endParaRPr lang="en-US" sz="3000" dirty="0"/>
          </a:p>
        </p:txBody>
      </p:sp>
      <p:sp>
        <p:nvSpPr>
          <p:cNvPr id="5" name="card-348"/>
          <p:cNvSpPr/>
          <p:nvPr/>
        </p:nvSpPr>
        <p:spPr>
          <a:xfrm>
            <a:off x="548640" y="1920240"/>
            <a:ext cx="5396332" cy="1143000"/>
          </a:xfrm>
          <a:prstGeom prst="roundRect">
            <a:avLst>
              <a:gd name="adj" fmla="val 7200"/>
            </a:avLst>
          </a:prstGeom>
          <a:solidFill>
            <a:schemeClr val="bg2"/>
          </a:solidFill>
          <a:ln/>
        </p:spPr>
      </p:sp>
      <p:sp>
        <p:nvSpPr>
          <p:cNvPr id="6" name="tile-349"/>
          <p:cNvSpPr/>
          <p:nvPr/>
        </p:nvSpPr>
        <p:spPr>
          <a:xfrm>
            <a:off x="822960" y="2212848"/>
            <a:ext cx="548640" cy="548640"/>
          </a:xfrm>
          <a:prstGeom prst="roundRect">
            <a:avLst>
              <a:gd name="adj" fmla="val 15000"/>
            </a:avLst>
          </a:prstGeom>
          <a:solidFill>
            <a:schemeClr val="accent5"/>
          </a:solidFill>
          <a:ln/>
        </p:spPr>
      </p:sp>
      <p:pic>
        <p:nvPicPr>
          <p:cNvPr id="7" name="icon-350" descr="preencoded.png">    </p:cNvPr>
          <p:cNvPicPr>
            <a:picLocks noChangeAspect="1"/>
          </p:cNvPicPr>
          <p:nvPr/>
        </p:nvPicPr>
        <p:blipFill>
          <a:blip r:embed="rId1"/>
          <a:stretch>
            <a:fillRect/>
          </a:stretch>
        </p:blipFill>
        <p:spPr>
          <a:xfrm>
            <a:off x="960120" y="2350008"/>
            <a:ext cx="274320" cy="274320"/>
          </a:xfrm>
          <a:prstGeom prst="rect">
            <a:avLst/>
          </a:prstGeom>
        </p:spPr>
      </p:pic>
      <p:sp>
        <p:nvSpPr>
          <p:cNvPr id="8" name="text-351"/>
          <p:cNvSpPr txBox="1"/>
          <p:nvPr/>
        </p:nvSpPr>
        <p:spPr>
          <a:xfrm>
            <a:off x="1600200" y="2075688"/>
            <a:ext cx="4116172" cy="320040"/>
          </a:xfrm>
          <a:prstGeom prst="rect">
            <a:avLst/>
          </a:prstGeom>
          <a:noFill/>
          <a:ln/>
        </p:spPr>
        <p:txBody>
          <a:bodyPr wrap="square" lIns="0" tIns="0" rIns="0" bIns="0" rtlCol="0" anchor="t"/>
          <a:lstStyle/>
          <a:p>
            <a:pPr indent="0" marL="0">
              <a:buNone/>
            </a:pPr>
            <a:r>
              <a:rPr lang="en-US" sz="1800" b="1" dirty="0">
                <a:solidFill>
                  <a:schemeClr val="tx1"/>
                </a:solidFill>
              </a:rPr>
              <a:t>Custom instructions</a:t>
            </a:r>
            <a:endParaRPr lang="en-US" sz="1800" dirty="0"/>
          </a:p>
        </p:txBody>
      </p:sp>
      <p:sp>
        <p:nvSpPr>
          <p:cNvPr id="9" name="text-352"/>
          <p:cNvSpPr txBox="1"/>
          <p:nvPr/>
        </p:nvSpPr>
        <p:spPr>
          <a:xfrm>
            <a:off x="1600200" y="2423160"/>
            <a:ext cx="4116172" cy="548640"/>
          </a:xfrm>
          <a:prstGeom prst="rect">
            <a:avLst/>
          </a:prstGeom>
          <a:noFill/>
          <a:ln/>
        </p:spPr>
        <p:txBody>
          <a:bodyPr wrap="square" lIns="0" tIns="0" rIns="0" bIns="0" rtlCol="0" anchor="t"/>
          <a:lstStyle/>
          <a:p>
            <a:pPr indent="0" marL="0">
              <a:buNone/>
            </a:pPr>
            <a:r>
              <a:rPr lang="en-US" sz="1400" dirty="0">
                <a:solidFill>
                  <a:schemeClr val="tx2"/>
                </a:solidFill>
              </a:rPr>
              <a:t>Standing guidance on your preferences, tools and requirements</a:t>
            </a:r>
            <a:endParaRPr lang="en-US" sz="1400" dirty="0"/>
          </a:p>
        </p:txBody>
      </p:sp>
      <p:sp>
        <p:nvSpPr>
          <p:cNvPr id="10" name="card-353"/>
          <p:cNvSpPr/>
          <p:nvPr/>
        </p:nvSpPr>
        <p:spPr>
          <a:xfrm>
            <a:off x="548640" y="3200400"/>
            <a:ext cx="5396332" cy="1143000"/>
          </a:xfrm>
          <a:prstGeom prst="roundRect">
            <a:avLst>
              <a:gd name="adj" fmla="val 7200"/>
            </a:avLst>
          </a:prstGeom>
          <a:solidFill>
            <a:schemeClr val="bg2"/>
          </a:solidFill>
          <a:ln/>
        </p:spPr>
      </p:sp>
      <p:sp>
        <p:nvSpPr>
          <p:cNvPr id="11" name="tile-354"/>
          <p:cNvSpPr/>
          <p:nvPr/>
        </p:nvSpPr>
        <p:spPr>
          <a:xfrm>
            <a:off x="822960" y="3493008"/>
            <a:ext cx="548640" cy="548640"/>
          </a:xfrm>
          <a:prstGeom prst="roundRect">
            <a:avLst>
              <a:gd name="adj" fmla="val 15000"/>
            </a:avLst>
          </a:prstGeom>
          <a:solidFill>
            <a:schemeClr val="accent5"/>
          </a:solidFill>
          <a:ln/>
        </p:spPr>
      </p:sp>
      <p:pic>
        <p:nvPicPr>
          <p:cNvPr id="12" name="icon-355" descr="preencoded.png">    </p:cNvPr>
          <p:cNvPicPr>
            <a:picLocks noChangeAspect="1"/>
          </p:cNvPicPr>
          <p:nvPr/>
        </p:nvPicPr>
        <p:blipFill>
          <a:blip r:embed="rId2"/>
          <a:stretch>
            <a:fillRect/>
          </a:stretch>
        </p:blipFill>
        <p:spPr>
          <a:xfrm>
            <a:off x="960120" y="3630168"/>
            <a:ext cx="274320" cy="274320"/>
          </a:xfrm>
          <a:prstGeom prst="rect">
            <a:avLst/>
          </a:prstGeom>
        </p:spPr>
      </p:pic>
      <p:sp>
        <p:nvSpPr>
          <p:cNvPr id="13" name="text-356"/>
          <p:cNvSpPr txBox="1"/>
          <p:nvPr/>
        </p:nvSpPr>
        <p:spPr>
          <a:xfrm>
            <a:off x="1600200" y="3355848"/>
            <a:ext cx="4116172" cy="320040"/>
          </a:xfrm>
          <a:prstGeom prst="rect">
            <a:avLst/>
          </a:prstGeom>
          <a:noFill/>
          <a:ln/>
        </p:spPr>
        <p:txBody>
          <a:bodyPr wrap="square" lIns="0" tIns="0" rIns="0" bIns="0" rtlCol="0" anchor="t"/>
          <a:lstStyle/>
          <a:p>
            <a:pPr indent="0" marL="0">
              <a:buNone/>
            </a:pPr>
            <a:r>
              <a:rPr lang="en-US" sz="1800" b="1" dirty="0">
                <a:solidFill>
                  <a:schemeClr val="tx1"/>
                </a:solidFill>
              </a:rPr>
              <a:t>Prompt files</a:t>
            </a:r>
            <a:endParaRPr lang="en-US" sz="1800" dirty="0"/>
          </a:p>
        </p:txBody>
      </p:sp>
      <p:sp>
        <p:nvSpPr>
          <p:cNvPr id="14" name="text-357"/>
          <p:cNvSpPr txBox="1"/>
          <p:nvPr/>
        </p:nvSpPr>
        <p:spPr>
          <a:xfrm>
            <a:off x="1600200" y="3703320"/>
            <a:ext cx="4116172" cy="548640"/>
          </a:xfrm>
          <a:prstGeom prst="rect">
            <a:avLst/>
          </a:prstGeom>
          <a:noFill/>
          <a:ln/>
        </p:spPr>
        <p:txBody>
          <a:bodyPr wrap="square" lIns="0" tIns="0" rIns="0" bIns="0" rtlCol="0" anchor="t"/>
          <a:lstStyle/>
          <a:p>
            <a:pPr indent="0" marL="0">
              <a:buNone/>
            </a:pPr>
            <a:r>
              <a:rPr lang="en-US" sz="1400" dirty="0">
                <a:solidFill>
                  <a:schemeClr val="tx2"/>
                </a:solidFill>
              </a:rPr>
              <a:t>Reusable prompts saved as Markdown files in your workspace</a:t>
            </a:r>
            <a:endParaRPr lang="en-US" sz="1400" dirty="0"/>
          </a:p>
        </p:txBody>
      </p:sp>
      <p:sp>
        <p:nvSpPr>
          <p:cNvPr id="15" name="card-358"/>
          <p:cNvSpPr/>
          <p:nvPr/>
        </p:nvSpPr>
        <p:spPr>
          <a:xfrm>
            <a:off x="548640" y="4480560"/>
            <a:ext cx="5396332" cy="1143000"/>
          </a:xfrm>
          <a:prstGeom prst="roundRect">
            <a:avLst>
              <a:gd name="adj" fmla="val 7200"/>
            </a:avLst>
          </a:prstGeom>
          <a:solidFill>
            <a:schemeClr val="bg2"/>
          </a:solidFill>
          <a:ln/>
        </p:spPr>
      </p:sp>
      <p:sp>
        <p:nvSpPr>
          <p:cNvPr id="16" name="tile-359"/>
          <p:cNvSpPr/>
          <p:nvPr/>
        </p:nvSpPr>
        <p:spPr>
          <a:xfrm>
            <a:off x="822960" y="4773168"/>
            <a:ext cx="548640" cy="548640"/>
          </a:xfrm>
          <a:prstGeom prst="roundRect">
            <a:avLst>
              <a:gd name="adj" fmla="val 15000"/>
            </a:avLst>
          </a:prstGeom>
          <a:solidFill>
            <a:schemeClr val="accent5"/>
          </a:solidFill>
          <a:ln/>
        </p:spPr>
      </p:sp>
      <p:pic>
        <p:nvPicPr>
          <p:cNvPr id="17" name="icon-360" descr="preencoded.png">    </p:cNvPr>
          <p:cNvPicPr>
            <a:picLocks noChangeAspect="1"/>
          </p:cNvPicPr>
          <p:nvPr/>
        </p:nvPicPr>
        <p:blipFill>
          <a:blip r:embed="rId3"/>
          <a:stretch>
            <a:fillRect/>
          </a:stretch>
        </p:blipFill>
        <p:spPr>
          <a:xfrm>
            <a:off x="960120" y="4910328"/>
            <a:ext cx="274320" cy="274320"/>
          </a:xfrm>
          <a:prstGeom prst="rect">
            <a:avLst/>
          </a:prstGeom>
        </p:spPr>
      </p:pic>
      <p:sp>
        <p:nvSpPr>
          <p:cNvPr id="18" name="text-361"/>
          <p:cNvSpPr txBox="1"/>
          <p:nvPr/>
        </p:nvSpPr>
        <p:spPr>
          <a:xfrm>
            <a:off x="1600200" y="4636008"/>
            <a:ext cx="4116172" cy="320040"/>
          </a:xfrm>
          <a:prstGeom prst="rect">
            <a:avLst/>
          </a:prstGeom>
          <a:noFill/>
          <a:ln/>
        </p:spPr>
        <p:txBody>
          <a:bodyPr wrap="square" lIns="0" tIns="0" rIns="0" bIns="0" rtlCol="0" anchor="t"/>
          <a:lstStyle/>
          <a:p>
            <a:pPr indent="0" marL="0">
              <a:buNone/>
            </a:pPr>
            <a:r>
              <a:rPr lang="en-US" sz="1800" b="1" dirty="0">
                <a:solidFill>
                  <a:schemeClr val="tx1"/>
                </a:solidFill>
              </a:rPr>
              <a:t>Copilot Spaces</a:t>
            </a:r>
            <a:endParaRPr lang="en-US" sz="1800" dirty="0"/>
          </a:p>
        </p:txBody>
      </p:sp>
      <p:sp>
        <p:nvSpPr>
          <p:cNvPr id="19" name="text-362"/>
          <p:cNvSpPr txBox="1"/>
          <p:nvPr/>
        </p:nvSpPr>
        <p:spPr>
          <a:xfrm>
            <a:off x="1600200" y="4983480"/>
            <a:ext cx="4116172" cy="548640"/>
          </a:xfrm>
          <a:prstGeom prst="rect">
            <a:avLst/>
          </a:prstGeom>
          <a:noFill/>
          <a:ln/>
        </p:spPr>
        <p:txBody>
          <a:bodyPr wrap="square" lIns="0" tIns="0" rIns="0" bIns="0" rtlCol="0" anchor="t"/>
          <a:lstStyle/>
          <a:p>
            <a:pPr indent="0" marL="0">
              <a:buNone/>
            </a:pPr>
            <a:r>
              <a:rPr lang="en-US" sz="1400" dirty="0">
                <a:solidFill>
                  <a:schemeClr val="tx2"/>
                </a:solidFill>
              </a:rPr>
              <a:t>Collections of code, docs and specs that ground answers for a task</a:t>
            </a:r>
            <a:endParaRPr lang="en-US" sz="1400" dirty="0"/>
          </a:p>
        </p:txBody>
      </p:sp>
      <p:sp>
        <p:nvSpPr>
          <p:cNvPr id="20" name="card-363"/>
          <p:cNvSpPr/>
          <p:nvPr/>
        </p:nvSpPr>
        <p:spPr>
          <a:xfrm>
            <a:off x="6246724" y="1920240"/>
            <a:ext cx="5396332" cy="1143000"/>
          </a:xfrm>
          <a:prstGeom prst="roundRect">
            <a:avLst>
              <a:gd name="adj" fmla="val 7200"/>
            </a:avLst>
          </a:prstGeom>
          <a:solidFill>
            <a:schemeClr val="bg2"/>
          </a:solidFill>
          <a:ln/>
        </p:spPr>
      </p:sp>
      <p:sp>
        <p:nvSpPr>
          <p:cNvPr id="21" name="tile-364"/>
          <p:cNvSpPr/>
          <p:nvPr/>
        </p:nvSpPr>
        <p:spPr>
          <a:xfrm>
            <a:off x="6521044" y="2212848"/>
            <a:ext cx="548640" cy="548640"/>
          </a:xfrm>
          <a:prstGeom prst="roundRect">
            <a:avLst>
              <a:gd name="adj" fmla="val 15000"/>
            </a:avLst>
          </a:prstGeom>
          <a:solidFill>
            <a:schemeClr val="accent5"/>
          </a:solidFill>
          <a:ln/>
        </p:spPr>
      </p:sp>
      <p:pic>
        <p:nvPicPr>
          <p:cNvPr id="22" name="icon-365" descr="preencoded.png">    </p:cNvPr>
          <p:cNvPicPr>
            <a:picLocks noChangeAspect="1"/>
          </p:cNvPicPr>
          <p:nvPr/>
        </p:nvPicPr>
        <p:blipFill>
          <a:blip r:embed="rId4"/>
          <a:stretch>
            <a:fillRect/>
          </a:stretch>
        </p:blipFill>
        <p:spPr>
          <a:xfrm>
            <a:off x="6658204" y="2350008"/>
            <a:ext cx="274320" cy="274320"/>
          </a:xfrm>
          <a:prstGeom prst="rect">
            <a:avLst/>
          </a:prstGeom>
        </p:spPr>
      </p:pic>
      <p:sp>
        <p:nvSpPr>
          <p:cNvPr id="23" name="text-366"/>
          <p:cNvSpPr txBox="1"/>
          <p:nvPr/>
        </p:nvSpPr>
        <p:spPr>
          <a:xfrm>
            <a:off x="7298284" y="2075688"/>
            <a:ext cx="4116172" cy="320040"/>
          </a:xfrm>
          <a:prstGeom prst="rect">
            <a:avLst/>
          </a:prstGeom>
          <a:noFill/>
          <a:ln/>
        </p:spPr>
        <p:txBody>
          <a:bodyPr wrap="square" lIns="0" tIns="0" rIns="0" bIns="0" rtlCol="0" anchor="t"/>
          <a:lstStyle/>
          <a:p>
            <a:pPr indent="0" marL="0">
              <a:buNone/>
            </a:pPr>
            <a:r>
              <a:rPr lang="en-US" sz="1800" b="1" dirty="0">
                <a:solidFill>
                  <a:schemeClr val="tx1"/>
                </a:solidFill>
              </a:rPr>
              <a:t>MCP servers</a:t>
            </a:r>
            <a:endParaRPr lang="en-US" sz="1800" dirty="0"/>
          </a:p>
        </p:txBody>
      </p:sp>
      <p:sp>
        <p:nvSpPr>
          <p:cNvPr id="24" name="text-367"/>
          <p:cNvSpPr txBox="1"/>
          <p:nvPr/>
        </p:nvSpPr>
        <p:spPr>
          <a:xfrm>
            <a:off x="7298284" y="2423160"/>
            <a:ext cx="4116172" cy="548640"/>
          </a:xfrm>
          <a:prstGeom prst="rect">
            <a:avLst/>
          </a:prstGeom>
          <a:noFill/>
          <a:ln/>
        </p:spPr>
        <p:txBody>
          <a:bodyPr wrap="square" lIns="0" tIns="0" rIns="0" bIns="0" rtlCol="0" anchor="t"/>
          <a:lstStyle/>
          <a:p>
            <a:pPr indent="0" marL="0">
              <a:buNone/>
            </a:pPr>
            <a:r>
              <a:rPr lang="en-US" sz="1400" dirty="0">
                <a:solidFill>
                  <a:schemeClr val="tx2"/>
                </a:solidFill>
              </a:rPr>
              <a:t>Connections that give Copilot outside tools and data sources</a:t>
            </a:r>
            <a:endParaRPr lang="en-US" sz="1400" dirty="0"/>
          </a:p>
        </p:txBody>
      </p:sp>
      <p:sp>
        <p:nvSpPr>
          <p:cNvPr id="25" name="card-368"/>
          <p:cNvSpPr/>
          <p:nvPr/>
        </p:nvSpPr>
        <p:spPr>
          <a:xfrm>
            <a:off x="6246724" y="3200400"/>
            <a:ext cx="5396332" cy="1143000"/>
          </a:xfrm>
          <a:prstGeom prst="roundRect">
            <a:avLst>
              <a:gd name="adj" fmla="val 7200"/>
            </a:avLst>
          </a:prstGeom>
          <a:solidFill>
            <a:schemeClr val="bg2"/>
          </a:solidFill>
          <a:ln/>
        </p:spPr>
      </p:sp>
      <p:sp>
        <p:nvSpPr>
          <p:cNvPr id="26" name="tile-369"/>
          <p:cNvSpPr/>
          <p:nvPr/>
        </p:nvSpPr>
        <p:spPr>
          <a:xfrm>
            <a:off x="6521044" y="3493008"/>
            <a:ext cx="548640" cy="548640"/>
          </a:xfrm>
          <a:prstGeom prst="roundRect">
            <a:avLst>
              <a:gd name="adj" fmla="val 15000"/>
            </a:avLst>
          </a:prstGeom>
          <a:solidFill>
            <a:schemeClr val="accent5"/>
          </a:solidFill>
          <a:ln/>
        </p:spPr>
      </p:sp>
      <p:pic>
        <p:nvPicPr>
          <p:cNvPr id="27" name="icon-370" descr="preencoded.png">    </p:cNvPr>
          <p:cNvPicPr>
            <a:picLocks noChangeAspect="1"/>
          </p:cNvPicPr>
          <p:nvPr/>
        </p:nvPicPr>
        <p:blipFill>
          <a:blip r:embed="rId5"/>
          <a:stretch>
            <a:fillRect/>
          </a:stretch>
        </p:blipFill>
        <p:spPr>
          <a:xfrm>
            <a:off x="6658204" y="3630168"/>
            <a:ext cx="274320" cy="274320"/>
          </a:xfrm>
          <a:prstGeom prst="rect">
            <a:avLst/>
          </a:prstGeom>
        </p:spPr>
      </p:pic>
      <p:sp>
        <p:nvSpPr>
          <p:cNvPr id="28" name="text-371"/>
          <p:cNvSpPr txBox="1"/>
          <p:nvPr/>
        </p:nvSpPr>
        <p:spPr>
          <a:xfrm>
            <a:off x="7298284" y="3355848"/>
            <a:ext cx="4116172" cy="320040"/>
          </a:xfrm>
          <a:prstGeom prst="rect">
            <a:avLst/>
          </a:prstGeom>
          <a:noFill/>
          <a:ln/>
        </p:spPr>
        <p:txBody>
          <a:bodyPr wrap="square" lIns="0" tIns="0" rIns="0" bIns="0" rtlCol="0" anchor="t"/>
          <a:lstStyle/>
          <a:p>
            <a:pPr indent="0" marL="0">
              <a:buNone/>
            </a:pPr>
            <a:r>
              <a:rPr lang="en-US" sz="1800" b="1" dirty="0">
                <a:solidFill>
                  <a:schemeClr val="tx1"/>
                </a:solidFill>
              </a:rPr>
              <a:t>Agent skills</a:t>
            </a:r>
            <a:endParaRPr lang="en-US" sz="1800" dirty="0"/>
          </a:p>
        </p:txBody>
      </p:sp>
      <p:sp>
        <p:nvSpPr>
          <p:cNvPr id="29" name="text-372"/>
          <p:cNvSpPr txBox="1"/>
          <p:nvPr/>
        </p:nvSpPr>
        <p:spPr>
          <a:xfrm>
            <a:off x="7298284" y="3703320"/>
            <a:ext cx="4116172" cy="548640"/>
          </a:xfrm>
          <a:prstGeom prst="rect">
            <a:avLst/>
          </a:prstGeom>
          <a:noFill/>
          <a:ln/>
        </p:spPr>
        <p:txBody>
          <a:bodyPr wrap="square" lIns="0" tIns="0" rIns="0" bIns="0" rtlCol="0" anchor="t"/>
          <a:lstStyle/>
          <a:p>
            <a:pPr indent="0" marL="0">
              <a:buNone/>
            </a:pPr>
            <a:r>
              <a:rPr lang="en-US" sz="1400" dirty="0">
                <a:solidFill>
                  <a:schemeClr val="tx2"/>
                </a:solidFill>
              </a:rPr>
              <a:t>Folders of instructions and scripts Copilot loads when relevant</a:t>
            </a:r>
            <a:endParaRPr lang="en-US" sz="1400" dirty="0"/>
          </a:p>
        </p:txBody>
      </p:sp>
      <p:sp>
        <p:nvSpPr>
          <p:cNvPr id="30" name="card-373"/>
          <p:cNvSpPr/>
          <p:nvPr/>
        </p:nvSpPr>
        <p:spPr>
          <a:xfrm>
            <a:off x="6246724" y="4480560"/>
            <a:ext cx="5396332" cy="1143000"/>
          </a:xfrm>
          <a:prstGeom prst="roundRect">
            <a:avLst>
              <a:gd name="adj" fmla="val 7200"/>
            </a:avLst>
          </a:prstGeom>
          <a:solidFill>
            <a:schemeClr val="bg2"/>
          </a:solidFill>
          <a:ln/>
        </p:spPr>
      </p:sp>
      <p:sp>
        <p:nvSpPr>
          <p:cNvPr id="31" name="tile-374"/>
          <p:cNvSpPr/>
          <p:nvPr/>
        </p:nvSpPr>
        <p:spPr>
          <a:xfrm>
            <a:off x="6521044" y="4773168"/>
            <a:ext cx="548640" cy="548640"/>
          </a:xfrm>
          <a:prstGeom prst="roundRect">
            <a:avLst>
              <a:gd name="adj" fmla="val 15000"/>
            </a:avLst>
          </a:prstGeom>
          <a:solidFill>
            <a:schemeClr val="accent5"/>
          </a:solidFill>
          <a:ln/>
        </p:spPr>
      </p:sp>
      <p:pic>
        <p:nvPicPr>
          <p:cNvPr id="32" name="icon-375" descr="preencoded.png">    </p:cNvPr>
          <p:cNvPicPr>
            <a:picLocks noChangeAspect="1"/>
          </p:cNvPicPr>
          <p:nvPr/>
        </p:nvPicPr>
        <p:blipFill>
          <a:blip r:embed="rId6"/>
          <a:stretch>
            <a:fillRect/>
          </a:stretch>
        </p:blipFill>
        <p:spPr>
          <a:xfrm>
            <a:off x="6658204" y="4910328"/>
            <a:ext cx="274320" cy="274320"/>
          </a:xfrm>
          <a:prstGeom prst="rect">
            <a:avLst/>
          </a:prstGeom>
        </p:spPr>
      </p:pic>
      <p:sp>
        <p:nvSpPr>
          <p:cNvPr id="33" name="text-376"/>
          <p:cNvSpPr txBox="1"/>
          <p:nvPr/>
        </p:nvSpPr>
        <p:spPr>
          <a:xfrm>
            <a:off x="7298284" y="4636008"/>
            <a:ext cx="4116172" cy="320040"/>
          </a:xfrm>
          <a:prstGeom prst="rect">
            <a:avLst/>
          </a:prstGeom>
          <a:noFill/>
          <a:ln/>
        </p:spPr>
        <p:txBody>
          <a:bodyPr wrap="square" lIns="0" tIns="0" rIns="0" bIns="0" rtlCol="0" anchor="t"/>
          <a:lstStyle/>
          <a:p>
            <a:pPr indent="0" marL="0">
              <a:buNone/>
            </a:pPr>
            <a:r>
              <a:rPr lang="en-US" sz="1800" b="1" dirty="0">
                <a:solidFill>
                  <a:schemeClr val="tx1"/>
                </a:solidFill>
              </a:rPr>
              <a:t>Custom agents</a:t>
            </a:r>
            <a:endParaRPr lang="en-US" sz="1800" dirty="0"/>
          </a:p>
        </p:txBody>
      </p:sp>
      <p:sp>
        <p:nvSpPr>
          <p:cNvPr id="34" name="text-377"/>
          <p:cNvSpPr txBox="1"/>
          <p:nvPr/>
        </p:nvSpPr>
        <p:spPr>
          <a:xfrm>
            <a:off x="7298284" y="4983480"/>
            <a:ext cx="4116172" cy="548640"/>
          </a:xfrm>
          <a:prstGeom prst="rect">
            <a:avLst/>
          </a:prstGeom>
          <a:noFill/>
          <a:ln/>
        </p:spPr>
        <p:txBody>
          <a:bodyPr wrap="square" lIns="0" tIns="0" rIns="0" bIns="0" rtlCol="0" anchor="t"/>
          <a:lstStyle/>
          <a:p>
            <a:pPr indent="0" marL="0">
              <a:buNone/>
            </a:pPr>
            <a:r>
              <a:rPr lang="en-US" sz="1400" dirty="0">
                <a:solidFill>
                  <a:schemeClr val="tx2"/>
                </a:solidFill>
              </a:rPr>
              <a:t>Specialised versions of the cloud agent with their own tools</a:t>
            </a:r>
            <a:endParaRPr lang="en-US" sz="1400" dirty="0"/>
          </a:p>
        </p:txBody>
      </p:sp>
      <p:sp>
        <p:nvSpPr>
          <p:cNvPr id="35" name="text-378"/>
          <p:cNvSpPr txBox="1"/>
          <p:nvPr/>
        </p:nvSpPr>
        <p:spPr>
          <a:xfrm>
            <a:off x="548640" y="5742432"/>
            <a:ext cx="11094415" cy="256032"/>
          </a:xfrm>
          <a:prstGeom prst="rect">
            <a:avLst/>
          </a:prstGeom>
          <a:noFill/>
          <a:ln/>
        </p:spPr>
        <p:txBody>
          <a:bodyPr wrap="square" lIns="0" tIns="0" rIns="0" bIns="0" rtlCol="0" anchor="t"/>
          <a:lstStyle/>
          <a:p>
            <a:pPr indent="0" marL="0">
              <a:buNone/>
            </a:pPr>
            <a:r>
              <a:rPr lang="en-US" sz="1200" i="1" dirty="0">
                <a:solidFill>
                  <a:schemeClr val="accent4"/>
                </a:solidFill>
              </a:rPr>
              <a:t>You do not need any of these on day one. Hooks, plugins and Copilot Memory also exist for later.</a:t>
            </a:r>
            <a:endParaRPr lang="en-US" sz="1200" dirty="0"/>
          </a:p>
        </p:txBody>
      </p:sp>
      <p:sp>
        <p:nvSpPr>
          <p:cNvPr id="36" name="text-379"/>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GitHub Docs, GitHub Copilot features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node-380"/>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Custom instructions tell Copilot how you work</a:t>
            </a:r>
            <a:endParaRPr lang="en-US" sz="3000" dirty="0"/>
          </a:p>
        </p:txBody>
      </p:sp>
      <p:sp>
        <p:nvSpPr>
          <p:cNvPr id="5" name="tile-381"/>
          <p:cNvSpPr/>
          <p:nvPr/>
        </p:nvSpPr>
        <p:spPr>
          <a:xfrm>
            <a:off x="548640" y="1956816"/>
            <a:ext cx="548640" cy="548640"/>
          </a:xfrm>
          <a:prstGeom prst="roundRect">
            <a:avLst>
              <a:gd name="adj" fmla="val 15000"/>
            </a:avLst>
          </a:prstGeom>
          <a:solidFill>
            <a:schemeClr val="accent5"/>
          </a:solidFill>
          <a:ln/>
        </p:spPr>
      </p:sp>
      <p:pic>
        <p:nvPicPr>
          <p:cNvPr id="6" name="icon-382" descr="preencoded.png">    </p:cNvPr>
          <p:cNvPicPr>
            <a:picLocks noChangeAspect="1"/>
          </p:cNvPicPr>
          <p:nvPr/>
        </p:nvPicPr>
        <p:blipFill>
          <a:blip r:embed="rId1"/>
          <a:stretch>
            <a:fillRect/>
          </a:stretch>
        </p:blipFill>
        <p:spPr>
          <a:xfrm>
            <a:off x="685800" y="2093976"/>
            <a:ext cx="274320" cy="274320"/>
          </a:xfrm>
          <a:prstGeom prst="rect">
            <a:avLst/>
          </a:prstGeom>
        </p:spPr>
      </p:pic>
      <p:sp>
        <p:nvSpPr>
          <p:cNvPr id="7" name="text-383"/>
          <p:cNvSpPr txBox="1"/>
          <p:nvPr/>
        </p:nvSpPr>
        <p:spPr>
          <a:xfrm>
            <a:off x="1325880" y="1920240"/>
            <a:ext cx="5394960" cy="292608"/>
          </a:xfrm>
          <a:prstGeom prst="rect">
            <a:avLst/>
          </a:prstGeom>
          <a:noFill/>
          <a:ln/>
        </p:spPr>
        <p:txBody>
          <a:bodyPr wrap="square" lIns="0" tIns="0" rIns="0" bIns="0" rtlCol="0" anchor="t"/>
          <a:lstStyle/>
          <a:p>
            <a:pPr indent="0" marL="0">
              <a:buNone/>
            </a:pPr>
            <a:r>
              <a:rPr lang="en-US" sz="1600" b="1" dirty="0">
                <a:solidFill>
                  <a:schemeClr val="tx1"/>
                </a:solidFill>
              </a:rPr>
              <a:t>Personal</a:t>
            </a:r>
            <a:endParaRPr lang="en-US" sz="1600" dirty="0"/>
          </a:p>
        </p:txBody>
      </p:sp>
      <p:sp>
        <p:nvSpPr>
          <p:cNvPr id="8" name="text-384"/>
          <p:cNvSpPr txBox="1"/>
          <p:nvPr/>
        </p:nvSpPr>
        <p:spPr>
          <a:xfrm>
            <a:off x="1325880" y="2258568"/>
            <a:ext cx="5394960" cy="548640"/>
          </a:xfrm>
          <a:prstGeom prst="rect">
            <a:avLst/>
          </a:prstGeom>
          <a:noFill/>
          <a:ln/>
        </p:spPr>
        <p:txBody>
          <a:bodyPr wrap="square" lIns="0" tIns="0" rIns="0" bIns="0" rtlCol="0" anchor="t"/>
          <a:lstStyle/>
          <a:p>
            <a:pPr indent="0" marL="0">
              <a:buNone/>
            </a:pPr>
            <a:r>
              <a:rPr lang="en-US" sz="1400" dirty="0">
                <a:solidFill>
                  <a:schemeClr val="tx2"/>
                </a:solidFill>
              </a:rPr>
              <a:t>Your own preferences for Copilot Chat on GitHub.com</a:t>
            </a:r>
            <a:endParaRPr lang="en-US" sz="1400" dirty="0"/>
          </a:p>
        </p:txBody>
      </p:sp>
      <p:sp>
        <p:nvSpPr>
          <p:cNvPr id="9" name="tile-385"/>
          <p:cNvSpPr/>
          <p:nvPr/>
        </p:nvSpPr>
        <p:spPr>
          <a:xfrm>
            <a:off x="548640" y="2962656"/>
            <a:ext cx="548640" cy="548640"/>
          </a:xfrm>
          <a:prstGeom prst="roundRect">
            <a:avLst>
              <a:gd name="adj" fmla="val 15000"/>
            </a:avLst>
          </a:prstGeom>
          <a:solidFill>
            <a:schemeClr val="accent5"/>
          </a:solidFill>
          <a:ln/>
        </p:spPr>
      </p:sp>
      <p:pic>
        <p:nvPicPr>
          <p:cNvPr id="10" name="icon-386" descr="preencoded.png">    </p:cNvPr>
          <p:cNvPicPr>
            <a:picLocks noChangeAspect="1"/>
          </p:cNvPicPr>
          <p:nvPr/>
        </p:nvPicPr>
        <p:blipFill>
          <a:blip r:embed="rId2"/>
          <a:stretch>
            <a:fillRect/>
          </a:stretch>
        </p:blipFill>
        <p:spPr>
          <a:xfrm>
            <a:off x="685800" y="3099816"/>
            <a:ext cx="274320" cy="274320"/>
          </a:xfrm>
          <a:prstGeom prst="rect">
            <a:avLst/>
          </a:prstGeom>
        </p:spPr>
      </p:pic>
      <p:sp>
        <p:nvSpPr>
          <p:cNvPr id="11" name="text-387"/>
          <p:cNvSpPr txBox="1"/>
          <p:nvPr/>
        </p:nvSpPr>
        <p:spPr>
          <a:xfrm>
            <a:off x="1325880" y="2926080"/>
            <a:ext cx="5394960" cy="292608"/>
          </a:xfrm>
          <a:prstGeom prst="rect">
            <a:avLst/>
          </a:prstGeom>
          <a:noFill/>
          <a:ln/>
        </p:spPr>
        <p:txBody>
          <a:bodyPr wrap="square" lIns="0" tIns="0" rIns="0" bIns="0" rtlCol="0" anchor="t"/>
          <a:lstStyle/>
          <a:p>
            <a:pPr indent="0" marL="0">
              <a:buNone/>
            </a:pPr>
            <a:r>
              <a:rPr lang="en-US" sz="1600" b="1" dirty="0">
                <a:solidFill>
                  <a:schemeClr val="tx1"/>
                </a:solidFill>
              </a:rPr>
              <a:t>Repository</a:t>
            </a:r>
            <a:endParaRPr lang="en-US" sz="1600" dirty="0"/>
          </a:p>
        </p:txBody>
      </p:sp>
      <p:sp>
        <p:nvSpPr>
          <p:cNvPr id="12" name="text-388"/>
          <p:cNvSpPr txBox="1"/>
          <p:nvPr/>
        </p:nvSpPr>
        <p:spPr>
          <a:xfrm>
            <a:off x="1325880" y="3264408"/>
            <a:ext cx="5394960" cy="548640"/>
          </a:xfrm>
          <a:prstGeom prst="rect">
            <a:avLst/>
          </a:prstGeom>
          <a:noFill/>
          <a:ln/>
        </p:spPr>
        <p:txBody>
          <a:bodyPr wrap="square" lIns="0" tIns="0" rIns="0" bIns="0" rtlCol="0" anchor="t"/>
          <a:lstStyle/>
          <a:p>
            <a:pPr indent="0" marL="0">
              <a:buNone/>
            </a:pPr>
            <a:r>
              <a:rPr lang="en-US" sz="1400" dirty="0">
                <a:solidFill>
                  <a:schemeClr val="tx2"/>
                </a:solidFill>
              </a:rPr>
              <a:t>Project guidance saved in the repo and shared with the team</a:t>
            </a:r>
            <a:endParaRPr lang="en-US" sz="1400" dirty="0"/>
          </a:p>
        </p:txBody>
      </p:sp>
      <p:sp>
        <p:nvSpPr>
          <p:cNvPr id="13" name="tile-389"/>
          <p:cNvSpPr/>
          <p:nvPr/>
        </p:nvSpPr>
        <p:spPr>
          <a:xfrm>
            <a:off x="548640" y="3968496"/>
            <a:ext cx="548640" cy="548640"/>
          </a:xfrm>
          <a:prstGeom prst="roundRect">
            <a:avLst>
              <a:gd name="adj" fmla="val 15000"/>
            </a:avLst>
          </a:prstGeom>
          <a:solidFill>
            <a:schemeClr val="accent5"/>
          </a:solidFill>
          <a:ln/>
        </p:spPr>
      </p:sp>
      <p:pic>
        <p:nvPicPr>
          <p:cNvPr id="14" name="icon-390" descr="preencoded.png">    </p:cNvPr>
          <p:cNvPicPr>
            <a:picLocks noChangeAspect="1"/>
          </p:cNvPicPr>
          <p:nvPr/>
        </p:nvPicPr>
        <p:blipFill>
          <a:blip r:embed="rId3"/>
          <a:stretch>
            <a:fillRect/>
          </a:stretch>
        </p:blipFill>
        <p:spPr>
          <a:xfrm>
            <a:off x="685800" y="4105656"/>
            <a:ext cx="274320" cy="274320"/>
          </a:xfrm>
          <a:prstGeom prst="rect">
            <a:avLst/>
          </a:prstGeom>
        </p:spPr>
      </p:pic>
      <p:sp>
        <p:nvSpPr>
          <p:cNvPr id="15" name="text-391"/>
          <p:cNvSpPr txBox="1"/>
          <p:nvPr/>
        </p:nvSpPr>
        <p:spPr>
          <a:xfrm>
            <a:off x="1325880" y="3931920"/>
            <a:ext cx="5394960" cy="292608"/>
          </a:xfrm>
          <a:prstGeom prst="rect">
            <a:avLst/>
          </a:prstGeom>
          <a:noFill/>
          <a:ln/>
        </p:spPr>
        <p:txBody>
          <a:bodyPr wrap="square" lIns="0" tIns="0" rIns="0" bIns="0" rtlCol="0" anchor="t"/>
          <a:lstStyle/>
          <a:p>
            <a:pPr indent="0" marL="0">
              <a:buNone/>
            </a:pPr>
            <a:r>
              <a:rPr lang="en-US" sz="1600" b="1" dirty="0">
                <a:solidFill>
                  <a:schemeClr val="tx1"/>
                </a:solidFill>
              </a:rPr>
              <a:t>Organization</a:t>
            </a:r>
            <a:endParaRPr lang="en-US" sz="1600" dirty="0"/>
          </a:p>
        </p:txBody>
      </p:sp>
      <p:sp>
        <p:nvSpPr>
          <p:cNvPr id="16" name="text-392"/>
          <p:cNvSpPr txBox="1"/>
          <p:nvPr/>
        </p:nvSpPr>
        <p:spPr>
          <a:xfrm>
            <a:off x="1325880" y="4270248"/>
            <a:ext cx="5394960" cy="548640"/>
          </a:xfrm>
          <a:prstGeom prst="rect">
            <a:avLst/>
          </a:prstGeom>
          <a:noFill/>
          <a:ln/>
        </p:spPr>
        <p:txBody>
          <a:bodyPr wrap="square" lIns="0" tIns="0" rIns="0" bIns="0" rtlCol="0" anchor="t"/>
          <a:lstStyle/>
          <a:p>
            <a:pPr indent="0" marL="0">
              <a:buNone/>
            </a:pPr>
            <a:r>
              <a:rPr lang="en-US" sz="1400" dirty="0">
                <a:solidFill>
                  <a:schemeClr val="tx2"/>
                </a:solidFill>
              </a:rPr>
              <a:t>Company-wide preferences set by owners on business plans</a:t>
            </a:r>
            <a:endParaRPr lang="en-US" sz="1400" dirty="0"/>
          </a:p>
        </p:txBody>
      </p:sp>
      <p:sp>
        <p:nvSpPr>
          <p:cNvPr id="17" name="tile-393"/>
          <p:cNvSpPr/>
          <p:nvPr/>
        </p:nvSpPr>
        <p:spPr>
          <a:xfrm>
            <a:off x="548640" y="4974336"/>
            <a:ext cx="548640" cy="548640"/>
          </a:xfrm>
          <a:prstGeom prst="roundRect">
            <a:avLst>
              <a:gd name="adj" fmla="val 15000"/>
            </a:avLst>
          </a:prstGeom>
          <a:solidFill>
            <a:schemeClr val="accent5"/>
          </a:solidFill>
          <a:ln/>
        </p:spPr>
      </p:sp>
      <p:pic>
        <p:nvPicPr>
          <p:cNvPr id="18" name="icon-394" descr="preencoded.png">    </p:cNvPr>
          <p:cNvPicPr>
            <a:picLocks noChangeAspect="1"/>
          </p:cNvPicPr>
          <p:nvPr/>
        </p:nvPicPr>
        <p:blipFill>
          <a:blip r:embed="rId4"/>
          <a:stretch>
            <a:fillRect/>
          </a:stretch>
        </p:blipFill>
        <p:spPr>
          <a:xfrm>
            <a:off x="685800" y="5111496"/>
            <a:ext cx="274320" cy="274320"/>
          </a:xfrm>
          <a:prstGeom prst="rect">
            <a:avLst/>
          </a:prstGeom>
        </p:spPr>
      </p:pic>
      <p:sp>
        <p:nvSpPr>
          <p:cNvPr id="19" name="text-395"/>
          <p:cNvSpPr txBox="1"/>
          <p:nvPr/>
        </p:nvSpPr>
        <p:spPr>
          <a:xfrm>
            <a:off x="1325880" y="4937760"/>
            <a:ext cx="5394960" cy="292608"/>
          </a:xfrm>
          <a:prstGeom prst="rect">
            <a:avLst/>
          </a:prstGeom>
          <a:noFill/>
          <a:ln/>
        </p:spPr>
        <p:txBody>
          <a:bodyPr wrap="square" lIns="0" tIns="0" rIns="0" bIns="0" rtlCol="0" anchor="t"/>
          <a:lstStyle/>
          <a:p>
            <a:pPr indent="0" marL="0">
              <a:buNone/>
            </a:pPr>
            <a:r>
              <a:rPr lang="en-US" sz="1600" b="1" dirty="0">
                <a:solidFill>
                  <a:schemeClr val="tx1"/>
                </a:solidFill>
              </a:rPr>
              <a:t>Agent files</a:t>
            </a:r>
            <a:endParaRPr lang="en-US" sz="1600" dirty="0"/>
          </a:p>
        </p:txBody>
      </p:sp>
      <p:sp>
        <p:nvSpPr>
          <p:cNvPr id="20" name="text-396"/>
          <p:cNvSpPr txBox="1"/>
          <p:nvPr/>
        </p:nvSpPr>
        <p:spPr>
          <a:xfrm>
            <a:off x="1325880" y="5276088"/>
            <a:ext cx="5394960" cy="548640"/>
          </a:xfrm>
          <a:prstGeom prst="rect">
            <a:avLst/>
          </a:prstGeom>
          <a:noFill/>
          <a:ln/>
        </p:spPr>
        <p:txBody>
          <a:bodyPr wrap="square" lIns="0" tIns="0" rIns="0" bIns="0" rtlCol="0" anchor="t"/>
          <a:lstStyle/>
          <a:p>
            <a:pPr indent="0" marL="0">
              <a:buNone/>
            </a:pPr>
            <a:r>
              <a:rPr lang="en-US" sz="1400" dirty="0">
                <a:solidFill>
                  <a:schemeClr val="tx2"/>
                </a:solidFill>
              </a:rPr>
              <a:t>AGENTS.md, CLAUDE.md or GEMINI.md in the repo are also read</a:t>
            </a:r>
            <a:endParaRPr lang="en-US" sz="1400" dirty="0"/>
          </a:p>
        </p:txBody>
      </p:sp>
      <p:sp>
        <p:nvSpPr>
          <p:cNvPr id="21" name="card-397"/>
          <p:cNvSpPr/>
          <p:nvPr/>
        </p:nvSpPr>
        <p:spPr>
          <a:xfrm>
            <a:off x="7086600" y="1920240"/>
            <a:ext cx="4556455" cy="3931920"/>
          </a:xfrm>
          <a:prstGeom prst="roundRect">
            <a:avLst>
              <a:gd name="adj" fmla="val 2093"/>
            </a:avLst>
          </a:prstGeom>
          <a:solidFill>
            <a:schemeClr val="tx1"/>
          </a:solidFill>
          <a:ln/>
        </p:spPr>
      </p:sp>
      <p:sp>
        <p:nvSpPr>
          <p:cNvPr id="22" name="pill-398"/>
          <p:cNvSpPr/>
          <p:nvPr/>
        </p:nvSpPr>
        <p:spPr>
          <a:xfrm>
            <a:off x="7360920" y="2176272"/>
            <a:ext cx="3429000" cy="329184"/>
          </a:xfrm>
          <a:prstGeom prst="roundRect">
            <a:avLst>
              <a:gd name="adj" fmla="val 50000"/>
            </a:avLst>
          </a:prstGeom>
          <a:solidFill>
            <a:schemeClr val="tx2"/>
          </a:solidFill>
          <a:ln/>
        </p:spPr>
      </p:sp>
      <p:sp>
        <p:nvSpPr>
          <p:cNvPr id="23" name="text-399"/>
          <p:cNvSpPr txBox="1"/>
          <p:nvPr/>
        </p:nvSpPr>
        <p:spPr>
          <a:xfrm>
            <a:off x="7360920" y="2176272"/>
            <a:ext cx="3429000" cy="329184"/>
          </a:xfrm>
          <a:prstGeom prst="rect">
            <a:avLst/>
          </a:prstGeom>
          <a:noFill/>
          <a:ln/>
        </p:spPr>
        <p:txBody>
          <a:bodyPr wrap="square" lIns="0" tIns="0" rIns="0" bIns="0" rtlCol="0" anchor="ctr"/>
          <a:lstStyle/>
          <a:p>
            <a:pPr algn="ctr" indent="0" marL="0">
              <a:buNone/>
            </a:pPr>
            <a:r>
              <a:rPr lang="en-US" sz="1200" b="1" dirty="0">
                <a:solidFill>
                  <a:schemeClr val="accent5"/>
                </a:solidFill>
                <a:latin typeface="Courier New" pitchFamily="34" charset="0"/>
                <a:ea typeface="Courier New" pitchFamily="34" charset="-122"/>
                <a:cs typeface="Courier New" pitchFamily="34" charset="-120"/>
              </a:rPr>
              <a:t>.github/copilot-instructions.md</a:t>
            </a:r>
            <a:endParaRPr lang="en-US" sz="1200" dirty="0"/>
          </a:p>
        </p:txBody>
      </p:sp>
      <p:sp>
        <p:nvSpPr>
          <p:cNvPr id="24" name="text-400"/>
          <p:cNvSpPr txBox="1"/>
          <p:nvPr/>
        </p:nvSpPr>
        <p:spPr>
          <a:xfrm>
            <a:off x="7360920" y="2788920"/>
            <a:ext cx="4099255" cy="2880360"/>
          </a:xfrm>
          <a:prstGeom prst="rect">
            <a:avLst/>
          </a:prstGeom>
          <a:noFill/>
          <a:ln/>
        </p:spPr>
        <p:txBody>
          <a:bodyPr wrap="square" lIns="0" tIns="0" rIns="0" bIns="0" rtlCol="0" anchor="t"/>
          <a:lstStyle/>
          <a:p>
            <a:pPr indent="0" marL="0">
              <a:buNone/>
            </a:pPr>
            <a:r>
              <a:rPr lang="en-US" sz="1400" b="1" dirty="0">
                <a:solidFill>
                  <a:schemeClr val="bg1"/>
                </a:solidFill>
                <a:latin typeface="Courier New" pitchFamily="34" charset="0"/>
                <a:ea typeface="Courier New" pitchFamily="34" charset="-122"/>
                <a:cs typeface="Courier New" pitchFamily="34" charset="-120"/>
              </a:rPr>
              <a:t># Project guidance</a:t>
            </a:r>
            <a:endParaRPr lang="en-US" sz="1400" dirty="0"/>
          </a:p>
          <a:p>
            <a:pPr indent="0" marL="0">
              <a:buNone/>
            </a:pP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About</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A to-do app built with React.</a:t>
            </a:r>
            <a:endParaRPr lang="en-US" sz="1400" dirty="0"/>
          </a:p>
          <a:p>
            <a:pPr indent="0" marL="0">
              <a:buNone/>
            </a:pP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Rules</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 Use TypeScript</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 Write tests with Jest</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 Keep functions small</a:t>
            </a:r>
            <a:endParaRPr lang="en-US" sz="1400" dirty="0"/>
          </a:p>
        </p:txBody>
      </p:sp>
      <p:sp>
        <p:nvSpPr>
          <p:cNvPr id="25" name="text-401"/>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If instructions conflict, personal ones win, then repository, then organization. The file shown is an illustrative example. Source: GitHub Docs.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node-402"/>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terms describe how you stay in control</a:t>
            </a:r>
            <a:endParaRPr lang="en-US" sz="3000" dirty="0"/>
          </a:p>
        </p:txBody>
      </p:sp>
      <p:sp>
        <p:nvSpPr>
          <p:cNvPr id="5" name="card-403"/>
          <p:cNvSpPr/>
          <p:nvPr/>
        </p:nvSpPr>
        <p:spPr>
          <a:xfrm>
            <a:off x="548640" y="1920240"/>
            <a:ext cx="3515258" cy="1828800"/>
          </a:xfrm>
          <a:prstGeom prst="roundRect">
            <a:avLst>
              <a:gd name="adj" fmla="val 4500"/>
            </a:avLst>
          </a:prstGeom>
          <a:solidFill>
            <a:schemeClr val="bg2"/>
          </a:solidFill>
          <a:ln/>
        </p:spPr>
      </p:sp>
      <p:sp>
        <p:nvSpPr>
          <p:cNvPr id="6" name="tile-404"/>
          <p:cNvSpPr/>
          <p:nvPr/>
        </p:nvSpPr>
        <p:spPr>
          <a:xfrm>
            <a:off x="822960" y="2194560"/>
            <a:ext cx="530352" cy="530352"/>
          </a:xfrm>
          <a:prstGeom prst="roundRect">
            <a:avLst>
              <a:gd name="adj" fmla="val 15517"/>
            </a:avLst>
          </a:prstGeom>
          <a:solidFill>
            <a:schemeClr val="accent5"/>
          </a:solidFill>
          <a:ln/>
        </p:spPr>
      </p:sp>
      <p:pic>
        <p:nvPicPr>
          <p:cNvPr id="7" name="icon-405" descr="preencoded.png">    </p:cNvPr>
          <p:cNvPicPr>
            <a:picLocks noChangeAspect="1"/>
          </p:cNvPicPr>
          <p:nvPr/>
        </p:nvPicPr>
        <p:blipFill>
          <a:blip r:embed="rId1"/>
          <a:stretch>
            <a:fillRect/>
          </a:stretch>
        </p:blipFill>
        <p:spPr>
          <a:xfrm>
            <a:off x="955548" y="2327148"/>
            <a:ext cx="265176" cy="265176"/>
          </a:xfrm>
          <a:prstGeom prst="rect">
            <a:avLst/>
          </a:prstGeom>
        </p:spPr>
      </p:pic>
      <p:sp>
        <p:nvSpPr>
          <p:cNvPr id="8" name="text-406"/>
          <p:cNvSpPr txBox="1"/>
          <p:nvPr/>
        </p:nvSpPr>
        <p:spPr>
          <a:xfrm>
            <a:off x="1536192" y="219456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Approval</a:t>
            </a:r>
            <a:endParaRPr lang="en-US" sz="1800" dirty="0"/>
          </a:p>
        </p:txBody>
      </p:sp>
      <p:sp>
        <p:nvSpPr>
          <p:cNvPr id="9" name="text-407"/>
          <p:cNvSpPr txBox="1"/>
          <p:nvPr/>
        </p:nvSpPr>
        <p:spPr>
          <a:xfrm>
            <a:off x="822960" y="2907792"/>
            <a:ext cx="2966618" cy="749808"/>
          </a:xfrm>
          <a:prstGeom prst="rect">
            <a:avLst/>
          </a:prstGeom>
          <a:noFill/>
          <a:ln/>
        </p:spPr>
        <p:txBody>
          <a:bodyPr wrap="square" lIns="0" tIns="0" rIns="0" bIns="0" rtlCol="0" anchor="t"/>
          <a:lstStyle/>
          <a:p>
            <a:pPr indent="0" marL="0">
              <a:buNone/>
            </a:pPr>
            <a:r>
              <a:rPr lang="en-US" sz="1400" dirty="0">
                <a:solidFill>
                  <a:schemeClr val="tx2"/>
                </a:solidFill>
              </a:rPr>
              <a:t>Agents ask before sensitive actions: allow once, for the session, or refuse</a:t>
            </a:r>
            <a:endParaRPr lang="en-US" sz="1400" dirty="0"/>
          </a:p>
        </p:txBody>
      </p:sp>
      <p:sp>
        <p:nvSpPr>
          <p:cNvPr id="10" name="card-408"/>
          <p:cNvSpPr/>
          <p:nvPr/>
        </p:nvSpPr>
        <p:spPr>
          <a:xfrm>
            <a:off x="4338218" y="1920240"/>
            <a:ext cx="3515258" cy="1828800"/>
          </a:xfrm>
          <a:prstGeom prst="roundRect">
            <a:avLst>
              <a:gd name="adj" fmla="val 4500"/>
            </a:avLst>
          </a:prstGeom>
          <a:solidFill>
            <a:schemeClr val="bg2"/>
          </a:solidFill>
          <a:ln/>
        </p:spPr>
      </p:sp>
      <p:sp>
        <p:nvSpPr>
          <p:cNvPr id="11" name="tile-409"/>
          <p:cNvSpPr/>
          <p:nvPr/>
        </p:nvSpPr>
        <p:spPr>
          <a:xfrm>
            <a:off x="4612538" y="2194560"/>
            <a:ext cx="530352" cy="530352"/>
          </a:xfrm>
          <a:prstGeom prst="roundRect">
            <a:avLst>
              <a:gd name="adj" fmla="val 15517"/>
            </a:avLst>
          </a:prstGeom>
          <a:solidFill>
            <a:schemeClr val="accent5"/>
          </a:solidFill>
          <a:ln/>
        </p:spPr>
      </p:sp>
      <p:pic>
        <p:nvPicPr>
          <p:cNvPr id="12" name="icon-410" descr="preencoded.png">    </p:cNvPr>
          <p:cNvPicPr>
            <a:picLocks noChangeAspect="1"/>
          </p:cNvPicPr>
          <p:nvPr/>
        </p:nvPicPr>
        <p:blipFill>
          <a:blip r:embed="rId2"/>
          <a:stretch>
            <a:fillRect/>
          </a:stretch>
        </p:blipFill>
        <p:spPr>
          <a:xfrm>
            <a:off x="4745126" y="2327148"/>
            <a:ext cx="265176" cy="265176"/>
          </a:xfrm>
          <a:prstGeom prst="rect">
            <a:avLst/>
          </a:prstGeom>
        </p:spPr>
      </p:pic>
      <p:sp>
        <p:nvSpPr>
          <p:cNvPr id="13" name="text-411"/>
          <p:cNvSpPr txBox="1"/>
          <p:nvPr/>
        </p:nvSpPr>
        <p:spPr>
          <a:xfrm>
            <a:off x="5325770" y="219456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Folder trust</a:t>
            </a:r>
            <a:endParaRPr lang="en-US" sz="1800" dirty="0"/>
          </a:p>
        </p:txBody>
      </p:sp>
      <p:sp>
        <p:nvSpPr>
          <p:cNvPr id="14" name="text-412"/>
          <p:cNvSpPr txBox="1"/>
          <p:nvPr/>
        </p:nvSpPr>
        <p:spPr>
          <a:xfrm>
            <a:off x="4612538" y="2907792"/>
            <a:ext cx="2966618" cy="749808"/>
          </a:xfrm>
          <a:prstGeom prst="rect">
            <a:avLst/>
          </a:prstGeom>
          <a:noFill/>
          <a:ln/>
        </p:spPr>
        <p:txBody>
          <a:bodyPr wrap="square" lIns="0" tIns="0" rIns="0" bIns="0" rtlCol="0" anchor="t"/>
          <a:lstStyle/>
          <a:p>
            <a:pPr indent="0" marL="0">
              <a:buNone/>
            </a:pPr>
            <a:r>
              <a:rPr lang="en-US" sz="1400" dirty="0">
                <a:solidFill>
                  <a:schemeClr val="tx2"/>
                </a:solidFill>
              </a:rPr>
              <a:t>Copilot CLI asks whether you trust a folder before working in it</a:t>
            </a:r>
            <a:endParaRPr lang="en-US" sz="1400" dirty="0"/>
          </a:p>
        </p:txBody>
      </p:sp>
      <p:sp>
        <p:nvSpPr>
          <p:cNvPr id="15" name="card-413"/>
          <p:cNvSpPr/>
          <p:nvPr/>
        </p:nvSpPr>
        <p:spPr>
          <a:xfrm>
            <a:off x="8127797" y="1920240"/>
            <a:ext cx="3515258" cy="1828800"/>
          </a:xfrm>
          <a:prstGeom prst="roundRect">
            <a:avLst>
              <a:gd name="adj" fmla="val 4500"/>
            </a:avLst>
          </a:prstGeom>
          <a:solidFill>
            <a:schemeClr val="bg2"/>
          </a:solidFill>
          <a:ln/>
        </p:spPr>
      </p:sp>
      <p:sp>
        <p:nvSpPr>
          <p:cNvPr id="16" name="tile-414"/>
          <p:cNvSpPr/>
          <p:nvPr/>
        </p:nvSpPr>
        <p:spPr>
          <a:xfrm>
            <a:off x="8402117" y="2194560"/>
            <a:ext cx="530352" cy="530352"/>
          </a:xfrm>
          <a:prstGeom prst="roundRect">
            <a:avLst>
              <a:gd name="adj" fmla="val 15517"/>
            </a:avLst>
          </a:prstGeom>
          <a:solidFill>
            <a:schemeClr val="accent5"/>
          </a:solidFill>
          <a:ln/>
        </p:spPr>
      </p:sp>
      <p:pic>
        <p:nvPicPr>
          <p:cNvPr id="17" name="icon-415" descr="preencoded.png">    </p:cNvPr>
          <p:cNvPicPr>
            <a:picLocks noChangeAspect="1"/>
          </p:cNvPicPr>
          <p:nvPr/>
        </p:nvPicPr>
        <p:blipFill>
          <a:blip r:embed="rId3"/>
          <a:stretch>
            <a:fillRect/>
          </a:stretch>
        </p:blipFill>
        <p:spPr>
          <a:xfrm>
            <a:off x="8534705" y="2327148"/>
            <a:ext cx="265176" cy="265176"/>
          </a:xfrm>
          <a:prstGeom prst="rect">
            <a:avLst/>
          </a:prstGeom>
        </p:spPr>
      </p:pic>
      <p:sp>
        <p:nvSpPr>
          <p:cNvPr id="18" name="text-416"/>
          <p:cNvSpPr txBox="1"/>
          <p:nvPr/>
        </p:nvSpPr>
        <p:spPr>
          <a:xfrm>
            <a:off x="9115349" y="219456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Keep</a:t>
            </a:r>
            <a:endParaRPr lang="en-US" sz="1800" dirty="0"/>
          </a:p>
        </p:txBody>
      </p:sp>
      <p:sp>
        <p:nvSpPr>
          <p:cNvPr id="19" name="text-417"/>
          <p:cNvSpPr txBox="1"/>
          <p:nvPr/>
        </p:nvSpPr>
        <p:spPr>
          <a:xfrm>
            <a:off x="8402117" y="2907792"/>
            <a:ext cx="2966618" cy="749808"/>
          </a:xfrm>
          <a:prstGeom prst="rect">
            <a:avLst/>
          </a:prstGeom>
          <a:noFill/>
          <a:ln/>
        </p:spPr>
        <p:txBody>
          <a:bodyPr wrap="square" lIns="0" tIns="0" rIns="0" bIns="0" rtlCol="0" anchor="t"/>
          <a:lstStyle/>
          <a:p>
            <a:pPr indent="0" marL="0">
              <a:buNone/>
            </a:pPr>
            <a:r>
              <a:rPr lang="en-US" sz="1400" dirty="0">
                <a:solidFill>
                  <a:schemeClr val="tx2"/>
                </a:solidFill>
              </a:rPr>
              <a:t>The button that accepts an agent's edits once you have reviewed them</a:t>
            </a:r>
            <a:endParaRPr lang="en-US" sz="1400" dirty="0"/>
          </a:p>
        </p:txBody>
      </p:sp>
      <p:sp>
        <p:nvSpPr>
          <p:cNvPr id="20" name="card-418"/>
          <p:cNvSpPr/>
          <p:nvPr/>
        </p:nvSpPr>
        <p:spPr>
          <a:xfrm>
            <a:off x="548640" y="4023360"/>
            <a:ext cx="3515258" cy="1828800"/>
          </a:xfrm>
          <a:prstGeom prst="roundRect">
            <a:avLst>
              <a:gd name="adj" fmla="val 4500"/>
            </a:avLst>
          </a:prstGeom>
          <a:solidFill>
            <a:schemeClr val="bg2"/>
          </a:solidFill>
          <a:ln/>
        </p:spPr>
      </p:sp>
      <p:sp>
        <p:nvSpPr>
          <p:cNvPr id="21" name="tile-419"/>
          <p:cNvSpPr/>
          <p:nvPr/>
        </p:nvSpPr>
        <p:spPr>
          <a:xfrm>
            <a:off x="822960" y="4297680"/>
            <a:ext cx="530352" cy="530352"/>
          </a:xfrm>
          <a:prstGeom prst="roundRect">
            <a:avLst>
              <a:gd name="adj" fmla="val 15517"/>
            </a:avLst>
          </a:prstGeom>
          <a:solidFill>
            <a:schemeClr val="accent5"/>
          </a:solidFill>
          <a:ln/>
        </p:spPr>
      </p:sp>
      <p:pic>
        <p:nvPicPr>
          <p:cNvPr id="22" name="icon-420" descr="preencoded.png">    </p:cNvPr>
          <p:cNvPicPr>
            <a:picLocks noChangeAspect="1"/>
          </p:cNvPicPr>
          <p:nvPr/>
        </p:nvPicPr>
        <p:blipFill>
          <a:blip r:embed="rId4"/>
          <a:stretch>
            <a:fillRect/>
          </a:stretch>
        </p:blipFill>
        <p:spPr>
          <a:xfrm>
            <a:off x="955548" y="4430268"/>
            <a:ext cx="265176" cy="265176"/>
          </a:xfrm>
          <a:prstGeom prst="rect">
            <a:avLst/>
          </a:prstGeom>
        </p:spPr>
      </p:pic>
      <p:sp>
        <p:nvSpPr>
          <p:cNvPr id="23" name="text-421"/>
          <p:cNvSpPr txBox="1"/>
          <p:nvPr/>
        </p:nvSpPr>
        <p:spPr>
          <a:xfrm>
            <a:off x="1536192" y="42976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Sandboxing</a:t>
            </a:r>
            <a:endParaRPr lang="en-US" sz="1800" dirty="0"/>
          </a:p>
        </p:txBody>
      </p:sp>
      <p:sp>
        <p:nvSpPr>
          <p:cNvPr id="24" name="text-422"/>
          <p:cNvSpPr txBox="1"/>
          <p:nvPr/>
        </p:nvSpPr>
        <p:spPr>
          <a:xfrm>
            <a:off x="822960" y="5010912"/>
            <a:ext cx="2966618" cy="749808"/>
          </a:xfrm>
          <a:prstGeom prst="rect">
            <a:avLst/>
          </a:prstGeom>
          <a:noFill/>
          <a:ln/>
        </p:spPr>
        <p:txBody>
          <a:bodyPr wrap="square" lIns="0" tIns="0" rIns="0" bIns="0" rtlCol="0" anchor="t"/>
          <a:lstStyle/>
          <a:p>
            <a:pPr indent="0" marL="0">
              <a:buNone/>
            </a:pPr>
            <a:r>
              <a:rPr lang="en-US" sz="1400" dirty="0">
                <a:solidFill>
                  <a:schemeClr val="tx2"/>
                </a:solidFill>
              </a:rPr>
              <a:t>Limits on what an agent's commands can reach, locally or in the cloud</a:t>
            </a:r>
            <a:endParaRPr lang="en-US" sz="1400" dirty="0"/>
          </a:p>
        </p:txBody>
      </p:sp>
      <p:sp>
        <p:nvSpPr>
          <p:cNvPr id="25" name="card-423"/>
          <p:cNvSpPr/>
          <p:nvPr/>
        </p:nvSpPr>
        <p:spPr>
          <a:xfrm>
            <a:off x="4338218" y="4023360"/>
            <a:ext cx="3515258" cy="1828800"/>
          </a:xfrm>
          <a:prstGeom prst="roundRect">
            <a:avLst>
              <a:gd name="adj" fmla="val 4500"/>
            </a:avLst>
          </a:prstGeom>
          <a:solidFill>
            <a:schemeClr val="bg2"/>
          </a:solidFill>
          <a:ln/>
        </p:spPr>
      </p:sp>
      <p:sp>
        <p:nvSpPr>
          <p:cNvPr id="26" name="tile-424"/>
          <p:cNvSpPr/>
          <p:nvPr/>
        </p:nvSpPr>
        <p:spPr>
          <a:xfrm>
            <a:off x="4612538" y="4297680"/>
            <a:ext cx="530352" cy="530352"/>
          </a:xfrm>
          <a:prstGeom prst="roundRect">
            <a:avLst>
              <a:gd name="adj" fmla="val 15517"/>
            </a:avLst>
          </a:prstGeom>
          <a:solidFill>
            <a:schemeClr val="accent5"/>
          </a:solidFill>
          <a:ln/>
        </p:spPr>
      </p:sp>
      <p:pic>
        <p:nvPicPr>
          <p:cNvPr id="27" name="icon-425" descr="preencoded.png">    </p:cNvPr>
          <p:cNvPicPr>
            <a:picLocks noChangeAspect="1"/>
          </p:cNvPicPr>
          <p:nvPr/>
        </p:nvPicPr>
        <p:blipFill>
          <a:blip r:embed="rId5"/>
          <a:stretch>
            <a:fillRect/>
          </a:stretch>
        </p:blipFill>
        <p:spPr>
          <a:xfrm>
            <a:off x="4745126" y="4430268"/>
            <a:ext cx="265176" cy="265176"/>
          </a:xfrm>
          <a:prstGeom prst="rect">
            <a:avLst/>
          </a:prstGeom>
        </p:spPr>
      </p:pic>
      <p:sp>
        <p:nvSpPr>
          <p:cNvPr id="28" name="text-426"/>
          <p:cNvSpPr txBox="1"/>
          <p:nvPr/>
        </p:nvSpPr>
        <p:spPr>
          <a:xfrm>
            <a:off x="5325770" y="42976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Content exclusion</a:t>
            </a:r>
            <a:endParaRPr lang="en-US" sz="1800" dirty="0"/>
          </a:p>
        </p:txBody>
      </p:sp>
      <p:sp>
        <p:nvSpPr>
          <p:cNvPr id="29" name="text-427"/>
          <p:cNvSpPr txBox="1"/>
          <p:nvPr/>
        </p:nvSpPr>
        <p:spPr>
          <a:xfrm>
            <a:off x="4612538" y="5010912"/>
            <a:ext cx="2966618" cy="749808"/>
          </a:xfrm>
          <a:prstGeom prst="rect">
            <a:avLst/>
          </a:prstGeom>
          <a:noFill/>
          <a:ln/>
        </p:spPr>
        <p:txBody>
          <a:bodyPr wrap="square" lIns="0" tIns="0" rIns="0" bIns="0" rtlCol="0" anchor="t"/>
          <a:lstStyle/>
          <a:p>
            <a:pPr indent="0" marL="0">
              <a:buNone/>
            </a:pPr>
            <a:r>
              <a:rPr lang="en-US" sz="1400" dirty="0">
                <a:solidFill>
                  <a:schemeClr val="tx2"/>
                </a:solidFill>
              </a:rPr>
              <a:t>A setting that makes Copilot ignore files you choose</a:t>
            </a:r>
            <a:endParaRPr lang="en-US" sz="1400" dirty="0"/>
          </a:p>
        </p:txBody>
      </p:sp>
      <p:sp>
        <p:nvSpPr>
          <p:cNvPr id="30" name="card-428"/>
          <p:cNvSpPr/>
          <p:nvPr/>
        </p:nvSpPr>
        <p:spPr>
          <a:xfrm>
            <a:off x="8127797" y="4023360"/>
            <a:ext cx="3515258" cy="1828800"/>
          </a:xfrm>
          <a:prstGeom prst="roundRect">
            <a:avLst>
              <a:gd name="adj" fmla="val 4500"/>
            </a:avLst>
          </a:prstGeom>
          <a:solidFill>
            <a:schemeClr val="bg2"/>
          </a:solidFill>
          <a:ln/>
        </p:spPr>
      </p:sp>
      <p:sp>
        <p:nvSpPr>
          <p:cNvPr id="31" name="tile-429"/>
          <p:cNvSpPr/>
          <p:nvPr/>
        </p:nvSpPr>
        <p:spPr>
          <a:xfrm>
            <a:off x="8402117" y="4297680"/>
            <a:ext cx="530352" cy="530352"/>
          </a:xfrm>
          <a:prstGeom prst="roundRect">
            <a:avLst>
              <a:gd name="adj" fmla="val 15517"/>
            </a:avLst>
          </a:prstGeom>
          <a:solidFill>
            <a:schemeClr val="accent5"/>
          </a:solidFill>
          <a:ln/>
        </p:spPr>
      </p:sp>
      <p:pic>
        <p:nvPicPr>
          <p:cNvPr id="32" name="icon-430" descr="preencoded.png">    </p:cNvPr>
          <p:cNvPicPr>
            <a:picLocks noChangeAspect="1"/>
          </p:cNvPicPr>
          <p:nvPr/>
        </p:nvPicPr>
        <p:blipFill>
          <a:blip r:embed="rId6"/>
          <a:stretch>
            <a:fillRect/>
          </a:stretch>
        </p:blipFill>
        <p:spPr>
          <a:xfrm>
            <a:off x="8534705" y="4430268"/>
            <a:ext cx="265176" cy="265176"/>
          </a:xfrm>
          <a:prstGeom prst="rect">
            <a:avLst/>
          </a:prstGeom>
        </p:spPr>
      </p:pic>
      <p:sp>
        <p:nvSpPr>
          <p:cNvPr id="33" name="text-431"/>
          <p:cNvSpPr txBox="1"/>
          <p:nvPr/>
        </p:nvSpPr>
        <p:spPr>
          <a:xfrm>
            <a:off x="9115349" y="42976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Public code filter</a:t>
            </a:r>
            <a:endParaRPr lang="en-US" sz="1800" dirty="0"/>
          </a:p>
        </p:txBody>
      </p:sp>
      <p:sp>
        <p:nvSpPr>
          <p:cNvPr id="34" name="text-432"/>
          <p:cNvSpPr txBox="1"/>
          <p:nvPr/>
        </p:nvSpPr>
        <p:spPr>
          <a:xfrm>
            <a:off x="8402117" y="5010912"/>
            <a:ext cx="2966618" cy="749808"/>
          </a:xfrm>
          <a:prstGeom prst="rect">
            <a:avLst/>
          </a:prstGeom>
          <a:noFill/>
          <a:ln/>
        </p:spPr>
        <p:txBody>
          <a:bodyPr wrap="square" lIns="0" tIns="0" rIns="0" bIns="0" rtlCol="0" anchor="t"/>
          <a:lstStyle/>
          <a:p>
            <a:pPr indent="0" marL="0">
              <a:buNone/>
            </a:pPr>
            <a:r>
              <a:rPr lang="en-US" sz="1400" dirty="0">
                <a:solidFill>
                  <a:schemeClr val="tx2"/>
                </a:solidFill>
              </a:rPr>
              <a:t>A setting that blocks suggestions matching public code</a:t>
            </a:r>
            <a:endParaRPr lang="en-US" sz="1400" dirty="0"/>
          </a:p>
        </p:txBody>
      </p:sp>
      <p:sp>
        <p:nvSpPr>
          <p:cNvPr id="35" name="text-433"/>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GitHub Docs (features, plans, quickstart and Copilot CLI pages, October 2026). Names can change between versions.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node-434"/>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A one-page cheat sheet for everyday use</a:t>
            </a:r>
            <a:endParaRPr lang="en-US" sz="3000" dirty="0"/>
          </a:p>
        </p:txBody>
      </p:sp>
      <p:sp>
        <p:nvSpPr>
          <p:cNvPr id="5" name="card-435"/>
          <p:cNvSpPr/>
          <p:nvPr/>
        </p:nvSpPr>
        <p:spPr>
          <a:xfrm>
            <a:off x="548640" y="1920240"/>
            <a:ext cx="3515258" cy="3977640"/>
          </a:xfrm>
          <a:prstGeom prst="roundRect">
            <a:avLst>
              <a:gd name="adj" fmla="val 2341"/>
            </a:avLst>
          </a:prstGeom>
          <a:solidFill>
            <a:schemeClr val="bg2"/>
          </a:solidFill>
          <a:ln/>
        </p:spPr>
      </p:sp>
      <p:sp>
        <p:nvSpPr>
          <p:cNvPr id="6" name="text-436"/>
          <p:cNvSpPr txBox="1"/>
          <p:nvPr/>
        </p:nvSpPr>
        <p:spPr>
          <a:xfrm>
            <a:off x="822960" y="2148840"/>
            <a:ext cx="2966618" cy="365760"/>
          </a:xfrm>
          <a:prstGeom prst="rect">
            <a:avLst/>
          </a:prstGeom>
          <a:noFill/>
          <a:ln/>
        </p:spPr>
        <p:txBody>
          <a:bodyPr wrap="square" lIns="0" tIns="0" rIns="0" bIns="0" rtlCol="0" anchor="t"/>
          <a:lstStyle/>
          <a:p>
            <a:pPr indent="0" marL="0">
              <a:buNone/>
            </a:pPr>
            <a:r>
              <a:rPr lang="en-US" sz="1800" b="1" dirty="0">
                <a:solidFill>
                  <a:schemeClr val="tx1"/>
                </a:solidFill>
              </a:rPr>
              <a:t>In VS Code</a:t>
            </a:r>
            <a:endParaRPr lang="en-US" sz="1800" dirty="0"/>
          </a:p>
        </p:txBody>
      </p:sp>
      <p:sp>
        <p:nvSpPr>
          <p:cNvPr id="7" name="text-437"/>
          <p:cNvSpPr txBox="1"/>
          <p:nvPr/>
        </p:nvSpPr>
        <p:spPr>
          <a:xfrm>
            <a:off x="822960" y="269748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Tab</a:t>
            </a:r>
            <a:endParaRPr lang="en-US" sz="1400" dirty="0"/>
          </a:p>
        </p:txBody>
      </p:sp>
      <p:sp>
        <p:nvSpPr>
          <p:cNvPr id="8" name="text-438"/>
          <p:cNvSpPr txBox="1"/>
          <p:nvPr/>
        </p:nvSpPr>
        <p:spPr>
          <a:xfrm>
            <a:off x="822960" y="2962656"/>
            <a:ext cx="2966618" cy="256032"/>
          </a:xfrm>
          <a:prstGeom prst="rect">
            <a:avLst/>
          </a:prstGeom>
          <a:noFill/>
          <a:ln/>
        </p:spPr>
        <p:txBody>
          <a:bodyPr wrap="square" lIns="0" tIns="0" rIns="0" bIns="0" rtlCol="0" anchor="t"/>
          <a:lstStyle/>
          <a:p>
            <a:pPr indent="0" marL="0">
              <a:buNone/>
            </a:pPr>
            <a:r>
              <a:rPr lang="en-US" sz="1400" dirty="0">
                <a:solidFill>
                  <a:schemeClr val="tx2"/>
                </a:solidFill>
              </a:rPr>
              <a:t>Accept the grey suggestion</a:t>
            </a:r>
            <a:endParaRPr lang="en-US" sz="1400" dirty="0"/>
          </a:p>
        </p:txBody>
      </p:sp>
      <p:sp>
        <p:nvSpPr>
          <p:cNvPr id="9" name="text-439"/>
          <p:cNvSpPr txBox="1"/>
          <p:nvPr/>
        </p:nvSpPr>
        <p:spPr>
          <a:xfrm>
            <a:off x="822960" y="3319272"/>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Esc</a:t>
            </a:r>
            <a:endParaRPr lang="en-US" sz="1400" dirty="0"/>
          </a:p>
        </p:txBody>
      </p:sp>
      <p:sp>
        <p:nvSpPr>
          <p:cNvPr id="10" name="text-440"/>
          <p:cNvSpPr txBox="1"/>
          <p:nvPr/>
        </p:nvSpPr>
        <p:spPr>
          <a:xfrm>
            <a:off x="822960" y="3584448"/>
            <a:ext cx="2966618" cy="256032"/>
          </a:xfrm>
          <a:prstGeom prst="rect">
            <a:avLst/>
          </a:prstGeom>
          <a:noFill/>
          <a:ln/>
        </p:spPr>
        <p:txBody>
          <a:bodyPr wrap="square" lIns="0" tIns="0" rIns="0" bIns="0" rtlCol="0" anchor="t"/>
          <a:lstStyle/>
          <a:p>
            <a:pPr indent="0" marL="0">
              <a:buNone/>
            </a:pPr>
            <a:r>
              <a:rPr lang="en-US" sz="1400" dirty="0">
                <a:solidFill>
                  <a:schemeClr val="tx2"/>
                </a:solidFill>
              </a:rPr>
              <a:t>Dismiss the suggestion</a:t>
            </a:r>
            <a:endParaRPr lang="en-US" sz="1400" dirty="0"/>
          </a:p>
        </p:txBody>
      </p:sp>
      <p:sp>
        <p:nvSpPr>
          <p:cNvPr id="11" name="text-441"/>
          <p:cNvSpPr txBox="1"/>
          <p:nvPr/>
        </p:nvSpPr>
        <p:spPr>
          <a:xfrm>
            <a:off x="822960" y="3941064"/>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Ctrl+Alt+I</a:t>
            </a:r>
            <a:endParaRPr lang="en-US" sz="1400" dirty="0"/>
          </a:p>
        </p:txBody>
      </p:sp>
      <p:sp>
        <p:nvSpPr>
          <p:cNvPr id="12" name="text-442"/>
          <p:cNvSpPr txBox="1"/>
          <p:nvPr/>
        </p:nvSpPr>
        <p:spPr>
          <a:xfrm>
            <a:off x="822960" y="4206240"/>
            <a:ext cx="2966618" cy="256032"/>
          </a:xfrm>
          <a:prstGeom prst="rect">
            <a:avLst/>
          </a:prstGeom>
          <a:noFill/>
          <a:ln/>
        </p:spPr>
        <p:txBody>
          <a:bodyPr wrap="square" lIns="0" tIns="0" rIns="0" bIns="0" rtlCol="0" anchor="t"/>
          <a:lstStyle/>
          <a:p>
            <a:pPr indent="0" marL="0">
              <a:buNone/>
            </a:pPr>
            <a:r>
              <a:rPr lang="en-US" sz="1400" dirty="0">
                <a:solidFill>
                  <a:schemeClr val="tx2"/>
                </a:solidFill>
              </a:rPr>
              <a:t>Open Chat (Ctrl+Cmd+I on a Mac)</a:t>
            </a:r>
            <a:endParaRPr lang="en-US" sz="1400" dirty="0"/>
          </a:p>
        </p:txBody>
      </p:sp>
      <p:sp>
        <p:nvSpPr>
          <p:cNvPr id="13" name="text-443"/>
          <p:cNvSpPr txBox="1"/>
          <p:nvPr/>
        </p:nvSpPr>
        <p:spPr>
          <a:xfrm>
            <a:off x="822960" y="4562856"/>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Ctrl+I</a:t>
            </a:r>
            <a:endParaRPr lang="en-US" sz="1400" dirty="0"/>
          </a:p>
        </p:txBody>
      </p:sp>
      <p:sp>
        <p:nvSpPr>
          <p:cNvPr id="14" name="text-444"/>
          <p:cNvSpPr txBox="1"/>
          <p:nvPr/>
        </p:nvSpPr>
        <p:spPr>
          <a:xfrm>
            <a:off x="822960" y="4828032"/>
            <a:ext cx="2966618" cy="256032"/>
          </a:xfrm>
          <a:prstGeom prst="rect">
            <a:avLst/>
          </a:prstGeom>
          <a:noFill/>
          <a:ln/>
        </p:spPr>
        <p:txBody>
          <a:bodyPr wrap="square" lIns="0" tIns="0" rIns="0" bIns="0" rtlCol="0" anchor="t"/>
          <a:lstStyle/>
          <a:p>
            <a:pPr indent="0" marL="0">
              <a:buNone/>
            </a:pPr>
            <a:r>
              <a:rPr lang="en-US" sz="1400" dirty="0">
                <a:solidFill>
                  <a:schemeClr val="tx2"/>
                </a:solidFill>
              </a:rPr>
              <a:t>Inline chat (Cmd+I on a Mac)</a:t>
            </a:r>
            <a:endParaRPr lang="en-US" sz="1400" dirty="0"/>
          </a:p>
        </p:txBody>
      </p:sp>
      <p:sp>
        <p:nvSpPr>
          <p:cNvPr id="15" name="text-445"/>
          <p:cNvSpPr txBox="1"/>
          <p:nvPr/>
        </p:nvSpPr>
        <p:spPr>
          <a:xfrm>
            <a:off x="822960" y="5184648"/>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Keep</a:t>
            </a:r>
            <a:endParaRPr lang="en-US" sz="1400" dirty="0"/>
          </a:p>
        </p:txBody>
      </p:sp>
      <p:sp>
        <p:nvSpPr>
          <p:cNvPr id="16" name="text-446"/>
          <p:cNvSpPr txBox="1"/>
          <p:nvPr/>
        </p:nvSpPr>
        <p:spPr>
          <a:xfrm>
            <a:off x="822960" y="5449824"/>
            <a:ext cx="2966618" cy="256032"/>
          </a:xfrm>
          <a:prstGeom prst="rect">
            <a:avLst/>
          </a:prstGeom>
          <a:noFill/>
          <a:ln/>
        </p:spPr>
        <p:txBody>
          <a:bodyPr wrap="square" lIns="0" tIns="0" rIns="0" bIns="0" rtlCol="0" anchor="t"/>
          <a:lstStyle/>
          <a:p>
            <a:pPr indent="0" marL="0">
              <a:buNone/>
            </a:pPr>
            <a:r>
              <a:rPr lang="en-US" sz="1400" dirty="0">
                <a:solidFill>
                  <a:schemeClr val="tx2"/>
                </a:solidFill>
              </a:rPr>
              <a:t>Accept the agent's changes</a:t>
            </a:r>
            <a:endParaRPr lang="en-US" sz="1400" dirty="0"/>
          </a:p>
        </p:txBody>
      </p:sp>
      <p:sp>
        <p:nvSpPr>
          <p:cNvPr id="17" name="card-447"/>
          <p:cNvSpPr/>
          <p:nvPr/>
        </p:nvSpPr>
        <p:spPr>
          <a:xfrm>
            <a:off x="4338218" y="1920240"/>
            <a:ext cx="3515258" cy="3977640"/>
          </a:xfrm>
          <a:prstGeom prst="roundRect">
            <a:avLst>
              <a:gd name="adj" fmla="val 2341"/>
            </a:avLst>
          </a:prstGeom>
          <a:solidFill>
            <a:schemeClr val="bg2"/>
          </a:solidFill>
          <a:ln/>
        </p:spPr>
      </p:sp>
      <p:sp>
        <p:nvSpPr>
          <p:cNvPr id="18" name="text-448"/>
          <p:cNvSpPr txBox="1"/>
          <p:nvPr/>
        </p:nvSpPr>
        <p:spPr>
          <a:xfrm>
            <a:off x="4612538" y="2148840"/>
            <a:ext cx="2966618" cy="365760"/>
          </a:xfrm>
          <a:prstGeom prst="rect">
            <a:avLst/>
          </a:prstGeom>
          <a:noFill/>
          <a:ln/>
        </p:spPr>
        <p:txBody>
          <a:bodyPr wrap="square" lIns="0" tIns="0" rIns="0" bIns="0" rtlCol="0" anchor="t"/>
          <a:lstStyle/>
          <a:p>
            <a:pPr indent="0" marL="0">
              <a:buNone/>
            </a:pPr>
            <a:r>
              <a:rPr lang="en-US" sz="1800" b="1" dirty="0">
                <a:solidFill>
                  <a:schemeClr val="tx1"/>
                </a:solidFill>
              </a:rPr>
              <a:t>In Chat</a:t>
            </a:r>
            <a:endParaRPr lang="en-US" sz="1800" dirty="0"/>
          </a:p>
        </p:txBody>
      </p:sp>
      <p:sp>
        <p:nvSpPr>
          <p:cNvPr id="19" name="text-449"/>
          <p:cNvSpPr txBox="1"/>
          <p:nvPr/>
        </p:nvSpPr>
        <p:spPr>
          <a:xfrm>
            <a:off x="4612538" y="269748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/explain</a:t>
            </a:r>
            <a:endParaRPr lang="en-US" sz="1400" dirty="0"/>
          </a:p>
        </p:txBody>
      </p:sp>
      <p:sp>
        <p:nvSpPr>
          <p:cNvPr id="20" name="text-450"/>
          <p:cNvSpPr txBox="1"/>
          <p:nvPr/>
        </p:nvSpPr>
        <p:spPr>
          <a:xfrm>
            <a:off x="4612538" y="2962656"/>
            <a:ext cx="2966618" cy="256032"/>
          </a:xfrm>
          <a:prstGeom prst="rect">
            <a:avLst/>
          </a:prstGeom>
          <a:noFill/>
          <a:ln/>
        </p:spPr>
        <p:txBody>
          <a:bodyPr wrap="square" lIns="0" tIns="0" rIns="0" bIns="0" rtlCol="0" anchor="t"/>
          <a:lstStyle/>
          <a:p>
            <a:pPr indent="0" marL="0">
              <a:buNone/>
            </a:pPr>
            <a:r>
              <a:rPr lang="en-US" sz="1400" dirty="0">
                <a:solidFill>
                  <a:schemeClr val="tx2"/>
                </a:solidFill>
              </a:rPr>
              <a:t>Explain the code in the editor</a:t>
            </a:r>
            <a:endParaRPr lang="en-US" sz="1400" dirty="0"/>
          </a:p>
        </p:txBody>
      </p:sp>
      <p:sp>
        <p:nvSpPr>
          <p:cNvPr id="21" name="text-451"/>
          <p:cNvSpPr txBox="1"/>
          <p:nvPr/>
        </p:nvSpPr>
        <p:spPr>
          <a:xfrm>
            <a:off x="4612538" y="3319272"/>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/fix</a:t>
            </a:r>
            <a:endParaRPr lang="en-US" sz="1400" dirty="0"/>
          </a:p>
        </p:txBody>
      </p:sp>
      <p:sp>
        <p:nvSpPr>
          <p:cNvPr id="22" name="text-452"/>
          <p:cNvSpPr txBox="1"/>
          <p:nvPr/>
        </p:nvSpPr>
        <p:spPr>
          <a:xfrm>
            <a:off x="4612538" y="3584448"/>
            <a:ext cx="2966618" cy="256032"/>
          </a:xfrm>
          <a:prstGeom prst="rect">
            <a:avLst/>
          </a:prstGeom>
          <a:noFill/>
          <a:ln/>
        </p:spPr>
        <p:txBody>
          <a:bodyPr wrap="square" lIns="0" tIns="0" rIns="0" bIns="0" rtlCol="0" anchor="t"/>
          <a:lstStyle/>
          <a:p>
            <a:pPr indent="0" marL="0">
              <a:buNone/>
            </a:pPr>
            <a:r>
              <a:rPr lang="en-US" sz="1400" dirty="0">
                <a:solidFill>
                  <a:schemeClr val="tx2"/>
                </a:solidFill>
              </a:rPr>
              <a:t>Propose a fix for selected code</a:t>
            </a:r>
            <a:endParaRPr lang="en-US" sz="1400" dirty="0"/>
          </a:p>
        </p:txBody>
      </p:sp>
      <p:sp>
        <p:nvSpPr>
          <p:cNvPr id="23" name="text-453"/>
          <p:cNvSpPr txBox="1"/>
          <p:nvPr/>
        </p:nvSpPr>
        <p:spPr>
          <a:xfrm>
            <a:off x="4612538" y="3941064"/>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/tests</a:t>
            </a:r>
            <a:endParaRPr lang="en-US" sz="1400" dirty="0"/>
          </a:p>
        </p:txBody>
      </p:sp>
      <p:sp>
        <p:nvSpPr>
          <p:cNvPr id="24" name="text-454"/>
          <p:cNvSpPr txBox="1"/>
          <p:nvPr/>
        </p:nvSpPr>
        <p:spPr>
          <a:xfrm>
            <a:off x="4612538" y="4206240"/>
            <a:ext cx="2966618" cy="256032"/>
          </a:xfrm>
          <a:prstGeom prst="rect">
            <a:avLst/>
          </a:prstGeom>
          <a:noFill/>
          <a:ln/>
        </p:spPr>
        <p:txBody>
          <a:bodyPr wrap="square" lIns="0" tIns="0" rIns="0" bIns="0" rtlCol="0" anchor="t"/>
          <a:lstStyle/>
          <a:p>
            <a:pPr indent="0" marL="0">
              <a:buNone/>
            </a:pPr>
            <a:r>
              <a:rPr lang="en-US" sz="1400" dirty="0">
                <a:solidFill>
                  <a:schemeClr val="tx2"/>
                </a:solidFill>
              </a:rPr>
              <a:t>Generate unit tests</a:t>
            </a:r>
            <a:endParaRPr lang="en-US" sz="1400" dirty="0"/>
          </a:p>
        </p:txBody>
      </p:sp>
      <p:sp>
        <p:nvSpPr>
          <p:cNvPr id="25" name="text-455"/>
          <p:cNvSpPr txBox="1"/>
          <p:nvPr/>
        </p:nvSpPr>
        <p:spPr>
          <a:xfrm>
            <a:off x="4612538" y="4562856"/>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#file</a:t>
            </a:r>
            <a:endParaRPr lang="en-US" sz="1400" dirty="0"/>
          </a:p>
        </p:txBody>
      </p:sp>
      <p:sp>
        <p:nvSpPr>
          <p:cNvPr id="26" name="text-456"/>
          <p:cNvSpPr txBox="1"/>
          <p:nvPr/>
        </p:nvSpPr>
        <p:spPr>
          <a:xfrm>
            <a:off x="4612538" y="4828032"/>
            <a:ext cx="2966618" cy="256032"/>
          </a:xfrm>
          <a:prstGeom prst="rect">
            <a:avLst/>
          </a:prstGeom>
          <a:noFill/>
          <a:ln/>
        </p:spPr>
        <p:txBody>
          <a:bodyPr wrap="square" lIns="0" tIns="0" rIns="0" bIns="0" rtlCol="0" anchor="t"/>
          <a:lstStyle/>
          <a:p>
            <a:pPr indent="0" marL="0">
              <a:buNone/>
            </a:pPr>
            <a:r>
              <a:rPr lang="en-US" sz="1400" dirty="0">
                <a:solidFill>
                  <a:schemeClr val="tx2"/>
                </a:solidFill>
              </a:rPr>
              <a:t>Include the current file</a:t>
            </a:r>
            <a:endParaRPr lang="en-US" sz="1400" dirty="0"/>
          </a:p>
        </p:txBody>
      </p:sp>
      <p:sp>
        <p:nvSpPr>
          <p:cNvPr id="27" name="text-457"/>
          <p:cNvSpPr txBox="1"/>
          <p:nvPr/>
        </p:nvSpPr>
        <p:spPr>
          <a:xfrm>
            <a:off x="4612538" y="5184648"/>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/clear</a:t>
            </a:r>
            <a:endParaRPr lang="en-US" sz="1400" dirty="0"/>
          </a:p>
        </p:txBody>
      </p:sp>
      <p:sp>
        <p:nvSpPr>
          <p:cNvPr id="28" name="text-458"/>
          <p:cNvSpPr txBox="1"/>
          <p:nvPr/>
        </p:nvSpPr>
        <p:spPr>
          <a:xfrm>
            <a:off x="4612538" y="5449824"/>
            <a:ext cx="2966618" cy="256032"/>
          </a:xfrm>
          <a:prstGeom prst="rect">
            <a:avLst/>
          </a:prstGeom>
          <a:noFill/>
          <a:ln/>
        </p:spPr>
        <p:txBody>
          <a:bodyPr wrap="square" lIns="0" tIns="0" rIns="0" bIns="0" rtlCol="0" anchor="t"/>
          <a:lstStyle/>
          <a:p>
            <a:pPr indent="0" marL="0">
              <a:buNone/>
            </a:pPr>
            <a:r>
              <a:rPr lang="en-US" sz="1400" dirty="0">
                <a:solidFill>
                  <a:schemeClr val="tx2"/>
                </a:solidFill>
              </a:rPr>
              <a:t>Start a new chat session</a:t>
            </a:r>
            <a:endParaRPr lang="en-US" sz="1400" dirty="0"/>
          </a:p>
        </p:txBody>
      </p:sp>
      <p:sp>
        <p:nvSpPr>
          <p:cNvPr id="29" name="card-459"/>
          <p:cNvSpPr/>
          <p:nvPr/>
        </p:nvSpPr>
        <p:spPr>
          <a:xfrm>
            <a:off x="8127797" y="1920240"/>
            <a:ext cx="3515258" cy="3977640"/>
          </a:xfrm>
          <a:prstGeom prst="roundRect">
            <a:avLst>
              <a:gd name="adj" fmla="val 2341"/>
            </a:avLst>
          </a:prstGeom>
          <a:solidFill>
            <a:schemeClr val="bg2"/>
          </a:solidFill>
          <a:ln/>
        </p:spPr>
      </p:sp>
      <p:sp>
        <p:nvSpPr>
          <p:cNvPr id="30" name="text-460"/>
          <p:cNvSpPr txBox="1"/>
          <p:nvPr/>
        </p:nvSpPr>
        <p:spPr>
          <a:xfrm>
            <a:off x="8402117" y="2148840"/>
            <a:ext cx="2966618" cy="365760"/>
          </a:xfrm>
          <a:prstGeom prst="rect">
            <a:avLst/>
          </a:prstGeom>
          <a:noFill/>
          <a:ln/>
        </p:spPr>
        <p:txBody>
          <a:bodyPr wrap="square" lIns="0" tIns="0" rIns="0" bIns="0" rtlCol="0" anchor="t"/>
          <a:lstStyle/>
          <a:p>
            <a:pPr indent="0" marL="0">
              <a:buNone/>
            </a:pPr>
            <a:r>
              <a:rPr lang="en-US" sz="1800" b="1" dirty="0">
                <a:solidFill>
                  <a:schemeClr val="tx1"/>
                </a:solidFill>
              </a:rPr>
              <a:t>In the terminal</a:t>
            </a:r>
            <a:endParaRPr lang="en-US" sz="1800" dirty="0"/>
          </a:p>
        </p:txBody>
      </p:sp>
      <p:sp>
        <p:nvSpPr>
          <p:cNvPr id="31" name="text-461"/>
          <p:cNvSpPr txBox="1"/>
          <p:nvPr/>
        </p:nvSpPr>
        <p:spPr>
          <a:xfrm>
            <a:off x="8402117" y="269748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copilot</a:t>
            </a:r>
            <a:endParaRPr lang="en-US" sz="1400" dirty="0"/>
          </a:p>
        </p:txBody>
      </p:sp>
      <p:sp>
        <p:nvSpPr>
          <p:cNvPr id="32" name="text-462"/>
          <p:cNvSpPr txBox="1"/>
          <p:nvPr/>
        </p:nvSpPr>
        <p:spPr>
          <a:xfrm>
            <a:off x="8402117" y="2962656"/>
            <a:ext cx="2966618" cy="256032"/>
          </a:xfrm>
          <a:prstGeom prst="rect">
            <a:avLst/>
          </a:prstGeom>
          <a:noFill/>
          <a:ln/>
        </p:spPr>
        <p:txBody>
          <a:bodyPr wrap="square" lIns="0" tIns="0" rIns="0" bIns="0" rtlCol="0" anchor="t"/>
          <a:lstStyle/>
          <a:p>
            <a:pPr indent="0" marL="0">
              <a:buNone/>
            </a:pPr>
            <a:r>
              <a:rPr lang="en-US" sz="1400" dirty="0">
                <a:solidFill>
                  <a:schemeClr val="tx2"/>
                </a:solidFill>
              </a:rPr>
              <a:t>Start Copilot CLI</a:t>
            </a:r>
            <a:endParaRPr lang="en-US" sz="1400" dirty="0"/>
          </a:p>
        </p:txBody>
      </p:sp>
      <p:sp>
        <p:nvSpPr>
          <p:cNvPr id="33" name="text-463"/>
          <p:cNvSpPr txBox="1"/>
          <p:nvPr/>
        </p:nvSpPr>
        <p:spPr>
          <a:xfrm>
            <a:off x="8402117" y="3319272"/>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/login</a:t>
            </a:r>
            <a:endParaRPr lang="en-US" sz="1400" dirty="0"/>
          </a:p>
        </p:txBody>
      </p:sp>
      <p:sp>
        <p:nvSpPr>
          <p:cNvPr id="34" name="text-464"/>
          <p:cNvSpPr txBox="1"/>
          <p:nvPr/>
        </p:nvSpPr>
        <p:spPr>
          <a:xfrm>
            <a:off x="8402117" y="3584448"/>
            <a:ext cx="2966618" cy="256032"/>
          </a:xfrm>
          <a:prstGeom prst="rect">
            <a:avLst/>
          </a:prstGeom>
          <a:noFill/>
          <a:ln/>
        </p:spPr>
        <p:txBody>
          <a:bodyPr wrap="square" lIns="0" tIns="0" rIns="0" bIns="0" rtlCol="0" anchor="t"/>
          <a:lstStyle/>
          <a:p>
            <a:pPr indent="0" marL="0">
              <a:buNone/>
            </a:pPr>
            <a:r>
              <a:rPr lang="en-US" sz="1400" dirty="0">
                <a:solidFill>
                  <a:schemeClr val="tx2"/>
                </a:solidFill>
              </a:rPr>
              <a:t>Sign in to GitHub</a:t>
            </a:r>
            <a:endParaRPr lang="en-US" sz="1400" dirty="0"/>
          </a:p>
        </p:txBody>
      </p:sp>
      <p:sp>
        <p:nvSpPr>
          <p:cNvPr id="35" name="text-465"/>
          <p:cNvSpPr txBox="1"/>
          <p:nvPr/>
        </p:nvSpPr>
        <p:spPr>
          <a:xfrm>
            <a:off x="8402117" y="3941064"/>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Shift+Tab</a:t>
            </a:r>
            <a:endParaRPr lang="en-US" sz="1400" dirty="0"/>
          </a:p>
        </p:txBody>
      </p:sp>
      <p:sp>
        <p:nvSpPr>
          <p:cNvPr id="36" name="text-466"/>
          <p:cNvSpPr txBox="1"/>
          <p:nvPr/>
        </p:nvSpPr>
        <p:spPr>
          <a:xfrm>
            <a:off x="8402117" y="4206240"/>
            <a:ext cx="2966618" cy="256032"/>
          </a:xfrm>
          <a:prstGeom prst="rect">
            <a:avLst/>
          </a:prstGeom>
          <a:noFill/>
          <a:ln/>
        </p:spPr>
        <p:txBody>
          <a:bodyPr wrap="square" lIns="0" tIns="0" rIns="0" bIns="0" rtlCol="0" anchor="t"/>
          <a:lstStyle/>
          <a:p>
            <a:pPr indent="0" marL="0">
              <a:buNone/>
            </a:pPr>
            <a:r>
              <a:rPr lang="en-US" sz="1400" dirty="0">
                <a:solidFill>
                  <a:schemeClr val="tx2"/>
                </a:solidFill>
              </a:rPr>
              <a:t>Switch plan mode on or off</a:t>
            </a:r>
            <a:endParaRPr lang="en-US" sz="1400" dirty="0"/>
          </a:p>
        </p:txBody>
      </p:sp>
      <p:sp>
        <p:nvSpPr>
          <p:cNvPr id="37" name="text-467"/>
          <p:cNvSpPr txBox="1"/>
          <p:nvPr/>
        </p:nvSpPr>
        <p:spPr>
          <a:xfrm>
            <a:off x="8402117" y="4562856"/>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@path</a:t>
            </a:r>
            <a:endParaRPr lang="en-US" sz="1400" dirty="0"/>
          </a:p>
        </p:txBody>
      </p:sp>
      <p:sp>
        <p:nvSpPr>
          <p:cNvPr id="38" name="text-468"/>
          <p:cNvSpPr txBox="1"/>
          <p:nvPr/>
        </p:nvSpPr>
        <p:spPr>
          <a:xfrm>
            <a:off x="8402117" y="4828032"/>
            <a:ext cx="2966618" cy="256032"/>
          </a:xfrm>
          <a:prstGeom prst="rect">
            <a:avLst/>
          </a:prstGeom>
          <a:noFill/>
          <a:ln/>
        </p:spPr>
        <p:txBody>
          <a:bodyPr wrap="square" lIns="0" tIns="0" rIns="0" bIns="0" rtlCol="0" anchor="t"/>
          <a:lstStyle/>
          <a:p>
            <a:pPr indent="0" marL="0">
              <a:buNone/>
            </a:pPr>
            <a:r>
              <a:rPr lang="en-US" sz="1400" dirty="0">
                <a:solidFill>
                  <a:schemeClr val="tx2"/>
                </a:solidFill>
              </a:rPr>
              <a:t>Add a file to your prompt</a:t>
            </a:r>
            <a:endParaRPr lang="en-US" sz="1400" dirty="0"/>
          </a:p>
        </p:txBody>
      </p:sp>
      <p:sp>
        <p:nvSpPr>
          <p:cNvPr id="39" name="text-469"/>
          <p:cNvSpPr txBox="1"/>
          <p:nvPr/>
        </p:nvSpPr>
        <p:spPr>
          <a:xfrm>
            <a:off x="8402117" y="5184648"/>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!command</a:t>
            </a:r>
            <a:endParaRPr lang="en-US" sz="1400" dirty="0"/>
          </a:p>
        </p:txBody>
      </p:sp>
      <p:sp>
        <p:nvSpPr>
          <p:cNvPr id="40" name="text-470"/>
          <p:cNvSpPr txBox="1"/>
          <p:nvPr/>
        </p:nvSpPr>
        <p:spPr>
          <a:xfrm>
            <a:off x="8402117" y="5449824"/>
            <a:ext cx="2966618" cy="256032"/>
          </a:xfrm>
          <a:prstGeom prst="rect">
            <a:avLst/>
          </a:prstGeom>
          <a:noFill/>
          <a:ln/>
        </p:spPr>
        <p:txBody>
          <a:bodyPr wrap="square" lIns="0" tIns="0" rIns="0" bIns="0" rtlCol="0" anchor="t"/>
          <a:lstStyle/>
          <a:p>
            <a:pPr indent="0" marL="0">
              <a:buNone/>
            </a:pPr>
            <a:r>
              <a:rPr lang="en-US" sz="1400" dirty="0">
                <a:solidFill>
                  <a:schemeClr val="tx2"/>
                </a:solidFill>
              </a:rPr>
              <a:t>Run a shell command yourself</a:t>
            </a:r>
            <a:endParaRPr lang="en-US" sz="1400" dirty="0"/>
          </a:p>
        </p:txBody>
      </p:sp>
      <p:sp>
        <p:nvSpPr>
          <p:cNvPr id="41" name="text-471"/>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Keyboard shortcuts are VS Code defaults. Source: GitHub Docs (quickstart, chat cheat sheet and Copilot CLI pages,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node-472"/>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Four steps make a good first session</a:t>
            </a:r>
            <a:endParaRPr lang="en-US" sz="3000" dirty="0"/>
          </a:p>
        </p:txBody>
      </p:sp>
      <p:sp>
        <p:nvSpPr>
          <p:cNvPr id="5" name="step-473"/>
          <p:cNvSpPr/>
          <p:nvPr/>
        </p:nvSpPr>
        <p:spPr>
          <a:xfrm>
            <a:off x="548640" y="1975104"/>
            <a:ext cx="548640" cy="548640"/>
          </a:xfrm>
          <a:prstGeom prst="ellipse">
            <a:avLst/>
          </a:prstGeom>
          <a:solidFill>
            <a:schemeClr val="accent1"/>
          </a:solidFill>
          <a:ln/>
        </p:spPr>
      </p:sp>
      <p:sp>
        <p:nvSpPr>
          <p:cNvPr id="6" name="text-474"/>
          <p:cNvSpPr txBox="1"/>
          <p:nvPr/>
        </p:nvSpPr>
        <p:spPr>
          <a:xfrm>
            <a:off x="548640" y="197510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7" name="card-475"/>
          <p:cNvSpPr/>
          <p:nvPr/>
        </p:nvSpPr>
        <p:spPr>
          <a:xfrm>
            <a:off x="1325880" y="1920240"/>
            <a:ext cx="5760720" cy="658368"/>
          </a:xfrm>
          <a:prstGeom prst="roundRect">
            <a:avLst>
              <a:gd name="adj" fmla="val 12500"/>
            </a:avLst>
          </a:prstGeom>
          <a:solidFill>
            <a:schemeClr val="tx1"/>
          </a:solidFill>
          <a:ln/>
        </p:spPr>
      </p:sp>
      <p:sp>
        <p:nvSpPr>
          <p:cNvPr id="8" name="text-476"/>
          <p:cNvSpPr txBox="1"/>
          <p:nvPr/>
        </p:nvSpPr>
        <p:spPr>
          <a:xfrm>
            <a:off x="1554480" y="1920240"/>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explain this file</a:t>
            </a:r>
            <a:endParaRPr lang="en-US" sz="1400" dirty="0"/>
          </a:p>
        </p:txBody>
      </p:sp>
      <p:pic>
        <p:nvPicPr>
          <p:cNvPr id="9" name="arrow-477" descr="preencoded.png">    </p:cNvPr>
          <p:cNvPicPr>
            <a:picLocks noChangeAspect="1"/>
          </p:cNvPicPr>
          <p:nvPr/>
        </p:nvPicPr>
        <p:blipFill>
          <a:blip r:embed="rId1"/>
          <a:stretch>
            <a:fillRect/>
          </a:stretch>
        </p:blipFill>
        <p:spPr>
          <a:xfrm>
            <a:off x="7269480" y="2112264"/>
            <a:ext cx="274320" cy="274320"/>
          </a:xfrm>
          <a:prstGeom prst="rect">
            <a:avLst/>
          </a:prstGeom>
        </p:spPr>
      </p:pic>
      <p:sp>
        <p:nvSpPr>
          <p:cNvPr id="10" name="text-478"/>
          <p:cNvSpPr txBox="1"/>
          <p:nvPr/>
        </p:nvSpPr>
        <p:spPr>
          <a:xfrm>
            <a:off x="7772400" y="1920240"/>
            <a:ext cx="3870655" cy="658368"/>
          </a:xfrm>
          <a:prstGeom prst="rect">
            <a:avLst/>
          </a:prstGeom>
          <a:noFill/>
          <a:ln/>
        </p:spPr>
        <p:txBody>
          <a:bodyPr wrap="square" lIns="0" tIns="0" rIns="0" bIns="0" rtlCol="0" anchor="ctr"/>
          <a:lstStyle/>
          <a:p>
            <a:pPr indent="0" marL="0">
              <a:buNone/>
            </a:pPr>
            <a:r>
              <a:rPr lang="en-US" sz="1400" dirty="0">
                <a:solidFill>
                  <a:schemeClr val="tx2"/>
                </a:solidFill>
              </a:rPr>
              <a:t>Chat describes what the open file does</a:t>
            </a:r>
            <a:endParaRPr lang="en-US" sz="1400" dirty="0"/>
          </a:p>
        </p:txBody>
      </p:sp>
      <p:sp>
        <p:nvSpPr>
          <p:cNvPr id="11" name="step-479"/>
          <p:cNvSpPr/>
          <p:nvPr/>
        </p:nvSpPr>
        <p:spPr>
          <a:xfrm>
            <a:off x="548640" y="2779776"/>
            <a:ext cx="548640" cy="548640"/>
          </a:xfrm>
          <a:prstGeom prst="ellipse">
            <a:avLst/>
          </a:prstGeom>
          <a:solidFill>
            <a:schemeClr val="accent1"/>
          </a:solidFill>
          <a:ln/>
        </p:spPr>
      </p:sp>
      <p:sp>
        <p:nvSpPr>
          <p:cNvPr id="12" name="text-480"/>
          <p:cNvSpPr txBox="1"/>
          <p:nvPr/>
        </p:nvSpPr>
        <p:spPr>
          <a:xfrm>
            <a:off x="548640" y="277977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2</a:t>
            </a:r>
            <a:endParaRPr lang="en-US" sz="1800" dirty="0"/>
          </a:p>
        </p:txBody>
      </p:sp>
      <p:sp>
        <p:nvSpPr>
          <p:cNvPr id="13" name="card-481"/>
          <p:cNvSpPr/>
          <p:nvPr/>
        </p:nvSpPr>
        <p:spPr>
          <a:xfrm>
            <a:off x="1325880" y="2724912"/>
            <a:ext cx="5760720" cy="658368"/>
          </a:xfrm>
          <a:prstGeom prst="roundRect">
            <a:avLst>
              <a:gd name="adj" fmla="val 12500"/>
            </a:avLst>
          </a:prstGeom>
          <a:solidFill>
            <a:schemeClr val="tx1"/>
          </a:solidFill>
          <a:ln/>
        </p:spPr>
      </p:sp>
      <p:sp>
        <p:nvSpPr>
          <p:cNvPr id="14" name="text-482"/>
          <p:cNvSpPr txBox="1"/>
          <p:nvPr/>
        </p:nvSpPr>
        <p:spPr>
          <a:xfrm>
            <a:off x="1554480" y="2724912"/>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how could I improve this code?</a:t>
            </a:r>
            <a:endParaRPr lang="en-US" sz="1400" dirty="0"/>
          </a:p>
        </p:txBody>
      </p:sp>
      <p:pic>
        <p:nvPicPr>
          <p:cNvPr id="15" name="arrow-483" descr="preencoded.png">    </p:cNvPr>
          <p:cNvPicPr>
            <a:picLocks noChangeAspect="1"/>
          </p:cNvPicPr>
          <p:nvPr/>
        </p:nvPicPr>
        <p:blipFill>
          <a:blip r:embed="rId2"/>
          <a:stretch>
            <a:fillRect/>
          </a:stretch>
        </p:blipFill>
        <p:spPr>
          <a:xfrm>
            <a:off x="7269480" y="2916936"/>
            <a:ext cx="274320" cy="274320"/>
          </a:xfrm>
          <a:prstGeom prst="rect">
            <a:avLst/>
          </a:prstGeom>
        </p:spPr>
      </p:pic>
      <p:sp>
        <p:nvSpPr>
          <p:cNvPr id="16" name="text-484"/>
          <p:cNvSpPr txBox="1"/>
          <p:nvPr/>
        </p:nvSpPr>
        <p:spPr>
          <a:xfrm>
            <a:off x="7772400" y="2724912"/>
            <a:ext cx="3870655" cy="658368"/>
          </a:xfrm>
          <a:prstGeom prst="rect">
            <a:avLst/>
          </a:prstGeom>
          <a:noFill/>
          <a:ln/>
        </p:spPr>
        <p:txBody>
          <a:bodyPr wrap="square" lIns="0" tIns="0" rIns="0" bIns="0" rtlCol="0" anchor="ctr"/>
          <a:lstStyle/>
          <a:p>
            <a:pPr indent="0" marL="0">
              <a:buNone/>
            </a:pPr>
            <a:r>
              <a:rPr lang="en-US" sz="1400" dirty="0">
                <a:solidFill>
                  <a:schemeClr val="tx2"/>
                </a:solidFill>
              </a:rPr>
              <a:t>You get suggestions you can discuss further</a:t>
            </a:r>
            <a:endParaRPr lang="en-US" sz="1400" dirty="0"/>
          </a:p>
        </p:txBody>
      </p:sp>
      <p:sp>
        <p:nvSpPr>
          <p:cNvPr id="17" name="step-485"/>
          <p:cNvSpPr/>
          <p:nvPr/>
        </p:nvSpPr>
        <p:spPr>
          <a:xfrm>
            <a:off x="548640" y="3584448"/>
            <a:ext cx="548640" cy="548640"/>
          </a:xfrm>
          <a:prstGeom prst="ellipse">
            <a:avLst/>
          </a:prstGeom>
          <a:solidFill>
            <a:schemeClr val="accent1"/>
          </a:solidFill>
          <a:ln/>
        </p:spPr>
      </p:sp>
      <p:sp>
        <p:nvSpPr>
          <p:cNvPr id="18" name="text-486"/>
          <p:cNvSpPr txBox="1"/>
          <p:nvPr/>
        </p:nvSpPr>
        <p:spPr>
          <a:xfrm>
            <a:off x="548640" y="35844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3</a:t>
            </a:r>
            <a:endParaRPr lang="en-US" sz="1800" dirty="0"/>
          </a:p>
        </p:txBody>
      </p:sp>
      <p:sp>
        <p:nvSpPr>
          <p:cNvPr id="19" name="card-487"/>
          <p:cNvSpPr/>
          <p:nvPr/>
        </p:nvSpPr>
        <p:spPr>
          <a:xfrm>
            <a:off x="1325880" y="3529584"/>
            <a:ext cx="5760720" cy="658368"/>
          </a:xfrm>
          <a:prstGeom prst="roundRect">
            <a:avLst>
              <a:gd name="adj" fmla="val 12500"/>
            </a:avLst>
          </a:prstGeom>
          <a:solidFill>
            <a:schemeClr val="tx1"/>
          </a:solidFill>
          <a:ln/>
        </p:spPr>
      </p:sp>
      <p:sp>
        <p:nvSpPr>
          <p:cNvPr id="20" name="text-488"/>
          <p:cNvSpPr txBox="1"/>
          <p:nvPr/>
        </p:nvSpPr>
        <p:spPr>
          <a:xfrm>
            <a:off x="1554480" y="3529584"/>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/tests</a:t>
            </a:r>
            <a:endParaRPr lang="en-US" sz="1400" dirty="0"/>
          </a:p>
        </p:txBody>
      </p:sp>
      <p:pic>
        <p:nvPicPr>
          <p:cNvPr id="21" name="arrow-489" descr="preencoded.png">    </p:cNvPr>
          <p:cNvPicPr>
            <a:picLocks noChangeAspect="1"/>
          </p:cNvPicPr>
          <p:nvPr/>
        </p:nvPicPr>
        <p:blipFill>
          <a:blip r:embed="rId3"/>
          <a:stretch>
            <a:fillRect/>
          </a:stretch>
        </p:blipFill>
        <p:spPr>
          <a:xfrm>
            <a:off x="7269480" y="3721608"/>
            <a:ext cx="274320" cy="274320"/>
          </a:xfrm>
          <a:prstGeom prst="rect">
            <a:avLst/>
          </a:prstGeom>
        </p:spPr>
      </p:pic>
      <p:sp>
        <p:nvSpPr>
          <p:cNvPr id="22" name="text-490"/>
          <p:cNvSpPr txBox="1"/>
          <p:nvPr/>
        </p:nvSpPr>
        <p:spPr>
          <a:xfrm>
            <a:off x="7772400" y="3529584"/>
            <a:ext cx="3870655" cy="658368"/>
          </a:xfrm>
          <a:prstGeom prst="rect">
            <a:avLst/>
          </a:prstGeom>
          <a:noFill/>
          <a:ln/>
        </p:spPr>
        <p:txBody>
          <a:bodyPr wrap="square" lIns="0" tIns="0" rIns="0" bIns="0" rtlCol="0" anchor="ctr"/>
          <a:lstStyle/>
          <a:p>
            <a:pPr indent="0" marL="0">
              <a:buNone/>
            </a:pPr>
            <a:r>
              <a:rPr lang="en-US" sz="1400" dirty="0">
                <a:solidFill>
                  <a:schemeClr val="tx2"/>
                </a:solidFill>
              </a:rPr>
              <a:t>Chat writes unit tests for the selected code</a:t>
            </a:r>
            <a:endParaRPr lang="en-US" sz="1400" dirty="0"/>
          </a:p>
        </p:txBody>
      </p:sp>
      <p:sp>
        <p:nvSpPr>
          <p:cNvPr id="23" name="step-491"/>
          <p:cNvSpPr/>
          <p:nvPr/>
        </p:nvSpPr>
        <p:spPr>
          <a:xfrm>
            <a:off x="548640" y="4389120"/>
            <a:ext cx="548640" cy="548640"/>
          </a:xfrm>
          <a:prstGeom prst="ellipse">
            <a:avLst/>
          </a:prstGeom>
          <a:solidFill>
            <a:schemeClr val="accent1"/>
          </a:solidFill>
          <a:ln/>
        </p:spPr>
      </p:sp>
      <p:sp>
        <p:nvSpPr>
          <p:cNvPr id="24" name="text-492"/>
          <p:cNvSpPr txBox="1"/>
          <p:nvPr/>
        </p:nvSpPr>
        <p:spPr>
          <a:xfrm>
            <a:off x="548640" y="4389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4</a:t>
            </a:r>
            <a:endParaRPr lang="en-US" sz="1800" dirty="0"/>
          </a:p>
        </p:txBody>
      </p:sp>
      <p:sp>
        <p:nvSpPr>
          <p:cNvPr id="25" name="card-493"/>
          <p:cNvSpPr/>
          <p:nvPr/>
        </p:nvSpPr>
        <p:spPr>
          <a:xfrm>
            <a:off x="1325880" y="4334256"/>
            <a:ext cx="5760720" cy="658368"/>
          </a:xfrm>
          <a:prstGeom prst="roundRect">
            <a:avLst>
              <a:gd name="adj" fmla="val 12500"/>
            </a:avLst>
          </a:prstGeom>
          <a:solidFill>
            <a:schemeClr val="tx1"/>
          </a:solidFill>
          <a:ln/>
        </p:spPr>
      </p:sp>
      <p:sp>
        <p:nvSpPr>
          <p:cNvPr id="26" name="text-494"/>
          <p:cNvSpPr txBox="1"/>
          <p:nvPr/>
        </p:nvSpPr>
        <p:spPr>
          <a:xfrm>
            <a:off x="1554480" y="4334256"/>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function daysBetween(begin, end) {</a:t>
            </a:r>
            <a:endParaRPr lang="en-US" sz="1400" dirty="0"/>
          </a:p>
        </p:txBody>
      </p:sp>
      <p:pic>
        <p:nvPicPr>
          <p:cNvPr id="27" name="arrow-495" descr="preencoded.png">    </p:cNvPr>
          <p:cNvPicPr>
            <a:picLocks noChangeAspect="1"/>
          </p:cNvPicPr>
          <p:nvPr/>
        </p:nvPicPr>
        <p:blipFill>
          <a:blip r:embed="rId4"/>
          <a:stretch>
            <a:fillRect/>
          </a:stretch>
        </p:blipFill>
        <p:spPr>
          <a:xfrm>
            <a:off x="7269480" y="4526280"/>
            <a:ext cx="274320" cy="274320"/>
          </a:xfrm>
          <a:prstGeom prst="rect">
            <a:avLst/>
          </a:prstGeom>
        </p:spPr>
      </p:pic>
      <p:sp>
        <p:nvSpPr>
          <p:cNvPr id="28" name="text-496"/>
          <p:cNvSpPr txBox="1"/>
          <p:nvPr/>
        </p:nvSpPr>
        <p:spPr>
          <a:xfrm>
            <a:off x="7772400" y="4334256"/>
            <a:ext cx="3870655" cy="658368"/>
          </a:xfrm>
          <a:prstGeom prst="rect">
            <a:avLst/>
          </a:prstGeom>
          <a:noFill/>
          <a:ln/>
        </p:spPr>
        <p:txBody>
          <a:bodyPr wrap="square" lIns="0" tIns="0" rIns="0" bIns="0" rtlCol="0" anchor="ctr"/>
          <a:lstStyle/>
          <a:p>
            <a:pPr indent="0" marL="0">
              <a:buNone/>
            </a:pPr>
            <a:r>
              <a:rPr lang="en-US" sz="1400" dirty="0">
                <a:solidFill>
                  <a:schemeClr val="tx2"/>
                </a:solidFill>
              </a:rPr>
              <a:t>Typed in a file: a grey suggestion appears; press Tab</a:t>
            </a:r>
            <a:endParaRPr lang="en-US" sz="1400" dirty="0"/>
          </a:p>
        </p:txBody>
      </p:sp>
      <p:sp>
        <p:nvSpPr>
          <p:cNvPr id="29" name="card-497"/>
          <p:cNvSpPr/>
          <p:nvPr/>
        </p:nvSpPr>
        <p:spPr>
          <a:xfrm>
            <a:off x="548640" y="5303520"/>
            <a:ext cx="11094415" cy="594360"/>
          </a:xfrm>
          <a:prstGeom prst="roundRect">
            <a:avLst>
              <a:gd name="adj" fmla="val 13846"/>
            </a:avLst>
          </a:prstGeom>
          <a:solidFill>
            <a:schemeClr val="accent5"/>
          </a:solidFill>
          <a:ln/>
        </p:spPr>
      </p:sp>
      <p:sp>
        <p:nvSpPr>
          <p:cNvPr id="30" name="tile-498"/>
          <p:cNvSpPr/>
          <p:nvPr/>
        </p:nvSpPr>
        <p:spPr>
          <a:xfrm>
            <a:off x="685800" y="5399532"/>
            <a:ext cx="402336" cy="402336"/>
          </a:xfrm>
          <a:prstGeom prst="roundRect">
            <a:avLst>
              <a:gd name="adj" fmla="val 20455"/>
            </a:avLst>
          </a:prstGeom>
          <a:solidFill>
            <a:schemeClr val="bg1"/>
          </a:solidFill>
          <a:ln/>
        </p:spPr>
      </p:sp>
      <p:pic>
        <p:nvPicPr>
          <p:cNvPr id="31" name="icon-499" descr="preencoded.png">    </p:cNvPr>
          <p:cNvPicPr>
            <a:picLocks noChangeAspect="1"/>
          </p:cNvPicPr>
          <p:nvPr/>
        </p:nvPicPr>
        <p:blipFill>
          <a:blip r:embed="rId5"/>
          <a:stretch>
            <a:fillRect/>
          </a:stretch>
        </p:blipFill>
        <p:spPr>
          <a:xfrm>
            <a:off x="786384" y="5500116"/>
            <a:ext cx="201168" cy="201168"/>
          </a:xfrm>
          <a:prstGeom prst="rect">
            <a:avLst/>
          </a:prstGeom>
        </p:spPr>
      </p:pic>
      <p:sp>
        <p:nvSpPr>
          <p:cNvPr id="32" name="text-500"/>
          <p:cNvSpPr txBox="1"/>
          <p:nvPr/>
        </p:nvSpPr>
        <p:spPr>
          <a:xfrm>
            <a:off x="1261872" y="5303520"/>
            <a:ext cx="10198303" cy="594360"/>
          </a:xfrm>
          <a:prstGeom prst="rect">
            <a:avLst/>
          </a:prstGeom>
          <a:noFill/>
          <a:ln/>
        </p:spPr>
        <p:txBody>
          <a:bodyPr wrap="square" lIns="0" tIns="0" rIns="0" bIns="0" rtlCol="0" anchor="ctr"/>
          <a:lstStyle/>
          <a:p>
            <a:pPr indent="0" marL="0">
              <a:buNone/>
            </a:pPr>
            <a:r>
              <a:rPr lang="en-US" sz="1400" dirty="0">
                <a:solidFill>
                  <a:schemeClr val="tx1"/>
                </a:solidFill>
              </a:rPr>
              <a:t>Open the file you want to talk about first. Chat uses the file in your editor as context.</a:t>
            </a:r>
            <a:endParaRPr lang="en-US" sz="1400" dirty="0"/>
          </a:p>
        </p:txBody>
      </p:sp>
      <p:sp>
        <p:nvSpPr>
          <p:cNvPr id="33" name="text-501"/>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Adapted from GitHub Docs, Quickstart for GitHub Copilot.</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node-502"/>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everyday jobs you can hand over</a:t>
            </a:r>
            <a:endParaRPr lang="en-US" sz="3000" dirty="0"/>
          </a:p>
        </p:txBody>
      </p:sp>
      <p:sp>
        <p:nvSpPr>
          <p:cNvPr id="5" name="card-503"/>
          <p:cNvSpPr/>
          <p:nvPr/>
        </p:nvSpPr>
        <p:spPr>
          <a:xfrm>
            <a:off x="548640" y="1920240"/>
            <a:ext cx="3515258" cy="1828800"/>
          </a:xfrm>
          <a:prstGeom prst="roundRect">
            <a:avLst>
              <a:gd name="adj" fmla="val 4500"/>
            </a:avLst>
          </a:prstGeom>
          <a:solidFill>
            <a:schemeClr val="bg2"/>
          </a:solidFill>
          <a:ln/>
        </p:spPr>
      </p:sp>
      <p:sp>
        <p:nvSpPr>
          <p:cNvPr id="6" name="tile-504"/>
          <p:cNvSpPr/>
          <p:nvPr/>
        </p:nvSpPr>
        <p:spPr>
          <a:xfrm>
            <a:off x="777240" y="2121408"/>
            <a:ext cx="530352" cy="530352"/>
          </a:xfrm>
          <a:prstGeom prst="roundRect">
            <a:avLst>
              <a:gd name="adj" fmla="val 15517"/>
            </a:avLst>
          </a:prstGeom>
          <a:solidFill>
            <a:schemeClr val="accent5"/>
          </a:solidFill>
          <a:ln/>
        </p:spPr>
      </p:sp>
      <p:pic>
        <p:nvPicPr>
          <p:cNvPr id="7" name="icon-505" descr="preencoded.png">    </p:cNvPr>
          <p:cNvPicPr>
            <a:picLocks noChangeAspect="1"/>
          </p:cNvPicPr>
          <p:nvPr/>
        </p:nvPicPr>
        <p:blipFill>
          <a:blip r:embed="rId1"/>
          <a:stretch>
            <a:fillRect/>
          </a:stretch>
        </p:blipFill>
        <p:spPr>
          <a:xfrm>
            <a:off x="909828" y="2253996"/>
            <a:ext cx="265176" cy="265176"/>
          </a:xfrm>
          <a:prstGeom prst="rect">
            <a:avLst/>
          </a:prstGeom>
        </p:spPr>
      </p:pic>
      <p:sp>
        <p:nvSpPr>
          <p:cNvPr id="8" name="text-506"/>
          <p:cNvSpPr txBox="1"/>
          <p:nvPr/>
        </p:nvSpPr>
        <p:spPr>
          <a:xfrm>
            <a:off x="1490472" y="212140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Understand code</a:t>
            </a:r>
            <a:endParaRPr lang="en-US" sz="1800" dirty="0"/>
          </a:p>
        </p:txBody>
      </p:sp>
      <p:sp>
        <p:nvSpPr>
          <p:cNvPr id="9" name="card-507"/>
          <p:cNvSpPr/>
          <p:nvPr/>
        </p:nvSpPr>
        <p:spPr>
          <a:xfrm>
            <a:off x="777240" y="2834640"/>
            <a:ext cx="3058058" cy="713232"/>
          </a:xfrm>
          <a:prstGeom prst="roundRect">
            <a:avLst>
              <a:gd name="adj" fmla="val 11538"/>
            </a:avLst>
          </a:prstGeom>
          <a:solidFill>
            <a:schemeClr val="tx1"/>
          </a:solidFill>
          <a:ln/>
        </p:spPr>
      </p:sp>
      <p:sp>
        <p:nvSpPr>
          <p:cNvPr id="10" name="text-508"/>
          <p:cNvSpPr txBox="1"/>
          <p:nvPr/>
        </p:nvSpPr>
        <p:spPr>
          <a:xfrm>
            <a:off x="932688" y="283464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/explain</a:t>
            </a:r>
            <a:endParaRPr lang="en-US" sz="1400" dirty="0"/>
          </a:p>
        </p:txBody>
      </p:sp>
      <p:sp>
        <p:nvSpPr>
          <p:cNvPr id="11" name="card-509"/>
          <p:cNvSpPr/>
          <p:nvPr/>
        </p:nvSpPr>
        <p:spPr>
          <a:xfrm>
            <a:off x="4338218" y="1920240"/>
            <a:ext cx="3515258" cy="1828800"/>
          </a:xfrm>
          <a:prstGeom prst="roundRect">
            <a:avLst>
              <a:gd name="adj" fmla="val 4500"/>
            </a:avLst>
          </a:prstGeom>
          <a:solidFill>
            <a:schemeClr val="bg2"/>
          </a:solidFill>
          <a:ln/>
        </p:spPr>
      </p:sp>
      <p:sp>
        <p:nvSpPr>
          <p:cNvPr id="12" name="tile-510"/>
          <p:cNvSpPr/>
          <p:nvPr/>
        </p:nvSpPr>
        <p:spPr>
          <a:xfrm>
            <a:off x="4566818" y="2121408"/>
            <a:ext cx="530352" cy="530352"/>
          </a:xfrm>
          <a:prstGeom prst="roundRect">
            <a:avLst>
              <a:gd name="adj" fmla="val 15517"/>
            </a:avLst>
          </a:prstGeom>
          <a:solidFill>
            <a:schemeClr val="accent5"/>
          </a:solidFill>
          <a:ln/>
        </p:spPr>
      </p:sp>
      <p:pic>
        <p:nvPicPr>
          <p:cNvPr id="13" name="icon-511" descr="preencoded.png">    </p:cNvPr>
          <p:cNvPicPr>
            <a:picLocks noChangeAspect="1"/>
          </p:cNvPicPr>
          <p:nvPr/>
        </p:nvPicPr>
        <p:blipFill>
          <a:blip r:embed="rId2"/>
          <a:stretch>
            <a:fillRect/>
          </a:stretch>
        </p:blipFill>
        <p:spPr>
          <a:xfrm>
            <a:off x="4699406" y="2253996"/>
            <a:ext cx="265176" cy="265176"/>
          </a:xfrm>
          <a:prstGeom prst="rect">
            <a:avLst/>
          </a:prstGeom>
        </p:spPr>
      </p:pic>
      <p:sp>
        <p:nvSpPr>
          <p:cNvPr id="14" name="text-512"/>
          <p:cNvSpPr txBox="1"/>
          <p:nvPr/>
        </p:nvSpPr>
        <p:spPr>
          <a:xfrm>
            <a:off x="5280050" y="212140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Fix a bug</a:t>
            </a:r>
            <a:endParaRPr lang="en-US" sz="1800" dirty="0"/>
          </a:p>
        </p:txBody>
      </p:sp>
      <p:sp>
        <p:nvSpPr>
          <p:cNvPr id="15" name="card-513"/>
          <p:cNvSpPr/>
          <p:nvPr/>
        </p:nvSpPr>
        <p:spPr>
          <a:xfrm>
            <a:off x="4566818" y="2834640"/>
            <a:ext cx="3058058" cy="713232"/>
          </a:xfrm>
          <a:prstGeom prst="roundRect">
            <a:avLst>
              <a:gd name="adj" fmla="val 11538"/>
            </a:avLst>
          </a:prstGeom>
          <a:solidFill>
            <a:schemeClr val="tx1"/>
          </a:solidFill>
          <a:ln/>
        </p:spPr>
      </p:sp>
      <p:sp>
        <p:nvSpPr>
          <p:cNvPr id="16" name="text-514"/>
          <p:cNvSpPr txBox="1"/>
          <p:nvPr/>
        </p:nvSpPr>
        <p:spPr>
          <a:xfrm>
            <a:off x="4722266" y="283464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/fix the total is wrong when the cart is empty</a:t>
            </a:r>
            <a:endParaRPr lang="en-US" sz="1400" dirty="0"/>
          </a:p>
        </p:txBody>
      </p:sp>
      <p:sp>
        <p:nvSpPr>
          <p:cNvPr id="17" name="card-515"/>
          <p:cNvSpPr/>
          <p:nvPr/>
        </p:nvSpPr>
        <p:spPr>
          <a:xfrm>
            <a:off x="8127797" y="1920240"/>
            <a:ext cx="3515258" cy="1828800"/>
          </a:xfrm>
          <a:prstGeom prst="roundRect">
            <a:avLst>
              <a:gd name="adj" fmla="val 4500"/>
            </a:avLst>
          </a:prstGeom>
          <a:solidFill>
            <a:schemeClr val="bg2"/>
          </a:solidFill>
          <a:ln/>
        </p:spPr>
      </p:sp>
      <p:sp>
        <p:nvSpPr>
          <p:cNvPr id="18" name="tile-516"/>
          <p:cNvSpPr/>
          <p:nvPr/>
        </p:nvSpPr>
        <p:spPr>
          <a:xfrm>
            <a:off x="8356397" y="2121408"/>
            <a:ext cx="530352" cy="530352"/>
          </a:xfrm>
          <a:prstGeom prst="roundRect">
            <a:avLst>
              <a:gd name="adj" fmla="val 15517"/>
            </a:avLst>
          </a:prstGeom>
          <a:solidFill>
            <a:schemeClr val="accent5"/>
          </a:solidFill>
          <a:ln/>
        </p:spPr>
      </p:sp>
      <p:pic>
        <p:nvPicPr>
          <p:cNvPr id="19" name="icon-517" descr="preencoded.png">    </p:cNvPr>
          <p:cNvPicPr>
            <a:picLocks noChangeAspect="1"/>
          </p:cNvPicPr>
          <p:nvPr/>
        </p:nvPicPr>
        <p:blipFill>
          <a:blip r:embed="rId3"/>
          <a:stretch>
            <a:fillRect/>
          </a:stretch>
        </p:blipFill>
        <p:spPr>
          <a:xfrm>
            <a:off x="8488985" y="2253996"/>
            <a:ext cx="265176" cy="265176"/>
          </a:xfrm>
          <a:prstGeom prst="rect">
            <a:avLst/>
          </a:prstGeom>
        </p:spPr>
      </p:pic>
      <p:sp>
        <p:nvSpPr>
          <p:cNvPr id="20" name="text-518"/>
          <p:cNvSpPr txBox="1"/>
          <p:nvPr/>
        </p:nvSpPr>
        <p:spPr>
          <a:xfrm>
            <a:off x="9069629" y="212140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Write tests</a:t>
            </a:r>
            <a:endParaRPr lang="en-US" sz="1800" dirty="0"/>
          </a:p>
        </p:txBody>
      </p:sp>
      <p:sp>
        <p:nvSpPr>
          <p:cNvPr id="21" name="card-519"/>
          <p:cNvSpPr/>
          <p:nvPr/>
        </p:nvSpPr>
        <p:spPr>
          <a:xfrm>
            <a:off x="8356397" y="2834640"/>
            <a:ext cx="3058058" cy="713232"/>
          </a:xfrm>
          <a:prstGeom prst="roundRect">
            <a:avLst>
              <a:gd name="adj" fmla="val 11538"/>
            </a:avLst>
          </a:prstGeom>
          <a:solidFill>
            <a:schemeClr val="tx1"/>
          </a:solidFill>
          <a:ln/>
        </p:spPr>
      </p:sp>
      <p:sp>
        <p:nvSpPr>
          <p:cNvPr id="22" name="text-520"/>
          <p:cNvSpPr txBox="1"/>
          <p:nvPr/>
        </p:nvSpPr>
        <p:spPr>
          <a:xfrm>
            <a:off x="8511845" y="283464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/tests</a:t>
            </a:r>
            <a:endParaRPr lang="en-US" sz="1400" dirty="0"/>
          </a:p>
        </p:txBody>
      </p:sp>
      <p:sp>
        <p:nvSpPr>
          <p:cNvPr id="23" name="card-521"/>
          <p:cNvSpPr/>
          <p:nvPr/>
        </p:nvSpPr>
        <p:spPr>
          <a:xfrm>
            <a:off x="548640" y="4023360"/>
            <a:ext cx="3515258" cy="1828800"/>
          </a:xfrm>
          <a:prstGeom prst="roundRect">
            <a:avLst>
              <a:gd name="adj" fmla="val 4500"/>
            </a:avLst>
          </a:prstGeom>
          <a:solidFill>
            <a:schemeClr val="bg2"/>
          </a:solidFill>
          <a:ln/>
        </p:spPr>
      </p:sp>
      <p:sp>
        <p:nvSpPr>
          <p:cNvPr id="24" name="tile-522"/>
          <p:cNvSpPr/>
          <p:nvPr/>
        </p:nvSpPr>
        <p:spPr>
          <a:xfrm>
            <a:off x="777240" y="4224528"/>
            <a:ext cx="530352" cy="530352"/>
          </a:xfrm>
          <a:prstGeom prst="roundRect">
            <a:avLst>
              <a:gd name="adj" fmla="val 15517"/>
            </a:avLst>
          </a:prstGeom>
          <a:solidFill>
            <a:schemeClr val="accent5"/>
          </a:solidFill>
          <a:ln/>
        </p:spPr>
      </p:sp>
      <p:pic>
        <p:nvPicPr>
          <p:cNvPr id="25" name="icon-523" descr="preencoded.png">    </p:cNvPr>
          <p:cNvPicPr>
            <a:picLocks noChangeAspect="1"/>
          </p:cNvPicPr>
          <p:nvPr/>
        </p:nvPicPr>
        <p:blipFill>
          <a:blip r:embed="rId4"/>
          <a:stretch>
            <a:fillRect/>
          </a:stretch>
        </p:blipFill>
        <p:spPr>
          <a:xfrm>
            <a:off x="909828" y="4357116"/>
            <a:ext cx="265176" cy="265176"/>
          </a:xfrm>
          <a:prstGeom prst="rect">
            <a:avLst/>
          </a:prstGeom>
        </p:spPr>
      </p:pic>
      <p:sp>
        <p:nvSpPr>
          <p:cNvPr id="26" name="text-524"/>
          <p:cNvSpPr txBox="1"/>
          <p:nvPr/>
        </p:nvSpPr>
        <p:spPr>
          <a:xfrm>
            <a:off x="1490472" y="422452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Build a feature</a:t>
            </a:r>
            <a:endParaRPr lang="en-US" sz="1800" dirty="0"/>
          </a:p>
        </p:txBody>
      </p:sp>
      <p:sp>
        <p:nvSpPr>
          <p:cNvPr id="27" name="card-525"/>
          <p:cNvSpPr/>
          <p:nvPr/>
        </p:nvSpPr>
        <p:spPr>
          <a:xfrm>
            <a:off x="777240" y="4937760"/>
            <a:ext cx="3058058" cy="713232"/>
          </a:xfrm>
          <a:prstGeom prst="roundRect">
            <a:avLst>
              <a:gd name="adj" fmla="val 11538"/>
            </a:avLst>
          </a:prstGeom>
          <a:solidFill>
            <a:schemeClr val="tx1"/>
          </a:solidFill>
          <a:ln/>
        </p:spPr>
      </p:sp>
      <p:sp>
        <p:nvSpPr>
          <p:cNvPr id="28" name="text-526"/>
          <p:cNvSpPr txBox="1"/>
          <p:nvPr/>
        </p:nvSpPr>
        <p:spPr>
          <a:xfrm>
            <a:off x="932688" y="493776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add a dark mode toggle to the settings page</a:t>
            </a:r>
            <a:endParaRPr lang="en-US" sz="1400" dirty="0"/>
          </a:p>
        </p:txBody>
      </p:sp>
      <p:sp>
        <p:nvSpPr>
          <p:cNvPr id="29" name="card-527"/>
          <p:cNvSpPr/>
          <p:nvPr/>
        </p:nvSpPr>
        <p:spPr>
          <a:xfrm>
            <a:off x="4338218" y="4023360"/>
            <a:ext cx="3515258" cy="1828800"/>
          </a:xfrm>
          <a:prstGeom prst="roundRect">
            <a:avLst>
              <a:gd name="adj" fmla="val 4500"/>
            </a:avLst>
          </a:prstGeom>
          <a:solidFill>
            <a:schemeClr val="bg2"/>
          </a:solidFill>
          <a:ln/>
        </p:spPr>
      </p:sp>
      <p:sp>
        <p:nvSpPr>
          <p:cNvPr id="30" name="tile-528"/>
          <p:cNvSpPr/>
          <p:nvPr/>
        </p:nvSpPr>
        <p:spPr>
          <a:xfrm>
            <a:off x="4566818" y="4224528"/>
            <a:ext cx="530352" cy="530352"/>
          </a:xfrm>
          <a:prstGeom prst="roundRect">
            <a:avLst>
              <a:gd name="adj" fmla="val 15517"/>
            </a:avLst>
          </a:prstGeom>
          <a:solidFill>
            <a:schemeClr val="accent5"/>
          </a:solidFill>
          <a:ln/>
        </p:spPr>
      </p:sp>
      <p:pic>
        <p:nvPicPr>
          <p:cNvPr id="31" name="icon-529" descr="preencoded.png">    </p:cNvPr>
          <p:cNvPicPr>
            <a:picLocks noChangeAspect="1"/>
          </p:cNvPicPr>
          <p:nvPr/>
        </p:nvPicPr>
        <p:blipFill>
          <a:blip r:embed="rId5"/>
          <a:stretch>
            <a:fillRect/>
          </a:stretch>
        </p:blipFill>
        <p:spPr>
          <a:xfrm>
            <a:off x="4699406" y="4357116"/>
            <a:ext cx="265176" cy="265176"/>
          </a:xfrm>
          <a:prstGeom prst="rect">
            <a:avLst/>
          </a:prstGeom>
        </p:spPr>
      </p:pic>
      <p:sp>
        <p:nvSpPr>
          <p:cNvPr id="32" name="text-530"/>
          <p:cNvSpPr txBox="1"/>
          <p:nvPr/>
        </p:nvSpPr>
        <p:spPr>
          <a:xfrm>
            <a:off x="5280050" y="422452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Review changes</a:t>
            </a:r>
            <a:endParaRPr lang="en-US" sz="1800" dirty="0"/>
          </a:p>
        </p:txBody>
      </p:sp>
      <p:sp>
        <p:nvSpPr>
          <p:cNvPr id="33" name="card-531"/>
          <p:cNvSpPr/>
          <p:nvPr/>
        </p:nvSpPr>
        <p:spPr>
          <a:xfrm>
            <a:off x="4566818" y="4937760"/>
            <a:ext cx="3058058" cy="713232"/>
          </a:xfrm>
          <a:prstGeom prst="roundRect">
            <a:avLst>
              <a:gd name="adj" fmla="val 11538"/>
            </a:avLst>
          </a:prstGeom>
          <a:solidFill>
            <a:schemeClr val="tx1"/>
          </a:solidFill>
          <a:ln/>
        </p:spPr>
      </p:sp>
      <p:sp>
        <p:nvSpPr>
          <p:cNvPr id="34" name="text-532"/>
          <p:cNvSpPr txBox="1"/>
          <p:nvPr/>
        </p:nvSpPr>
        <p:spPr>
          <a:xfrm>
            <a:off x="4722266" y="493776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request a review from Copilot on a pull request</a:t>
            </a:r>
            <a:endParaRPr lang="en-US" sz="1400" dirty="0"/>
          </a:p>
        </p:txBody>
      </p:sp>
      <p:sp>
        <p:nvSpPr>
          <p:cNvPr id="35" name="card-533"/>
          <p:cNvSpPr/>
          <p:nvPr/>
        </p:nvSpPr>
        <p:spPr>
          <a:xfrm>
            <a:off x="8127797" y="4023360"/>
            <a:ext cx="3515258" cy="1828800"/>
          </a:xfrm>
          <a:prstGeom prst="roundRect">
            <a:avLst>
              <a:gd name="adj" fmla="val 4500"/>
            </a:avLst>
          </a:prstGeom>
          <a:solidFill>
            <a:schemeClr val="bg2"/>
          </a:solidFill>
          <a:ln/>
        </p:spPr>
      </p:sp>
      <p:sp>
        <p:nvSpPr>
          <p:cNvPr id="36" name="tile-534"/>
          <p:cNvSpPr/>
          <p:nvPr/>
        </p:nvSpPr>
        <p:spPr>
          <a:xfrm>
            <a:off x="8356397" y="4224528"/>
            <a:ext cx="530352" cy="530352"/>
          </a:xfrm>
          <a:prstGeom prst="roundRect">
            <a:avLst>
              <a:gd name="adj" fmla="val 15517"/>
            </a:avLst>
          </a:prstGeom>
          <a:solidFill>
            <a:schemeClr val="accent5"/>
          </a:solidFill>
          <a:ln/>
        </p:spPr>
      </p:sp>
      <p:pic>
        <p:nvPicPr>
          <p:cNvPr id="37" name="icon-535" descr="preencoded.png">    </p:cNvPr>
          <p:cNvPicPr>
            <a:picLocks noChangeAspect="1"/>
          </p:cNvPicPr>
          <p:nvPr/>
        </p:nvPicPr>
        <p:blipFill>
          <a:blip r:embed="rId6"/>
          <a:stretch>
            <a:fillRect/>
          </a:stretch>
        </p:blipFill>
        <p:spPr>
          <a:xfrm>
            <a:off x="8488985" y="4357116"/>
            <a:ext cx="265176" cy="265176"/>
          </a:xfrm>
          <a:prstGeom prst="rect">
            <a:avLst/>
          </a:prstGeom>
        </p:spPr>
      </p:pic>
      <p:sp>
        <p:nvSpPr>
          <p:cNvPr id="38" name="text-536"/>
          <p:cNvSpPr txBox="1"/>
          <p:nvPr/>
        </p:nvSpPr>
        <p:spPr>
          <a:xfrm>
            <a:off x="9069629" y="422452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Delegate a task</a:t>
            </a:r>
            <a:endParaRPr lang="en-US" sz="1800" dirty="0"/>
          </a:p>
        </p:txBody>
      </p:sp>
      <p:sp>
        <p:nvSpPr>
          <p:cNvPr id="39" name="card-537"/>
          <p:cNvSpPr/>
          <p:nvPr/>
        </p:nvSpPr>
        <p:spPr>
          <a:xfrm>
            <a:off x="8356397" y="4937760"/>
            <a:ext cx="3058058" cy="713232"/>
          </a:xfrm>
          <a:prstGeom prst="roundRect">
            <a:avLst>
              <a:gd name="adj" fmla="val 11538"/>
            </a:avLst>
          </a:prstGeom>
          <a:solidFill>
            <a:schemeClr val="tx1"/>
          </a:solidFill>
          <a:ln/>
        </p:spPr>
      </p:sp>
      <p:sp>
        <p:nvSpPr>
          <p:cNvPr id="40" name="text-538"/>
          <p:cNvSpPr txBox="1"/>
          <p:nvPr/>
        </p:nvSpPr>
        <p:spPr>
          <a:xfrm>
            <a:off x="8511845" y="493776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assign a GitHub issue to Copilot</a:t>
            </a:r>
            <a:endParaRPr lang="en-US" sz="1400" dirty="0"/>
          </a:p>
        </p:txBody>
      </p:sp>
      <p:sp>
        <p:nvSpPr>
          <p:cNvPr id="41" name="text-539"/>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The dark boxes show what you type or do. The last two happen on GitHub. Source: GitHub Docs, docs.github.com/copilot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node-540"/>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Specific prompts beat vague ones</a:t>
            </a:r>
            <a:endParaRPr lang="en-US" sz="3000" dirty="0"/>
          </a:p>
        </p:txBody>
      </p:sp>
      <p:sp>
        <p:nvSpPr>
          <p:cNvPr id="5" name="card-541"/>
          <p:cNvSpPr/>
          <p:nvPr/>
        </p:nvSpPr>
        <p:spPr>
          <a:xfrm>
            <a:off x="548640" y="1920240"/>
            <a:ext cx="5396332" cy="1600200"/>
          </a:xfrm>
          <a:prstGeom prst="roundRect">
            <a:avLst>
              <a:gd name="adj" fmla="val 5143"/>
            </a:avLst>
          </a:prstGeom>
          <a:solidFill>
            <a:schemeClr val="bg2"/>
          </a:solidFill>
          <a:ln/>
        </p:spPr>
      </p:sp>
      <p:sp>
        <p:nvSpPr>
          <p:cNvPr id="6" name="pill-542"/>
          <p:cNvSpPr/>
          <p:nvPr/>
        </p:nvSpPr>
        <p:spPr>
          <a:xfrm>
            <a:off x="822960" y="2148840"/>
            <a:ext cx="1188720" cy="310896"/>
          </a:xfrm>
          <a:prstGeom prst="roundRect">
            <a:avLst>
              <a:gd name="adj" fmla="val 50000"/>
            </a:avLst>
          </a:prstGeom>
          <a:solidFill>
            <a:schemeClr val="accent4"/>
          </a:solidFill>
          <a:ln/>
        </p:spPr>
      </p:sp>
      <p:sp>
        <p:nvSpPr>
          <p:cNvPr id="7" name="text-543"/>
          <p:cNvSpPr txBox="1"/>
          <p:nvPr/>
        </p:nvSpPr>
        <p:spPr>
          <a:xfrm>
            <a:off x="822960" y="2148840"/>
            <a:ext cx="118872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VAGUE</a:t>
            </a:r>
            <a:endParaRPr lang="en-US" sz="1100" dirty="0"/>
          </a:p>
        </p:txBody>
      </p:sp>
      <p:sp>
        <p:nvSpPr>
          <p:cNvPr id="8" name="text-544"/>
          <p:cNvSpPr txBox="1"/>
          <p:nvPr/>
        </p:nvSpPr>
        <p:spPr>
          <a:xfrm>
            <a:off x="822960" y="2651760"/>
            <a:ext cx="4847692" cy="7315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write a date function</a:t>
            </a:r>
            <a:endParaRPr lang="en-US" sz="1400" dirty="0"/>
          </a:p>
        </p:txBody>
      </p:sp>
      <p:sp>
        <p:nvSpPr>
          <p:cNvPr id="9" name="card-545"/>
          <p:cNvSpPr/>
          <p:nvPr/>
        </p:nvSpPr>
        <p:spPr>
          <a:xfrm>
            <a:off x="6246724" y="1920240"/>
            <a:ext cx="5396332" cy="1600200"/>
          </a:xfrm>
          <a:prstGeom prst="roundRect">
            <a:avLst>
              <a:gd name="adj" fmla="val 5143"/>
            </a:avLst>
          </a:prstGeom>
          <a:solidFill>
            <a:schemeClr val="bg2"/>
          </a:solidFill>
          <a:ln/>
        </p:spPr>
      </p:sp>
      <p:sp>
        <p:nvSpPr>
          <p:cNvPr id="10" name="pill-546"/>
          <p:cNvSpPr/>
          <p:nvPr/>
        </p:nvSpPr>
        <p:spPr>
          <a:xfrm>
            <a:off x="6521044" y="2148840"/>
            <a:ext cx="1188720" cy="310896"/>
          </a:xfrm>
          <a:prstGeom prst="roundRect">
            <a:avLst>
              <a:gd name="adj" fmla="val 50000"/>
            </a:avLst>
          </a:prstGeom>
          <a:solidFill>
            <a:schemeClr val="accent2"/>
          </a:solidFill>
          <a:ln/>
        </p:spPr>
      </p:sp>
      <p:sp>
        <p:nvSpPr>
          <p:cNvPr id="11" name="text-547"/>
          <p:cNvSpPr txBox="1"/>
          <p:nvPr/>
        </p:nvSpPr>
        <p:spPr>
          <a:xfrm>
            <a:off x="6521044" y="2148840"/>
            <a:ext cx="118872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SPECIFIC</a:t>
            </a:r>
            <a:endParaRPr lang="en-US" sz="1100" dirty="0"/>
          </a:p>
        </p:txBody>
      </p:sp>
      <p:sp>
        <p:nvSpPr>
          <p:cNvPr id="12" name="text-548"/>
          <p:cNvSpPr txBox="1"/>
          <p:nvPr/>
        </p:nvSpPr>
        <p:spPr>
          <a:xfrm>
            <a:off x="6521044" y="2651760"/>
            <a:ext cx="4847692" cy="7315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write a JavaScript function that returns the days between two dates</a:t>
            </a:r>
            <a:endParaRPr lang="en-US" sz="1400" dirty="0"/>
          </a:p>
        </p:txBody>
      </p:sp>
      <p:sp>
        <p:nvSpPr>
          <p:cNvPr id="13" name="card-549"/>
          <p:cNvSpPr/>
          <p:nvPr/>
        </p:nvSpPr>
        <p:spPr>
          <a:xfrm>
            <a:off x="548640" y="3794760"/>
            <a:ext cx="3515258" cy="2057400"/>
          </a:xfrm>
          <a:prstGeom prst="roundRect">
            <a:avLst>
              <a:gd name="adj" fmla="val 4000"/>
            </a:avLst>
          </a:prstGeom>
          <a:solidFill>
            <a:schemeClr val="bg2"/>
          </a:solidFill>
          <a:ln/>
        </p:spPr>
      </p:sp>
      <p:sp>
        <p:nvSpPr>
          <p:cNvPr id="14" name="tile-550"/>
          <p:cNvSpPr/>
          <p:nvPr/>
        </p:nvSpPr>
        <p:spPr>
          <a:xfrm>
            <a:off x="822960" y="4069080"/>
            <a:ext cx="530352" cy="530352"/>
          </a:xfrm>
          <a:prstGeom prst="roundRect">
            <a:avLst>
              <a:gd name="adj" fmla="val 15517"/>
            </a:avLst>
          </a:prstGeom>
          <a:solidFill>
            <a:schemeClr val="accent5"/>
          </a:solidFill>
          <a:ln/>
        </p:spPr>
      </p:sp>
      <p:pic>
        <p:nvPicPr>
          <p:cNvPr id="15" name="icon-551" descr="preencoded.png">    </p:cNvPr>
          <p:cNvPicPr>
            <a:picLocks noChangeAspect="1"/>
          </p:cNvPicPr>
          <p:nvPr/>
        </p:nvPicPr>
        <p:blipFill>
          <a:blip r:embed="rId1"/>
          <a:stretch>
            <a:fillRect/>
          </a:stretch>
        </p:blipFill>
        <p:spPr>
          <a:xfrm>
            <a:off x="955548" y="4201668"/>
            <a:ext cx="265176" cy="265176"/>
          </a:xfrm>
          <a:prstGeom prst="rect">
            <a:avLst/>
          </a:prstGeom>
        </p:spPr>
      </p:pic>
      <p:sp>
        <p:nvSpPr>
          <p:cNvPr id="16" name="text-552"/>
          <p:cNvSpPr txBox="1"/>
          <p:nvPr/>
        </p:nvSpPr>
        <p:spPr>
          <a:xfrm>
            <a:off x="1536192" y="40690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Give it context</a:t>
            </a:r>
            <a:endParaRPr lang="en-US" sz="1800" dirty="0"/>
          </a:p>
        </p:txBody>
      </p:sp>
      <p:sp>
        <p:nvSpPr>
          <p:cNvPr id="17" name="text-553"/>
          <p:cNvSpPr txBox="1"/>
          <p:nvPr/>
        </p:nvSpPr>
        <p:spPr>
          <a:xfrm>
            <a:off x="822960" y="4818888"/>
            <a:ext cx="2966618" cy="868680"/>
          </a:xfrm>
          <a:prstGeom prst="rect">
            <a:avLst/>
          </a:prstGeom>
          <a:noFill/>
          <a:ln/>
        </p:spPr>
        <p:txBody>
          <a:bodyPr wrap="square" lIns="0" tIns="0" rIns="0" bIns="0" rtlCol="0" anchor="t"/>
          <a:lstStyle/>
          <a:p>
            <a:pPr indent="0" marL="0">
              <a:buNone/>
            </a:pPr>
            <a:r>
              <a:rPr lang="en-US" sz="1400" dirty="0">
                <a:solidFill>
                  <a:schemeClr val="tx2"/>
                </a:solidFill>
              </a:rPr>
              <a:t>Open the relevant file, select the code, or point to it with #file</a:t>
            </a:r>
            <a:endParaRPr lang="en-US" sz="1400" dirty="0"/>
          </a:p>
        </p:txBody>
      </p:sp>
      <p:sp>
        <p:nvSpPr>
          <p:cNvPr id="18" name="card-554"/>
          <p:cNvSpPr/>
          <p:nvPr/>
        </p:nvSpPr>
        <p:spPr>
          <a:xfrm>
            <a:off x="4338218" y="3794760"/>
            <a:ext cx="3515258" cy="2057400"/>
          </a:xfrm>
          <a:prstGeom prst="roundRect">
            <a:avLst>
              <a:gd name="adj" fmla="val 4000"/>
            </a:avLst>
          </a:prstGeom>
          <a:solidFill>
            <a:schemeClr val="bg2"/>
          </a:solidFill>
          <a:ln/>
        </p:spPr>
      </p:sp>
      <p:sp>
        <p:nvSpPr>
          <p:cNvPr id="19" name="tile-555"/>
          <p:cNvSpPr/>
          <p:nvPr/>
        </p:nvSpPr>
        <p:spPr>
          <a:xfrm>
            <a:off x="4612538" y="4069080"/>
            <a:ext cx="530352" cy="530352"/>
          </a:xfrm>
          <a:prstGeom prst="roundRect">
            <a:avLst>
              <a:gd name="adj" fmla="val 15517"/>
            </a:avLst>
          </a:prstGeom>
          <a:solidFill>
            <a:schemeClr val="accent5"/>
          </a:solidFill>
          <a:ln/>
        </p:spPr>
      </p:sp>
      <p:pic>
        <p:nvPicPr>
          <p:cNvPr id="20" name="icon-556" descr="preencoded.png">    </p:cNvPr>
          <p:cNvPicPr>
            <a:picLocks noChangeAspect="1"/>
          </p:cNvPicPr>
          <p:nvPr/>
        </p:nvPicPr>
        <p:blipFill>
          <a:blip r:embed="rId2"/>
          <a:stretch>
            <a:fillRect/>
          </a:stretch>
        </p:blipFill>
        <p:spPr>
          <a:xfrm>
            <a:off x="4745126" y="4201668"/>
            <a:ext cx="265176" cy="265176"/>
          </a:xfrm>
          <a:prstGeom prst="rect">
            <a:avLst/>
          </a:prstGeom>
        </p:spPr>
      </p:pic>
      <p:sp>
        <p:nvSpPr>
          <p:cNvPr id="21" name="text-557"/>
          <p:cNvSpPr txBox="1"/>
          <p:nvPr/>
        </p:nvSpPr>
        <p:spPr>
          <a:xfrm>
            <a:off x="5325770" y="40690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Break big tasks down</a:t>
            </a:r>
            <a:endParaRPr lang="en-US" sz="1800" dirty="0"/>
          </a:p>
        </p:txBody>
      </p:sp>
      <p:sp>
        <p:nvSpPr>
          <p:cNvPr id="22" name="text-558"/>
          <p:cNvSpPr txBox="1"/>
          <p:nvPr/>
        </p:nvSpPr>
        <p:spPr>
          <a:xfrm>
            <a:off x="4612538" y="4818888"/>
            <a:ext cx="2966618" cy="868680"/>
          </a:xfrm>
          <a:prstGeom prst="rect">
            <a:avLst/>
          </a:prstGeom>
          <a:noFill/>
          <a:ln/>
        </p:spPr>
        <p:txBody>
          <a:bodyPr wrap="square" lIns="0" tIns="0" rIns="0" bIns="0" rtlCol="0" anchor="t"/>
          <a:lstStyle/>
          <a:p>
            <a:pPr indent="0" marL="0">
              <a:buNone/>
            </a:pPr>
            <a:r>
              <a:rPr lang="en-US" sz="1400" dirty="0">
                <a:solidFill>
                  <a:schemeClr val="tx2"/>
                </a:solidFill>
              </a:rPr>
              <a:t>Ask for one small step at a time, then build on the result</a:t>
            </a:r>
            <a:endParaRPr lang="en-US" sz="1400" dirty="0"/>
          </a:p>
        </p:txBody>
      </p:sp>
      <p:sp>
        <p:nvSpPr>
          <p:cNvPr id="23" name="card-559"/>
          <p:cNvSpPr/>
          <p:nvPr/>
        </p:nvSpPr>
        <p:spPr>
          <a:xfrm>
            <a:off x="8127797" y="3794760"/>
            <a:ext cx="3515258" cy="2057400"/>
          </a:xfrm>
          <a:prstGeom prst="roundRect">
            <a:avLst>
              <a:gd name="adj" fmla="val 4000"/>
            </a:avLst>
          </a:prstGeom>
          <a:solidFill>
            <a:schemeClr val="bg2"/>
          </a:solidFill>
          <a:ln/>
        </p:spPr>
      </p:sp>
      <p:sp>
        <p:nvSpPr>
          <p:cNvPr id="24" name="tile-560"/>
          <p:cNvSpPr/>
          <p:nvPr/>
        </p:nvSpPr>
        <p:spPr>
          <a:xfrm>
            <a:off x="8402117" y="4069080"/>
            <a:ext cx="530352" cy="530352"/>
          </a:xfrm>
          <a:prstGeom prst="roundRect">
            <a:avLst>
              <a:gd name="adj" fmla="val 15517"/>
            </a:avLst>
          </a:prstGeom>
          <a:solidFill>
            <a:schemeClr val="accent5"/>
          </a:solidFill>
          <a:ln/>
        </p:spPr>
      </p:sp>
      <p:pic>
        <p:nvPicPr>
          <p:cNvPr id="25" name="icon-561" descr="preencoded.png">    </p:cNvPr>
          <p:cNvPicPr>
            <a:picLocks noChangeAspect="1"/>
          </p:cNvPicPr>
          <p:nvPr/>
        </p:nvPicPr>
        <p:blipFill>
          <a:blip r:embed="rId3"/>
          <a:stretch>
            <a:fillRect/>
          </a:stretch>
        </p:blipFill>
        <p:spPr>
          <a:xfrm>
            <a:off x="8534705" y="4201668"/>
            <a:ext cx="265176" cy="265176"/>
          </a:xfrm>
          <a:prstGeom prst="rect">
            <a:avLst/>
          </a:prstGeom>
        </p:spPr>
      </p:pic>
      <p:sp>
        <p:nvSpPr>
          <p:cNvPr id="26" name="text-562"/>
          <p:cNvSpPr txBox="1"/>
          <p:nvPr/>
        </p:nvSpPr>
        <p:spPr>
          <a:xfrm>
            <a:off x="9115349" y="40690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Check, then iterate</a:t>
            </a:r>
            <a:endParaRPr lang="en-US" sz="1800" dirty="0"/>
          </a:p>
        </p:txBody>
      </p:sp>
      <p:sp>
        <p:nvSpPr>
          <p:cNvPr id="27" name="text-563"/>
          <p:cNvSpPr txBox="1"/>
          <p:nvPr/>
        </p:nvSpPr>
        <p:spPr>
          <a:xfrm>
            <a:off x="8402117" y="4818888"/>
            <a:ext cx="2966618" cy="868680"/>
          </a:xfrm>
          <a:prstGeom prst="rect">
            <a:avLst/>
          </a:prstGeom>
          <a:noFill/>
          <a:ln/>
        </p:spPr>
        <p:txBody>
          <a:bodyPr wrap="square" lIns="0" tIns="0" rIns="0" bIns="0" rtlCol="0" anchor="t"/>
          <a:lstStyle/>
          <a:p>
            <a:pPr indent="0" marL="0">
              <a:buNone/>
            </a:pPr>
            <a:r>
              <a:rPr lang="en-US" sz="1400" dirty="0">
                <a:solidFill>
                  <a:schemeClr val="tx2"/>
                </a:solidFill>
              </a:rPr>
              <a:t>Run the result, then tell Copilot exactly what to change</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node-564"/>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Five habits keep a beginner safe</a:t>
            </a:r>
            <a:endParaRPr lang="en-US" sz="3000" dirty="0"/>
          </a:p>
        </p:txBody>
      </p:sp>
      <p:sp>
        <p:nvSpPr>
          <p:cNvPr id="5" name="card-565"/>
          <p:cNvSpPr/>
          <p:nvPr/>
        </p:nvSpPr>
        <p:spPr>
          <a:xfrm>
            <a:off x="548640" y="1920240"/>
            <a:ext cx="6492240" cy="658368"/>
          </a:xfrm>
          <a:prstGeom prst="roundRect">
            <a:avLst>
              <a:gd name="adj" fmla="val 12500"/>
            </a:avLst>
          </a:prstGeom>
          <a:solidFill>
            <a:schemeClr val="bg2"/>
          </a:solidFill>
          <a:ln/>
        </p:spPr>
      </p:sp>
      <p:sp>
        <p:nvSpPr>
          <p:cNvPr id="6" name="step-566"/>
          <p:cNvSpPr/>
          <p:nvPr/>
        </p:nvSpPr>
        <p:spPr>
          <a:xfrm>
            <a:off x="685800" y="2020824"/>
            <a:ext cx="457200" cy="457200"/>
          </a:xfrm>
          <a:prstGeom prst="ellipse">
            <a:avLst/>
          </a:prstGeom>
          <a:solidFill>
            <a:schemeClr val="accent1"/>
          </a:solidFill>
          <a:ln/>
        </p:spPr>
      </p:sp>
      <p:sp>
        <p:nvSpPr>
          <p:cNvPr id="7" name="text-567"/>
          <p:cNvSpPr txBox="1"/>
          <p:nvPr/>
        </p:nvSpPr>
        <p:spPr>
          <a:xfrm>
            <a:off x="685800" y="202082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1</a:t>
            </a:r>
            <a:endParaRPr lang="en-US" sz="1600" dirty="0"/>
          </a:p>
        </p:txBody>
      </p:sp>
      <p:sp>
        <p:nvSpPr>
          <p:cNvPr id="8" name="text-568"/>
          <p:cNvSpPr txBox="1"/>
          <p:nvPr/>
        </p:nvSpPr>
        <p:spPr>
          <a:xfrm>
            <a:off x="1325880" y="1920240"/>
            <a:ext cx="5577840" cy="658368"/>
          </a:xfrm>
          <a:prstGeom prst="rect">
            <a:avLst/>
          </a:prstGeom>
          <a:noFill/>
          <a:ln/>
        </p:spPr>
        <p:txBody>
          <a:bodyPr wrap="square" lIns="0" tIns="0" rIns="0" bIns="0" rtlCol="0" anchor="ctr"/>
          <a:lstStyle/>
          <a:p>
            <a:pPr indent="0" marL="0">
              <a:buNone/>
            </a:pPr>
            <a:r>
              <a:rPr lang="en-US" sz="1600" dirty="0">
                <a:solidFill>
                  <a:schemeClr val="tx1"/>
                </a:solidFill>
              </a:rPr>
              <a:t>Read each suggestion before you press Tab</a:t>
            </a:r>
            <a:endParaRPr lang="en-US" sz="1600" dirty="0"/>
          </a:p>
        </p:txBody>
      </p:sp>
      <p:sp>
        <p:nvSpPr>
          <p:cNvPr id="9" name="card-569"/>
          <p:cNvSpPr/>
          <p:nvPr/>
        </p:nvSpPr>
        <p:spPr>
          <a:xfrm>
            <a:off x="548640" y="2706624"/>
            <a:ext cx="6492240" cy="658368"/>
          </a:xfrm>
          <a:prstGeom prst="roundRect">
            <a:avLst>
              <a:gd name="adj" fmla="val 12500"/>
            </a:avLst>
          </a:prstGeom>
          <a:solidFill>
            <a:schemeClr val="bg2"/>
          </a:solidFill>
          <a:ln/>
        </p:spPr>
      </p:sp>
      <p:sp>
        <p:nvSpPr>
          <p:cNvPr id="10" name="step-570"/>
          <p:cNvSpPr/>
          <p:nvPr/>
        </p:nvSpPr>
        <p:spPr>
          <a:xfrm>
            <a:off x="685800" y="2807208"/>
            <a:ext cx="457200" cy="457200"/>
          </a:xfrm>
          <a:prstGeom prst="ellipse">
            <a:avLst/>
          </a:prstGeom>
          <a:solidFill>
            <a:schemeClr val="accent1"/>
          </a:solidFill>
          <a:ln/>
        </p:spPr>
      </p:sp>
      <p:sp>
        <p:nvSpPr>
          <p:cNvPr id="11" name="text-571"/>
          <p:cNvSpPr txBox="1"/>
          <p:nvPr/>
        </p:nvSpPr>
        <p:spPr>
          <a:xfrm>
            <a:off x="685800" y="2807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2</a:t>
            </a:r>
            <a:endParaRPr lang="en-US" sz="1600" dirty="0"/>
          </a:p>
        </p:txBody>
      </p:sp>
      <p:sp>
        <p:nvSpPr>
          <p:cNvPr id="12" name="text-572"/>
          <p:cNvSpPr txBox="1"/>
          <p:nvPr/>
        </p:nvSpPr>
        <p:spPr>
          <a:xfrm>
            <a:off x="1325880" y="2706624"/>
            <a:ext cx="5577840" cy="658368"/>
          </a:xfrm>
          <a:prstGeom prst="rect">
            <a:avLst/>
          </a:prstGeom>
          <a:noFill/>
          <a:ln/>
        </p:spPr>
        <p:txBody>
          <a:bodyPr wrap="square" lIns="0" tIns="0" rIns="0" bIns="0" rtlCol="0" anchor="ctr"/>
          <a:lstStyle/>
          <a:p>
            <a:pPr indent="0" marL="0">
              <a:buNone/>
            </a:pPr>
            <a:r>
              <a:rPr lang="en-US" sz="1600" dirty="0">
                <a:solidFill>
                  <a:schemeClr val="tx1"/>
                </a:solidFill>
              </a:rPr>
              <a:t>Use Ask mode first on code you do not know</a:t>
            </a:r>
            <a:endParaRPr lang="en-US" sz="1600" dirty="0"/>
          </a:p>
        </p:txBody>
      </p:sp>
      <p:sp>
        <p:nvSpPr>
          <p:cNvPr id="13" name="card-573"/>
          <p:cNvSpPr/>
          <p:nvPr/>
        </p:nvSpPr>
        <p:spPr>
          <a:xfrm>
            <a:off x="548640" y="3493008"/>
            <a:ext cx="6492240" cy="658368"/>
          </a:xfrm>
          <a:prstGeom prst="roundRect">
            <a:avLst>
              <a:gd name="adj" fmla="val 12500"/>
            </a:avLst>
          </a:prstGeom>
          <a:solidFill>
            <a:schemeClr val="bg2"/>
          </a:solidFill>
          <a:ln/>
        </p:spPr>
      </p:sp>
      <p:sp>
        <p:nvSpPr>
          <p:cNvPr id="14" name="step-574"/>
          <p:cNvSpPr/>
          <p:nvPr/>
        </p:nvSpPr>
        <p:spPr>
          <a:xfrm>
            <a:off x="685800" y="3593592"/>
            <a:ext cx="457200" cy="457200"/>
          </a:xfrm>
          <a:prstGeom prst="ellipse">
            <a:avLst/>
          </a:prstGeom>
          <a:solidFill>
            <a:schemeClr val="accent1"/>
          </a:solidFill>
          <a:ln/>
        </p:spPr>
      </p:sp>
      <p:sp>
        <p:nvSpPr>
          <p:cNvPr id="15" name="text-575"/>
          <p:cNvSpPr txBox="1"/>
          <p:nvPr/>
        </p:nvSpPr>
        <p:spPr>
          <a:xfrm>
            <a:off x="685800" y="35935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3</a:t>
            </a:r>
            <a:endParaRPr lang="en-US" sz="1600" dirty="0"/>
          </a:p>
        </p:txBody>
      </p:sp>
      <p:sp>
        <p:nvSpPr>
          <p:cNvPr id="16" name="text-576"/>
          <p:cNvSpPr txBox="1"/>
          <p:nvPr/>
        </p:nvSpPr>
        <p:spPr>
          <a:xfrm>
            <a:off x="1325880" y="3493008"/>
            <a:ext cx="5577840" cy="658368"/>
          </a:xfrm>
          <a:prstGeom prst="rect">
            <a:avLst/>
          </a:prstGeom>
          <a:noFill/>
          <a:ln/>
        </p:spPr>
        <p:txBody>
          <a:bodyPr wrap="square" lIns="0" tIns="0" rIns="0" bIns="0" rtlCol="0" anchor="ctr"/>
          <a:lstStyle/>
          <a:p>
            <a:pPr indent="0" marL="0">
              <a:buNone/>
            </a:pPr>
            <a:r>
              <a:rPr lang="en-US" sz="1600" dirty="0">
                <a:solidFill>
                  <a:schemeClr val="tx1"/>
                </a:solidFill>
              </a:rPr>
              <a:t>Approve commands one at a time while you learn</a:t>
            </a:r>
            <a:endParaRPr lang="en-US" sz="1600" dirty="0"/>
          </a:p>
        </p:txBody>
      </p:sp>
      <p:sp>
        <p:nvSpPr>
          <p:cNvPr id="17" name="card-577"/>
          <p:cNvSpPr/>
          <p:nvPr/>
        </p:nvSpPr>
        <p:spPr>
          <a:xfrm>
            <a:off x="548640" y="4279392"/>
            <a:ext cx="6492240" cy="658368"/>
          </a:xfrm>
          <a:prstGeom prst="roundRect">
            <a:avLst>
              <a:gd name="adj" fmla="val 12500"/>
            </a:avLst>
          </a:prstGeom>
          <a:solidFill>
            <a:schemeClr val="bg2"/>
          </a:solidFill>
          <a:ln/>
        </p:spPr>
      </p:sp>
      <p:sp>
        <p:nvSpPr>
          <p:cNvPr id="18" name="step-578"/>
          <p:cNvSpPr/>
          <p:nvPr/>
        </p:nvSpPr>
        <p:spPr>
          <a:xfrm>
            <a:off x="685800" y="4379976"/>
            <a:ext cx="457200" cy="457200"/>
          </a:xfrm>
          <a:prstGeom prst="ellipse">
            <a:avLst/>
          </a:prstGeom>
          <a:solidFill>
            <a:schemeClr val="accent1"/>
          </a:solidFill>
          <a:ln/>
        </p:spPr>
      </p:sp>
      <p:sp>
        <p:nvSpPr>
          <p:cNvPr id="19" name="text-579"/>
          <p:cNvSpPr txBox="1"/>
          <p:nvPr/>
        </p:nvSpPr>
        <p:spPr>
          <a:xfrm>
            <a:off x="685800" y="43799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4</a:t>
            </a:r>
            <a:endParaRPr lang="en-US" sz="1600" dirty="0"/>
          </a:p>
        </p:txBody>
      </p:sp>
      <p:sp>
        <p:nvSpPr>
          <p:cNvPr id="20" name="text-580"/>
          <p:cNvSpPr txBox="1"/>
          <p:nvPr/>
        </p:nvSpPr>
        <p:spPr>
          <a:xfrm>
            <a:off x="1325880" y="4279392"/>
            <a:ext cx="5577840" cy="658368"/>
          </a:xfrm>
          <a:prstGeom prst="rect">
            <a:avLst/>
          </a:prstGeom>
          <a:noFill/>
          <a:ln/>
        </p:spPr>
        <p:txBody>
          <a:bodyPr wrap="square" lIns="0" tIns="0" rIns="0" bIns="0" rtlCol="0" anchor="ctr"/>
          <a:lstStyle/>
          <a:p>
            <a:pPr indent="0" marL="0">
              <a:buNone/>
            </a:pPr>
            <a:r>
              <a:rPr lang="en-US" sz="1600" dirty="0">
                <a:solidFill>
                  <a:schemeClr val="tx1"/>
                </a:solidFill>
              </a:rPr>
              <a:t>Review Copilot's pull requests as you would a colleague's</a:t>
            </a:r>
            <a:endParaRPr lang="en-US" sz="1600" dirty="0"/>
          </a:p>
        </p:txBody>
      </p:sp>
      <p:sp>
        <p:nvSpPr>
          <p:cNvPr id="21" name="card-581"/>
          <p:cNvSpPr/>
          <p:nvPr/>
        </p:nvSpPr>
        <p:spPr>
          <a:xfrm>
            <a:off x="548640" y="5065776"/>
            <a:ext cx="6492240" cy="658368"/>
          </a:xfrm>
          <a:prstGeom prst="roundRect">
            <a:avLst>
              <a:gd name="adj" fmla="val 12500"/>
            </a:avLst>
          </a:prstGeom>
          <a:solidFill>
            <a:schemeClr val="bg2"/>
          </a:solidFill>
          <a:ln/>
        </p:spPr>
      </p:sp>
      <p:sp>
        <p:nvSpPr>
          <p:cNvPr id="22" name="step-582"/>
          <p:cNvSpPr/>
          <p:nvPr/>
        </p:nvSpPr>
        <p:spPr>
          <a:xfrm>
            <a:off x="685800" y="5166360"/>
            <a:ext cx="457200" cy="457200"/>
          </a:xfrm>
          <a:prstGeom prst="ellipse">
            <a:avLst/>
          </a:prstGeom>
          <a:solidFill>
            <a:schemeClr val="accent1"/>
          </a:solidFill>
          <a:ln/>
        </p:spPr>
      </p:sp>
      <p:sp>
        <p:nvSpPr>
          <p:cNvPr id="23" name="text-583"/>
          <p:cNvSpPr txBox="1"/>
          <p:nvPr/>
        </p:nvSpPr>
        <p:spPr>
          <a:xfrm>
            <a:off x="685800" y="5166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5</a:t>
            </a:r>
            <a:endParaRPr lang="en-US" sz="1600" dirty="0"/>
          </a:p>
        </p:txBody>
      </p:sp>
      <p:sp>
        <p:nvSpPr>
          <p:cNvPr id="24" name="text-584"/>
          <p:cNvSpPr txBox="1"/>
          <p:nvPr/>
        </p:nvSpPr>
        <p:spPr>
          <a:xfrm>
            <a:off x="1325880" y="5065776"/>
            <a:ext cx="5577840" cy="658368"/>
          </a:xfrm>
          <a:prstGeom prst="rect">
            <a:avLst/>
          </a:prstGeom>
          <a:noFill/>
          <a:ln/>
        </p:spPr>
        <p:txBody>
          <a:bodyPr wrap="square" lIns="0" tIns="0" rIns="0" bIns="0" rtlCol="0" anchor="ctr"/>
          <a:lstStyle/>
          <a:p>
            <a:pPr indent="0" marL="0">
              <a:buNone/>
            </a:pPr>
            <a:r>
              <a:rPr lang="en-US" sz="1600" dirty="0">
                <a:solidFill>
                  <a:schemeClr val="tx1"/>
                </a:solidFill>
              </a:rPr>
              <a:t>Keep passwords and secret keys out of your prompts</a:t>
            </a:r>
            <a:endParaRPr lang="en-US" sz="1600" dirty="0"/>
          </a:p>
        </p:txBody>
      </p:sp>
      <p:sp>
        <p:nvSpPr>
          <p:cNvPr id="25" name="card-585"/>
          <p:cNvSpPr/>
          <p:nvPr/>
        </p:nvSpPr>
        <p:spPr>
          <a:xfrm>
            <a:off x="7360920" y="1920240"/>
            <a:ext cx="4282135" cy="3803904"/>
          </a:xfrm>
          <a:prstGeom prst="roundRect">
            <a:avLst>
              <a:gd name="adj" fmla="val 2163"/>
            </a:avLst>
          </a:prstGeom>
          <a:solidFill>
            <a:schemeClr val="tx1"/>
          </a:solidFill>
          <a:ln/>
        </p:spPr>
      </p:sp>
      <p:sp>
        <p:nvSpPr>
          <p:cNvPr id="26" name="tile-586"/>
          <p:cNvSpPr/>
          <p:nvPr/>
        </p:nvSpPr>
        <p:spPr>
          <a:xfrm>
            <a:off x="7680960" y="2240280"/>
            <a:ext cx="566928" cy="566928"/>
          </a:xfrm>
          <a:prstGeom prst="roundRect">
            <a:avLst>
              <a:gd name="adj" fmla="val 14516"/>
            </a:avLst>
          </a:prstGeom>
          <a:solidFill>
            <a:schemeClr val="accent6"/>
          </a:solidFill>
          <a:ln/>
        </p:spPr>
      </p:sp>
      <p:pic>
        <p:nvPicPr>
          <p:cNvPr id="27" name="icon-587" descr="preencoded.png">    </p:cNvPr>
          <p:cNvPicPr>
            <a:picLocks noChangeAspect="1"/>
          </p:cNvPicPr>
          <p:nvPr/>
        </p:nvPicPr>
        <p:blipFill>
          <a:blip r:embed="rId1"/>
          <a:stretch>
            <a:fillRect/>
          </a:stretch>
        </p:blipFill>
        <p:spPr>
          <a:xfrm>
            <a:off x="7822692" y="2382012"/>
            <a:ext cx="283464" cy="283464"/>
          </a:xfrm>
          <a:prstGeom prst="rect">
            <a:avLst/>
          </a:prstGeom>
        </p:spPr>
      </p:pic>
      <p:sp>
        <p:nvSpPr>
          <p:cNvPr id="28" name="text-588"/>
          <p:cNvSpPr txBox="1"/>
          <p:nvPr/>
        </p:nvSpPr>
        <p:spPr>
          <a:xfrm>
            <a:off x="7680960" y="3017520"/>
            <a:ext cx="3642055" cy="457200"/>
          </a:xfrm>
          <a:prstGeom prst="rect">
            <a:avLst/>
          </a:prstGeom>
          <a:noFill/>
          <a:ln/>
        </p:spPr>
        <p:txBody>
          <a:bodyPr wrap="square" lIns="0" tIns="0" rIns="0" bIns="0" rtlCol="0" anchor="t"/>
          <a:lstStyle/>
          <a:p>
            <a:pPr indent="0" marL="0">
              <a:buNone/>
            </a:pPr>
            <a:r>
              <a:rPr lang="en-US" sz="2200" b="1" dirty="0">
                <a:solidFill>
                  <a:schemeClr val="bg1"/>
                </a:solidFill>
              </a:rPr>
              <a:t>Copilot can be wrong</a:t>
            </a:r>
            <a:endParaRPr lang="en-US" sz="2200" dirty="0"/>
          </a:p>
        </p:txBody>
      </p:sp>
      <p:sp>
        <p:nvSpPr>
          <p:cNvPr id="29" name="text-589"/>
          <p:cNvSpPr txBox="1"/>
          <p:nvPr/>
        </p:nvSpPr>
        <p:spPr>
          <a:xfrm>
            <a:off x="7680960" y="3611880"/>
            <a:ext cx="3642055" cy="1828800"/>
          </a:xfrm>
          <a:prstGeom prst="rect">
            <a:avLst/>
          </a:prstGeom>
          <a:noFill/>
          <a:ln/>
        </p:spPr>
        <p:txBody>
          <a:bodyPr wrap="square" lIns="0" tIns="0" rIns="0" bIns="0" rtlCol="0" anchor="t"/>
          <a:lstStyle/>
          <a:p>
            <a:pPr indent="0" marL="0">
              <a:buNone/>
            </a:pPr>
            <a:r>
              <a:rPr lang="en-US" sz="1400" dirty="0">
                <a:solidFill>
                  <a:schemeClr val="accent5"/>
                </a:solidFill>
              </a:rPr>
              <a:t>Suggestions can contain bugs or security flaws, and they look just as confident either way. You are responsible for the code you accept.</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node-590"/>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5  |  NEXT STEPS</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Copilot sits beside four tools you may know</a:t>
            </a:r>
            <a:endParaRPr lang="en-US" sz="3000" dirty="0"/>
          </a:p>
        </p:txBody>
      </p:sp>
      <p:graphicFrame>
        <p:nvGraphicFramePr>
          <p:cNvPr id="24" name="table-591"/>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1947672"/>
                <a:gridCol w="1829349"/>
                <a:gridCol w="1829349"/>
                <a:gridCol w="1829349"/>
                <a:gridCol w="1829349"/>
                <a:gridCol w="1829349"/>
              </a:tblGrid>
              <a:tr h="411480">
                <a:tc>
                  <a:txBody>
                    <a:bodyPr/>
                    <a:lstStyle/>
                    <a:p>
                      <a:pPr indent="0" marL="0">
                        <a:buNone/>
                      </a:pP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Copilot</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Cursor</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Antigravity</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Claude Code</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Codex</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3"/>
                    </a:solidFill>
                  </a:tcPr>
                </a:tc>
              </a:tr>
              <a:tr h="566928">
                <a:tc>
                  <a:txBody>
                    <a:bodyPr/>
                    <a:lstStyle/>
                    <a:p>
                      <a:pPr indent="0" marL="0">
                        <a:buNone/>
                      </a:pPr>
                      <a:r>
                        <a:rPr lang="en-US" sz="1400" b="1" dirty="0">
                          <a:solidFill>
                            <a:schemeClr val="tx1"/>
                          </a:solidFill>
                        </a:rPr>
                        <a:t>Made by</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GitHub, part of Microsoft</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Anysphere, part of SpaceX</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Google</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Anthropic</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OpenAI</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Main form</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An add-on for your editor</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A code editor</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desktop app and editor</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terminal tool and apps</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terminal tool and apps</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Main models</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From several companies</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Many, plus its own</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Gemini</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Claude</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GPT</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tx1"/>
                          </a:solidFill>
                        </a:rPr>
                        <a:t>Terminal command</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copilot</a:t>
                      </a:r>
                      <a:endParaRPr lang="en-US" sz="1400" dirty="0">
                        <a:latin typeface="Courier New" charset="0"/>
                        <a:ea typeface="Courier New" charset="0"/>
                        <a:cs typeface="Courier New" charset="0"/>
                      </a:endParaRPr>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agent</a:t>
                      </a:r>
                      <a:endParaRPr lang="en-US" sz="1400" dirty="0">
                        <a:latin typeface="Courier New" charset="0"/>
                        <a:ea typeface="Courier New" charset="0"/>
                        <a:cs typeface="Courier New" charset="0"/>
                      </a:endParaRPr>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agy</a:t>
                      </a:r>
                      <a:endParaRPr lang="en-US" sz="1400" dirty="0">
                        <a:latin typeface="Courier New" charset="0"/>
                        <a:ea typeface="Courier New" charset="0"/>
                        <a:cs typeface="Courier New" charset="0"/>
                      </a:endParaRPr>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claude</a:t>
                      </a:r>
                      <a:endParaRPr lang="en-US" sz="1400" dirty="0">
                        <a:latin typeface="Courier New" charset="0"/>
                        <a:ea typeface="Courier New" charset="0"/>
                        <a:cs typeface="Courier New" charset="0"/>
                      </a:endParaRPr>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codex</a:t>
                      </a:r>
                      <a:endParaRPr lang="en-US" sz="1400" dirty="0">
                        <a:latin typeface="Courier New" charset="0"/>
                        <a:ea typeface="Courier New" charset="0"/>
                        <a:cs typeface="Courier New" charset="0"/>
                      </a:endParaRPr>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Project instructions</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Custom instructions or AGENTS.md</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Rules or AGENTS.md</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AGENTS.md or GEMINI.md</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CLAUDE.md</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AGENTS.md</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r>
            </a:tbl>
          </a:graphicData>
        </a:graphic>
      </p:graphicFrame>
      <p:sp>
        <p:nvSpPr>
          <p:cNvPr id="6" name="text-592"/>
          <p:cNvSpPr txBox="1"/>
          <p:nvPr/>
        </p:nvSpPr>
        <p:spPr>
          <a:xfrm>
            <a:off x="548640" y="5349240"/>
            <a:ext cx="11094415" cy="365760"/>
          </a:xfrm>
          <a:prstGeom prst="rect">
            <a:avLst/>
          </a:prstGeom>
          <a:noFill/>
          <a:ln/>
        </p:spPr>
        <p:txBody>
          <a:bodyPr wrap="square" lIns="0" tIns="0" rIns="0" bIns="0" rtlCol="0" anchor="t"/>
          <a:lstStyle/>
          <a:p>
            <a:pPr indent="0" marL="0">
              <a:buNone/>
            </a:pPr>
            <a:r>
              <a:rPr lang="en-US" sz="1400" dirty="0">
                <a:solidFill>
                  <a:schemeClr val="tx2"/>
                </a:solidFill>
              </a:rPr>
              <a:t>All five are agentic coding tools. Copilot's difference is that it plugs into the editor and the GitHub account you already have.</a:t>
            </a:r>
            <a:endParaRPr lang="en-US" sz="1400" dirty="0"/>
          </a:p>
        </p:txBody>
      </p:sp>
      <p:sp>
        <p:nvSpPr>
          <p:cNvPr id="7" name="text-593"/>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GitHub, Cursor, Google, Anthropic and OpenAI documentation (2026). A neutral orientation, not a ranking.</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node-594"/>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5  |  NEXT STEPS</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A learning path from day one to confident user</a:t>
            </a:r>
            <a:endParaRPr lang="en-US" sz="3000" dirty="0"/>
          </a:p>
        </p:txBody>
      </p:sp>
      <p:sp>
        <p:nvSpPr>
          <p:cNvPr id="5" name="rail-595"/>
          <p:cNvSpPr/>
          <p:nvPr/>
        </p:nvSpPr>
        <p:spPr>
          <a:xfrm>
            <a:off x="822960" y="2194560"/>
            <a:ext cx="8526551" cy="0"/>
          </a:xfrm>
          <a:prstGeom prst="line">
            <a:avLst/>
          </a:prstGeom>
          <a:noFill/>
          <a:ln w="50800">
            <a:solidFill>
              <a:schemeClr val="accent5"/>
            </a:solidFill>
            <a:prstDash val="solid"/>
          </a:ln>
        </p:spPr>
      </p:sp>
      <p:sp>
        <p:nvSpPr>
          <p:cNvPr id="6" name="step-596"/>
          <p:cNvSpPr/>
          <p:nvPr/>
        </p:nvSpPr>
        <p:spPr>
          <a:xfrm>
            <a:off x="548640" y="1920240"/>
            <a:ext cx="548640" cy="548640"/>
          </a:xfrm>
          <a:prstGeom prst="ellipse">
            <a:avLst/>
          </a:prstGeom>
          <a:solidFill>
            <a:schemeClr val="accent1"/>
          </a:solidFill>
          <a:ln/>
        </p:spPr>
      </p:sp>
      <p:sp>
        <p:nvSpPr>
          <p:cNvPr id="7" name="text-597"/>
          <p:cNvSpPr txBox="1"/>
          <p:nvPr/>
        </p:nvSpPr>
        <p:spPr>
          <a:xfrm>
            <a:off x="54864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8" name="text-598"/>
          <p:cNvSpPr txBox="1"/>
          <p:nvPr/>
        </p:nvSpPr>
        <p:spPr>
          <a:xfrm>
            <a:off x="548640"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Day one</a:t>
            </a:r>
            <a:endParaRPr lang="en-US" sz="2000" dirty="0"/>
          </a:p>
        </p:txBody>
      </p:sp>
      <p:sp>
        <p:nvSpPr>
          <p:cNvPr id="9" name="text-599"/>
          <p:cNvSpPr txBox="1"/>
          <p:nvPr/>
        </p:nvSpPr>
        <p:spPr>
          <a:xfrm>
            <a:off x="548640"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Sign up for Copilot Free, accept a suggestion and ask Chat to explain a file</a:t>
            </a:r>
            <a:endParaRPr lang="en-US" sz="1400" dirty="0"/>
          </a:p>
        </p:txBody>
      </p:sp>
      <p:sp>
        <p:nvSpPr>
          <p:cNvPr id="10" name="card-600"/>
          <p:cNvSpPr/>
          <p:nvPr/>
        </p:nvSpPr>
        <p:spPr>
          <a:xfrm>
            <a:off x="548640" y="4434840"/>
            <a:ext cx="2567864" cy="1051560"/>
          </a:xfrm>
          <a:prstGeom prst="roundRect">
            <a:avLst>
              <a:gd name="adj" fmla="val 7826"/>
            </a:avLst>
          </a:prstGeom>
          <a:solidFill>
            <a:schemeClr val="bg2"/>
          </a:solidFill>
          <a:ln/>
        </p:spPr>
      </p:sp>
      <p:sp>
        <p:nvSpPr>
          <p:cNvPr id="11" name="text-601"/>
          <p:cNvSpPr txBox="1"/>
          <p:nvPr/>
        </p:nvSpPr>
        <p:spPr>
          <a:xfrm>
            <a:off x="777240"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12" name="text-602"/>
          <p:cNvSpPr txBox="1"/>
          <p:nvPr/>
        </p:nvSpPr>
        <p:spPr>
          <a:xfrm>
            <a:off x="777240"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Get help as you type</a:t>
            </a:r>
            <a:endParaRPr lang="en-US" sz="1400" dirty="0"/>
          </a:p>
        </p:txBody>
      </p:sp>
      <p:sp>
        <p:nvSpPr>
          <p:cNvPr id="13" name="step-603"/>
          <p:cNvSpPr/>
          <p:nvPr/>
        </p:nvSpPr>
        <p:spPr>
          <a:xfrm>
            <a:off x="3390824" y="1920240"/>
            <a:ext cx="548640" cy="548640"/>
          </a:xfrm>
          <a:prstGeom prst="ellipse">
            <a:avLst/>
          </a:prstGeom>
          <a:solidFill>
            <a:schemeClr val="accent1"/>
          </a:solidFill>
          <a:ln/>
        </p:spPr>
      </p:sp>
      <p:sp>
        <p:nvSpPr>
          <p:cNvPr id="14" name="text-604"/>
          <p:cNvSpPr txBox="1"/>
          <p:nvPr/>
        </p:nvSpPr>
        <p:spPr>
          <a:xfrm>
            <a:off x="3390824"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2</a:t>
            </a:r>
            <a:endParaRPr lang="en-US" sz="1800" dirty="0"/>
          </a:p>
        </p:txBody>
      </p:sp>
      <p:sp>
        <p:nvSpPr>
          <p:cNvPr id="15" name="text-605"/>
          <p:cNvSpPr txBox="1"/>
          <p:nvPr/>
        </p:nvSpPr>
        <p:spPr>
          <a:xfrm>
            <a:off x="3390824"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First week</a:t>
            </a:r>
            <a:endParaRPr lang="en-US" sz="2000" dirty="0"/>
          </a:p>
        </p:txBody>
      </p:sp>
      <p:sp>
        <p:nvSpPr>
          <p:cNvPr id="16" name="text-606"/>
          <p:cNvSpPr txBox="1"/>
          <p:nvPr/>
        </p:nvSpPr>
        <p:spPr>
          <a:xfrm>
            <a:off x="3390824"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Use /fix and /tests, then try agent mode on a small change</a:t>
            </a:r>
            <a:endParaRPr lang="en-US" sz="1400" dirty="0"/>
          </a:p>
        </p:txBody>
      </p:sp>
      <p:sp>
        <p:nvSpPr>
          <p:cNvPr id="17" name="card-607"/>
          <p:cNvSpPr/>
          <p:nvPr/>
        </p:nvSpPr>
        <p:spPr>
          <a:xfrm>
            <a:off x="3390824" y="4434840"/>
            <a:ext cx="2567864" cy="1051560"/>
          </a:xfrm>
          <a:prstGeom prst="roundRect">
            <a:avLst>
              <a:gd name="adj" fmla="val 7826"/>
            </a:avLst>
          </a:prstGeom>
          <a:solidFill>
            <a:schemeClr val="bg2"/>
          </a:solidFill>
          <a:ln/>
        </p:spPr>
      </p:sp>
      <p:sp>
        <p:nvSpPr>
          <p:cNvPr id="18" name="text-608"/>
          <p:cNvSpPr txBox="1"/>
          <p:nvPr/>
        </p:nvSpPr>
        <p:spPr>
          <a:xfrm>
            <a:off x="3619424"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19" name="text-609"/>
          <p:cNvSpPr txBox="1"/>
          <p:nvPr/>
        </p:nvSpPr>
        <p:spPr>
          <a:xfrm>
            <a:off x="3619424"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Make reviewed changes</a:t>
            </a:r>
            <a:endParaRPr lang="en-US" sz="1400" dirty="0"/>
          </a:p>
        </p:txBody>
      </p:sp>
      <p:sp>
        <p:nvSpPr>
          <p:cNvPr id="20" name="step-610"/>
          <p:cNvSpPr/>
          <p:nvPr/>
        </p:nvSpPr>
        <p:spPr>
          <a:xfrm>
            <a:off x="6233008" y="1920240"/>
            <a:ext cx="548640" cy="548640"/>
          </a:xfrm>
          <a:prstGeom prst="ellipse">
            <a:avLst/>
          </a:prstGeom>
          <a:solidFill>
            <a:schemeClr val="accent1"/>
          </a:solidFill>
          <a:ln/>
        </p:spPr>
      </p:sp>
      <p:sp>
        <p:nvSpPr>
          <p:cNvPr id="21" name="text-611"/>
          <p:cNvSpPr txBox="1"/>
          <p:nvPr/>
        </p:nvSpPr>
        <p:spPr>
          <a:xfrm>
            <a:off x="6233008"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3</a:t>
            </a:r>
            <a:endParaRPr lang="en-US" sz="1800" dirty="0"/>
          </a:p>
        </p:txBody>
      </p:sp>
      <p:sp>
        <p:nvSpPr>
          <p:cNvPr id="22" name="text-612"/>
          <p:cNvSpPr txBox="1"/>
          <p:nvPr/>
        </p:nvSpPr>
        <p:spPr>
          <a:xfrm>
            <a:off x="6233008"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First month</a:t>
            </a:r>
            <a:endParaRPr lang="en-US" sz="2000" dirty="0"/>
          </a:p>
        </p:txBody>
      </p:sp>
      <p:sp>
        <p:nvSpPr>
          <p:cNvPr id="23" name="text-613"/>
          <p:cNvSpPr txBox="1"/>
          <p:nvPr/>
        </p:nvSpPr>
        <p:spPr>
          <a:xfrm>
            <a:off x="6233008"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Add custom instructions and request a Copilot code review</a:t>
            </a:r>
            <a:endParaRPr lang="en-US" sz="1400" dirty="0"/>
          </a:p>
        </p:txBody>
      </p:sp>
      <p:sp>
        <p:nvSpPr>
          <p:cNvPr id="24" name="card-614"/>
          <p:cNvSpPr/>
          <p:nvPr/>
        </p:nvSpPr>
        <p:spPr>
          <a:xfrm>
            <a:off x="6233008" y="4434840"/>
            <a:ext cx="2567864" cy="1051560"/>
          </a:xfrm>
          <a:prstGeom prst="roundRect">
            <a:avLst>
              <a:gd name="adj" fmla="val 7826"/>
            </a:avLst>
          </a:prstGeom>
          <a:solidFill>
            <a:schemeClr val="bg2"/>
          </a:solidFill>
          <a:ln/>
        </p:spPr>
      </p:sp>
      <p:sp>
        <p:nvSpPr>
          <p:cNvPr id="25" name="text-615"/>
          <p:cNvSpPr txBox="1"/>
          <p:nvPr/>
        </p:nvSpPr>
        <p:spPr>
          <a:xfrm>
            <a:off x="6461608"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26" name="text-616"/>
          <p:cNvSpPr txBox="1"/>
          <p:nvPr/>
        </p:nvSpPr>
        <p:spPr>
          <a:xfrm>
            <a:off x="6461608"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Shape and check its work</a:t>
            </a:r>
            <a:endParaRPr lang="en-US" sz="1400" dirty="0"/>
          </a:p>
        </p:txBody>
      </p:sp>
      <p:sp>
        <p:nvSpPr>
          <p:cNvPr id="27" name="step-617"/>
          <p:cNvSpPr/>
          <p:nvPr/>
        </p:nvSpPr>
        <p:spPr>
          <a:xfrm>
            <a:off x="9075191" y="1920240"/>
            <a:ext cx="548640" cy="548640"/>
          </a:xfrm>
          <a:prstGeom prst="ellipse">
            <a:avLst/>
          </a:prstGeom>
          <a:solidFill>
            <a:schemeClr val="accent1"/>
          </a:solidFill>
          <a:ln/>
        </p:spPr>
      </p:sp>
      <p:sp>
        <p:nvSpPr>
          <p:cNvPr id="28" name="text-618"/>
          <p:cNvSpPr txBox="1"/>
          <p:nvPr/>
        </p:nvSpPr>
        <p:spPr>
          <a:xfrm>
            <a:off x="9075191"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4</a:t>
            </a:r>
            <a:endParaRPr lang="en-US" sz="1800" dirty="0"/>
          </a:p>
        </p:txBody>
      </p:sp>
      <p:sp>
        <p:nvSpPr>
          <p:cNvPr id="29" name="text-619"/>
          <p:cNvSpPr txBox="1"/>
          <p:nvPr/>
        </p:nvSpPr>
        <p:spPr>
          <a:xfrm>
            <a:off x="9075191"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Later</a:t>
            </a:r>
            <a:endParaRPr lang="en-US" sz="2000" dirty="0"/>
          </a:p>
        </p:txBody>
      </p:sp>
      <p:sp>
        <p:nvSpPr>
          <p:cNvPr id="30" name="text-620"/>
          <p:cNvSpPr txBox="1"/>
          <p:nvPr/>
        </p:nvSpPr>
        <p:spPr>
          <a:xfrm>
            <a:off x="9075191"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Try Copilot CLI, the cloud agent and the Copilot app</a:t>
            </a:r>
            <a:endParaRPr lang="en-US" sz="1400" dirty="0"/>
          </a:p>
        </p:txBody>
      </p:sp>
      <p:sp>
        <p:nvSpPr>
          <p:cNvPr id="31" name="card-621"/>
          <p:cNvSpPr/>
          <p:nvPr/>
        </p:nvSpPr>
        <p:spPr>
          <a:xfrm>
            <a:off x="9075191" y="4434840"/>
            <a:ext cx="2567864" cy="1051560"/>
          </a:xfrm>
          <a:prstGeom prst="roundRect">
            <a:avLst>
              <a:gd name="adj" fmla="val 7826"/>
            </a:avLst>
          </a:prstGeom>
          <a:solidFill>
            <a:schemeClr val="bg2"/>
          </a:solidFill>
          <a:ln/>
        </p:spPr>
      </p:sp>
      <p:sp>
        <p:nvSpPr>
          <p:cNvPr id="32" name="text-622"/>
          <p:cNvSpPr txBox="1"/>
          <p:nvPr/>
        </p:nvSpPr>
        <p:spPr>
          <a:xfrm>
            <a:off x="9303791"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33" name="text-623"/>
          <p:cNvSpPr txBox="1"/>
          <p:nvPr/>
        </p:nvSpPr>
        <p:spPr>
          <a:xfrm>
            <a:off x="9303791"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Delegate whole tasks</a:t>
            </a:r>
            <a:endParaRPr lang="en-US" sz="1400" dirty="0"/>
          </a:p>
        </p:txBody>
      </p:sp>
      <p:sp>
        <p:nvSpPr>
          <p:cNvPr id="34" name="text-624"/>
          <p:cNvSpPr txBox="1"/>
          <p:nvPr/>
        </p:nvSpPr>
        <p:spPr>
          <a:xfrm>
            <a:off x="548640" y="5760720"/>
            <a:ext cx="11094415" cy="274320"/>
          </a:xfrm>
          <a:prstGeom prst="rect">
            <a:avLst/>
          </a:prstGeom>
          <a:noFill/>
          <a:ln/>
        </p:spPr>
        <p:txBody>
          <a:bodyPr wrap="square" lIns="0" tIns="0" rIns="0" bIns="0" rtlCol="0" anchor="t"/>
          <a:lstStyle/>
          <a:p>
            <a:pPr indent="0" marL="0">
              <a:buNone/>
            </a:pPr>
            <a:r>
              <a:rPr lang="en-US" sz="1200" i="1" dirty="0">
                <a:solidFill>
                  <a:schemeClr val="accent4"/>
                </a:solidFill>
              </a:rPr>
              <a:t>A suggested path only; go at your own pace.</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node-625"/>
          <p:cNvSpPr/>
          <p:nvPr/>
        </p:nvSpPr>
        <p:spPr>
          <a:xfrm>
            <a:off x="548640" y="502920"/>
            <a:ext cx="173736" cy="173736"/>
          </a:xfrm>
          <a:prstGeom prst="ellipse">
            <a:avLst/>
          </a:prstGeom>
          <a:solidFill>
            <a:schemeClr val="bg1"/>
          </a:solidFill>
          <a:ln w="31750">
            <a:solidFill>
              <a:schemeClr val="accent1"/>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5  |  NEXT STEPS</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Where to learn more, and names that changed</a:t>
            </a:r>
            <a:endParaRPr lang="en-US" sz="3000" dirty="0"/>
          </a:p>
        </p:txBody>
      </p:sp>
      <p:sp>
        <p:nvSpPr>
          <p:cNvPr id="5" name="text-626"/>
          <p:cNvSpPr txBox="1"/>
          <p:nvPr/>
        </p:nvSpPr>
        <p:spPr>
          <a:xfrm>
            <a:off x="548640" y="1920240"/>
            <a:ext cx="4846320" cy="365760"/>
          </a:xfrm>
          <a:prstGeom prst="rect">
            <a:avLst/>
          </a:prstGeom>
          <a:noFill/>
          <a:ln/>
        </p:spPr>
        <p:txBody>
          <a:bodyPr wrap="square" lIns="0" tIns="0" rIns="0" bIns="0" rtlCol="0" anchor="t"/>
          <a:lstStyle/>
          <a:p>
            <a:pPr indent="0" marL="0">
              <a:buNone/>
            </a:pPr>
            <a:r>
              <a:rPr lang="en-US" sz="1800" b="1" dirty="0">
                <a:solidFill>
                  <a:schemeClr val="tx1"/>
                </a:solidFill>
              </a:rPr>
              <a:t>Good places to learn</a:t>
            </a:r>
            <a:endParaRPr lang="en-US" sz="1800" dirty="0"/>
          </a:p>
        </p:txBody>
      </p:sp>
      <p:sp>
        <p:nvSpPr>
          <p:cNvPr id="6" name="tile-627"/>
          <p:cNvSpPr/>
          <p:nvPr/>
        </p:nvSpPr>
        <p:spPr>
          <a:xfrm>
            <a:off x="548640" y="2551176"/>
            <a:ext cx="548640" cy="548640"/>
          </a:xfrm>
          <a:prstGeom prst="roundRect">
            <a:avLst>
              <a:gd name="adj" fmla="val 15000"/>
            </a:avLst>
          </a:prstGeom>
          <a:solidFill>
            <a:schemeClr val="accent5"/>
          </a:solidFill>
          <a:ln/>
        </p:spPr>
      </p:sp>
      <p:pic>
        <p:nvPicPr>
          <p:cNvPr id="7" name="icon-628" descr="preencoded.png">    </p:cNvPr>
          <p:cNvPicPr>
            <a:picLocks noChangeAspect="1"/>
          </p:cNvPicPr>
          <p:nvPr/>
        </p:nvPicPr>
        <p:blipFill>
          <a:blip r:embed="rId1"/>
          <a:stretch>
            <a:fillRect/>
          </a:stretch>
        </p:blipFill>
        <p:spPr>
          <a:xfrm>
            <a:off x="685800" y="2688336"/>
            <a:ext cx="274320" cy="274320"/>
          </a:xfrm>
          <a:prstGeom prst="rect">
            <a:avLst/>
          </a:prstGeom>
        </p:spPr>
      </p:pic>
      <p:sp>
        <p:nvSpPr>
          <p:cNvPr id="8" name="text-629"/>
          <p:cNvSpPr txBox="1"/>
          <p:nvPr/>
        </p:nvSpPr>
        <p:spPr>
          <a:xfrm>
            <a:off x="1325880" y="2514600"/>
            <a:ext cx="4069080" cy="292608"/>
          </a:xfrm>
          <a:prstGeom prst="rect">
            <a:avLst/>
          </a:prstGeom>
          <a:noFill/>
          <a:ln/>
        </p:spPr>
        <p:txBody>
          <a:bodyPr wrap="square" lIns="0" tIns="0" rIns="0" bIns="0" rtlCol="0" anchor="t"/>
          <a:lstStyle/>
          <a:p>
            <a:pPr indent="0" marL="0">
              <a:buNone/>
            </a:pPr>
            <a:r>
              <a:rPr lang="en-US" sz="1600" b="1" dirty="0">
                <a:solidFill>
                  <a:schemeClr val="tx1"/>
                </a:solidFill>
              </a:rPr>
              <a:t>GitHub Docs</a:t>
            </a:r>
            <a:endParaRPr lang="en-US" sz="1600" dirty="0"/>
          </a:p>
        </p:txBody>
      </p:sp>
      <p:sp>
        <p:nvSpPr>
          <p:cNvPr id="9" name="text-630"/>
          <p:cNvSpPr txBox="1"/>
          <p:nvPr/>
        </p:nvSpPr>
        <p:spPr>
          <a:xfrm>
            <a:off x="1325880" y="2852928"/>
            <a:ext cx="4069080" cy="457200"/>
          </a:xfrm>
          <a:prstGeom prst="rect">
            <a:avLst/>
          </a:prstGeom>
          <a:noFill/>
          <a:ln/>
        </p:spPr>
        <p:txBody>
          <a:bodyPr wrap="square" lIns="0" tIns="0" rIns="0" bIns="0" rtlCol="0" anchor="t"/>
          <a:lstStyle/>
          <a:p>
            <a:pPr indent="0" marL="0">
              <a:buNone/>
            </a:pPr>
            <a:r>
              <a:rPr lang="en-US" sz="1400" dirty="0">
                <a:solidFill>
                  <a:schemeClr val="tx2"/>
                </a:solidFill>
              </a:rPr>
              <a:t>docs.github.com/copilot</a:t>
            </a:r>
            <a:endParaRPr lang="en-US" sz="1400" dirty="0"/>
          </a:p>
        </p:txBody>
      </p:sp>
      <p:sp>
        <p:nvSpPr>
          <p:cNvPr id="10" name="tile-631"/>
          <p:cNvSpPr/>
          <p:nvPr/>
        </p:nvSpPr>
        <p:spPr>
          <a:xfrm>
            <a:off x="548640" y="3419856"/>
            <a:ext cx="548640" cy="548640"/>
          </a:xfrm>
          <a:prstGeom prst="roundRect">
            <a:avLst>
              <a:gd name="adj" fmla="val 15000"/>
            </a:avLst>
          </a:prstGeom>
          <a:solidFill>
            <a:schemeClr val="accent5"/>
          </a:solidFill>
          <a:ln/>
        </p:spPr>
      </p:sp>
      <p:pic>
        <p:nvPicPr>
          <p:cNvPr id="11" name="icon-632" descr="preencoded.png">    </p:cNvPr>
          <p:cNvPicPr>
            <a:picLocks noChangeAspect="1"/>
          </p:cNvPicPr>
          <p:nvPr/>
        </p:nvPicPr>
        <p:blipFill>
          <a:blip r:embed="rId2"/>
          <a:stretch>
            <a:fillRect/>
          </a:stretch>
        </p:blipFill>
        <p:spPr>
          <a:xfrm>
            <a:off x="685800" y="3557016"/>
            <a:ext cx="274320" cy="274320"/>
          </a:xfrm>
          <a:prstGeom prst="rect">
            <a:avLst/>
          </a:prstGeom>
        </p:spPr>
      </p:pic>
      <p:sp>
        <p:nvSpPr>
          <p:cNvPr id="12" name="text-633"/>
          <p:cNvSpPr txBox="1"/>
          <p:nvPr/>
        </p:nvSpPr>
        <p:spPr>
          <a:xfrm>
            <a:off x="1325880" y="3383280"/>
            <a:ext cx="4069080" cy="292608"/>
          </a:xfrm>
          <a:prstGeom prst="rect">
            <a:avLst/>
          </a:prstGeom>
          <a:noFill/>
          <a:ln/>
        </p:spPr>
        <p:txBody>
          <a:bodyPr wrap="square" lIns="0" tIns="0" rIns="0" bIns="0" rtlCol="0" anchor="t"/>
          <a:lstStyle/>
          <a:p>
            <a:pPr indent="0" marL="0">
              <a:buNone/>
            </a:pPr>
            <a:r>
              <a:rPr lang="en-US" sz="1600" b="1" dirty="0">
                <a:solidFill>
                  <a:schemeClr val="tx1"/>
                </a:solidFill>
              </a:rPr>
              <a:t>Copilot tutorials</a:t>
            </a:r>
            <a:endParaRPr lang="en-US" sz="1600" dirty="0"/>
          </a:p>
        </p:txBody>
      </p:sp>
      <p:sp>
        <p:nvSpPr>
          <p:cNvPr id="13" name="text-634"/>
          <p:cNvSpPr txBox="1"/>
          <p:nvPr/>
        </p:nvSpPr>
        <p:spPr>
          <a:xfrm>
            <a:off x="1325880" y="3721608"/>
            <a:ext cx="4069080" cy="457200"/>
          </a:xfrm>
          <a:prstGeom prst="rect">
            <a:avLst/>
          </a:prstGeom>
          <a:noFill/>
          <a:ln/>
        </p:spPr>
        <p:txBody>
          <a:bodyPr wrap="square" lIns="0" tIns="0" rIns="0" bIns="0" rtlCol="0" anchor="t"/>
          <a:lstStyle/>
          <a:p>
            <a:pPr indent="0" marL="0">
              <a:buNone/>
            </a:pPr>
            <a:r>
              <a:rPr lang="en-US" sz="1400" dirty="0">
                <a:solidFill>
                  <a:schemeClr val="tx2"/>
                </a:solidFill>
              </a:rPr>
              <a:t>Step-by-step guides and a prompt cookbook in the docs</a:t>
            </a:r>
            <a:endParaRPr lang="en-US" sz="1400" dirty="0"/>
          </a:p>
        </p:txBody>
      </p:sp>
      <p:sp>
        <p:nvSpPr>
          <p:cNvPr id="14" name="tile-635"/>
          <p:cNvSpPr/>
          <p:nvPr/>
        </p:nvSpPr>
        <p:spPr>
          <a:xfrm>
            <a:off x="548640" y="4288536"/>
            <a:ext cx="548640" cy="548640"/>
          </a:xfrm>
          <a:prstGeom prst="roundRect">
            <a:avLst>
              <a:gd name="adj" fmla="val 15000"/>
            </a:avLst>
          </a:prstGeom>
          <a:solidFill>
            <a:schemeClr val="accent5"/>
          </a:solidFill>
          <a:ln/>
        </p:spPr>
      </p:sp>
      <p:pic>
        <p:nvPicPr>
          <p:cNvPr id="15" name="icon-636" descr="preencoded.png">    </p:cNvPr>
          <p:cNvPicPr>
            <a:picLocks noChangeAspect="1"/>
          </p:cNvPicPr>
          <p:nvPr/>
        </p:nvPicPr>
        <p:blipFill>
          <a:blip r:embed="rId3"/>
          <a:stretch>
            <a:fillRect/>
          </a:stretch>
        </p:blipFill>
        <p:spPr>
          <a:xfrm>
            <a:off x="685800" y="4425696"/>
            <a:ext cx="274320" cy="274320"/>
          </a:xfrm>
          <a:prstGeom prst="rect">
            <a:avLst/>
          </a:prstGeom>
        </p:spPr>
      </p:pic>
      <p:sp>
        <p:nvSpPr>
          <p:cNvPr id="16" name="text-637"/>
          <p:cNvSpPr txBox="1"/>
          <p:nvPr/>
        </p:nvSpPr>
        <p:spPr>
          <a:xfrm>
            <a:off x="1325880" y="4251960"/>
            <a:ext cx="4069080" cy="292608"/>
          </a:xfrm>
          <a:prstGeom prst="rect">
            <a:avLst/>
          </a:prstGeom>
          <a:noFill/>
          <a:ln/>
        </p:spPr>
        <p:txBody>
          <a:bodyPr wrap="square" lIns="0" tIns="0" rIns="0" bIns="0" rtlCol="0" anchor="t"/>
          <a:lstStyle/>
          <a:p>
            <a:pPr indent="0" marL="0">
              <a:buNone/>
            </a:pPr>
            <a:r>
              <a:rPr lang="en-US" sz="1600" b="1" dirty="0">
                <a:solidFill>
                  <a:schemeClr val="tx1"/>
                </a:solidFill>
              </a:rPr>
              <a:t>GitHub Community</a:t>
            </a:r>
            <a:endParaRPr lang="en-US" sz="1600" dirty="0"/>
          </a:p>
        </p:txBody>
      </p:sp>
      <p:sp>
        <p:nvSpPr>
          <p:cNvPr id="17" name="text-638"/>
          <p:cNvSpPr txBox="1"/>
          <p:nvPr/>
        </p:nvSpPr>
        <p:spPr>
          <a:xfrm>
            <a:off x="1325880" y="4590288"/>
            <a:ext cx="4069080" cy="457200"/>
          </a:xfrm>
          <a:prstGeom prst="rect">
            <a:avLst/>
          </a:prstGeom>
          <a:noFill/>
          <a:ln/>
        </p:spPr>
        <p:txBody>
          <a:bodyPr wrap="square" lIns="0" tIns="0" rIns="0" bIns="0" rtlCol="0" anchor="t"/>
          <a:lstStyle/>
          <a:p>
            <a:pPr indent="0" marL="0">
              <a:buNone/>
            </a:pPr>
            <a:r>
              <a:rPr lang="en-US" sz="1400" dirty="0">
                <a:solidFill>
                  <a:schemeClr val="tx2"/>
                </a:solidFill>
              </a:rPr>
              <a:t>Ask questions at github.com/orgs/community</a:t>
            </a:r>
            <a:endParaRPr lang="en-US" sz="1400" dirty="0"/>
          </a:p>
        </p:txBody>
      </p:sp>
      <p:sp>
        <p:nvSpPr>
          <p:cNvPr id="18" name="text-639"/>
          <p:cNvSpPr txBox="1"/>
          <p:nvPr/>
        </p:nvSpPr>
        <p:spPr>
          <a:xfrm>
            <a:off x="5696712" y="1920240"/>
            <a:ext cx="5946343" cy="365760"/>
          </a:xfrm>
          <a:prstGeom prst="rect">
            <a:avLst/>
          </a:prstGeom>
          <a:noFill/>
          <a:ln/>
        </p:spPr>
        <p:txBody>
          <a:bodyPr wrap="square" lIns="0" tIns="0" rIns="0" bIns="0" rtlCol="0" anchor="t"/>
          <a:lstStyle/>
          <a:p>
            <a:pPr indent="0" marL="0">
              <a:buNone/>
            </a:pPr>
            <a:r>
              <a:rPr lang="en-US" sz="1800" b="1" dirty="0">
                <a:solidFill>
                  <a:schemeClr val="tx1"/>
                </a:solidFill>
              </a:rPr>
              <a:t>Older names you may still see</a:t>
            </a:r>
            <a:endParaRPr lang="en-US" sz="1800" dirty="0"/>
          </a:p>
        </p:txBody>
      </p:sp>
      <p:graphicFrame>
        <p:nvGraphicFramePr>
          <p:cNvPr id="26" name="table-640"/>
          <p:cNvGraphicFramePr>
            <a:graphicFrameLocks noGrp="1"/>
          </p:cNvGraphicFramePr>
          <p:nvPr>
            <p:extLst>
              <p:ext uri="{D42A27DB-BD31-4B8C-83A1-F6EECF244321}">
                <p14:modId xmlns:p14="http://schemas.microsoft.com/office/powerpoint/2010/main" val="1579011935"/>
              </p:ext>
            </p:extLst>
          </p:nvPr>
        </p:nvGraphicFramePr>
        <p:xfrm>
          <a:off x="5696712" y="2514600"/>
          <a:ext cx="5946343" cy="914400"/>
        </p:xfrm>
        <a:graphic>
          <a:graphicData uri="http://schemas.openxmlformats.org/drawingml/2006/table">
            <a:tbl>
              <a:tblPr/>
              <a:tblGrid>
                <a:gridCol w="3092098"/>
                <a:gridCol w="2854245"/>
              </a:tblGrid>
              <a:tr h="457200">
                <a:tc>
                  <a:txBody>
                    <a:bodyPr/>
                    <a:lstStyle/>
                    <a:p>
                      <a:pPr indent="0" marL="0">
                        <a:buNone/>
                      </a:pPr>
                      <a:r>
                        <a:rPr lang="en-US" sz="1400" b="1" dirty="0">
                          <a:solidFill>
                            <a:schemeClr val="bg1"/>
                          </a:solidFill>
                        </a:rPr>
                        <a:t>Older name</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Now</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accent3"/>
                    </a:solidFill>
                  </a:tcPr>
                </a:tc>
              </a:tr>
              <a:tr h="457200">
                <a:tc>
                  <a:txBody>
                    <a:bodyPr/>
                    <a:lstStyle/>
                    <a:p>
                      <a:pPr indent="0" marL="0">
                        <a:buNone/>
                      </a:pPr>
                      <a:r>
                        <a:rPr lang="en-US" sz="1400" dirty="0">
                          <a:solidFill>
                            <a:schemeClr val="tx1"/>
                          </a:solidFill>
                        </a:rPr>
                        <a:t>Copilot coding agent</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Copilot cloud agent</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Premium requests</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AI Credits</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Code completion</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Inline suggestions</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Copilot in the CLI (gh copilot)</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Copilot CLI (copilot)</a:t>
                      </a:r>
                      <a:endParaRPr lang="en-US" sz="1400" dirty="0"/>
                    </a:p>
                  </a:txBody>
                  <a:tcPr marL="109728" marR="73152" marT="36576" marB="36576" anchor="ctr">
                    <a:lnL w="9525" cap="flat" cmpd="sng" algn="ctr">
                      <a:solidFill>
                        <a:srgbClr val="DDF4FF"/>
                      </a:solidFill>
                      <a:prstDash val="solid"/>
                      <a:round/>
                      <a:headEnd type="none" w="med" len="med"/>
                      <a:tailEnd type="none" w="med" len="med"/>
                    </a:lnL>
                    <a:lnR w="9525" cap="flat" cmpd="sng" algn="ctr">
                      <a:solidFill>
                        <a:srgbClr val="DDF4FF"/>
                      </a:solidFill>
                      <a:prstDash val="solid"/>
                      <a:round/>
                      <a:headEnd type="none" w="med" len="med"/>
                      <a:tailEnd type="none" w="med" len="med"/>
                    </a:lnR>
                    <a:lnT w="9525" cap="flat" cmpd="sng" algn="ctr">
                      <a:solidFill>
                        <a:srgbClr val="DDF4FF"/>
                      </a:solidFill>
                      <a:prstDash val="solid"/>
                      <a:round/>
                      <a:headEnd type="none" w="med" len="med"/>
                      <a:tailEnd type="none" w="med" len="med"/>
                    </a:lnT>
                    <a:lnB w="9525" cap="flat" cmpd="sng" algn="ctr">
                      <a:solidFill>
                        <a:srgbClr val="DDF4FF"/>
                      </a:solidFill>
                      <a:prstDash val="solid"/>
                      <a:round/>
                      <a:headEnd type="none" w="med" len="med"/>
                      <a:tailEnd type="none" w="med" len="med"/>
                    </a:lnB>
                    <a:solidFill>
                      <a:schemeClr val="bg2"/>
                    </a:solidFill>
                  </a:tcPr>
                </a:tc>
              </a:tr>
            </a:tbl>
          </a:graphicData>
        </a:graphic>
      </p:graphicFrame>
      <p:sp>
        <p:nvSpPr>
          <p:cNvPr id="20" name="card-641"/>
          <p:cNvSpPr/>
          <p:nvPr/>
        </p:nvSpPr>
        <p:spPr>
          <a:xfrm>
            <a:off x="548640" y="5257800"/>
            <a:ext cx="11094415" cy="594360"/>
          </a:xfrm>
          <a:prstGeom prst="roundRect">
            <a:avLst>
              <a:gd name="adj" fmla="val 13846"/>
            </a:avLst>
          </a:prstGeom>
          <a:solidFill>
            <a:schemeClr val="accent5"/>
          </a:solidFill>
          <a:ln/>
        </p:spPr>
      </p:sp>
      <p:sp>
        <p:nvSpPr>
          <p:cNvPr id="21" name="tile-642"/>
          <p:cNvSpPr/>
          <p:nvPr/>
        </p:nvSpPr>
        <p:spPr>
          <a:xfrm>
            <a:off x="685800" y="5353812"/>
            <a:ext cx="402336" cy="402336"/>
          </a:xfrm>
          <a:prstGeom prst="roundRect">
            <a:avLst>
              <a:gd name="adj" fmla="val 20455"/>
            </a:avLst>
          </a:prstGeom>
          <a:solidFill>
            <a:schemeClr val="bg1"/>
          </a:solidFill>
          <a:ln/>
        </p:spPr>
      </p:sp>
      <p:pic>
        <p:nvPicPr>
          <p:cNvPr id="22" name="icon-643" descr="preencoded.png">    </p:cNvPr>
          <p:cNvPicPr>
            <a:picLocks noChangeAspect="1"/>
          </p:cNvPicPr>
          <p:nvPr/>
        </p:nvPicPr>
        <p:blipFill>
          <a:blip r:embed="rId4"/>
          <a:stretch>
            <a:fillRect/>
          </a:stretch>
        </p:blipFill>
        <p:spPr>
          <a:xfrm>
            <a:off x="786384" y="5454396"/>
            <a:ext cx="201168" cy="201168"/>
          </a:xfrm>
          <a:prstGeom prst="rect">
            <a:avLst/>
          </a:prstGeom>
        </p:spPr>
      </p:pic>
      <p:sp>
        <p:nvSpPr>
          <p:cNvPr id="23" name="text-644"/>
          <p:cNvSpPr txBox="1"/>
          <p:nvPr/>
        </p:nvSpPr>
        <p:spPr>
          <a:xfrm>
            <a:off x="1261872" y="5257800"/>
            <a:ext cx="10198303" cy="594360"/>
          </a:xfrm>
          <a:prstGeom prst="rect">
            <a:avLst/>
          </a:prstGeom>
          <a:noFill/>
          <a:ln/>
        </p:spPr>
        <p:txBody>
          <a:bodyPr wrap="square" lIns="0" tIns="0" rIns="0" bIns="0" rtlCol="0" anchor="ctr"/>
          <a:lstStyle/>
          <a:p>
            <a:pPr indent="0" marL="0">
              <a:buNone/>
            </a:pPr>
            <a:r>
              <a:rPr lang="en-US" sz="1400" dirty="0">
                <a:solidFill>
                  <a:schemeClr val="tx1"/>
                </a:solidFill>
              </a:rPr>
              <a:t>Copilot changes quickly. Check the date of any guide you follow, and trust the official docs when they differ.</a:t>
            </a:r>
            <a:endParaRPr lang="en-US" sz="1400" dirty="0"/>
          </a:p>
        </p:txBody>
      </p:sp>
      <p:sp>
        <p:nvSpPr>
          <p:cNvPr id="24" name="text-645"/>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GitHub Docs, current and earlier versions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node-646"/>
          <p:cNvSpPr/>
          <p:nvPr/>
        </p:nvSpPr>
        <p:spPr>
          <a:xfrm>
            <a:off x="548640" y="502920"/>
            <a:ext cx="173736" cy="173736"/>
          </a:xfrm>
          <a:prstGeom prst="ellipse">
            <a:avLst/>
          </a:prstGeom>
          <a:solidFill>
            <a:schemeClr val="tx1"/>
          </a:solidFill>
          <a:ln w="31750">
            <a:solidFill>
              <a:schemeClr val="accent5"/>
            </a:solidFill>
            <a:prstDash val="solid"/>
          </a:ln>
        </p:spPr>
      </p:sp>
      <p:sp>
        <p:nvSpPr>
          <p:cNvPr id="3" name="Text 1"/>
          <p:cNvSpPr/>
          <p:nvPr>
            <p:ph idx="101" type="body" hasCustomPrompt="1"/>
          </p:nvPr>
        </p:nvSpPr>
        <p:spPr>
          <a:xfrm>
            <a:off x="822960" y="457200"/>
            <a:ext cx="10820095" cy="27432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SUMMARY</a:t>
            </a: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bg1"/>
                </a:solidFill>
              </a:rPr>
              <a:t>Three things to remember about GitHub Copilot</a:t>
            </a:r>
            <a:endParaRPr lang="en-US" sz="3000" dirty="0"/>
          </a:p>
        </p:txBody>
      </p:sp>
      <p:sp>
        <p:nvSpPr>
          <p:cNvPr id="5" name="card-647"/>
          <p:cNvSpPr/>
          <p:nvPr/>
        </p:nvSpPr>
        <p:spPr>
          <a:xfrm>
            <a:off x="548640" y="2057400"/>
            <a:ext cx="3454298" cy="2788920"/>
          </a:xfrm>
          <a:prstGeom prst="roundRect">
            <a:avLst>
              <a:gd name="adj" fmla="val 2951"/>
            </a:avLst>
          </a:prstGeom>
          <a:solidFill>
            <a:schemeClr val="tx2"/>
          </a:solidFill>
          <a:ln/>
        </p:spPr>
      </p:sp>
      <p:sp>
        <p:nvSpPr>
          <p:cNvPr id="6" name="text-648"/>
          <p:cNvSpPr txBox="1"/>
          <p:nvPr/>
        </p:nvSpPr>
        <p:spPr>
          <a:xfrm>
            <a:off x="822960" y="2286000"/>
            <a:ext cx="2905658" cy="457200"/>
          </a:xfrm>
          <a:prstGeom prst="rect">
            <a:avLst/>
          </a:prstGeom>
          <a:noFill/>
          <a:ln/>
        </p:spPr>
        <p:txBody>
          <a:bodyPr wrap="square" lIns="0" tIns="0" rIns="0" bIns="0" rtlCol="0" anchor="t"/>
          <a:lstStyle/>
          <a:p>
            <a:pPr indent="0" marL="0">
              <a:buNone/>
            </a:pPr>
            <a:r>
              <a:rPr lang="en-US" sz="2800" b="1" dirty="0">
                <a:solidFill>
                  <a:schemeClr val="accent5"/>
                </a:solidFill>
                <a:latin typeface="Courier New" pitchFamily="34" charset="0"/>
                <a:ea typeface="Courier New" pitchFamily="34" charset="-122"/>
                <a:cs typeface="Courier New" pitchFamily="34" charset="-120"/>
              </a:rPr>
              <a:t>01</a:t>
            </a:r>
            <a:endParaRPr lang="en-US" sz="2800" dirty="0"/>
          </a:p>
        </p:txBody>
      </p:sp>
      <p:sp>
        <p:nvSpPr>
          <p:cNvPr id="7" name="text-649"/>
          <p:cNvSpPr txBox="1"/>
          <p:nvPr/>
        </p:nvSpPr>
        <p:spPr>
          <a:xfrm>
            <a:off x="822960"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It helps in three ways</a:t>
            </a:r>
            <a:endParaRPr lang="en-US" sz="2000" dirty="0"/>
          </a:p>
        </p:txBody>
      </p:sp>
      <p:sp>
        <p:nvSpPr>
          <p:cNvPr id="8" name="text-650"/>
          <p:cNvSpPr txBox="1"/>
          <p:nvPr/>
        </p:nvSpPr>
        <p:spPr>
          <a:xfrm>
            <a:off x="822960"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Grey suggestions, a chat panel, and agents that carry out whole tasks.</a:t>
            </a:r>
            <a:endParaRPr lang="en-US" sz="1600" dirty="0"/>
          </a:p>
        </p:txBody>
      </p:sp>
      <p:sp>
        <p:nvSpPr>
          <p:cNvPr id="9" name="card-651"/>
          <p:cNvSpPr/>
          <p:nvPr/>
        </p:nvSpPr>
        <p:spPr>
          <a:xfrm>
            <a:off x="4368698" y="2057400"/>
            <a:ext cx="3454298" cy="2788920"/>
          </a:xfrm>
          <a:prstGeom prst="roundRect">
            <a:avLst>
              <a:gd name="adj" fmla="val 2951"/>
            </a:avLst>
          </a:prstGeom>
          <a:solidFill>
            <a:schemeClr val="tx2"/>
          </a:solidFill>
          <a:ln/>
        </p:spPr>
      </p:sp>
      <p:sp>
        <p:nvSpPr>
          <p:cNvPr id="10" name="text-652"/>
          <p:cNvSpPr txBox="1"/>
          <p:nvPr/>
        </p:nvSpPr>
        <p:spPr>
          <a:xfrm>
            <a:off x="4643018" y="2286000"/>
            <a:ext cx="2905658" cy="457200"/>
          </a:xfrm>
          <a:prstGeom prst="rect">
            <a:avLst/>
          </a:prstGeom>
          <a:noFill/>
          <a:ln/>
        </p:spPr>
        <p:txBody>
          <a:bodyPr wrap="square" lIns="0" tIns="0" rIns="0" bIns="0" rtlCol="0" anchor="t"/>
          <a:lstStyle/>
          <a:p>
            <a:pPr indent="0" marL="0">
              <a:buNone/>
            </a:pPr>
            <a:r>
              <a:rPr lang="en-US" sz="2800" b="1" dirty="0">
                <a:solidFill>
                  <a:schemeClr val="accent5"/>
                </a:solidFill>
                <a:latin typeface="Courier New" pitchFamily="34" charset="0"/>
                <a:ea typeface="Courier New" pitchFamily="34" charset="-122"/>
                <a:cs typeface="Courier New" pitchFamily="34" charset="-120"/>
              </a:rPr>
              <a:t>02</a:t>
            </a:r>
            <a:endParaRPr lang="en-US" sz="2800" dirty="0"/>
          </a:p>
        </p:txBody>
      </p:sp>
      <p:sp>
        <p:nvSpPr>
          <p:cNvPr id="11" name="text-653"/>
          <p:cNvSpPr txBox="1"/>
          <p:nvPr/>
        </p:nvSpPr>
        <p:spPr>
          <a:xfrm>
            <a:off x="4643018"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You approve and review</a:t>
            </a:r>
            <a:endParaRPr lang="en-US" sz="2000" dirty="0"/>
          </a:p>
        </p:txBody>
      </p:sp>
      <p:sp>
        <p:nvSpPr>
          <p:cNvPr id="12" name="text-654"/>
          <p:cNvSpPr txBox="1"/>
          <p:nvPr/>
        </p:nvSpPr>
        <p:spPr>
          <a:xfrm>
            <a:off x="4643018"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Tab, Keep and pull request review keep you in charge of the code.</a:t>
            </a:r>
            <a:endParaRPr lang="en-US" sz="1600" dirty="0"/>
          </a:p>
        </p:txBody>
      </p:sp>
      <p:sp>
        <p:nvSpPr>
          <p:cNvPr id="13" name="card-655"/>
          <p:cNvSpPr/>
          <p:nvPr/>
        </p:nvSpPr>
        <p:spPr>
          <a:xfrm>
            <a:off x="8188757" y="2057400"/>
            <a:ext cx="3454298" cy="2788920"/>
          </a:xfrm>
          <a:prstGeom prst="roundRect">
            <a:avLst>
              <a:gd name="adj" fmla="val 2951"/>
            </a:avLst>
          </a:prstGeom>
          <a:solidFill>
            <a:schemeClr val="tx2"/>
          </a:solidFill>
          <a:ln/>
        </p:spPr>
      </p:sp>
      <p:sp>
        <p:nvSpPr>
          <p:cNvPr id="14" name="text-656"/>
          <p:cNvSpPr txBox="1"/>
          <p:nvPr/>
        </p:nvSpPr>
        <p:spPr>
          <a:xfrm>
            <a:off x="8463077" y="2286000"/>
            <a:ext cx="2905658" cy="457200"/>
          </a:xfrm>
          <a:prstGeom prst="rect">
            <a:avLst/>
          </a:prstGeom>
          <a:noFill/>
          <a:ln/>
        </p:spPr>
        <p:txBody>
          <a:bodyPr wrap="square" lIns="0" tIns="0" rIns="0" bIns="0" rtlCol="0" anchor="t"/>
          <a:lstStyle/>
          <a:p>
            <a:pPr indent="0" marL="0">
              <a:buNone/>
            </a:pPr>
            <a:r>
              <a:rPr lang="en-US" sz="2800" b="1" dirty="0">
                <a:solidFill>
                  <a:schemeClr val="accent5"/>
                </a:solidFill>
                <a:latin typeface="Courier New" pitchFamily="34" charset="0"/>
                <a:ea typeface="Courier New" pitchFamily="34" charset="-122"/>
                <a:cs typeface="Courier New" pitchFamily="34" charset="-120"/>
              </a:rPr>
              <a:t>03</a:t>
            </a:r>
            <a:endParaRPr lang="en-US" sz="2800" dirty="0"/>
          </a:p>
        </p:txBody>
      </p:sp>
      <p:sp>
        <p:nvSpPr>
          <p:cNvPr id="15" name="text-657"/>
          <p:cNvSpPr txBox="1"/>
          <p:nvPr/>
        </p:nvSpPr>
        <p:spPr>
          <a:xfrm>
            <a:off x="8463077"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Start free and small</a:t>
            </a:r>
            <a:endParaRPr lang="en-US" sz="2000" dirty="0"/>
          </a:p>
        </p:txBody>
      </p:sp>
      <p:sp>
        <p:nvSpPr>
          <p:cNvPr id="16" name="text-658"/>
          <p:cNvSpPr txBox="1"/>
          <p:nvPr/>
        </p:nvSpPr>
        <p:spPr>
          <a:xfrm>
            <a:off x="8463077"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Copilot Free in VS Code is enough to learn the basics.</a:t>
            </a:r>
            <a:endParaRPr lang="en-US" sz="1600" dirty="0"/>
          </a:p>
        </p:txBody>
      </p:sp>
      <p:sp>
        <p:nvSpPr>
          <p:cNvPr id="17" name="text-659"/>
          <p:cNvSpPr txBox="1"/>
          <p:nvPr/>
        </p:nvSpPr>
        <p:spPr>
          <a:xfrm>
            <a:off x="548640" y="5349240"/>
            <a:ext cx="11094415" cy="411480"/>
          </a:xfrm>
          <a:prstGeom prst="rect">
            <a:avLst/>
          </a:prstGeom>
          <a:noFill/>
          <a:ln/>
        </p:spPr>
        <p:txBody>
          <a:bodyPr wrap="square" lIns="0" tIns="0" rIns="0" bIns="0" rtlCol="0" anchor="t"/>
          <a:lstStyle/>
          <a:p>
            <a:pPr indent="0" marL="0">
              <a:buNone/>
            </a:pPr>
            <a:r>
              <a:rPr lang="en-US" sz="2000" dirty="0">
                <a:solidFill>
                  <a:schemeClr val="accent5"/>
                </a:solidFill>
              </a:rPr>
              <a:t>Your next step: sign up at  </a:t>
            </a:r>
            <a:pPr indent="0" marL="0">
              <a:buNone/>
            </a:pPr>
            <a:r>
              <a:rPr lang="en-US" sz="2000" b="1" dirty="0">
                <a:solidFill>
                  <a:schemeClr val="bg1"/>
                </a:solidFill>
                <a:latin typeface="Courier New" pitchFamily="34" charset="0"/>
                <a:ea typeface="Courier New" pitchFamily="34" charset="-122"/>
                <a:cs typeface="Courier New" pitchFamily="34" charset="-120"/>
              </a:rPr>
              <a:t>github.com/copilot</a:t>
            </a:r>
            <a:endParaRPr lang="en-US" sz="2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Copilot Beginner">
  <a:themeElements>
    <a:clrScheme name="Copilot Beginner">
      <a:dk1>
        <a:srgbClr val="0D1117"/>
      </a:dk1>
      <a:lt1>
        <a:srgbClr val="FFFFFF"/>
      </a:lt1>
      <a:dk2>
        <a:srgbClr val="30363D"/>
      </a:dk2>
      <a:lt2>
        <a:srgbClr val="F6F8FA"/>
      </a:lt2>
      <a:accent1>
        <a:srgbClr val="0969DA"/>
      </a:accent1>
      <a:accent2>
        <a:srgbClr val="1A7F37"/>
      </a:accent2>
      <a:accent3>
        <a:srgbClr val="0A3069"/>
      </a:accent3>
      <a:accent4>
        <a:srgbClr val="57606A"/>
      </a:accent4>
      <a:accent5>
        <a:srgbClr val="DDF4FF"/>
      </a:accent5>
      <a:accent6>
        <a:srgbClr val="CF222E"/>
      </a:accent6>
      <a:hlink>
        <a:srgbClr val="0969DA"/>
      </a:hlink>
      <a:folHlink>
        <a:srgbClr val="57606A"/>
      </a:folHlink>
    </a:clrScheme>
    <a:fontScheme name="Copilot Beginn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from zero: a beginner's guide</dc:title>
  <dc:subject>PptxGenJS Presentation</dc:subject>
  <dc:creator>PptxGenJS</dc:creator>
  <cp:lastModifiedBy>PptxGenJS</cp:lastModifiedBy>
  <cp:revision>1</cp:revision>
  <dcterms:created xsi:type="dcterms:W3CDTF">2026-10-07T07:15:38Z</dcterms:created>
  <dcterms:modified xsi:type="dcterms:W3CDTF">2026-10-07T07:15:38Z</dcterms:modified>
</cp:coreProperties>
</file>