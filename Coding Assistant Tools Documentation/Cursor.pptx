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b09dd4-0de5-720b-24f1-1278b26ce1be}">
          <p14:sldIdLst>
            <p14:sldId id="256"/>
          </p14:sldIdLst>
        </p14:section>
        <p14:section name="1 What it is" id="{ca903f68-7064-243f-370d-6abd38eb2881}">
          <p14:sldIdLst>
            <p14:sldId id="257"/>
            <p14:sldId id="258"/>
            <p14:sldId id="259"/>
            <p14:sldId id="260"/>
          </p14:sldIdLst>
        </p14:section>
        <p14:section name="2 Getting started" id="{722e95dd-e888-8157-40aa-e2b96b21b219}">
          <p14:sldIdLst>
            <p14:sldId id="261"/>
            <p14:sldId id="262"/>
            <p14:sldId id="263"/>
          </p14:sldIdLst>
        </p14:section>
        <p14:section name="3 Terminology" id="{398f5cdb-53b7-2850-f9a3-bcad7253784b}">
          <p14:sldIdLst>
            <p14:sldId id="264"/>
            <p14:sldId id="265"/>
            <p14:sldId id="266"/>
            <p14:sldId id="267"/>
            <p14:sldId id="268"/>
            <p14:sldId id="269"/>
          </p14:sldIdLst>
        </p14:section>
        <p14:section name="4 Using it" id="{61aa8213-8567-f781-9ff6-cdff2aea4e81}">
          <p14:sldIdLst>
            <p14:sldId id="270"/>
            <p14:sldId id="271"/>
            <p14:sldId id="272"/>
            <p14:sldId id="273"/>
            <p14:sldId id="274"/>
          </p14:sldIdLst>
        </p14:section>
        <p14:section name="5 Next steps" id="{0f379fc5-21c6-d899-b2d1-bd94616081d8}">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no experience with AI coding tools. By the end you will know what Cursor is, the vocabulary around it, and how to make a first change with its help. The panel on the right is an illustration, not a screenshot: the grey lines stand for a Tab suggestion, and the box below stands for a request to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a code editor, the program in which programmers write code, with AI built in rather than added on. It is based on Visual Studio Code, the most widely used editor, so much of it will look familiar to anyone who has seen VS Code. It offers AI help at three levels, which the next slide explains, and lets you choose among models from different AI companies as well as its own model family, called Composer. The company behind it, Anysphere, was founded in 2022 and was acquired by SpaceX; the deal was announced in June 2026 and closed in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features are the heart of Cursor, and they form a ladder. Tab is autocomplete: as you type, Cursor suggests the next edit in grey, and pressing the Tab key accepts it. Inline Edit works on a selection: you highlight code, press Command-K on a Mac or Control-K on Windows, and describe the change. Agent is the most powerful: you open it with Command-I or Control-I and describe a whole task, and it searches your project, edits files and runs commands. The further right you go, the more Cursor does and the more you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history. Anysphere was founded in 2022 and released Cursor in 2023 as an AI code editor based on VS Code. In October 2025, Cursor 2.0 introduced Composer, the company's own coding model, and a layout designed around agents. In April 2026, Cursor 3 added the Agents Window, a workspace for running several agents in parallel. In 2026 SpaceX, which had merged with xAI earlier that year, agreed to buy Anysphere; the deal was announced on 16 June and closed in mid-August. Cursor continues as a subsidiary. Because the product changes so fast, always check the date on tutorials.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no longer only a desktop editor. The desktop app, highlighted, is where a beginner should start. Inside it, the Agents Window lets you run several agents side by side. There is a command-line version started with the command agent. Cloud Agents can be started and followed from the web at cursor.com/agents and from mobile. And Cursor connects to tools such as GitHub, Slack, Jira and Linear, for example to review pull requests with Bugbot.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are light. Cursor runs on macOS 12 or later, Windows 10 or later, and Linux. You need a Cursor account; the free Hobby plan is enough to learn with, though it limits how much you can use the agent and Tab. And you need a folder to work in. Paid plans mainly buy more usage: Pro at 20 dollars a month, Pro+ at 60 and Ultra at 200, with Teams plans from 40 dollars per user. Prices and allowances change, so confirm them on Cursor's pricing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steps follow Cursor's own quickstart. Download the installer, open the app and sign in, pick a folder, and open the Agent panel with Command-I on a Mac or Control-I on Windows and Linux. A good first message is to ask Cursor to explain the project. If you have used VS Code before, Cursor can feel like the same editor with an extra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Cursor's documentation describes an agent as three components working together. Instructions are the built-in system prompt plus any rules you add. Tools are the actions it can take: searching your files and the web, reading and editing files, running terminal commands, and even controlling a browser to test a page. The model is the AI system that decides what to do; you choose it. Cursor tunes the instructions and tools for each model it supports, so you do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words to learn first. Tab, Inline Edit and Agent are the three levels of help from earlier. The model is the AI system doing the work; Cursor offers several and has an automatic option. Context is everything the AI can see when it answers, which is why pointing it at the right files matters. A diff is how changes are shown: removed lines and added lines side by side, so you can accept or reject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Agent panel can work in four modes. Agent mode is the default and makes changes. Ask mode is read-only: it searches and explains but never edits, which makes it the safest place for a beginner to start. Plan mode researches your code, asks clarifying questions and writes a plan, then waits for your approval before building. Debug mode is for hard bugs: it gathers evidence from the running code before proposing a fix. Cursor's own advice is to use Agent for most tasks and switch when you need one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control words. A checkpoint is a snapshot of your files that Agent saves automatically before significant changes; you can restore one from the chat timeline. The diff view shows what changed. If you type while Agent is working, your message is queued and handled after the current task, or you can send it immediately to steer the work. Auto-run and the allowlist decide which terminal commands Agent may run without asking; leave them conservative while you learn. Privacy Mode governs how your code is handled; check it in settings before opening anything confidential.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do not remember anything between conversations, so rules supply lasting guidance. Cursor has four kinds. Project Rules are files with the .mdc extension inside a .cursor/rules folder; they are saved with the code and can apply always, to matching files, when relevant, or only when mentioned. User Rules are your own global preferences. Team Rules are managed centrally on Teams and Enterprise plans. AGENTS.md is a single plain markdown file for simple cases, and other coding agents read the same file. Cursor's advice: start simple and add a rule only when you see the agent repeat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appear under Customize in Cursor's documentation. A skill packages instructions for a kind of task and is loaded on demand. A subagent is a helper that the main agent hands part of the work to. A hook runs a script at defined moments. MCP, the Model Context Protocol, is the shared standard for connecting AI tools to external systems such as databases or issue trackers. A plugin bundles several of these and is installed from a marketplace. An automation is a cloud agent triggered by a schedule or an event. If you have seen the Claude Code, Codex or Antigravity decks, most of these ideas will be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product names rather than general concepts. Composer is Cursor's in-house model family; the name used to refer to a multi-file editing panel, which is a common source of confusion in older guides. Auto lets Cursor choose the model. The Agents Window, added in Cursor 3, is where you run and watch several agents. Cloud Agents run on remote machines, so they continue after you close your laptop. Bugbot reviews pull requests. Projects is for large pieces of work: a coordinating agent plans and hands parts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as a reference. In the editor, Tab accepts a suggestion, Command or Control-K edits a selection, Command or Control-I opens Agent, and Shift-Tab changes mode. Typing the @ sign lets you point at a file, folder or rule. In the chat, slash commands do special jobs: /create-rule writes a rule for you, /goal gives the agent a long-lived objective, and /side opens a side conversation. In the terminal, the CLI is started with agent and supports the same modes; starting a message with an ampersand hands it to a Cloud Agent. Some of these are still rolling out, so your version may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follows the shape of Cursor's quickstart, in my own words. First, ask Cursor to explain the project; it searches the files and summarises how they fit together. Second, ask for a few small, safe improvements and choose one. Third, ask it to make that change and watch the edits appear in the diff view. Fourth, ask it to run the checks your project already has, such as tests or a build. Good first tasks are low risk, like fixing wording or a small visual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jobs. Understanding code suits Ask mode, because nothing is changed. Building a feature and refactoring suit Agent mode, ideally after a plan. Fixing a difficult bug is what Debug mode is for. Writing tests and reviewing your own changes are good habits that the agent makes quick. Each dark box is an example of what you might type; none of them names a file, because the agent finds the relevant code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clearer the request, the less the agent has to guess. A specific request says what to build, where, and what should happen. Three habits that fit Cursor: use Plan Mode when a change spans several files, use the @ sign to point at the exact files, and when you notice the agent making the same mistake twice, write a rule so it does not happen again. That last one is Cursor's own recommendation for when to add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Ask mode cannot change files, so it is the safe way to explore. Always read the diff; you remain responsible for what goes into your project. Use Git, because Cursor's documentation is explicit that checkpoints are stored locally, are separate from Git, and should only be used to undo the agent's changes. Keep automatic command execution off until you understand what the agent tends to run. And review your privacy settings before working on confidential code, particularly since Cursor's ownership changed in 2026 and policies may be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seen the earlier decks, this table links the four tools. Cursor comes from Anysphere, now part of SpaceX, and is first of all an editor; the others began as a desktop app or a terminal tool. Cursor is also the most model-neutral: it offers models from several companies alongside its own Composer. Each tool has a terminal command and a place for standing project instructions. The ideas, plans, rules, skills, MCP and cloud agents, carry across all four, often under slightly different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order, not an official curriculum. On day one, get used to the editor, to Tab and to asking questions without changing anything. In the first week, let Agent make small changes and practise reviewing diffs and using Plan Mode. In the first month, write a rule or two and connect one outside tool. Cloud Agents, the Agents Window and the command-line tool are for when you want several things happening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dependable places to keep learning: the documentation, the Learn section with guided lessons, and the help centre for quick answers. The table matters because Cursor has renamed things several times. Composer used to mean the multi-file editing panel and now names Cursor's model family; the panel is simply Agent. The old Chat became Ask mode. A single .cursorrules file was replaced by Project Rules. Background Agents are now Cloud Agents, and the setting once nicknamed YOLO mode is called Auto-run. If an older guide uses the left-hand name, look for the right-hand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ideas. One: Cursor offers three levels of help, and you choose how much to use. Two: you stay in charge through diffs, checkpoints and Plan Mode. Three: begin with questions and small, low-risk changes, then build up. Then invite the audience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Cursor from zero  |  A beginner's guide</a:t>
            </a:r>
            <a:endParaRPr lang="en-US" sz="1000" dirty="0"/>
          </a:p>
        </p:txBody>
      </p:sp>
      <p:sp>
        <p:nvSpPr>
          <p:cNvPr id="3" name="Shape 1"/>
          <p:cNvSpPr/>
          <p:nvPr/>
        </p:nvSpPr>
        <p:spPr>
          <a:xfrm>
            <a:off x="548640" y="457200"/>
            <a:ext cx="91440" cy="237744"/>
          </a:xfrm>
          <a:prstGeom prst="rect">
            <a:avLst/>
          </a:prstGeom>
          <a:solidFill>
            <a:srgbClr val="F2B01E"/>
          </a:solidFill>
          <a:ln/>
        </p:spPr>
      </p:sp>
      <p:sp>
        <p:nvSpPr>
          <p:cNvPr id="4" name="Text 2"/>
          <p:cNvSpPr/>
          <p:nvPr>
            <p:ph idx="102" type="body" hasCustomPrompt="1"/>
          </p:nvPr>
        </p:nvSpPr>
        <p:spPr>
          <a:xfrm>
            <a:off x="749808" y="457200"/>
            <a:ext cx="10893247"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5" name="Text 2"/>
          <p:cNvSpPr/>
          <p:nvPr>
            <p:ph idx="103"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120B"/>
        </a:solidFill>
      </p:bgPr>
    </p:bg>
    <p:spTree>
      <p:nvGrpSpPr>
        <p:cNvPr id="1" name=""/>
        <p:cNvGrpSpPr/>
        <p:nvPr/>
      </p:nvGrpSpPr>
      <p:grpSpPr>
        <a:xfrm>
          <a:off x="0" y="0"/>
          <a:ext cx="0" cy="0"/>
          <a:chOff x="0" y="0"/>
          <a:chExt cx="0" cy="0"/>
        </a:xfrm>
      </p:grpSpPr>
      <p:sp>
        <p:nvSpPr>
          <p:cNvPr id="2" name="Shape 0"/>
          <p:cNvSpPr/>
          <p:nvPr/>
        </p:nvSpPr>
        <p:spPr>
          <a:xfrm>
            <a:off x="548640" y="1371600"/>
            <a:ext cx="91440" cy="237744"/>
          </a:xfrm>
          <a:prstGeom prst="rect">
            <a:avLst/>
          </a:prstGeom>
          <a:solidFill>
            <a:srgbClr val="F2B01E"/>
          </a:solidFill>
          <a:ln/>
        </p:spPr>
      </p:sp>
      <p:sp>
        <p:nvSpPr>
          <p:cNvPr id="3" name="Text 1"/>
          <p:cNvSpPr/>
          <p:nvPr>
            <p:ph idx="101" type="body" hasCustomPrompt="1"/>
          </p:nvPr>
        </p:nvSpPr>
        <p:spPr>
          <a:xfrm>
            <a:off x="749808" y="1371600"/>
            <a:ext cx="5669280" cy="274320"/>
          </a:xfrm>
          <a:prstGeom prst="rect">
            <a:avLst/>
          </a:prstGeom>
          <a:noFill/>
          <a:ln/>
        </p:spPr>
        <p:txBody>
          <a:bodyPr wrap="square" rtlCol="0"/>
          <a:lstStyle>
            <a:lvl1pPr indent="0" marL="0">
              <a:buNone/>
              <a:defRPr lang="en-US" sz="1200" b="1"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1783080"/>
            <a:ext cx="594360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5" name="Text 1"/>
          <p:cNvSpPr/>
          <p:nvPr>
            <p:ph idx="103" type="body" hasCustomPrompt="1"/>
          </p:nvPr>
        </p:nvSpPr>
        <p:spPr>
          <a:xfrm>
            <a:off x="548640" y="3063240"/>
            <a:ext cx="566928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120B"/>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Cursor from zero  |  A beginner's guide</a:t>
            </a:r>
            <a:endParaRPr lang="en-US" sz="1000" dirty="0"/>
          </a:p>
        </p:txBody>
      </p:sp>
      <p:sp>
        <p:nvSpPr>
          <p:cNvPr id="3" name="Shape 1"/>
          <p:cNvSpPr/>
          <p:nvPr/>
        </p:nvSpPr>
        <p:spPr>
          <a:xfrm>
            <a:off x="548640" y="457200"/>
            <a:ext cx="91440" cy="237744"/>
          </a:xfrm>
          <a:prstGeom prst="rect">
            <a:avLst/>
          </a:prstGeom>
          <a:solidFill>
            <a:srgbClr val="F2B01E"/>
          </a:solidFill>
          <a:ln/>
        </p:spPr>
      </p:sp>
      <p:sp>
        <p:nvSpPr>
          <p:cNvPr id="4" name="Text 2"/>
          <p:cNvSpPr/>
          <p:nvPr>
            <p:ph idx="102" type="body" hasCustomPrompt="1"/>
          </p:nvPr>
        </p:nvSpPr>
        <p:spPr>
          <a:xfrm>
            <a:off x="749808" y="457200"/>
            <a:ext cx="10893247" cy="274320"/>
          </a:xfrm>
          <a:prstGeom prst="rect">
            <a:avLst/>
          </a:prstGeom>
          <a:noFill/>
          <a:ln/>
        </p:spPr>
        <p:txBody>
          <a:bodyPr wrap="square" rtlCol="0"/>
          <a:lstStyle>
            <a:lvl1pPr indent="0" marL="0">
              <a:buNone/>
              <a:defRPr lang="en-US" sz="1200" b="1"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5" name="Text 2"/>
          <p:cNvSpPr/>
          <p:nvPr>
            <p:ph idx="103"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749808" y="1371600"/>
            <a:ext cx="566928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A BEGINNER'S GUIDE</a:t>
            </a:r>
            <a:endParaRPr lang="en-US" sz="1200" dirty="0"/>
          </a:p>
        </p:txBody>
      </p:sp>
      <p:sp>
        <p:nvSpPr>
          <p:cNvPr id="3" name="Text 1"/>
          <p:cNvSpPr/>
          <p:nvPr>
            <p:ph idx="102" type="title" hasCustomPrompt="1"/>
          </p:nvPr>
        </p:nvSpPr>
        <p:spPr>
          <a:xfrm>
            <a:off x="548640" y="1783080"/>
            <a:ext cx="5943600" cy="1097280"/>
          </a:xfrm>
          <a:prstGeom prst="rect">
            <a:avLst/>
          </a:prstGeom>
          <a:noFill/>
          <a:ln/>
        </p:spPr>
        <p:txBody>
          <a:bodyPr wrap="square" lIns="0" tIns="0" rIns="0" bIns="0" rtlCol="0" anchor="t"/>
          <a:lstStyle/>
          <a:p>
            <a:pPr algn="l" indent="0" marL="0">
              <a:buNone/>
            </a:pPr>
            <a:r>
              <a:rPr lang="en-US" sz="4800" b="1" dirty="0">
                <a:solidFill>
                  <a:schemeClr val="bg1"/>
                </a:solidFill>
              </a:rPr>
              <a:t>Cursor from zero</a:t>
            </a:r>
            <a:endParaRPr lang="en-US" sz="4800" dirty="0"/>
          </a:p>
        </p:txBody>
      </p:sp>
      <p:sp>
        <p:nvSpPr>
          <p:cNvPr id="4" name="Text 1"/>
          <p:cNvSpPr/>
          <p:nvPr>
            <p:ph idx="103" type="body" hasCustomPrompt="1"/>
          </p:nvPr>
        </p:nvSpPr>
        <p:spPr>
          <a:xfrm>
            <a:off x="548640" y="3063240"/>
            <a:ext cx="5669280" cy="914400"/>
          </a:xfrm>
          <a:prstGeom prst="rect">
            <a:avLst/>
          </a:prstGeom>
          <a:noFill/>
          <a:ln/>
        </p:spPr>
        <p:txBody>
          <a:bodyPr wrap="square" lIns="0" tIns="0" rIns="0" bIns="0" rtlCol="0" anchor="t"/>
          <a:lstStyle/>
          <a:p>
            <a:pPr indent="0" marL="0">
              <a:buNone/>
            </a:pPr>
            <a:r>
              <a:rPr lang="en-US" sz="1800" dirty="0">
                <a:solidFill>
                  <a:schemeClr val="accent5"/>
                </a:solidFill>
              </a:rPr>
              <a:t>What it is, the words you will hear, and how to make your first change with AI</a:t>
            </a:r>
            <a:endParaRPr lang="en-US" sz="1800" dirty="0"/>
          </a:p>
        </p:txBody>
      </p:sp>
      <p:sp>
        <p:nvSpPr>
          <p:cNvPr id="5" name="text-1"/>
          <p:cNvSpPr txBox="1"/>
          <p:nvPr/>
        </p:nvSpPr>
        <p:spPr>
          <a:xfrm>
            <a:off x="548640" y="5120640"/>
            <a:ext cx="5943600" cy="2743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No experience with AI coding tools needed</a:t>
            </a:r>
            <a:endParaRPr lang="en-US" sz="1200" dirty="0"/>
          </a:p>
        </p:txBody>
      </p:sp>
      <p:sp>
        <p:nvSpPr>
          <p:cNvPr id="6" name="card-2"/>
          <p:cNvSpPr/>
          <p:nvPr/>
        </p:nvSpPr>
        <p:spPr>
          <a:xfrm>
            <a:off x="6949440" y="1188720"/>
            <a:ext cx="4690872" cy="4434840"/>
          </a:xfrm>
          <a:prstGeom prst="roundRect">
            <a:avLst>
              <a:gd name="adj" fmla="val 1237"/>
            </a:avLst>
          </a:prstGeom>
          <a:solidFill>
            <a:schemeClr val="tx2"/>
          </a:solidFill>
          <a:ln/>
        </p:spPr>
      </p:sp>
      <p:sp>
        <p:nvSpPr>
          <p:cNvPr id="7" name="pill-3"/>
          <p:cNvSpPr/>
          <p:nvPr/>
        </p:nvSpPr>
        <p:spPr>
          <a:xfrm>
            <a:off x="7223760" y="1417320"/>
            <a:ext cx="1005840" cy="329184"/>
          </a:xfrm>
          <a:prstGeom prst="roundRect">
            <a:avLst>
              <a:gd name="adj" fmla="val 13889"/>
            </a:avLst>
          </a:prstGeom>
          <a:solidFill>
            <a:schemeClr val="tx1"/>
          </a:solidFill>
          <a:ln/>
        </p:spPr>
      </p:sp>
      <p:sp>
        <p:nvSpPr>
          <p:cNvPr id="8" name="text-4"/>
          <p:cNvSpPr txBox="1"/>
          <p:nvPr/>
        </p:nvSpPr>
        <p:spPr>
          <a:xfrm>
            <a:off x="7223760" y="1417320"/>
            <a:ext cx="100584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app.js</a:t>
            </a:r>
            <a:endParaRPr lang="en-US" sz="1200" dirty="0"/>
          </a:p>
        </p:txBody>
      </p:sp>
      <p:sp>
        <p:nvSpPr>
          <p:cNvPr id="9" name="text-5"/>
          <p:cNvSpPr txBox="1"/>
          <p:nvPr/>
        </p:nvSpPr>
        <p:spPr>
          <a:xfrm>
            <a:off x="7223760" y="1965960"/>
            <a:ext cx="4142232" cy="1645920"/>
          </a:xfrm>
          <a:prstGeom prst="rect">
            <a:avLst/>
          </a:prstGeom>
          <a:noFill/>
          <a:ln/>
        </p:spPr>
        <p:txBody>
          <a:bodyPr wrap="square" lIns="0" tIns="0" rIns="0" bIns="0" rtlCol="0" anchor="t"/>
          <a:lstStyle/>
          <a:p>
            <a:pPr indent="0" marL="0">
              <a:spcAft>
                <a:spcPts val="300"/>
              </a:spcAft>
              <a:buNone/>
            </a:pPr>
            <a:r>
              <a:rPr lang="en-US" sz="1400" dirty="0">
                <a:solidFill>
                  <a:schemeClr val="bg1"/>
                </a:solidFill>
                <a:latin typeface="Courier New" pitchFamily="34" charset="0"/>
                <a:ea typeface="Courier New" pitchFamily="34" charset="-122"/>
                <a:cs typeface="Courier New" pitchFamily="34" charset="-120"/>
              </a:rPr>
              <a:t>function total(items) {</a:t>
            </a:r>
            <a:endParaRPr lang="en-US" sz="1400" dirty="0"/>
          </a:p>
          <a:p>
            <a:pPr indent="0" marL="0">
              <a:spcAft>
                <a:spcPts val="300"/>
              </a:spcAft>
              <a:buNone/>
            </a:pPr>
            <a:r>
              <a:rPr lang="en-US" sz="1400" dirty="0">
                <a:solidFill>
                  <a:schemeClr val="bg1"/>
                </a:solidFill>
                <a:latin typeface="Courier New" pitchFamily="34" charset="0"/>
                <a:ea typeface="Courier New" pitchFamily="34" charset="-122"/>
                <a:cs typeface="Courier New" pitchFamily="34" charset="-120"/>
              </a:rPr>
              <a:t>  let sum = 0;</a:t>
            </a:r>
            <a:endParaRPr lang="en-US" sz="1400" dirty="0"/>
          </a:p>
          <a:p>
            <a:pPr indent="0" marL="0">
              <a:spcAft>
                <a:spcPts val="300"/>
              </a:spcAft>
              <a:buNone/>
            </a:pPr>
            <a:r>
              <a:rPr lang="en-US" sz="1400" dirty="0">
                <a:solidFill>
                  <a:schemeClr val="bg1"/>
                </a:solidFill>
                <a:latin typeface="Courier New" pitchFamily="34" charset="0"/>
                <a:ea typeface="Courier New" pitchFamily="34" charset="-122"/>
                <a:cs typeface="Courier New" pitchFamily="34" charset="-120"/>
              </a:rPr>
              <a:t>  for (const item of items) {</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    sum += item.price;</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  }</a:t>
            </a:r>
            <a:endParaRPr lang="en-US" sz="1400" dirty="0"/>
          </a:p>
          <a:p>
            <a:pPr indent="0" marL="0">
              <a:spcAft>
                <a:spcPts val="300"/>
              </a:spcAft>
              <a:buNone/>
            </a:pPr>
            <a:r>
              <a:rPr lang="en-US" sz="1400" i="1" dirty="0">
                <a:solidFill>
                  <a:schemeClr val="accent5"/>
                </a:solidFill>
                <a:latin typeface="Courier New" pitchFamily="34" charset="0"/>
                <a:ea typeface="Courier New" pitchFamily="34" charset="-122"/>
                <a:cs typeface="Courier New" pitchFamily="34" charset="-120"/>
              </a:rPr>
              <a:t>  return sum;</a:t>
            </a:r>
            <a:endParaRPr lang="en-US" sz="1400" dirty="0"/>
          </a:p>
        </p:txBody>
      </p:sp>
      <p:sp>
        <p:nvSpPr>
          <p:cNvPr id="10" name="pill-6"/>
          <p:cNvSpPr/>
          <p:nvPr/>
        </p:nvSpPr>
        <p:spPr>
          <a:xfrm>
            <a:off x="9674352" y="3657600"/>
            <a:ext cx="1691640" cy="329184"/>
          </a:xfrm>
          <a:prstGeom prst="roundRect">
            <a:avLst>
              <a:gd name="adj" fmla="val 13889"/>
            </a:avLst>
          </a:prstGeom>
          <a:solidFill>
            <a:schemeClr val="accent2"/>
          </a:solidFill>
          <a:ln/>
        </p:spPr>
      </p:sp>
      <p:sp>
        <p:nvSpPr>
          <p:cNvPr id="11" name="text-7"/>
          <p:cNvSpPr txBox="1"/>
          <p:nvPr/>
        </p:nvSpPr>
        <p:spPr>
          <a:xfrm>
            <a:off x="9674352" y="3657600"/>
            <a:ext cx="1691640" cy="329184"/>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Tab to accept</a:t>
            </a:r>
            <a:endParaRPr lang="en-US" sz="1200" dirty="0"/>
          </a:p>
        </p:txBody>
      </p:sp>
      <p:sp>
        <p:nvSpPr>
          <p:cNvPr id="12" name="card-8"/>
          <p:cNvSpPr/>
          <p:nvPr/>
        </p:nvSpPr>
        <p:spPr>
          <a:xfrm>
            <a:off x="7223760" y="4206240"/>
            <a:ext cx="4142232" cy="1143000"/>
          </a:xfrm>
          <a:prstGeom prst="roundRect">
            <a:avLst>
              <a:gd name="adj" fmla="val 4800"/>
            </a:avLst>
          </a:prstGeom>
          <a:solidFill>
            <a:schemeClr val="tx1"/>
          </a:solidFill>
          <a:ln/>
        </p:spPr>
      </p:sp>
      <p:sp>
        <p:nvSpPr>
          <p:cNvPr id="13" name="text-9"/>
          <p:cNvSpPr txBox="1"/>
          <p:nvPr/>
        </p:nvSpPr>
        <p:spPr>
          <a:xfrm>
            <a:off x="7406640" y="4206240"/>
            <a:ext cx="3776472" cy="1143000"/>
          </a:xfrm>
          <a:prstGeom prst="rect">
            <a:avLst/>
          </a:prstGeom>
          <a:noFill/>
          <a:ln/>
        </p:spPr>
        <p:txBody>
          <a:bodyPr wrap="square" lIns="0" tIns="0" rIns="0" bIns="0" rtlCol="0" anchor="ctr"/>
          <a:lstStyle/>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&gt; add tax to the total</a:t>
            </a:r>
            <a:endParaRPr lang="en-US" sz="1400" dirty="0"/>
          </a:p>
          <a:p>
            <a:pPr indent="0" marL="0">
              <a:spcAft>
                <a:spcPts val="400"/>
              </a:spcAft>
              <a:buNone/>
            </a:pPr>
            <a:r>
              <a:rPr lang="en-US" sz="1400" dirty="0">
                <a:solidFill>
                  <a:schemeClr val="accent2"/>
                </a:solidFill>
                <a:latin typeface="Courier New" pitchFamily="34" charset="0"/>
                <a:ea typeface="Courier New" pitchFamily="34" charset="-122"/>
                <a:cs typeface="Courier New" pitchFamily="34" charset="-120"/>
              </a:rPr>
              <a:t>  Agent is editing app.js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Cursor is a code editor with AI built into every part</a:t>
            </a:r>
            <a:endParaRPr lang="en-US" sz="3000" dirty="0"/>
          </a:p>
        </p:txBody>
      </p:sp>
      <p:sp>
        <p:nvSpPr>
          <p:cNvPr id="4" name="text-10"/>
          <p:cNvSpPr txBox="1"/>
          <p:nvPr/>
        </p:nvSpPr>
        <p:spPr>
          <a:xfrm>
            <a:off x="548640" y="1920240"/>
            <a:ext cx="11094415" cy="822960"/>
          </a:xfrm>
          <a:prstGeom prst="rect">
            <a:avLst/>
          </a:prstGeom>
          <a:noFill/>
          <a:ln/>
        </p:spPr>
        <p:txBody>
          <a:bodyPr wrap="square" lIns="0" tIns="0" rIns="0" bIns="0" rtlCol="0" anchor="t"/>
          <a:lstStyle/>
          <a:p>
            <a:pPr indent="0" marL="0">
              <a:buNone/>
            </a:pPr>
            <a:r>
              <a:rPr lang="en-US" sz="1800" dirty="0">
                <a:solidFill>
                  <a:schemeClr val="tx2"/>
                </a:solidFill>
              </a:rPr>
              <a:t>It looks and works like a normal editor, but it can also finish your lines, rewrite selected code and carry out whole tasks.</a:t>
            </a:r>
            <a:endParaRPr lang="en-US" sz="1800" dirty="0"/>
          </a:p>
        </p:txBody>
      </p:sp>
      <p:sp>
        <p:nvSpPr>
          <p:cNvPr id="5" name="card-11"/>
          <p:cNvSpPr/>
          <p:nvPr/>
        </p:nvSpPr>
        <p:spPr>
          <a:xfrm>
            <a:off x="548640" y="2926080"/>
            <a:ext cx="3515258" cy="2103120"/>
          </a:xfrm>
          <a:prstGeom prst="roundRect">
            <a:avLst>
              <a:gd name="adj" fmla="val 2609"/>
            </a:avLst>
          </a:prstGeom>
          <a:solidFill>
            <a:schemeClr val="bg2"/>
          </a:solidFill>
          <a:ln/>
        </p:spPr>
      </p:sp>
      <p:sp>
        <p:nvSpPr>
          <p:cNvPr id="6" name="tile-12"/>
          <p:cNvSpPr/>
          <p:nvPr/>
        </p:nvSpPr>
        <p:spPr>
          <a:xfrm>
            <a:off x="822960" y="3200400"/>
            <a:ext cx="566928" cy="566928"/>
          </a:xfrm>
          <a:prstGeom prst="roundRect">
            <a:avLst>
              <a:gd name="adj" fmla="val 11290"/>
            </a:avLst>
          </a:prstGeom>
          <a:solidFill>
            <a:schemeClr val="tx1"/>
          </a:solidFill>
          <a:ln/>
        </p:spPr>
      </p:sp>
      <p:pic>
        <p:nvPicPr>
          <p:cNvPr id="7" name="icon-13" descr="preencoded.png">    </p:cNvPr>
          <p:cNvPicPr>
            <a:picLocks noChangeAspect="1"/>
          </p:cNvPicPr>
          <p:nvPr/>
        </p:nvPicPr>
        <p:blipFill>
          <a:blip r:embed="rId1"/>
          <a:stretch>
            <a:fillRect/>
          </a:stretch>
        </p:blipFill>
        <p:spPr>
          <a:xfrm>
            <a:off x="970361" y="3347801"/>
            <a:ext cx="272125" cy="272125"/>
          </a:xfrm>
          <a:prstGeom prst="rect">
            <a:avLst/>
          </a:prstGeom>
        </p:spPr>
      </p:pic>
      <p:sp>
        <p:nvSpPr>
          <p:cNvPr id="8" name="text-14"/>
          <p:cNvSpPr txBox="1"/>
          <p:nvPr/>
        </p:nvSpPr>
        <p:spPr>
          <a:xfrm>
            <a:off x="1572768"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A familiar editor</a:t>
            </a:r>
            <a:endParaRPr lang="en-US" sz="2000" dirty="0"/>
          </a:p>
        </p:txBody>
      </p:sp>
      <p:sp>
        <p:nvSpPr>
          <p:cNvPr id="9" name="text-15"/>
          <p:cNvSpPr txBox="1"/>
          <p:nvPr/>
        </p:nvSpPr>
        <p:spPr>
          <a:xfrm>
            <a:off x="822960"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Built on VS Code, so the layout, shortcuts and extensions feel familiar</a:t>
            </a:r>
            <a:endParaRPr lang="en-US" sz="1400" dirty="0"/>
          </a:p>
        </p:txBody>
      </p:sp>
      <p:sp>
        <p:nvSpPr>
          <p:cNvPr id="10" name="card-16"/>
          <p:cNvSpPr/>
          <p:nvPr/>
        </p:nvSpPr>
        <p:spPr>
          <a:xfrm>
            <a:off x="4338218" y="2926080"/>
            <a:ext cx="3515258" cy="2103120"/>
          </a:xfrm>
          <a:prstGeom prst="roundRect">
            <a:avLst>
              <a:gd name="adj" fmla="val 2609"/>
            </a:avLst>
          </a:prstGeom>
          <a:solidFill>
            <a:schemeClr val="bg2"/>
          </a:solidFill>
          <a:ln/>
        </p:spPr>
      </p:sp>
      <p:sp>
        <p:nvSpPr>
          <p:cNvPr id="11" name="tile-17"/>
          <p:cNvSpPr/>
          <p:nvPr/>
        </p:nvSpPr>
        <p:spPr>
          <a:xfrm>
            <a:off x="4612538" y="3200400"/>
            <a:ext cx="566928" cy="566928"/>
          </a:xfrm>
          <a:prstGeom prst="roundRect">
            <a:avLst>
              <a:gd name="adj" fmla="val 11290"/>
            </a:avLst>
          </a:prstGeom>
          <a:solidFill>
            <a:schemeClr val="tx1"/>
          </a:solidFill>
          <a:ln/>
        </p:spPr>
      </p:sp>
      <p:pic>
        <p:nvPicPr>
          <p:cNvPr id="12" name="icon-18" descr="preencoded.png">    </p:cNvPr>
          <p:cNvPicPr>
            <a:picLocks noChangeAspect="1"/>
          </p:cNvPicPr>
          <p:nvPr/>
        </p:nvPicPr>
        <p:blipFill>
          <a:blip r:embed="rId2"/>
          <a:stretch>
            <a:fillRect/>
          </a:stretch>
        </p:blipFill>
        <p:spPr>
          <a:xfrm>
            <a:off x="4759940" y="3347801"/>
            <a:ext cx="272125" cy="272125"/>
          </a:xfrm>
          <a:prstGeom prst="rect">
            <a:avLst/>
          </a:prstGeom>
        </p:spPr>
      </p:pic>
      <p:sp>
        <p:nvSpPr>
          <p:cNvPr id="13" name="text-19"/>
          <p:cNvSpPr txBox="1"/>
          <p:nvPr/>
        </p:nvSpPr>
        <p:spPr>
          <a:xfrm>
            <a:off x="5362346"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AI at three levels</a:t>
            </a:r>
            <a:endParaRPr lang="en-US" sz="2000" dirty="0"/>
          </a:p>
        </p:txBody>
      </p:sp>
      <p:sp>
        <p:nvSpPr>
          <p:cNvPr id="14" name="text-20"/>
          <p:cNvSpPr txBox="1"/>
          <p:nvPr/>
        </p:nvSpPr>
        <p:spPr>
          <a:xfrm>
            <a:off x="4612538"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Autocomplete as you type, edits on request, and an agent for whole tasks</a:t>
            </a:r>
            <a:endParaRPr lang="en-US" sz="1400" dirty="0"/>
          </a:p>
        </p:txBody>
      </p:sp>
      <p:sp>
        <p:nvSpPr>
          <p:cNvPr id="15" name="card-21"/>
          <p:cNvSpPr/>
          <p:nvPr/>
        </p:nvSpPr>
        <p:spPr>
          <a:xfrm>
            <a:off x="8127797" y="2926080"/>
            <a:ext cx="3515258" cy="2103120"/>
          </a:xfrm>
          <a:prstGeom prst="roundRect">
            <a:avLst>
              <a:gd name="adj" fmla="val 2609"/>
            </a:avLst>
          </a:prstGeom>
          <a:solidFill>
            <a:schemeClr val="bg2"/>
          </a:solidFill>
          <a:ln/>
        </p:spPr>
      </p:sp>
      <p:sp>
        <p:nvSpPr>
          <p:cNvPr id="16" name="tile-22"/>
          <p:cNvSpPr/>
          <p:nvPr/>
        </p:nvSpPr>
        <p:spPr>
          <a:xfrm>
            <a:off x="8402117" y="3200400"/>
            <a:ext cx="566928" cy="566928"/>
          </a:xfrm>
          <a:prstGeom prst="roundRect">
            <a:avLst>
              <a:gd name="adj" fmla="val 11290"/>
            </a:avLst>
          </a:prstGeom>
          <a:solidFill>
            <a:schemeClr val="tx1"/>
          </a:solidFill>
          <a:ln/>
        </p:spPr>
      </p:sp>
      <p:pic>
        <p:nvPicPr>
          <p:cNvPr id="17" name="icon-23" descr="preencoded.png">    </p:cNvPr>
          <p:cNvPicPr>
            <a:picLocks noChangeAspect="1"/>
          </p:cNvPicPr>
          <p:nvPr/>
        </p:nvPicPr>
        <p:blipFill>
          <a:blip r:embed="rId3"/>
          <a:stretch>
            <a:fillRect/>
          </a:stretch>
        </p:blipFill>
        <p:spPr>
          <a:xfrm>
            <a:off x="8549518" y="3347801"/>
            <a:ext cx="272125" cy="272125"/>
          </a:xfrm>
          <a:prstGeom prst="rect">
            <a:avLst/>
          </a:prstGeom>
        </p:spPr>
      </p:pic>
      <p:sp>
        <p:nvSpPr>
          <p:cNvPr id="18" name="text-24"/>
          <p:cNvSpPr txBox="1"/>
          <p:nvPr/>
        </p:nvSpPr>
        <p:spPr>
          <a:xfrm>
            <a:off x="9151925"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A choice of models</a:t>
            </a:r>
            <a:endParaRPr lang="en-US" sz="2000" dirty="0"/>
          </a:p>
        </p:txBody>
      </p:sp>
      <p:sp>
        <p:nvSpPr>
          <p:cNvPr id="19" name="text-25"/>
          <p:cNvSpPr txBox="1"/>
          <p:nvPr/>
        </p:nvSpPr>
        <p:spPr>
          <a:xfrm>
            <a:off x="8402117"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Use models from several AI companies, or Cursor's own Composer</a:t>
            </a:r>
            <a:endParaRPr lang="en-US" sz="1400" dirty="0"/>
          </a:p>
        </p:txBody>
      </p:sp>
      <p:sp>
        <p:nvSpPr>
          <p:cNvPr id="20" name="card-26"/>
          <p:cNvSpPr/>
          <p:nvPr/>
        </p:nvSpPr>
        <p:spPr>
          <a:xfrm>
            <a:off x="548640" y="5257800"/>
            <a:ext cx="11094415" cy="640080"/>
          </a:xfrm>
          <a:prstGeom prst="roundRect">
            <a:avLst>
              <a:gd name="adj" fmla="val 8571"/>
            </a:avLst>
          </a:prstGeom>
          <a:solidFill>
            <a:schemeClr val="accent5"/>
          </a:solidFill>
          <a:ln/>
        </p:spPr>
      </p:sp>
      <p:sp>
        <p:nvSpPr>
          <p:cNvPr id="21" name="tile-27"/>
          <p:cNvSpPr/>
          <p:nvPr/>
        </p:nvSpPr>
        <p:spPr>
          <a:xfrm>
            <a:off x="685800" y="5376672"/>
            <a:ext cx="402336" cy="402336"/>
          </a:xfrm>
          <a:prstGeom prst="roundRect">
            <a:avLst>
              <a:gd name="adj" fmla="val 15909"/>
            </a:avLst>
          </a:prstGeom>
          <a:solidFill>
            <a:schemeClr val="tx1"/>
          </a:solidFill>
          <a:ln/>
        </p:spPr>
      </p:sp>
      <p:pic>
        <p:nvPicPr>
          <p:cNvPr id="22" name="icon-28" descr="preencoded.png">    </p:cNvPr>
          <p:cNvPicPr>
            <a:picLocks noChangeAspect="1"/>
          </p:cNvPicPr>
          <p:nvPr/>
        </p:nvPicPr>
        <p:blipFill>
          <a:blip r:embed="rId4"/>
          <a:stretch>
            <a:fillRect/>
          </a:stretch>
        </p:blipFill>
        <p:spPr>
          <a:xfrm>
            <a:off x="790407" y="5481279"/>
            <a:ext cx="193121" cy="193121"/>
          </a:xfrm>
          <a:prstGeom prst="rect">
            <a:avLst/>
          </a:prstGeom>
        </p:spPr>
      </p:pic>
      <p:sp>
        <p:nvSpPr>
          <p:cNvPr id="23" name="text-29"/>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Cursor is made by Anysphere, which became part of SpaceX in August 2026.</a:t>
            </a:r>
            <a:endParaRPr lang="en-US" sz="1400" dirty="0"/>
          </a:p>
        </p:txBody>
      </p:sp>
      <p:sp>
        <p:nvSpPr>
          <p:cNvPr id="24" name="text-3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documentation; Wikipedia, Cursor (company); CNBC (16 June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Cursor offers three levels of help</a:t>
            </a:r>
            <a:endParaRPr lang="en-US" sz="3000" dirty="0"/>
          </a:p>
        </p:txBody>
      </p:sp>
      <p:sp>
        <p:nvSpPr>
          <p:cNvPr id="4" name="card-31"/>
          <p:cNvSpPr/>
          <p:nvPr/>
        </p:nvSpPr>
        <p:spPr>
          <a:xfrm>
            <a:off x="548640" y="2651760"/>
            <a:ext cx="3515258" cy="2331720"/>
          </a:xfrm>
          <a:prstGeom prst="roundRect">
            <a:avLst>
              <a:gd name="adj" fmla="val 2353"/>
            </a:avLst>
          </a:prstGeom>
          <a:solidFill>
            <a:schemeClr val="bg2"/>
          </a:solidFill>
          <a:ln/>
        </p:spPr>
      </p:sp>
      <p:sp>
        <p:nvSpPr>
          <p:cNvPr id="5" name="tile-32"/>
          <p:cNvSpPr/>
          <p:nvPr/>
        </p:nvSpPr>
        <p:spPr>
          <a:xfrm>
            <a:off x="822960" y="2926080"/>
            <a:ext cx="566928" cy="566928"/>
          </a:xfrm>
          <a:prstGeom prst="roundRect">
            <a:avLst>
              <a:gd name="adj" fmla="val 11290"/>
            </a:avLst>
          </a:prstGeom>
          <a:solidFill>
            <a:schemeClr val="tx1"/>
          </a:solidFill>
          <a:ln/>
        </p:spPr>
      </p:sp>
      <p:pic>
        <p:nvPicPr>
          <p:cNvPr id="6" name="icon-33" descr="preencoded.png">    </p:cNvPr>
          <p:cNvPicPr>
            <a:picLocks noChangeAspect="1"/>
          </p:cNvPicPr>
          <p:nvPr/>
        </p:nvPicPr>
        <p:blipFill>
          <a:blip r:embed="rId1"/>
          <a:stretch>
            <a:fillRect/>
          </a:stretch>
        </p:blipFill>
        <p:spPr>
          <a:xfrm>
            <a:off x="970361" y="3073481"/>
            <a:ext cx="272125" cy="272125"/>
          </a:xfrm>
          <a:prstGeom prst="rect">
            <a:avLst/>
          </a:prstGeom>
        </p:spPr>
      </p:pic>
      <p:sp>
        <p:nvSpPr>
          <p:cNvPr id="7" name="text-34"/>
          <p:cNvSpPr txBox="1"/>
          <p:nvPr/>
        </p:nvSpPr>
        <p:spPr>
          <a:xfrm>
            <a:off x="1572768" y="292608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Tab</a:t>
            </a:r>
            <a:endParaRPr lang="en-US" sz="2000" dirty="0"/>
          </a:p>
        </p:txBody>
      </p:sp>
      <p:sp>
        <p:nvSpPr>
          <p:cNvPr id="8" name="pill-35"/>
          <p:cNvSpPr/>
          <p:nvPr/>
        </p:nvSpPr>
        <p:spPr>
          <a:xfrm>
            <a:off x="2372258" y="4480560"/>
            <a:ext cx="1417320" cy="310896"/>
          </a:xfrm>
          <a:prstGeom prst="roundRect">
            <a:avLst>
              <a:gd name="adj" fmla="val 14706"/>
            </a:avLst>
          </a:prstGeom>
          <a:solidFill>
            <a:schemeClr val="tx1"/>
          </a:solidFill>
          <a:ln/>
        </p:spPr>
      </p:sp>
      <p:sp>
        <p:nvSpPr>
          <p:cNvPr id="9" name="text-36"/>
          <p:cNvSpPr txBox="1"/>
          <p:nvPr/>
        </p:nvSpPr>
        <p:spPr>
          <a:xfrm>
            <a:off x="2372258" y="4480560"/>
            <a:ext cx="14173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TAB</a:t>
            </a:r>
            <a:endParaRPr lang="en-US" sz="1100" dirty="0"/>
          </a:p>
        </p:txBody>
      </p:sp>
      <p:sp>
        <p:nvSpPr>
          <p:cNvPr id="10" name="text-37"/>
          <p:cNvSpPr txBox="1"/>
          <p:nvPr/>
        </p:nvSpPr>
        <p:spPr>
          <a:xfrm>
            <a:off x="822960" y="3703320"/>
            <a:ext cx="2966618" cy="868680"/>
          </a:xfrm>
          <a:prstGeom prst="rect">
            <a:avLst/>
          </a:prstGeom>
          <a:noFill/>
          <a:ln/>
        </p:spPr>
        <p:txBody>
          <a:bodyPr wrap="square" lIns="0" tIns="0" rIns="0" bIns="0" rtlCol="0" anchor="t"/>
          <a:lstStyle/>
          <a:p>
            <a:pPr indent="0" marL="0">
              <a:buNone/>
            </a:pPr>
            <a:r>
              <a:rPr lang="en-US" sz="1400" dirty="0">
                <a:solidFill>
                  <a:schemeClr val="tx2"/>
                </a:solidFill>
              </a:rPr>
              <a:t>You type. Cursor predicts your next edit and you press Tab to accept it.</a:t>
            </a:r>
            <a:endParaRPr lang="en-US" sz="1400" dirty="0"/>
          </a:p>
        </p:txBody>
      </p:sp>
      <p:sp>
        <p:nvSpPr>
          <p:cNvPr id="11" name="text-38"/>
          <p:cNvSpPr txBox="1"/>
          <p:nvPr/>
        </p:nvSpPr>
        <p:spPr>
          <a:xfrm>
            <a:off x="822960" y="4526280"/>
            <a:ext cx="1412138"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DO MOST</a:t>
            </a:r>
            <a:endParaRPr lang="en-US" sz="1100" dirty="0"/>
          </a:p>
        </p:txBody>
      </p:sp>
      <p:sp>
        <p:nvSpPr>
          <p:cNvPr id="12" name="card-39"/>
          <p:cNvSpPr/>
          <p:nvPr/>
        </p:nvSpPr>
        <p:spPr>
          <a:xfrm>
            <a:off x="4338218" y="2286000"/>
            <a:ext cx="3515258" cy="2697480"/>
          </a:xfrm>
          <a:prstGeom prst="roundRect">
            <a:avLst>
              <a:gd name="adj" fmla="val 2034"/>
            </a:avLst>
          </a:prstGeom>
          <a:solidFill>
            <a:schemeClr val="bg2"/>
          </a:solidFill>
          <a:ln/>
        </p:spPr>
      </p:sp>
      <p:sp>
        <p:nvSpPr>
          <p:cNvPr id="13" name="tile-40"/>
          <p:cNvSpPr/>
          <p:nvPr/>
        </p:nvSpPr>
        <p:spPr>
          <a:xfrm>
            <a:off x="4612538" y="2560320"/>
            <a:ext cx="566928" cy="566928"/>
          </a:xfrm>
          <a:prstGeom prst="roundRect">
            <a:avLst>
              <a:gd name="adj" fmla="val 11290"/>
            </a:avLst>
          </a:prstGeom>
          <a:solidFill>
            <a:schemeClr val="tx1"/>
          </a:solidFill>
          <a:ln/>
        </p:spPr>
      </p:sp>
      <p:pic>
        <p:nvPicPr>
          <p:cNvPr id="14" name="icon-41" descr="preencoded.png">    </p:cNvPr>
          <p:cNvPicPr>
            <a:picLocks noChangeAspect="1"/>
          </p:cNvPicPr>
          <p:nvPr/>
        </p:nvPicPr>
        <p:blipFill>
          <a:blip r:embed="rId2"/>
          <a:stretch>
            <a:fillRect/>
          </a:stretch>
        </p:blipFill>
        <p:spPr>
          <a:xfrm>
            <a:off x="4759940" y="2707721"/>
            <a:ext cx="272125" cy="272125"/>
          </a:xfrm>
          <a:prstGeom prst="rect">
            <a:avLst/>
          </a:prstGeom>
        </p:spPr>
      </p:pic>
      <p:sp>
        <p:nvSpPr>
          <p:cNvPr id="15" name="text-42"/>
          <p:cNvSpPr txBox="1"/>
          <p:nvPr/>
        </p:nvSpPr>
        <p:spPr>
          <a:xfrm>
            <a:off x="5362346" y="256032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Inline Edit</a:t>
            </a:r>
            <a:endParaRPr lang="en-US" sz="2000" dirty="0"/>
          </a:p>
        </p:txBody>
      </p:sp>
      <p:sp>
        <p:nvSpPr>
          <p:cNvPr id="16" name="pill-43"/>
          <p:cNvSpPr/>
          <p:nvPr/>
        </p:nvSpPr>
        <p:spPr>
          <a:xfrm>
            <a:off x="6161837" y="4480560"/>
            <a:ext cx="1417320" cy="310896"/>
          </a:xfrm>
          <a:prstGeom prst="roundRect">
            <a:avLst>
              <a:gd name="adj" fmla="val 14706"/>
            </a:avLst>
          </a:prstGeom>
          <a:solidFill>
            <a:schemeClr val="tx1"/>
          </a:solidFill>
          <a:ln/>
        </p:spPr>
      </p:sp>
      <p:sp>
        <p:nvSpPr>
          <p:cNvPr id="17" name="text-44"/>
          <p:cNvSpPr txBox="1"/>
          <p:nvPr/>
        </p:nvSpPr>
        <p:spPr>
          <a:xfrm>
            <a:off x="6161837" y="4480560"/>
            <a:ext cx="14173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CMD/CTRL + K</a:t>
            </a:r>
            <a:endParaRPr lang="en-US" sz="1100" dirty="0"/>
          </a:p>
        </p:txBody>
      </p:sp>
      <p:sp>
        <p:nvSpPr>
          <p:cNvPr id="18" name="text-45"/>
          <p:cNvSpPr txBox="1"/>
          <p:nvPr/>
        </p:nvSpPr>
        <p:spPr>
          <a:xfrm>
            <a:off x="4612538" y="3337560"/>
            <a:ext cx="2966618" cy="868680"/>
          </a:xfrm>
          <a:prstGeom prst="rect">
            <a:avLst/>
          </a:prstGeom>
          <a:noFill/>
          <a:ln/>
        </p:spPr>
        <p:txBody>
          <a:bodyPr wrap="square" lIns="0" tIns="0" rIns="0" bIns="0" rtlCol="0" anchor="t"/>
          <a:lstStyle/>
          <a:p>
            <a:pPr indent="0" marL="0">
              <a:buNone/>
            </a:pPr>
            <a:r>
              <a:rPr lang="en-US" sz="1400" dirty="0">
                <a:solidFill>
                  <a:schemeClr val="tx2"/>
                </a:solidFill>
              </a:rPr>
              <a:t>You select some code and describe the change. Cursor rewrites that part.</a:t>
            </a:r>
            <a:endParaRPr lang="en-US" sz="1400" dirty="0"/>
          </a:p>
        </p:txBody>
      </p:sp>
      <p:sp>
        <p:nvSpPr>
          <p:cNvPr id="19" name="text-46"/>
          <p:cNvSpPr txBox="1"/>
          <p:nvPr/>
        </p:nvSpPr>
        <p:spPr>
          <a:xfrm>
            <a:off x="4612538" y="4526280"/>
            <a:ext cx="1412138"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SHARED</a:t>
            </a:r>
            <a:endParaRPr lang="en-US" sz="1100" dirty="0"/>
          </a:p>
        </p:txBody>
      </p:sp>
      <p:sp>
        <p:nvSpPr>
          <p:cNvPr id="20" name="card-47"/>
          <p:cNvSpPr/>
          <p:nvPr/>
        </p:nvSpPr>
        <p:spPr>
          <a:xfrm>
            <a:off x="8127797" y="1920240"/>
            <a:ext cx="3515258" cy="3063240"/>
          </a:xfrm>
          <a:prstGeom prst="roundRect">
            <a:avLst>
              <a:gd name="adj" fmla="val 1791"/>
            </a:avLst>
          </a:prstGeom>
          <a:solidFill>
            <a:schemeClr val="accent5"/>
          </a:solidFill>
          <a:ln/>
        </p:spPr>
      </p:sp>
      <p:sp>
        <p:nvSpPr>
          <p:cNvPr id="21" name="tile-48"/>
          <p:cNvSpPr/>
          <p:nvPr/>
        </p:nvSpPr>
        <p:spPr>
          <a:xfrm>
            <a:off x="8402117" y="2194560"/>
            <a:ext cx="566928" cy="566928"/>
          </a:xfrm>
          <a:prstGeom prst="roundRect">
            <a:avLst>
              <a:gd name="adj" fmla="val 11290"/>
            </a:avLst>
          </a:prstGeom>
          <a:solidFill>
            <a:schemeClr val="tx1"/>
          </a:solidFill>
          <a:ln/>
        </p:spPr>
      </p:sp>
      <p:pic>
        <p:nvPicPr>
          <p:cNvPr id="22" name="icon-49" descr="preencoded.png">    </p:cNvPr>
          <p:cNvPicPr>
            <a:picLocks noChangeAspect="1"/>
          </p:cNvPicPr>
          <p:nvPr/>
        </p:nvPicPr>
        <p:blipFill>
          <a:blip r:embed="rId3"/>
          <a:stretch>
            <a:fillRect/>
          </a:stretch>
        </p:blipFill>
        <p:spPr>
          <a:xfrm>
            <a:off x="8549518" y="2341961"/>
            <a:ext cx="272125" cy="272125"/>
          </a:xfrm>
          <a:prstGeom prst="rect">
            <a:avLst/>
          </a:prstGeom>
        </p:spPr>
      </p:pic>
      <p:sp>
        <p:nvSpPr>
          <p:cNvPr id="23" name="text-50"/>
          <p:cNvSpPr txBox="1"/>
          <p:nvPr/>
        </p:nvSpPr>
        <p:spPr>
          <a:xfrm>
            <a:off x="9151925" y="219456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Agent</a:t>
            </a:r>
            <a:endParaRPr lang="en-US" sz="2000" dirty="0"/>
          </a:p>
        </p:txBody>
      </p:sp>
      <p:sp>
        <p:nvSpPr>
          <p:cNvPr id="24" name="pill-51"/>
          <p:cNvSpPr/>
          <p:nvPr/>
        </p:nvSpPr>
        <p:spPr>
          <a:xfrm>
            <a:off x="9951415" y="4480560"/>
            <a:ext cx="1417320" cy="310896"/>
          </a:xfrm>
          <a:prstGeom prst="roundRect">
            <a:avLst>
              <a:gd name="adj" fmla="val 14706"/>
            </a:avLst>
          </a:prstGeom>
          <a:solidFill>
            <a:schemeClr val="tx1"/>
          </a:solidFill>
          <a:ln/>
        </p:spPr>
      </p:sp>
      <p:sp>
        <p:nvSpPr>
          <p:cNvPr id="25" name="text-52"/>
          <p:cNvSpPr txBox="1"/>
          <p:nvPr/>
        </p:nvSpPr>
        <p:spPr>
          <a:xfrm>
            <a:off x="9951415" y="4480560"/>
            <a:ext cx="14173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CMD/CTRL + I</a:t>
            </a:r>
            <a:endParaRPr lang="en-US" sz="1100" dirty="0"/>
          </a:p>
        </p:txBody>
      </p:sp>
      <p:sp>
        <p:nvSpPr>
          <p:cNvPr id="26" name="text-53"/>
          <p:cNvSpPr txBox="1"/>
          <p:nvPr/>
        </p:nvSpPr>
        <p:spPr>
          <a:xfrm>
            <a:off x="8402117" y="2971800"/>
            <a:ext cx="2966618" cy="868680"/>
          </a:xfrm>
          <a:prstGeom prst="rect">
            <a:avLst/>
          </a:prstGeom>
          <a:noFill/>
          <a:ln/>
        </p:spPr>
        <p:txBody>
          <a:bodyPr wrap="square" lIns="0" tIns="0" rIns="0" bIns="0" rtlCol="0" anchor="t"/>
          <a:lstStyle/>
          <a:p>
            <a:pPr indent="0" marL="0">
              <a:buNone/>
            </a:pPr>
            <a:r>
              <a:rPr lang="en-US" sz="1400" dirty="0">
                <a:solidFill>
                  <a:schemeClr val="tx2"/>
                </a:solidFill>
              </a:rPr>
              <a:t>You describe a task. Cursor edits files and runs commands to finish it.</a:t>
            </a:r>
            <a:endParaRPr lang="en-US" sz="1400" dirty="0"/>
          </a:p>
        </p:txBody>
      </p:sp>
      <p:sp>
        <p:nvSpPr>
          <p:cNvPr id="27" name="text-54"/>
          <p:cNvSpPr txBox="1"/>
          <p:nvPr/>
        </p:nvSpPr>
        <p:spPr>
          <a:xfrm>
            <a:off x="8402117" y="4526280"/>
            <a:ext cx="1412138"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CURSOR DOES MOST</a:t>
            </a:r>
            <a:endParaRPr lang="en-US" sz="1100" dirty="0"/>
          </a:p>
        </p:txBody>
      </p:sp>
      <p:sp>
        <p:nvSpPr>
          <p:cNvPr id="28" name="card-55"/>
          <p:cNvSpPr/>
          <p:nvPr/>
        </p:nvSpPr>
        <p:spPr>
          <a:xfrm>
            <a:off x="548640" y="5257800"/>
            <a:ext cx="11094415" cy="640080"/>
          </a:xfrm>
          <a:prstGeom prst="roundRect">
            <a:avLst>
              <a:gd name="adj" fmla="val 8571"/>
            </a:avLst>
          </a:prstGeom>
          <a:solidFill>
            <a:schemeClr val="accent5"/>
          </a:solidFill>
          <a:ln/>
        </p:spPr>
      </p:sp>
      <p:sp>
        <p:nvSpPr>
          <p:cNvPr id="29" name="tile-56"/>
          <p:cNvSpPr/>
          <p:nvPr/>
        </p:nvSpPr>
        <p:spPr>
          <a:xfrm>
            <a:off x="685800" y="5376672"/>
            <a:ext cx="402336" cy="402336"/>
          </a:xfrm>
          <a:prstGeom prst="roundRect">
            <a:avLst>
              <a:gd name="adj" fmla="val 15909"/>
            </a:avLst>
          </a:prstGeom>
          <a:solidFill>
            <a:schemeClr val="tx1"/>
          </a:solidFill>
          <a:ln/>
        </p:spPr>
      </p:sp>
      <p:pic>
        <p:nvPicPr>
          <p:cNvPr id="30" name="icon-57" descr="preencoded.png">    </p:cNvPr>
          <p:cNvPicPr>
            <a:picLocks noChangeAspect="1"/>
          </p:cNvPicPr>
          <p:nvPr/>
        </p:nvPicPr>
        <p:blipFill>
          <a:blip r:embed="rId4"/>
          <a:stretch>
            <a:fillRect/>
          </a:stretch>
        </p:blipFill>
        <p:spPr>
          <a:xfrm>
            <a:off x="790407" y="5481279"/>
            <a:ext cx="193121" cy="193121"/>
          </a:xfrm>
          <a:prstGeom prst="rect">
            <a:avLst/>
          </a:prstGeom>
        </p:spPr>
      </p:pic>
      <p:sp>
        <p:nvSpPr>
          <p:cNvPr id="31" name="text-58"/>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Beginners can stay with Tab and Inline Edit at first, then hand tasks to Agent when they feel ready.</a:t>
            </a:r>
            <a:endParaRPr lang="en-US" sz="1400" dirty="0"/>
          </a:p>
        </p:txBody>
      </p:sp>
      <p:sp>
        <p:nvSpPr>
          <p:cNvPr id="32" name="text-5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From an AI editor to an agent workspace</a:t>
            </a:r>
            <a:endParaRPr lang="en-US" sz="3000" dirty="0"/>
          </a:p>
        </p:txBody>
      </p:sp>
      <p:sp>
        <p:nvSpPr>
          <p:cNvPr id="4" name="rail-60"/>
          <p:cNvSpPr/>
          <p:nvPr/>
        </p:nvSpPr>
        <p:spPr>
          <a:xfrm>
            <a:off x="685800" y="2194560"/>
            <a:ext cx="8526551" cy="0"/>
          </a:xfrm>
          <a:prstGeom prst="line">
            <a:avLst/>
          </a:prstGeom>
          <a:noFill/>
          <a:ln w="38100">
            <a:solidFill>
              <a:schemeClr val="accent2"/>
            </a:solidFill>
            <a:prstDash val="solid"/>
          </a:ln>
        </p:spPr>
      </p:sp>
      <p:sp>
        <p:nvSpPr>
          <p:cNvPr id="5" name="caret-61"/>
          <p:cNvSpPr/>
          <p:nvPr/>
        </p:nvSpPr>
        <p:spPr>
          <a:xfrm>
            <a:off x="548640" y="2039112"/>
            <a:ext cx="128016" cy="310896"/>
          </a:xfrm>
          <a:prstGeom prst="rect">
            <a:avLst/>
          </a:prstGeom>
          <a:solidFill>
            <a:schemeClr val="tx1"/>
          </a:solidFill>
          <a:ln/>
        </p:spPr>
      </p:sp>
      <p:sp>
        <p:nvSpPr>
          <p:cNvPr id="6" name="text-62"/>
          <p:cNvSpPr txBox="1"/>
          <p:nvPr/>
        </p:nvSpPr>
        <p:spPr>
          <a:xfrm>
            <a:off x="548640"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2023</a:t>
            </a:r>
            <a:endParaRPr lang="en-US" sz="2000" dirty="0"/>
          </a:p>
        </p:txBody>
      </p:sp>
      <p:sp>
        <p:nvSpPr>
          <p:cNvPr id="7" name="text-63"/>
          <p:cNvSpPr txBox="1"/>
          <p:nvPr/>
        </p:nvSpPr>
        <p:spPr>
          <a:xfrm>
            <a:off x="548640"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First release</a:t>
            </a:r>
            <a:endParaRPr lang="en-US" sz="1800" dirty="0"/>
          </a:p>
        </p:txBody>
      </p:sp>
      <p:sp>
        <p:nvSpPr>
          <p:cNvPr id="8" name="text-64"/>
          <p:cNvSpPr txBox="1"/>
          <p:nvPr/>
        </p:nvSpPr>
        <p:spPr>
          <a:xfrm>
            <a:off x="548640"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An AI code editor from the start-up Anysphere, built on VS Code</a:t>
            </a:r>
            <a:endParaRPr lang="en-US" sz="1400" dirty="0"/>
          </a:p>
        </p:txBody>
      </p:sp>
      <p:sp>
        <p:nvSpPr>
          <p:cNvPr id="9" name="caret-65"/>
          <p:cNvSpPr/>
          <p:nvPr/>
        </p:nvSpPr>
        <p:spPr>
          <a:xfrm>
            <a:off x="3390824" y="2039112"/>
            <a:ext cx="128016" cy="310896"/>
          </a:xfrm>
          <a:prstGeom prst="rect">
            <a:avLst/>
          </a:prstGeom>
          <a:solidFill>
            <a:schemeClr val="tx1"/>
          </a:solidFill>
          <a:ln/>
        </p:spPr>
      </p:sp>
      <p:sp>
        <p:nvSpPr>
          <p:cNvPr id="10" name="text-66"/>
          <p:cNvSpPr txBox="1"/>
          <p:nvPr/>
        </p:nvSpPr>
        <p:spPr>
          <a:xfrm>
            <a:off x="3390824"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Oct 2025</a:t>
            </a:r>
            <a:endParaRPr lang="en-US" sz="2000" dirty="0"/>
          </a:p>
        </p:txBody>
      </p:sp>
      <p:sp>
        <p:nvSpPr>
          <p:cNvPr id="11" name="text-67"/>
          <p:cNvSpPr txBox="1"/>
          <p:nvPr/>
        </p:nvSpPr>
        <p:spPr>
          <a:xfrm>
            <a:off x="3390824"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Cursor 2.0</a:t>
            </a:r>
            <a:endParaRPr lang="en-US" sz="1800" dirty="0"/>
          </a:p>
        </p:txBody>
      </p:sp>
      <p:sp>
        <p:nvSpPr>
          <p:cNvPr id="12" name="text-68"/>
          <p:cNvSpPr txBox="1"/>
          <p:nvPr/>
        </p:nvSpPr>
        <p:spPr>
          <a:xfrm>
            <a:off x="3390824"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Adds Composer, Cursor's own coding model, and a multi-agent layout</a:t>
            </a:r>
            <a:endParaRPr lang="en-US" sz="1400" dirty="0"/>
          </a:p>
        </p:txBody>
      </p:sp>
      <p:sp>
        <p:nvSpPr>
          <p:cNvPr id="13" name="caret-69"/>
          <p:cNvSpPr/>
          <p:nvPr/>
        </p:nvSpPr>
        <p:spPr>
          <a:xfrm>
            <a:off x="6233008" y="2039112"/>
            <a:ext cx="128016" cy="310896"/>
          </a:xfrm>
          <a:prstGeom prst="rect">
            <a:avLst/>
          </a:prstGeom>
          <a:solidFill>
            <a:schemeClr val="tx1"/>
          </a:solidFill>
          <a:ln/>
        </p:spPr>
      </p:sp>
      <p:sp>
        <p:nvSpPr>
          <p:cNvPr id="14" name="text-70"/>
          <p:cNvSpPr txBox="1"/>
          <p:nvPr/>
        </p:nvSpPr>
        <p:spPr>
          <a:xfrm>
            <a:off x="6233008"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Apr 2026</a:t>
            </a:r>
            <a:endParaRPr lang="en-US" sz="2000" dirty="0"/>
          </a:p>
        </p:txBody>
      </p:sp>
      <p:sp>
        <p:nvSpPr>
          <p:cNvPr id="15" name="text-71"/>
          <p:cNvSpPr txBox="1"/>
          <p:nvPr/>
        </p:nvSpPr>
        <p:spPr>
          <a:xfrm>
            <a:off x="6233008"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Cursor 3</a:t>
            </a:r>
            <a:endParaRPr lang="en-US" sz="1800" dirty="0"/>
          </a:p>
        </p:txBody>
      </p:sp>
      <p:sp>
        <p:nvSpPr>
          <p:cNvPr id="16" name="text-72"/>
          <p:cNvSpPr txBox="1"/>
          <p:nvPr/>
        </p:nvSpPr>
        <p:spPr>
          <a:xfrm>
            <a:off x="6233008"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Introduces the Agents Window for running agents in parallel</a:t>
            </a:r>
            <a:endParaRPr lang="en-US" sz="1400" dirty="0"/>
          </a:p>
        </p:txBody>
      </p:sp>
      <p:sp>
        <p:nvSpPr>
          <p:cNvPr id="17" name="caret-73"/>
          <p:cNvSpPr/>
          <p:nvPr/>
        </p:nvSpPr>
        <p:spPr>
          <a:xfrm>
            <a:off x="9075191" y="2039112"/>
            <a:ext cx="128016" cy="310896"/>
          </a:xfrm>
          <a:prstGeom prst="rect">
            <a:avLst/>
          </a:prstGeom>
          <a:solidFill>
            <a:schemeClr val="tx1"/>
          </a:solidFill>
          <a:ln/>
        </p:spPr>
      </p:sp>
      <p:sp>
        <p:nvSpPr>
          <p:cNvPr id="18" name="text-74"/>
          <p:cNvSpPr txBox="1"/>
          <p:nvPr/>
        </p:nvSpPr>
        <p:spPr>
          <a:xfrm>
            <a:off x="9075191"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Aug 2026</a:t>
            </a:r>
            <a:endParaRPr lang="en-US" sz="2000" dirty="0"/>
          </a:p>
        </p:txBody>
      </p:sp>
      <p:sp>
        <p:nvSpPr>
          <p:cNvPr id="19" name="text-75"/>
          <p:cNvSpPr txBox="1"/>
          <p:nvPr/>
        </p:nvSpPr>
        <p:spPr>
          <a:xfrm>
            <a:off x="9075191"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New owner</a:t>
            </a:r>
            <a:endParaRPr lang="en-US" sz="1800" dirty="0"/>
          </a:p>
        </p:txBody>
      </p:sp>
      <p:sp>
        <p:nvSpPr>
          <p:cNvPr id="20" name="text-76"/>
          <p:cNvSpPr txBox="1"/>
          <p:nvPr/>
        </p:nvSpPr>
        <p:spPr>
          <a:xfrm>
            <a:off x="9075191"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SpaceX completes its purchase of Anysphere</a:t>
            </a:r>
            <a:endParaRPr lang="en-US" sz="1400" dirty="0"/>
          </a:p>
        </p:txBody>
      </p:sp>
      <p:sp>
        <p:nvSpPr>
          <p:cNvPr id="21" name="card-77"/>
          <p:cNvSpPr/>
          <p:nvPr/>
        </p:nvSpPr>
        <p:spPr>
          <a:xfrm>
            <a:off x="548640" y="5029200"/>
            <a:ext cx="11094415" cy="685800"/>
          </a:xfrm>
          <a:prstGeom prst="roundRect">
            <a:avLst>
              <a:gd name="adj" fmla="val 8000"/>
            </a:avLst>
          </a:prstGeom>
          <a:solidFill>
            <a:schemeClr val="accent5"/>
          </a:solidFill>
          <a:ln/>
        </p:spPr>
      </p:sp>
      <p:sp>
        <p:nvSpPr>
          <p:cNvPr id="22" name="tile-78"/>
          <p:cNvSpPr/>
          <p:nvPr/>
        </p:nvSpPr>
        <p:spPr>
          <a:xfrm>
            <a:off x="685800" y="5170932"/>
            <a:ext cx="402336" cy="402336"/>
          </a:xfrm>
          <a:prstGeom prst="roundRect">
            <a:avLst>
              <a:gd name="adj" fmla="val 15909"/>
            </a:avLst>
          </a:prstGeom>
          <a:solidFill>
            <a:schemeClr val="tx1"/>
          </a:solidFill>
          <a:ln/>
        </p:spPr>
      </p:sp>
      <p:pic>
        <p:nvPicPr>
          <p:cNvPr id="23" name="icon-79" descr="preencoded.png">    </p:cNvPr>
          <p:cNvPicPr>
            <a:picLocks noChangeAspect="1"/>
          </p:cNvPicPr>
          <p:nvPr/>
        </p:nvPicPr>
        <p:blipFill>
          <a:blip r:embed="rId1"/>
          <a:stretch>
            <a:fillRect/>
          </a:stretch>
        </p:blipFill>
        <p:spPr>
          <a:xfrm>
            <a:off x="790407" y="5275539"/>
            <a:ext cx="193121" cy="193121"/>
          </a:xfrm>
          <a:prstGeom prst="rect">
            <a:avLst/>
          </a:prstGeom>
        </p:spPr>
      </p:pic>
      <p:sp>
        <p:nvSpPr>
          <p:cNvPr id="24" name="text-80"/>
          <p:cNvSpPr txBox="1"/>
          <p:nvPr/>
        </p:nvSpPr>
        <p:spPr>
          <a:xfrm>
            <a:off x="1261872" y="5029200"/>
            <a:ext cx="10198303" cy="685800"/>
          </a:xfrm>
          <a:prstGeom prst="rect">
            <a:avLst/>
          </a:prstGeom>
          <a:noFill/>
          <a:ln/>
        </p:spPr>
        <p:txBody>
          <a:bodyPr wrap="square" lIns="0" tIns="0" rIns="0" bIns="0" rtlCol="0" anchor="ctr"/>
          <a:lstStyle/>
          <a:p>
            <a:pPr indent="0" marL="0">
              <a:buNone/>
            </a:pPr>
            <a:r>
              <a:rPr lang="en-US" sz="1400" dirty="0">
                <a:solidFill>
                  <a:schemeClr val="tx1"/>
                </a:solidFill>
              </a:rPr>
              <a:t>Tutorials age quickly. If your screen looks different, check the date of the guide you are following.</a:t>
            </a:r>
            <a:endParaRPr lang="en-US" sz="1400" dirty="0"/>
          </a:p>
        </p:txBody>
      </p:sp>
      <p:sp>
        <p:nvSpPr>
          <p:cNvPr id="25" name="text-8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Wikipedia, Cursor (code editor) and Cursor (company); CNBC (16 June 2026); Cursor changelog.</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You can reach Cursor in five places</a:t>
            </a:r>
            <a:endParaRPr lang="en-US" sz="3000" dirty="0"/>
          </a:p>
        </p:txBody>
      </p:sp>
      <p:sp>
        <p:nvSpPr>
          <p:cNvPr id="4" name="card-82"/>
          <p:cNvSpPr/>
          <p:nvPr/>
        </p:nvSpPr>
        <p:spPr>
          <a:xfrm>
            <a:off x="548640" y="1920240"/>
            <a:ext cx="2036003" cy="3017520"/>
          </a:xfrm>
          <a:prstGeom prst="roundRect">
            <a:avLst>
              <a:gd name="adj" fmla="val 2695"/>
            </a:avLst>
          </a:prstGeom>
          <a:solidFill>
            <a:schemeClr val="accent5"/>
          </a:solidFill>
          <a:ln/>
        </p:spPr>
      </p:sp>
      <p:sp>
        <p:nvSpPr>
          <p:cNvPr id="5" name="tile-83"/>
          <p:cNvSpPr/>
          <p:nvPr/>
        </p:nvSpPr>
        <p:spPr>
          <a:xfrm>
            <a:off x="749808" y="2148840"/>
            <a:ext cx="566928" cy="566928"/>
          </a:xfrm>
          <a:prstGeom prst="roundRect">
            <a:avLst>
              <a:gd name="adj" fmla="val 11290"/>
            </a:avLst>
          </a:prstGeom>
          <a:solidFill>
            <a:schemeClr val="tx1"/>
          </a:solidFill>
          <a:ln/>
        </p:spPr>
      </p:sp>
      <p:pic>
        <p:nvPicPr>
          <p:cNvPr id="6" name="icon-84" descr="preencoded.png">    </p:cNvPr>
          <p:cNvPicPr>
            <a:picLocks noChangeAspect="1"/>
          </p:cNvPicPr>
          <p:nvPr/>
        </p:nvPicPr>
        <p:blipFill>
          <a:blip r:embed="rId1"/>
          <a:stretch>
            <a:fillRect/>
          </a:stretch>
        </p:blipFill>
        <p:spPr>
          <a:xfrm>
            <a:off x="897209" y="2296241"/>
            <a:ext cx="272125" cy="272125"/>
          </a:xfrm>
          <a:prstGeom prst="rect">
            <a:avLst/>
          </a:prstGeom>
        </p:spPr>
      </p:pic>
      <p:sp>
        <p:nvSpPr>
          <p:cNvPr id="7" name="text-85"/>
          <p:cNvSpPr txBox="1"/>
          <p:nvPr/>
        </p:nvSpPr>
        <p:spPr>
          <a:xfrm>
            <a:off x="749808"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Desktop editor</a:t>
            </a:r>
            <a:endParaRPr lang="en-US" sz="1600" dirty="0"/>
          </a:p>
        </p:txBody>
      </p:sp>
      <p:sp>
        <p:nvSpPr>
          <p:cNvPr id="8" name="text-86"/>
          <p:cNvSpPr txBox="1"/>
          <p:nvPr/>
        </p:nvSpPr>
        <p:spPr>
          <a:xfrm>
            <a:off x="749808"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main app, for Mac, Windows and Linux</a:t>
            </a:r>
            <a:endParaRPr lang="en-US" sz="1400" dirty="0"/>
          </a:p>
        </p:txBody>
      </p:sp>
      <p:sp>
        <p:nvSpPr>
          <p:cNvPr id="9" name="card-87"/>
          <p:cNvSpPr/>
          <p:nvPr/>
        </p:nvSpPr>
        <p:spPr>
          <a:xfrm>
            <a:off x="2813243" y="1920240"/>
            <a:ext cx="2036003" cy="3017520"/>
          </a:xfrm>
          <a:prstGeom prst="roundRect">
            <a:avLst>
              <a:gd name="adj" fmla="val 2695"/>
            </a:avLst>
          </a:prstGeom>
          <a:solidFill>
            <a:schemeClr val="bg2"/>
          </a:solidFill>
          <a:ln/>
        </p:spPr>
      </p:sp>
      <p:sp>
        <p:nvSpPr>
          <p:cNvPr id="10" name="tile-88"/>
          <p:cNvSpPr/>
          <p:nvPr/>
        </p:nvSpPr>
        <p:spPr>
          <a:xfrm>
            <a:off x="3014411" y="2148840"/>
            <a:ext cx="566928" cy="566928"/>
          </a:xfrm>
          <a:prstGeom prst="roundRect">
            <a:avLst>
              <a:gd name="adj" fmla="val 11290"/>
            </a:avLst>
          </a:prstGeom>
          <a:solidFill>
            <a:schemeClr val="tx1"/>
          </a:solidFill>
          <a:ln/>
        </p:spPr>
      </p:sp>
      <p:pic>
        <p:nvPicPr>
          <p:cNvPr id="11" name="icon-89" descr="preencoded.png">    </p:cNvPr>
          <p:cNvPicPr>
            <a:picLocks noChangeAspect="1"/>
          </p:cNvPicPr>
          <p:nvPr/>
        </p:nvPicPr>
        <p:blipFill>
          <a:blip r:embed="rId2"/>
          <a:stretch>
            <a:fillRect/>
          </a:stretch>
        </p:blipFill>
        <p:spPr>
          <a:xfrm>
            <a:off x="3161812" y="2296241"/>
            <a:ext cx="272125" cy="272125"/>
          </a:xfrm>
          <a:prstGeom prst="rect">
            <a:avLst/>
          </a:prstGeom>
        </p:spPr>
      </p:pic>
      <p:sp>
        <p:nvSpPr>
          <p:cNvPr id="12" name="text-90"/>
          <p:cNvSpPr txBox="1"/>
          <p:nvPr/>
        </p:nvSpPr>
        <p:spPr>
          <a:xfrm>
            <a:off x="3014411"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Agents Window</a:t>
            </a:r>
            <a:endParaRPr lang="en-US" sz="1600" dirty="0"/>
          </a:p>
        </p:txBody>
      </p:sp>
      <p:sp>
        <p:nvSpPr>
          <p:cNvPr id="13" name="text-91"/>
          <p:cNvSpPr txBox="1"/>
          <p:nvPr/>
        </p:nvSpPr>
        <p:spPr>
          <a:xfrm>
            <a:off x="3014411"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A workspace inside the app for several agents at once</a:t>
            </a:r>
            <a:endParaRPr lang="en-US" sz="1400" dirty="0"/>
          </a:p>
        </p:txBody>
      </p:sp>
      <p:sp>
        <p:nvSpPr>
          <p:cNvPr id="14" name="card-92"/>
          <p:cNvSpPr/>
          <p:nvPr/>
        </p:nvSpPr>
        <p:spPr>
          <a:xfrm>
            <a:off x="5077846" y="1920240"/>
            <a:ext cx="2036003" cy="3017520"/>
          </a:xfrm>
          <a:prstGeom prst="roundRect">
            <a:avLst>
              <a:gd name="adj" fmla="val 2695"/>
            </a:avLst>
          </a:prstGeom>
          <a:solidFill>
            <a:schemeClr val="bg2"/>
          </a:solidFill>
          <a:ln/>
        </p:spPr>
      </p:sp>
      <p:sp>
        <p:nvSpPr>
          <p:cNvPr id="15" name="tile-93"/>
          <p:cNvSpPr/>
          <p:nvPr/>
        </p:nvSpPr>
        <p:spPr>
          <a:xfrm>
            <a:off x="5279014" y="2148840"/>
            <a:ext cx="566928" cy="566928"/>
          </a:xfrm>
          <a:prstGeom prst="roundRect">
            <a:avLst>
              <a:gd name="adj" fmla="val 11290"/>
            </a:avLst>
          </a:prstGeom>
          <a:solidFill>
            <a:schemeClr val="tx1"/>
          </a:solidFill>
          <a:ln/>
        </p:spPr>
      </p:sp>
      <p:pic>
        <p:nvPicPr>
          <p:cNvPr id="16" name="icon-94" descr="preencoded.png">    </p:cNvPr>
          <p:cNvPicPr>
            <a:picLocks noChangeAspect="1"/>
          </p:cNvPicPr>
          <p:nvPr/>
        </p:nvPicPr>
        <p:blipFill>
          <a:blip r:embed="rId3"/>
          <a:stretch>
            <a:fillRect/>
          </a:stretch>
        </p:blipFill>
        <p:spPr>
          <a:xfrm>
            <a:off x="5426415" y="2296241"/>
            <a:ext cx="272125" cy="272125"/>
          </a:xfrm>
          <a:prstGeom prst="rect">
            <a:avLst/>
          </a:prstGeom>
        </p:spPr>
      </p:pic>
      <p:sp>
        <p:nvSpPr>
          <p:cNvPr id="17" name="text-95"/>
          <p:cNvSpPr txBox="1"/>
          <p:nvPr/>
        </p:nvSpPr>
        <p:spPr>
          <a:xfrm>
            <a:off x="5279014"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CLI</a:t>
            </a:r>
            <a:endParaRPr lang="en-US" sz="1600" dirty="0"/>
          </a:p>
        </p:txBody>
      </p:sp>
      <p:sp>
        <p:nvSpPr>
          <p:cNvPr id="18" name="text-96"/>
          <p:cNvSpPr txBox="1"/>
          <p:nvPr/>
        </p:nvSpPr>
        <p:spPr>
          <a:xfrm>
            <a:off x="5279014"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terminal version, started by typing agent</a:t>
            </a:r>
            <a:endParaRPr lang="en-US" sz="1400" dirty="0"/>
          </a:p>
        </p:txBody>
      </p:sp>
      <p:sp>
        <p:nvSpPr>
          <p:cNvPr id="19" name="card-97"/>
          <p:cNvSpPr/>
          <p:nvPr/>
        </p:nvSpPr>
        <p:spPr>
          <a:xfrm>
            <a:off x="7342449" y="1920240"/>
            <a:ext cx="2036003" cy="3017520"/>
          </a:xfrm>
          <a:prstGeom prst="roundRect">
            <a:avLst>
              <a:gd name="adj" fmla="val 2695"/>
            </a:avLst>
          </a:prstGeom>
          <a:solidFill>
            <a:schemeClr val="bg2"/>
          </a:solidFill>
          <a:ln/>
        </p:spPr>
      </p:sp>
      <p:sp>
        <p:nvSpPr>
          <p:cNvPr id="20" name="tile-98"/>
          <p:cNvSpPr/>
          <p:nvPr/>
        </p:nvSpPr>
        <p:spPr>
          <a:xfrm>
            <a:off x="7543617" y="2148840"/>
            <a:ext cx="566928" cy="566928"/>
          </a:xfrm>
          <a:prstGeom prst="roundRect">
            <a:avLst>
              <a:gd name="adj" fmla="val 11290"/>
            </a:avLst>
          </a:prstGeom>
          <a:solidFill>
            <a:schemeClr val="tx1"/>
          </a:solidFill>
          <a:ln/>
        </p:spPr>
      </p:sp>
      <p:pic>
        <p:nvPicPr>
          <p:cNvPr id="21" name="icon-99" descr="preencoded.png">    </p:cNvPr>
          <p:cNvPicPr>
            <a:picLocks noChangeAspect="1"/>
          </p:cNvPicPr>
          <p:nvPr/>
        </p:nvPicPr>
        <p:blipFill>
          <a:blip r:embed="rId4"/>
          <a:stretch>
            <a:fillRect/>
          </a:stretch>
        </p:blipFill>
        <p:spPr>
          <a:xfrm>
            <a:off x="7691018" y="2296241"/>
            <a:ext cx="272125" cy="272125"/>
          </a:xfrm>
          <a:prstGeom prst="rect">
            <a:avLst/>
          </a:prstGeom>
        </p:spPr>
      </p:pic>
      <p:sp>
        <p:nvSpPr>
          <p:cNvPr id="22" name="text-100"/>
          <p:cNvSpPr txBox="1"/>
          <p:nvPr/>
        </p:nvSpPr>
        <p:spPr>
          <a:xfrm>
            <a:off x="7543617"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Web and mobile</a:t>
            </a:r>
            <a:endParaRPr lang="en-US" sz="1600" dirty="0"/>
          </a:p>
        </p:txBody>
      </p:sp>
      <p:sp>
        <p:nvSpPr>
          <p:cNvPr id="23" name="text-101"/>
          <p:cNvSpPr txBox="1"/>
          <p:nvPr/>
        </p:nvSpPr>
        <p:spPr>
          <a:xfrm>
            <a:off x="7543617"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Start and follow Cloud Agents at cursor.com/agents</a:t>
            </a:r>
            <a:endParaRPr lang="en-US" sz="1400" dirty="0"/>
          </a:p>
        </p:txBody>
      </p:sp>
      <p:sp>
        <p:nvSpPr>
          <p:cNvPr id="24" name="card-102"/>
          <p:cNvSpPr/>
          <p:nvPr/>
        </p:nvSpPr>
        <p:spPr>
          <a:xfrm>
            <a:off x="9607052" y="1920240"/>
            <a:ext cx="2036003" cy="3017520"/>
          </a:xfrm>
          <a:prstGeom prst="roundRect">
            <a:avLst>
              <a:gd name="adj" fmla="val 2695"/>
            </a:avLst>
          </a:prstGeom>
          <a:solidFill>
            <a:schemeClr val="bg2"/>
          </a:solidFill>
          <a:ln/>
        </p:spPr>
      </p:sp>
      <p:sp>
        <p:nvSpPr>
          <p:cNvPr id="25" name="tile-103"/>
          <p:cNvSpPr/>
          <p:nvPr/>
        </p:nvSpPr>
        <p:spPr>
          <a:xfrm>
            <a:off x="9808220" y="2148840"/>
            <a:ext cx="566928" cy="566928"/>
          </a:xfrm>
          <a:prstGeom prst="roundRect">
            <a:avLst>
              <a:gd name="adj" fmla="val 11290"/>
            </a:avLst>
          </a:prstGeom>
          <a:solidFill>
            <a:schemeClr val="tx1"/>
          </a:solidFill>
          <a:ln/>
        </p:spPr>
      </p:sp>
      <p:pic>
        <p:nvPicPr>
          <p:cNvPr id="26" name="icon-104" descr="preencoded.png">    </p:cNvPr>
          <p:cNvPicPr>
            <a:picLocks noChangeAspect="1"/>
          </p:cNvPicPr>
          <p:nvPr/>
        </p:nvPicPr>
        <p:blipFill>
          <a:blip r:embed="rId5"/>
          <a:stretch>
            <a:fillRect/>
          </a:stretch>
        </p:blipFill>
        <p:spPr>
          <a:xfrm>
            <a:off x="9955621" y="2296241"/>
            <a:ext cx="272125" cy="272125"/>
          </a:xfrm>
          <a:prstGeom prst="rect">
            <a:avLst/>
          </a:prstGeom>
        </p:spPr>
      </p:pic>
      <p:sp>
        <p:nvSpPr>
          <p:cNvPr id="27" name="text-105"/>
          <p:cNvSpPr txBox="1"/>
          <p:nvPr/>
        </p:nvSpPr>
        <p:spPr>
          <a:xfrm>
            <a:off x="9808220"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Integrations</a:t>
            </a:r>
            <a:endParaRPr lang="en-US" sz="1600" dirty="0"/>
          </a:p>
        </p:txBody>
      </p:sp>
      <p:sp>
        <p:nvSpPr>
          <p:cNvPr id="28" name="text-106"/>
          <p:cNvSpPr txBox="1"/>
          <p:nvPr/>
        </p:nvSpPr>
        <p:spPr>
          <a:xfrm>
            <a:off x="9808220"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Works with GitHub, Slack, Jira, Linear and others</a:t>
            </a:r>
            <a:endParaRPr lang="en-US" sz="1400" dirty="0"/>
          </a:p>
        </p:txBody>
      </p:sp>
      <p:sp>
        <p:nvSpPr>
          <p:cNvPr id="29" name="card-107"/>
          <p:cNvSpPr/>
          <p:nvPr/>
        </p:nvSpPr>
        <p:spPr>
          <a:xfrm>
            <a:off x="548640" y="5212080"/>
            <a:ext cx="11094415" cy="640080"/>
          </a:xfrm>
          <a:prstGeom prst="roundRect">
            <a:avLst>
              <a:gd name="adj" fmla="val 8571"/>
            </a:avLst>
          </a:prstGeom>
          <a:solidFill>
            <a:schemeClr val="accent5"/>
          </a:solidFill>
          <a:ln/>
        </p:spPr>
      </p:sp>
      <p:sp>
        <p:nvSpPr>
          <p:cNvPr id="30" name="tile-108"/>
          <p:cNvSpPr/>
          <p:nvPr/>
        </p:nvSpPr>
        <p:spPr>
          <a:xfrm>
            <a:off x="685800" y="5330952"/>
            <a:ext cx="402336" cy="402336"/>
          </a:xfrm>
          <a:prstGeom prst="roundRect">
            <a:avLst>
              <a:gd name="adj" fmla="val 15909"/>
            </a:avLst>
          </a:prstGeom>
          <a:solidFill>
            <a:schemeClr val="tx1"/>
          </a:solidFill>
          <a:ln/>
        </p:spPr>
      </p:sp>
      <p:pic>
        <p:nvPicPr>
          <p:cNvPr id="31" name="icon-109" descr="preencoded.png">    </p:cNvPr>
          <p:cNvPicPr>
            <a:picLocks noChangeAspect="1"/>
          </p:cNvPicPr>
          <p:nvPr/>
        </p:nvPicPr>
        <p:blipFill>
          <a:blip r:embed="rId6"/>
          <a:stretch>
            <a:fillRect/>
          </a:stretch>
        </p:blipFill>
        <p:spPr>
          <a:xfrm>
            <a:off x="790407" y="5435559"/>
            <a:ext cx="193121" cy="193121"/>
          </a:xfrm>
          <a:prstGeom prst="rect">
            <a:avLst/>
          </a:prstGeom>
        </p:spPr>
      </p:pic>
      <p:sp>
        <p:nvSpPr>
          <p:cNvPr id="32" name="text-110"/>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Starting from zero? Use the desktop editor. Everything else can wait.</a:t>
            </a:r>
            <a:endParaRPr lang="en-US" sz="1400" dirty="0"/>
          </a:p>
        </p:txBody>
      </p:sp>
      <p:sp>
        <p:nvSpPr>
          <p:cNvPr id="33" name="text-11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You need three things before you start</a:t>
            </a:r>
            <a:endParaRPr lang="en-US" sz="3000" dirty="0"/>
          </a:p>
        </p:txBody>
      </p:sp>
      <p:sp>
        <p:nvSpPr>
          <p:cNvPr id="4" name="card-112"/>
          <p:cNvSpPr/>
          <p:nvPr/>
        </p:nvSpPr>
        <p:spPr>
          <a:xfrm>
            <a:off x="548640" y="1920240"/>
            <a:ext cx="3515258" cy="3017520"/>
          </a:xfrm>
          <a:prstGeom prst="roundRect">
            <a:avLst>
              <a:gd name="adj" fmla="val 1818"/>
            </a:avLst>
          </a:prstGeom>
          <a:solidFill>
            <a:schemeClr val="bg2"/>
          </a:solidFill>
          <a:ln/>
        </p:spPr>
      </p:sp>
      <p:sp>
        <p:nvSpPr>
          <p:cNvPr id="5" name="text-113"/>
          <p:cNvSpPr txBox="1"/>
          <p:nvPr/>
        </p:nvSpPr>
        <p:spPr>
          <a:xfrm>
            <a:off x="822960"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01</a:t>
            </a:r>
            <a:endParaRPr lang="en-US" sz="3200" dirty="0"/>
          </a:p>
        </p:txBody>
      </p:sp>
      <p:sp>
        <p:nvSpPr>
          <p:cNvPr id="6" name="tile-114"/>
          <p:cNvSpPr/>
          <p:nvPr/>
        </p:nvSpPr>
        <p:spPr>
          <a:xfrm>
            <a:off x="3222650" y="2194560"/>
            <a:ext cx="566928" cy="566928"/>
          </a:xfrm>
          <a:prstGeom prst="roundRect">
            <a:avLst>
              <a:gd name="adj" fmla="val 11290"/>
            </a:avLst>
          </a:prstGeom>
          <a:solidFill>
            <a:schemeClr val="tx1"/>
          </a:solidFill>
          <a:ln/>
        </p:spPr>
      </p:sp>
      <p:pic>
        <p:nvPicPr>
          <p:cNvPr id="7" name="icon-115" descr="preencoded.png">    </p:cNvPr>
          <p:cNvPicPr>
            <a:picLocks noChangeAspect="1"/>
          </p:cNvPicPr>
          <p:nvPr/>
        </p:nvPicPr>
        <p:blipFill>
          <a:blip r:embed="rId1"/>
          <a:stretch>
            <a:fillRect/>
          </a:stretch>
        </p:blipFill>
        <p:spPr>
          <a:xfrm>
            <a:off x="3370052" y="2341961"/>
            <a:ext cx="272125" cy="272125"/>
          </a:xfrm>
          <a:prstGeom prst="rect">
            <a:avLst/>
          </a:prstGeom>
        </p:spPr>
      </p:pic>
      <p:sp>
        <p:nvSpPr>
          <p:cNvPr id="8" name="text-116"/>
          <p:cNvSpPr txBox="1"/>
          <p:nvPr/>
        </p:nvSpPr>
        <p:spPr>
          <a:xfrm>
            <a:off x="822960"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computer</a:t>
            </a:r>
            <a:endParaRPr lang="en-US" sz="2000" dirty="0"/>
          </a:p>
        </p:txBody>
      </p:sp>
      <p:sp>
        <p:nvSpPr>
          <p:cNvPr id="9" name="text-117"/>
          <p:cNvSpPr txBox="1"/>
          <p:nvPr/>
        </p:nvSpPr>
        <p:spPr>
          <a:xfrm>
            <a:off x="822960"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macOS 12 or later, Windows 10 or later, or Linux</a:t>
            </a:r>
            <a:endParaRPr lang="en-US" sz="1400" dirty="0"/>
          </a:p>
        </p:txBody>
      </p:sp>
      <p:sp>
        <p:nvSpPr>
          <p:cNvPr id="10" name="card-118"/>
          <p:cNvSpPr/>
          <p:nvPr/>
        </p:nvSpPr>
        <p:spPr>
          <a:xfrm>
            <a:off x="4338218" y="1920240"/>
            <a:ext cx="3515258" cy="3017520"/>
          </a:xfrm>
          <a:prstGeom prst="roundRect">
            <a:avLst>
              <a:gd name="adj" fmla="val 1818"/>
            </a:avLst>
          </a:prstGeom>
          <a:solidFill>
            <a:schemeClr val="bg2"/>
          </a:solidFill>
          <a:ln/>
        </p:spPr>
      </p:sp>
      <p:sp>
        <p:nvSpPr>
          <p:cNvPr id="11" name="text-119"/>
          <p:cNvSpPr txBox="1"/>
          <p:nvPr/>
        </p:nvSpPr>
        <p:spPr>
          <a:xfrm>
            <a:off x="4612538"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02</a:t>
            </a:r>
            <a:endParaRPr lang="en-US" sz="3200" dirty="0"/>
          </a:p>
        </p:txBody>
      </p:sp>
      <p:sp>
        <p:nvSpPr>
          <p:cNvPr id="12" name="tile-120"/>
          <p:cNvSpPr/>
          <p:nvPr/>
        </p:nvSpPr>
        <p:spPr>
          <a:xfrm>
            <a:off x="7012229" y="2194560"/>
            <a:ext cx="566928" cy="566928"/>
          </a:xfrm>
          <a:prstGeom prst="roundRect">
            <a:avLst>
              <a:gd name="adj" fmla="val 11290"/>
            </a:avLst>
          </a:prstGeom>
          <a:solidFill>
            <a:schemeClr val="tx1"/>
          </a:solidFill>
          <a:ln/>
        </p:spPr>
      </p:sp>
      <p:pic>
        <p:nvPicPr>
          <p:cNvPr id="13" name="icon-121" descr="preencoded.png">    </p:cNvPr>
          <p:cNvPicPr>
            <a:picLocks noChangeAspect="1"/>
          </p:cNvPicPr>
          <p:nvPr/>
        </p:nvPicPr>
        <p:blipFill>
          <a:blip r:embed="rId2"/>
          <a:stretch>
            <a:fillRect/>
          </a:stretch>
        </p:blipFill>
        <p:spPr>
          <a:xfrm>
            <a:off x="7159630" y="2341961"/>
            <a:ext cx="272125" cy="272125"/>
          </a:xfrm>
          <a:prstGeom prst="rect">
            <a:avLst/>
          </a:prstGeom>
        </p:spPr>
      </p:pic>
      <p:sp>
        <p:nvSpPr>
          <p:cNvPr id="14" name="text-122"/>
          <p:cNvSpPr txBox="1"/>
          <p:nvPr/>
        </p:nvSpPr>
        <p:spPr>
          <a:xfrm>
            <a:off x="4612538"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Cursor account</a:t>
            </a:r>
            <a:endParaRPr lang="en-US" sz="2000" dirty="0"/>
          </a:p>
        </p:txBody>
      </p:sp>
      <p:sp>
        <p:nvSpPr>
          <p:cNvPr id="15" name="text-123"/>
          <p:cNvSpPr txBox="1"/>
          <p:nvPr/>
        </p:nvSpPr>
        <p:spPr>
          <a:xfrm>
            <a:off x="4612538"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Signing up is free. The Hobby plan includes limited agent requests and Tab completions</a:t>
            </a:r>
            <a:endParaRPr lang="en-US" sz="1400" dirty="0"/>
          </a:p>
        </p:txBody>
      </p:sp>
      <p:sp>
        <p:nvSpPr>
          <p:cNvPr id="16" name="card-124"/>
          <p:cNvSpPr/>
          <p:nvPr/>
        </p:nvSpPr>
        <p:spPr>
          <a:xfrm>
            <a:off x="8127797" y="1920240"/>
            <a:ext cx="3515258" cy="3017520"/>
          </a:xfrm>
          <a:prstGeom prst="roundRect">
            <a:avLst>
              <a:gd name="adj" fmla="val 1818"/>
            </a:avLst>
          </a:prstGeom>
          <a:solidFill>
            <a:schemeClr val="bg2"/>
          </a:solidFill>
          <a:ln/>
        </p:spPr>
      </p:sp>
      <p:sp>
        <p:nvSpPr>
          <p:cNvPr id="17" name="text-125"/>
          <p:cNvSpPr txBox="1"/>
          <p:nvPr/>
        </p:nvSpPr>
        <p:spPr>
          <a:xfrm>
            <a:off x="8402117"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03</a:t>
            </a:r>
            <a:endParaRPr lang="en-US" sz="3200" dirty="0"/>
          </a:p>
        </p:txBody>
      </p:sp>
      <p:sp>
        <p:nvSpPr>
          <p:cNvPr id="18" name="tile-126"/>
          <p:cNvSpPr/>
          <p:nvPr/>
        </p:nvSpPr>
        <p:spPr>
          <a:xfrm>
            <a:off x="10801807" y="2194560"/>
            <a:ext cx="566928" cy="566928"/>
          </a:xfrm>
          <a:prstGeom prst="roundRect">
            <a:avLst>
              <a:gd name="adj" fmla="val 11290"/>
            </a:avLst>
          </a:prstGeom>
          <a:solidFill>
            <a:schemeClr val="tx1"/>
          </a:solidFill>
          <a:ln/>
        </p:spPr>
      </p:sp>
      <p:pic>
        <p:nvPicPr>
          <p:cNvPr id="19" name="icon-127" descr="preencoded.png">    </p:cNvPr>
          <p:cNvPicPr>
            <a:picLocks noChangeAspect="1"/>
          </p:cNvPicPr>
          <p:nvPr/>
        </p:nvPicPr>
        <p:blipFill>
          <a:blip r:embed="rId3"/>
          <a:stretch>
            <a:fillRect/>
          </a:stretch>
        </p:blipFill>
        <p:spPr>
          <a:xfrm>
            <a:off x="10949208" y="2341961"/>
            <a:ext cx="272125" cy="272125"/>
          </a:xfrm>
          <a:prstGeom prst="rect">
            <a:avLst/>
          </a:prstGeom>
        </p:spPr>
      </p:pic>
      <p:sp>
        <p:nvSpPr>
          <p:cNvPr id="20" name="text-128"/>
          <p:cNvSpPr txBox="1"/>
          <p:nvPr/>
        </p:nvSpPr>
        <p:spPr>
          <a:xfrm>
            <a:off x="8402117"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project folder</a:t>
            </a:r>
            <a:endParaRPr lang="en-US" sz="2000" dirty="0"/>
          </a:p>
        </p:txBody>
      </p:sp>
      <p:sp>
        <p:nvSpPr>
          <p:cNvPr id="21" name="text-129"/>
          <p:cNvSpPr txBox="1"/>
          <p:nvPr/>
        </p:nvSpPr>
        <p:spPr>
          <a:xfrm>
            <a:off x="8402117"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The folder that holds the code you want to work on</a:t>
            </a:r>
            <a:endParaRPr lang="en-US" sz="1400" dirty="0"/>
          </a:p>
        </p:txBody>
      </p:sp>
      <p:sp>
        <p:nvSpPr>
          <p:cNvPr id="22" name="card-130"/>
          <p:cNvSpPr/>
          <p:nvPr/>
        </p:nvSpPr>
        <p:spPr>
          <a:xfrm>
            <a:off x="548640" y="5212080"/>
            <a:ext cx="11094415" cy="640080"/>
          </a:xfrm>
          <a:prstGeom prst="roundRect">
            <a:avLst>
              <a:gd name="adj" fmla="val 8571"/>
            </a:avLst>
          </a:prstGeom>
          <a:solidFill>
            <a:schemeClr val="accent5"/>
          </a:solidFill>
          <a:ln/>
        </p:spPr>
      </p:sp>
      <p:sp>
        <p:nvSpPr>
          <p:cNvPr id="23" name="tile-131"/>
          <p:cNvSpPr/>
          <p:nvPr/>
        </p:nvSpPr>
        <p:spPr>
          <a:xfrm>
            <a:off x="685800" y="5330952"/>
            <a:ext cx="402336" cy="402336"/>
          </a:xfrm>
          <a:prstGeom prst="roundRect">
            <a:avLst>
              <a:gd name="adj" fmla="val 15909"/>
            </a:avLst>
          </a:prstGeom>
          <a:solidFill>
            <a:schemeClr val="tx1"/>
          </a:solidFill>
          <a:ln/>
        </p:spPr>
      </p:sp>
      <p:pic>
        <p:nvPicPr>
          <p:cNvPr id="24" name="icon-132" descr="preencoded.png">    </p:cNvPr>
          <p:cNvPicPr>
            <a:picLocks noChangeAspect="1"/>
          </p:cNvPicPr>
          <p:nvPr/>
        </p:nvPicPr>
        <p:blipFill>
          <a:blip r:embed="rId4"/>
          <a:stretch>
            <a:fillRect/>
          </a:stretch>
        </p:blipFill>
        <p:spPr>
          <a:xfrm>
            <a:off x="790407" y="5435559"/>
            <a:ext cx="193121" cy="193121"/>
          </a:xfrm>
          <a:prstGeom prst="rect">
            <a:avLst/>
          </a:prstGeom>
        </p:spPr>
      </p:pic>
      <p:sp>
        <p:nvSpPr>
          <p:cNvPr id="25" name="text-133"/>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Paid plans raise the limits: Pro is $20 a month, Pro+ $60 and Ultra $200, as reported in October 2026.</a:t>
            </a:r>
            <a:endParaRPr lang="en-US" sz="1400" dirty="0"/>
          </a:p>
        </p:txBody>
      </p:sp>
      <p:sp>
        <p:nvSpPr>
          <p:cNvPr id="26" name="text-13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quickstart; plan prices from third-party pricing guides (October 2026). Check cursor.com/pricing before you buy.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Install and start in four steps</a:t>
            </a:r>
            <a:endParaRPr lang="en-US" sz="3000" dirty="0"/>
          </a:p>
        </p:txBody>
      </p:sp>
      <p:sp>
        <p:nvSpPr>
          <p:cNvPr id="4" name="step-135"/>
          <p:cNvSpPr/>
          <p:nvPr/>
        </p:nvSpPr>
        <p:spPr>
          <a:xfrm>
            <a:off x="548640" y="2048256"/>
            <a:ext cx="548640" cy="548640"/>
          </a:xfrm>
          <a:prstGeom prst="roundRect">
            <a:avLst>
              <a:gd name="adj" fmla="val 11667"/>
            </a:avLst>
          </a:prstGeom>
          <a:solidFill>
            <a:schemeClr val="accent2"/>
          </a:solidFill>
          <a:ln/>
        </p:spPr>
      </p:sp>
      <p:sp>
        <p:nvSpPr>
          <p:cNvPr id="5" name="text-136"/>
          <p:cNvSpPr txBox="1"/>
          <p:nvPr/>
        </p:nvSpPr>
        <p:spPr>
          <a:xfrm>
            <a:off x="548640" y="2048256"/>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1</a:t>
            </a:r>
            <a:endParaRPr lang="en-US" sz="1800" dirty="0"/>
          </a:p>
        </p:txBody>
      </p:sp>
      <p:sp>
        <p:nvSpPr>
          <p:cNvPr id="6" name="text-137"/>
          <p:cNvSpPr txBox="1"/>
          <p:nvPr/>
        </p:nvSpPr>
        <p:spPr>
          <a:xfrm>
            <a:off x="1325880" y="1920240"/>
            <a:ext cx="2651760" cy="804672"/>
          </a:xfrm>
          <a:prstGeom prst="rect">
            <a:avLst/>
          </a:prstGeom>
          <a:noFill/>
          <a:ln/>
        </p:spPr>
        <p:txBody>
          <a:bodyPr wrap="square" lIns="0" tIns="0" rIns="0" bIns="0" rtlCol="0" anchor="ctr"/>
          <a:lstStyle/>
          <a:p>
            <a:pPr indent="0" marL="0">
              <a:buNone/>
            </a:pPr>
            <a:r>
              <a:rPr lang="en-US" sz="1800" b="1" dirty="0">
                <a:solidFill>
                  <a:schemeClr val="tx1"/>
                </a:solidFill>
              </a:rPr>
              <a:t>Download</a:t>
            </a:r>
            <a:endParaRPr lang="en-US" sz="1800" dirty="0"/>
          </a:p>
        </p:txBody>
      </p:sp>
      <p:sp>
        <p:nvSpPr>
          <p:cNvPr id="7" name="card-138"/>
          <p:cNvSpPr/>
          <p:nvPr/>
        </p:nvSpPr>
        <p:spPr>
          <a:xfrm>
            <a:off x="4206240" y="1920240"/>
            <a:ext cx="7436815" cy="804672"/>
          </a:xfrm>
          <a:prstGeom prst="roundRect">
            <a:avLst>
              <a:gd name="adj" fmla="val 6818"/>
            </a:avLst>
          </a:prstGeom>
          <a:solidFill>
            <a:schemeClr val="bg2"/>
          </a:solidFill>
          <a:ln/>
        </p:spPr>
      </p:sp>
      <p:sp>
        <p:nvSpPr>
          <p:cNvPr id="8" name="text-139"/>
          <p:cNvSpPr txBox="1"/>
          <p:nvPr/>
        </p:nvSpPr>
        <p:spPr>
          <a:xfrm>
            <a:off x="4480560" y="1920240"/>
            <a:ext cx="6888175" cy="804672"/>
          </a:xfrm>
          <a:prstGeom prst="rect">
            <a:avLst/>
          </a:prstGeom>
          <a:noFill/>
          <a:ln/>
        </p:spPr>
        <p:txBody>
          <a:bodyPr wrap="square" lIns="0" tIns="0" rIns="0" bIns="0" rtlCol="0" anchor="ctr"/>
          <a:lstStyle/>
          <a:p>
            <a:pPr indent="0" marL="0">
              <a:buNone/>
            </a:pPr>
            <a:r>
              <a:rPr lang="en-US" sz="1600" dirty="0">
                <a:solidFill>
                  <a:schemeClr val="tx1"/>
                </a:solidFill>
              </a:rPr>
              <a:t>Get the installer for your system from cursor.com/downloads</a:t>
            </a:r>
            <a:endParaRPr lang="en-US" sz="1600" dirty="0"/>
          </a:p>
        </p:txBody>
      </p:sp>
      <p:sp>
        <p:nvSpPr>
          <p:cNvPr id="9" name="step-140"/>
          <p:cNvSpPr/>
          <p:nvPr/>
        </p:nvSpPr>
        <p:spPr>
          <a:xfrm>
            <a:off x="548640" y="3035808"/>
            <a:ext cx="548640" cy="548640"/>
          </a:xfrm>
          <a:prstGeom prst="roundRect">
            <a:avLst>
              <a:gd name="adj" fmla="val 11667"/>
            </a:avLst>
          </a:prstGeom>
          <a:solidFill>
            <a:schemeClr val="accent2"/>
          </a:solidFill>
          <a:ln/>
        </p:spPr>
      </p:sp>
      <p:sp>
        <p:nvSpPr>
          <p:cNvPr id="10" name="text-141"/>
          <p:cNvSpPr txBox="1"/>
          <p:nvPr/>
        </p:nvSpPr>
        <p:spPr>
          <a:xfrm>
            <a:off x="548640" y="303580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a:t>
            </a:r>
            <a:endParaRPr lang="en-US" sz="1800" dirty="0"/>
          </a:p>
        </p:txBody>
      </p:sp>
      <p:sp>
        <p:nvSpPr>
          <p:cNvPr id="11" name="text-142"/>
          <p:cNvSpPr txBox="1"/>
          <p:nvPr/>
        </p:nvSpPr>
        <p:spPr>
          <a:xfrm>
            <a:off x="1325880" y="2907792"/>
            <a:ext cx="2651760" cy="804672"/>
          </a:xfrm>
          <a:prstGeom prst="rect">
            <a:avLst/>
          </a:prstGeom>
          <a:noFill/>
          <a:ln/>
        </p:spPr>
        <p:txBody>
          <a:bodyPr wrap="square" lIns="0" tIns="0" rIns="0" bIns="0" rtlCol="0" anchor="ctr"/>
          <a:lstStyle/>
          <a:p>
            <a:pPr indent="0" marL="0">
              <a:buNone/>
            </a:pPr>
            <a:r>
              <a:rPr lang="en-US" sz="1800" b="1" dirty="0">
                <a:solidFill>
                  <a:schemeClr val="tx1"/>
                </a:solidFill>
              </a:rPr>
              <a:t>Sign in</a:t>
            </a:r>
            <a:endParaRPr lang="en-US" sz="1800" dirty="0"/>
          </a:p>
        </p:txBody>
      </p:sp>
      <p:sp>
        <p:nvSpPr>
          <p:cNvPr id="12" name="card-143"/>
          <p:cNvSpPr/>
          <p:nvPr/>
        </p:nvSpPr>
        <p:spPr>
          <a:xfrm>
            <a:off x="4206240" y="2907792"/>
            <a:ext cx="7436815" cy="804672"/>
          </a:xfrm>
          <a:prstGeom prst="roundRect">
            <a:avLst>
              <a:gd name="adj" fmla="val 6818"/>
            </a:avLst>
          </a:prstGeom>
          <a:solidFill>
            <a:schemeClr val="bg2"/>
          </a:solidFill>
          <a:ln/>
        </p:spPr>
      </p:sp>
      <p:sp>
        <p:nvSpPr>
          <p:cNvPr id="13" name="text-144"/>
          <p:cNvSpPr txBox="1"/>
          <p:nvPr/>
        </p:nvSpPr>
        <p:spPr>
          <a:xfrm>
            <a:off x="4480560" y="2907792"/>
            <a:ext cx="6888175" cy="804672"/>
          </a:xfrm>
          <a:prstGeom prst="rect">
            <a:avLst/>
          </a:prstGeom>
          <a:noFill/>
          <a:ln/>
        </p:spPr>
        <p:txBody>
          <a:bodyPr wrap="square" lIns="0" tIns="0" rIns="0" bIns="0" rtlCol="0" anchor="ctr"/>
          <a:lstStyle/>
          <a:p>
            <a:pPr indent="0" marL="0">
              <a:buNone/>
            </a:pPr>
            <a:r>
              <a:rPr lang="en-US" sz="1600" dirty="0">
                <a:solidFill>
                  <a:schemeClr val="tx1"/>
                </a:solidFill>
              </a:rPr>
              <a:t>Open the app and sign in with your Cursor account</a:t>
            </a:r>
            <a:endParaRPr lang="en-US" sz="1600" dirty="0"/>
          </a:p>
        </p:txBody>
      </p:sp>
      <p:sp>
        <p:nvSpPr>
          <p:cNvPr id="14" name="step-145"/>
          <p:cNvSpPr/>
          <p:nvPr/>
        </p:nvSpPr>
        <p:spPr>
          <a:xfrm>
            <a:off x="548640" y="4023360"/>
            <a:ext cx="548640" cy="548640"/>
          </a:xfrm>
          <a:prstGeom prst="roundRect">
            <a:avLst>
              <a:gd name="adj" fmla="val 11667"/>
            </a:avLst>
          </a:prstGeom>
          <a:solidFill>
            <a:schemeClr val="accent2"/>
          </a:solidFill>
          <a:ln/>
        </p:spPr>
      </p:sp>
      <p:sp>
        <p:nvSpPr>
          <p:cNvPr id="15" name="text-146"/>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3</a:t>
            </a:r>
            <a:endParaRPr lang="en-US" sz="1800" dirty="0"/>
          </a:p>
        </p:txBody>
      </p:sp>
      <p:sp>
        <p:nvSpPr>
          <p:cNvPr id="16" name="text-147"/>
          <p:cNvSpPr txBox="1"/>
          <p:nvPr/>
        </p:nvSpPr>
        <p:spPr>
          <a:xfrm>
            <a:off x="1325880" y="3895344"/>
            <a:ext cx="2651760" cy="804672"/>
          </a:xfrm>
          <a:prstGeom prst="rect">
            <a:avLst/>
          </a:prstGeom>
          <a:noFill/>
          <a:ln/>
        </p:spPr>
        <p:txBody>
          <a:bodyPr wrap="square" lIns="0" tIns="0" rIns="0" bIns="0" rtlCol="0" anchor="ctr"/>
          <a:lstStyle/>
          <a:p>
            <a:pPr indent="0" marL="0">
              <a:buNone/>
            </a:pPr>
            <a:r>
              <a:rPr lang="en-US" sz="1800" b="1" dirty="0">
                <a:solidFill>
                  <a:schemeClr val="tx1"/>
                </a:solidFill>
              </a:rPr>
              <a:t>Open a folder</a:t>
            </a:r>
            <a:endParaRPr lang="en-US" sz="1800" dirty="0"/>
          </a:p>
        </p:txBody>
      </p:sp>
      <p:sp>
        <p:nvSpPr>
          <p:cNvPr id="17" name="card-148"/>
          <p:cNvSpPr/>
          <p:nvPr/>
        </p:nvSpPr>
        <p:spPr>
          <a:xfrm>
            <a:off x="4206240" y="3895344"/>
            <a:ext cx="7436815" cy="804672"/>
          </a:xfrm>
          <a:prstGeom prst="roundRect">
            <a:avLst>
              <a:gd name="adj" fmla="val 6818"/>
            </a:avLst>
          </a:prstGeom>
          <a:solidFill>
            <a:schemeClr val="bg2"/>
          </a:solidFill>
          <a:ln/>
        </p:spPr>
      </p:sp>
      <p:sp>
        <p:nvSpPr>
          <p:cNvPr id="18" name="text-149"/>
          <p:cNvSpPr txBox="1"/>
          <p:nvPr/>
        </p:nvSpPr>
        <p:spPr>
          <a:xfrm>
            <a:off x="4480560" y="3895344"/>
            <a:ext cx="6888175" cy="804672"/>
          </a:xfrm>
          <a:prstGeom prst="rect">
            <a:avLst/>
          </a:prstGeom>
          <a:noFill/>
          <a:ln/>
        </p:spPr>
        <p:txBody>
          <a:bodyPr wrap="square" lIns="0" tIns="0" rIns="0" bIns="0" rtlCol="0" anchor="ctr"/>
          <a:lstStyle/>
          <a:p>
            <a:pPr indent="0" marL="0">
              <a:buNone/>
            </a:pPr>
            <a:r>
              <a:rPr lang="en-US" sz="1600" dirty="0">
                <a:solidFill>
                  <a:schemeClr val="tx1"/>
                </a:solidFill>
              </a:rPr>
              <a:t>Pick the project folder you want to work in</a:t>
            </a:r>
            <a:endParaRPr lang="en-US" sz="1600" dirty="0"/>
          </a:p>
        </p:txBody>
      </p:sp>
      <p:sp>
        <p:nvSpPr>
          <p:cNvPr id="19" name="step-150"/>
          <p:cNvSpPr/>
          <p:nvPr/>
        </p:nvSpPr>
        <p:spPr>
          <a:xfrm>
            <a:off x="548640" y="5010912"/>
            <a:ext cx="548640" cy="548640"/>
          </a:xfrm>
          <a:prstGeom prst="roundRect">
            <a:avLst>
              <a:gd name="adj" fmla="val 11667"/>
            </a:avLst>
          </a:prstGeom>
          <a:solidFill>
            <a:schemeClr val="accent2"/>
          </a:solidFill>
          <a:ln/>
        </p:spPr>
      </p:sp>
      <p:sp>
        <p:nvSpPr>
          <p:cNvPr id="20" name="text-151"/>
          <p:cNvSpPr txBox="1"/>
          <p:nvPr/>
        </p:nvSpPr>
        <p:spPr>
          <a:xfrm>
            <a:off x="548640" y="501091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4</a:t>
            </a:r>
            <a:endParaRPr lang="en-US" sz="1800" dirty="0"/>
          </a:p>
        </p:txBody>
      </p:sp>
      <p:sp>
        <p:nvSpPr>
          <p:cNvPr id="21" name="text-152"/>
          <p:cNvSpPr txBox="1"/>
          <p:nvPr/>
        </p:nvSpPr>
        <p:spPr>
          <a:xfrm>
            <a:off x="1325880" y="4882896"/>
            <a:ext cx="2651760" cy="804672"/>
          </a:xfrm>
          <a:prstGeom prst="rect">
            <a:avLst/>
          </a:prstGeom>
          <a:noFill/>
          <a:ln/>
        </p:spPr>
        <p:txBody>
          <a:bodyPr wrap="square" lIns="0" tIns="0" rIns="0" bIns="0" rtlCol="0" anchor="ctr"/>
          <a:lstStyle/>
          <a:p>
            <a:pPr indent="0" marL="0">
              <a:buNone/>
            </a:pPr>
            <a:r>
              <a:rPr lang="en-US" sz="1800" b="1" dirty="0">
                <a:solidFill>
                  <a:schemeClr val="tx1"/>
                </a:solidFill>
              </a:rPr>
              <a:t>Ask Agent</a:t>
            </a:r>
            <a:endParaRPr lang="en-US" sz="1800" dirty="0"/>
          </a:p>
        </p:txBody>
      </p:sp>
      <p:sp>
        <p:nvSpPr>
          <p:cNvPr id="22" name="card-153"/>
          <p:cNvSpPr/>
          <p:nvPr/>
        </p:nvSpPr>
        <p:spPr>
          <a:xfrm>
            <a:off x="4206240" y="4882896"/>
            <a:ext cx="7436815" cy="804672"/>
          </a:xfrm>
          <a:prstGeom prst="roundRect">
            <a:avLst>
              <a:gd name="adj" fmla="val 6818"/>
            </a:avLst>
          </a:prstGeom>
          <a:solidFill>
            <a:schemeClr val="bg2"/>
          </a:solidFill>
          <a:ln/>
        </p:spPr>
      </p:sp>
      <p:sp>
        <p:nvSpPr>
          <p:cNvPr id="23" name="text-154"/>
          <p:cNvSpPr txBox="1"/>
          <p:nvPr/>
        </p:nvSpPr>
        <p:spPr>
          <a:xfrm>
            <a:off x="4480560" y="4882896"/>
            <a:ext cx="6888175" cy="804672"/>
          </a:xfrm>
          <a:prstGeom prst="rect">
            <a:avLst/>
          </a:prstGeom>
          <a:noFill/>
          <a:ln/>
        </p:spPr>
        <p:txBody>
          <a:bodyPr wrap="square" lIns="0" tIns="0" rIns="0" bIns="0" rtlCol="0" anchor="ctr"/>
          <a:lstStyle/>
          <a:p>
            <a:pPr indent="0" marL="0">
              <a:buNone/>
            </a:pPr>
            <a:r>
              <a:rPr lang="en-US" sz="1600" dirty="0">
                <a:solidFill>
                  <a:schemeClr val="tx1"/>
                </a:solidFill>
              </a:rPr>
              <a:t>Press Cmd+I on a Mac or Ctrl+I on Windows, then type a question</a:t>
            </a:r>
            <a:endParaRPr lang="en-US" sz="1600" dirty="0"/>
          </a:p>
        </p:txBody>
      </p:sp>
      <p:sp>
        <p:nvSpPr>
          <p:cNvPr id="24" name="text-15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Prefer a terminal? Cursor also has a CLI, started with the command agent. 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An agent is built from three components</a:t>
            </a:r>
            <a:endParaRPr lang="en-US" sz="3000" dirty="0"/>
          </a:p>
        </p:txBody>
      </p:sp>
      <p:sp>
        <p:nvSpPr>
          <p:cNvPr id="4" name="card-156"/>
          <p:cNvSpPr/>
          <p:nvPr/>
        </p:nvSpPr>
        <p:spPr>
          <a:xfrm>
            <a:off x="548640" y="1920240"/>
            <a:ext cx="3200400" cy="2103120"/>
          </a:xfrm>
          <a:prstGeom prst="roundRect">
            <a:avLst>
              <a:gd name="adj" fmla="val 2609"/>
            </a:avLst>
          </a:prstGeom>
          <a:solidFill>
            <a:schemeClr val="bg2"/>
          </a:solidFill>
          <a:ln/>
        </p:spPr>
      </p:sp>
      <p:sp>
        <p:nvSpPr>
          <p:cNvPr id="5" name="tile-157"/>
          <p:cNvSpPr/>
          <p:nvPr/>
        </p:nvSpPr>
        <p:spPr>
          <a:xfrm>
            <a:off x="822960" y="2194560"/>
            <a:ext cx="566928" cy="566928"/>
          </a:xfrm>
          <a:prstGeom prst="roundRect">
            <a:avLst>
              <a:gd name="adj" fmla="val 11290"/>
            </a:avLst>
          </a:prstGeom>
          <a:solidFill>
            <a:schemeClr val="tx1"/>
          </a:solidFill>
          <a:ln/>
        </p:spPr>
      </p:sp>
      <p:pic>
        <p:nvPicPr>
          <p:cNvPr id="6" name="icon-158" descr="preencoded.png">    </p:cNvPr>
          <p:cNvPicPr>
            <a:picLocks noChangeAspect="1"/>
          </p:cNvPicPr>
          <p:nvPr/>
        </p:nvPicPr>
        <p:blipFill>
          <a:blip r:embed="rId1"/>
          <a:stretch>
            <a:fillRect/>
          </a:stretch>
        </p:blipFill>
        <p:spPr>
          <a:xfrm>
            <a:off x="970361" y="2341961"/>
            <a:ext cx="272125" cy="272125"/>
          </a:xfrm>
          <a:prstGeom prst="rect">
            <a:avLst/>
          </a:prstGeom>
        </p:spPr>
      </p:pic>
      <p:sp>
        <p:nvSpPr>
          <p:cNvPr id="7" name="text-159"/>
          <p:cNvSpPr txBox="1"/>
          <p:nvPr/>
        </p:nvSpPr>
        <p:spPr>
          <a:xfrm>
            <a:off x="1572768" y="2194560"/>
            <a:ext cx="2011680" cy="566928"/>
          </a:xfrm>
          <a:prstGeom prst="rect">
            <a:avLst/>
          </a:prstGeom>
          <a:noFill/>
          <a:ln/>
        </p:spPr>
        <p:txBody>
          <a:bodyPr wrap="square" lIns="0" tIns="0" rIns="0" bIns="0" rtlCol="0" anchor="ctr"/>
          <a:lstStyle/>
          <a:p>
            <a:pPr indent="0" marL="0">
              <a:buNone/>
            </a:pPr>
            <a:r>
              <a:rPr lang="en-US" sz="2000" b="1" dirty="0">
                <a:solidFill>
                  <a:schemeClr val="tx1"/>
                </a:solidFill>
              </a:rPr>
              <a:t>Instructions</a:t>
            </a:r>
            <a:endParaRPr lang="en-US" sz="2000" dirty="0"/>
          </a:p>
        </p:txBody>
      </p:sp>
      <p:sp>
        <p:nvSpPr>
          <p:cNvPr id="8" name="text-160"/>
          <p:cNvSpPr txBox="1"/>
          <p:nvPr/>
        </p:nvSpPr>
        <p:spPr>
          <a:xfrm>
            <a:off x="822960" y="3017520"/>
            <a:ext cx="2651760" cy="868680"/>
          </a:xfrm>
          <a:prstGeom prst="rect">
            <a:avLst/>
          </a:prstGeom>
          <a:noFill/>
          <a:ln/>
        </p:spPr>
        <p:txBody>
          <a:bodyPr wrap="square" lIns="0" tIns="0" rIns="0" bIns="0" rtlCol="0" anchor="t"/>
          <a:lstStyle/>
          <a:p>
            <a:pPr indent="0" marL="0">
              <a:buNone/>
            </a:pPr>
            <a:r>
              <a:rPr lang="en-US" sz="1400" dirty="0">
                <a:solidFill>
                  <a:schemeClr val="tx2"/>
                </a:solidFill>
              </a:rPr>
              <a:t>The built-in system prompt and your rules, which guide how it behaves</a:t>
            </a:r>
            <a:endParaRPr lang="en-US" sz="1400" dirty="0"/>
          </a:p>
        </p:txBody>
      </p:sp>
      <p:pic>
        <p:nvPicPr>
          <p:cNvPr id="9" name="plus-161" descr="preencoded.png">    </p:cNvPr>
          <p:cNvPicPr>
            <a:picLocks noChangeAspect="1"/>
          </p:cNvPicPr>
          <p:nvPr/>
        </p:nvPicPr>
        <p:blipFill>
          <a:blip r:embed="rId2"/>
          <a:stretch>
            <a:fillRect/>
          </a:stretch>
        </p:blipFill>
        <p:spPr>
          <a:xfrm>
            <a:off x="3985184" y="2834640"/>
            <a:ext cx="274320" cy="274320"/>
          </a:xfrm>
          <a:prstGeom prst="rect">
            <a:avLst/>
          </a:prstGeom>
        </p:spPr>
      </p:pic>
      <p:sp>
        <p:nvSpPr>
          <p:cNvPr id="10" name="card-162"/>
          <p:cNvSpPr/>
          <p:nvPr/>
        </p:nvSpPr>
        <p:spPr>
          <a:xfrm>
            <a:off x="4495648" y="1920240"/>
            <a:ext cx="3200400" cy="2103120"/>
          </a:xfrm>
          <a:prstGeom prst="roundRect">
            <a:avLst>
              <a:gd name="adj" fmla="val 2609"/>
            </a:avLst>
          </a:prstGeom>
          <a:solidFill>
            <a:schemeClr val="bg2"/>
          </a:solidFill>
          <a:ln/>
        </p:spPr>
      </p:sp>
      <p:sp>
        <p:nvSpPr>
          <p:cNvPr id="11" name="tile-163"/>
          <p:cNvSpPr/>
          <p:nvPr/>
        </p:nvSpPr>
        <p:spPr>
          <a:xfrm>
            <a:off x="4769968" y="2194560"/>
            <a:ext cx="566928" cy="566928"/>
          </a:xfrm>
          <a:prstGeom prst="roundRect">
            <a:avLst>
              <a:gd name="adj" fmla="val 11290"/>
            </a:avLst>
          </a:prstGeom>
          <a:solidFill>
            <a:schemeClr val="tx1"/>
          </a:solidFill>
          <a:ln/>
        </p:spPr>
      </p:sp>
      <p:pic>
        <p:nvPicPr>
          <p:cNvPr id="12" name="icon-164" descr="preencoded.png">    </p:cNvPr>
          <p:cNvPicPr>
            <a:picLocks noChangeAspect="1"/>
          </p:cNvPicPr>
          <p:nvPr/>
        </p:nvPicPr>
        <p:blipFill>
          <a:blip r:embed="rId3"/>
          <a:stretch>
            <a:fillRect/>
          </a:stretch>
        </p:blipFill>
        <p:spPr>
          <a:xfrm>
            <a:off x="4917369" y="2341961"/>
            <a:ext cx="272125" cy="272125"/>
          </a:xfrm>
          <a:prstGeom prst="rect">
            <a:avLst/>
          </a:prstGeom>
        </p:spPr>
      </p:pic>
      <p:sp>
        <p:nvSpPr>
          <p:cNvPr id="13" name="text-165"/>
          <p:cNvSpPr txBox="1"/>
          <p:nvPr/>
        </p:nvSpPr>
        <p:spPr>
          <a:xfrm>
            <a:off x="5519776" y="2194560"/>
            <a:ext cx="2011680" cy="566928"/>
          </a:xfrm>
          <a:prstGeom prst="rect">
            <a:avLst/>
          </a:prstGeom>
          <a:noFill/>
          <a:ln/>
        </p:spPr>
        <p:txBody>
          <a:bodyPr wrap="square" lIns="0" tIns="0" rIns="0" bIns="0" rtlCol="0" anchor="ctr"/>
          <a:lstStyle/>
          <a:p>
            <a:pPr indent="0" marL="0">
              <a:buNone/>
            </a:pPr>
            <a:r>
              <a:rPr lang="en-US" sz="2000" b="1" dirty="0">
                <a:solidFill>
                  <a:schemeClr val="tx1"/>
                </a:solidFill>
              </a:rPr>
              <a:t>Tools</a:t>
            </a:r>
            <a:endParaRPr lang="en-US" sz="2000" dirty="0"/>
          </a:p>
        </p:txBody>
      </p:sp>
      <p:sp>
        <p:nvSpPr>
          <p:cNvPr id="14" name="text-166"/>
          <p:cNvSpPr txBox="1"/>
          <p:nvPr/>
        </p:nvSpPr>
        <p:spPr>
          <a:xfrm>
            <a:off x="4769968" y="3017520"/>
            <a:ext cx="2651760" cy="868680"/>
          </a:xfrm>
          <a:prstGeom prst="rect">
            <a:avLst/>
          </a:prstGeom>
          <a:noFill/>
          <a:ln/>
        </p:spPr>
        <p:txBody>
          <a:bodyPr wrap="square" lIns="0" tIns="0" rIns="0" bIns="0" rtlCol="0" anchor="t"/>
          <a:lstStyle/>
          <a:p>
            <a:pPr indent="0" marL="0">
              <a:buNone/>
            </a:pPr>
            <a:r>
              <a:rPr lang="en-US" sz="1400" dirty="0">
                <a:solidFill>
                  <a:schemeClr val="tx2"/>
                </a:solidFill>
              </a:rPr>
              <a:t>Searching code and the web, editing files, running commands, using a browser</a:t>
            </a:r>
            <a:endParaRPr lang="en-US" sz="1400" dirty="0"/>
          </a:p>
        </p:txBody>
      </p:sp>
      <p:pic>
        <p:nvPicPr>
          <p:cNvPr id="15" name="plus-167" descr="preencoded.png">    </p:cNvPr>
          <p:cNvPicPr>
            <a:picLocks noChangeAspect="1"/>
          </p:cNvPicPr>
          <p:nvPr/>
        </p:nvPicPr>
        <p:blipFill>
          <a:blip r:embed="rId4"/>
          <a:stretch>
            <a:fillRect/>
          </a:stretch>
        </p:blipFill>
        <p:spPr>
          <a:xfrm>
            <a:off x="7932191" y="2834640"/>
            <a:ext cx="274320" cy="274320"/>
          </a:xfrm>
          <a:prstGeom prst="rect">
            <a:avLst/>
          </a:prstGeom>
        </p:spPr>
      </p:pic>
      <p:sp>
        <p:nvSpPr>
          <p:cNvPr id="16" name="card-168"/>
          <p:cNvSpPr/>
          <p:nvPr/>
        </p:nvSpPr>
        <p:spPr>
          <a:xfrm>
            <a:off x="8442655" y="1920240"/>
            <a:ext cx="3200400" cy="2103120"/>
          </a:xfrm>
          <a:prstGeom prst="roundRect">
            <a:avLst>
              <a:gd name="adj" fmla="val 2609"/>
            </a:avLst>
          </a:prstGeom>
          <a:solidFill>
            <a:schemeClr val="bg2"/>
          </a:solidFill>
          <a:ln/>
        </p:spPr>
      </p:sp>
      <p:sp>
        <p:nvSpPr>
          <p:cNvPr id="17" name="tile-169"/>
          <p:cNvSpPr/>
          <p:nvPr/>
        </p:nvSpPr>
        <p:spPr>
          <a:xfrm>
            <a:off x="8716975" y="2194560"/>
            <a:ext cx="566928" cy="566928"/>
          </a:xfrm>
          <a:prstGeom prst="roundRect">
            <a:avLst>
              <a:gd name="adj" fmla="val 11290"/>
            </a:avLst>
          </a:prstGeom>
          <a:solidFill>
            <a:schemeClr val="tx1"/>
          </a:solidFill>
          <a:ln/>
        </p:spPr>
      </p:sp>
      <p:pic>
        <p:nvPicPr>
          <p:cNvPr id="18" name="icon-170" descr="preencoded.png">    </p:cNvPr>
          <p:cNvPicPr>
            <a:picLocks noChangeAspect="1"/>
          </p:cNvPicPr>
          <p:nvPr/>
        </p:nvPicPr>
        <p:blipFill>
          <a:blip r:embed="rId5"/>
          <a:stretch>
            <a:fillRect/>
          </a:stretch>
        </p:blipFill>
        <p:spPr>
          <a:xfrm>
            <a:off x="8864376" y="2341961"/>
            <a:ext cx="272125" cy="272125"/>
          </a:xfrm>
          <a:prstGeom prst="rect">
            <a:avLst/>
          </a:prstGeom>
        </p:spPr>
      </p:pic>
      <p:sp>
        <p:nvSpPr>
          <p:cNvPr id="19" name="text-171"/>
          <p:cNvSpPr txBox="1"/>
          <p:nvPr/>
        </p:nvSpPr>
        <p:spPr>
          <a:xfrm>
            <a:off x="9466783" y="2194560"/>
            <a:ext cx="2011680" cy="566928"/>
          </a:xfrm>
          <a:prstGeom prst="rect">
            <a:avLst/>
          </a:prstGeom>
          <a:noFill/>
          <a:ln/>
        </p:spPr>
        <p:txBody>
          <a:bodyPr wrap="square" lIns="0" tIns="0" rIns="0" bIns="0" rtlCol="0" anchor="ctr"/>
          <a:lstStyle/>
          <a:p>
            <a:pPr indent="0" marL="0">
              <a:buNone/>
            </a:pPr>
            <a:r>
              <a:rPr lang="en-US" sz="2000" b="1" dirty="0">
                <a:solidFill>
                  <a:schemeClr val="tx1"/>
                </a:solidFill>
              </a:rPr>
              <a:t>Model</a:t>
            </a:r>
            <a:endParaRPr lang="en-US" sz="2000" dirty="0"/>
          </a:p>
        </p:txBody>
      </p:sp>
      <p:sp>
        <p:nvSpPr>
          <p:cNvPr id="20" name="text-172"/>
          <p:cNvSpPr txBox="1"/>
          <p:nvPr/>
        </p:nvSpPr>
        <p:spPr>
          <a:xfrm>
            <a:off x="8716975" y="3017520"/>
            <a:ext cx="2651760" cy="868680"/>
          </a:xfrm>
          <a:prstGeom prst="rect">
            <a:avLst/>
          </a:prstGeom>
          <a:noFill/>
          <a:ln/>
        </p:spPr>
        <p:txBody>
          <a:bodyPr wrap="square" lIns="0" tIns="0" rIns="0" bIns="0" rtlCol="0" anchor="t"/>
          <a:lstStyle/>
          <a:p>
            <a:pPr indent="0" marL="0">
              <a:buNone/>
            </a:pPr>
            <a:r>
              <a:rPr lang="en-US" sz="1400" dirty="0">
                <a:solidFill>
                  <a:schemeClr val="tx2"/>
                </a:solidFill>
              </a:rPr>
              <a:t>The AI model you pick for the task</a:t>
            </a:r>
            <a:endParaRPr lang="en-US" sz="1400" dirty="0"/>
          </a:p>
        </p:txBody>
      </p:sp>
      <p:pic>
        <p:nvPicPr>
          <p:cNvPr id="21" name="chevron-173" descr="preencoded.png">    </p:cNvPr>
          <p:cNvPicPr>
            <a:picLocks noChangeAspect="1"/>
          </p:cNvPicPr>
          <p:nvPr/>
        </p:nvPicPr>
        <p:blipFill>
          <a:blip r:embed="rId6"/>
          <a:stretch>
            <a:fillRect/>
          </a:stretch>
        </p:blipFill>
        <p:spPr>
          <a:xfrm>
            <a:off x="5949544" y="4187952"/>
            <a:ext cx="292608" cy="292608"/>
          </a:xfrm>
          <a:prstGeom prst="rect">
            <a:avLst/>
          </a:prstGeom>
        </p:spPr>
      </p:pic>
      <p:sp>
        <p:nvSpPr>
          <p:cNvPr id="22" name="card-174"/>
          <p:cNvSpPr/>
          <p:nvPr/>
        </p:nvSpPr>
        <p:spPr>
          <a:xfrm>
            <a:off x="548640" y="4663440"/>
            <a:ext cx="11094415" cy="868680"/>
          </a:xfrm>
          <a:prstGeom prst="roundRect">
            <a:avLst>
              <a:gd name="adj" fmla="val 6316"/>
            </a:avLst>
          </a:prstGeom>
          <a:solidFill>
            <a:schemeClr val="tx1"/>
          </a:solidFill>
          <a:ln/>
        </p:spPr>
      </p:sp>
      <p:sp>
        <p:nvSpPr>
          <p:cNvPr id="23" name="text-175"/>
          <p:cNvSpPr txBox="1"/>
          <p:nvPr/>
        </p:nvSpPr>
        <p:spPr>
          <a:xfrm>
            <a:off x="868680" y="4663440"/>
            <a:ext cx="10454335" cy="868680"/>
          </a:xfrm>
          <a:prstGeom prst="rect">
            <a:avLst/>
          </a:prstGeom>
          <a:noFill/>
          <a:ln/>
        </p:spPr>
        <p:txBody>
          <a:bodyPr wrap="square" lIns="0" tIns="0" rIns="0" bIns="0" rtlCol="0" anchor="ctr"/>
          <a:lstStyle/>
          <a:p>
            <a:pPr indent="0" marL="0">
              <a:buNone/>
            </a:pPr>
            <a:r>
              <a:rPr lang="en-US" sz="2000" b="1" dirty="0">
                <a:solidFill>
                  <a:schemeClr val="accent2"/>
                </a:solidFill>
              </a:rPr>
              <a:t>Agent  </a:t>
            </a:r>
            <a:pPr indent="0" marL="0">
              <a:buNone/>
            </a:pPr>
            <a:r>
              <a:rPr lang="en-US" sz="1600" dirty="0">
                <a:solidFill>
                  <a:schemeClr val="bg1"/>
                </a:solidFill>
              </a:rPr>
              <a:t>works through your task step by step, then shows you the changes as a diff to review.</a:t>
            </a:r>
            <a:endParaRPr lang="en-US" sz="1400" dirty="0"/>
          </a:p>
        </p:txBody>
      </p:sp>
      <p:sp>
        <p:nvSpPr>
          <p:cNvPr id="24" name="text-17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core words come up in every session</a:t>
            </a:r>
            <a:endParaRPr lang="en-US" sz="3000" dirty="0"/>
          </a:p>
        </p:txBody>
      </p:sp>
      <p:sp>
        <p:nvSpPr>
          <p:cNvPr id="4" name="card-177"/>
          <p:cNvSpPr/>
          <p:nvPr/>
        </p:nvSpPr>
        <p:spPr>
          <a:xfrm>
            <a:off x="548640" y="1920240"/>
            <a:ext cx="11094415" cy="566928"/>
          </a:xfrm>
          <a:prstGeom prst="roundRect">
            <a:avLst>
              <a:gd name="adj" fmla="val 9677"/>
            </a:avLst>
          </a:prstGeom>
          <a:solidFill>
            <a:schemeClr val="bg2"/>
          </a:solidFill>
          <a:ln/>
        </p:spPr>
      </p:sp>
      <p:sp>
        <p:nvSpPr>
          <p:cNvPr id="5" name="text-178"/>
          <p:cNvSpPr txBox="1"/>
          <p:nvPr/>
        </p:nvSpPr>
        <p:spPr>
          <a:xfrm>
            <a:off x="868680" y="1920240"/>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Tab</a:t>
            </a:r>
            <a:endParaRPr lang="en-US" sz="1400" dirty="0"/>
          </a:p>
        </p:txBody>
      </p:sp>
      <p:sp>
        <p:nvSpPr>
          <p:cNvPr id="6" name="text-179"/>
          <p:cNvSpPr txBox="1"/>
          <p:nvPr/>
        </p:nvSpPr>
        <p:spPr>
          <a:xfrm>
            <a:off x="3383280" y="1920240"/>
            <a:ext cx="7985455" cy="566928"/>
          </a:xfrm>
          <a:prstGeom prst="rect">
            <a:avLst/>
          </a:prstGeom>
          <a:noFill/>
          <a:ln/>
        </p:spPr>
        <p:txBody>
          <a:bodyPr wrap="square" lIns="0" tIns="0" rIns="0" bIns="0" rtlCol="0" anchor="ctr"/>
          <a:lstStyle/>
          <a:p>
            <a:pPr indent="0" marL="0">
              <a:buNone/>
            </a:pPr>
            <a:r>
              <a:rPr lang="en-US" sz="1400" dirty="0">
                <a:solidFill>
                  <a:schemeClr val="tx1"/>
                </a:solidFill>
              </a:rPr>
              <a:t>Autocomplete that predicts your next edit; press the Tab key to accept it</a:t>
            </a:r>
            <a:endParaRPr lang="en-US" sz="1400" dirty="0"/>
          </a:p>
        </p:txBody>
      </p:sp>
      <p:sp>
        <p:nvSpPr>
          <p:cNvPr id="7" name="card-180"/>
          <p:cNvSpPr/>
          <p:nvPr/>
        </p:nvSpPr>
        <p:spPr>
          <a:xfrm>
            <a:off x="548640" y="2596896"/>
            <a:ext cx="11094415" cy="566928"/>
          </a:xfrm>
          <a:prstGeom prst="roundRect">
            <a:avLst>
              <a:gd name="adj" fmla="val 9677"/>
            </a:avLst>
          </a:prstGeom>
          <a:solidFill>
            <a:schemeClr val="bg2"/>
          </a:solidFill>
          <a:ln/>
        </p:spPr>
      </p:sp>
      <p:sp>
        <p:nvSpPr>
          <p:cNvPr id="8" name="text-181"/>
          <p:cNvSpPr txBox="1"/>
          <p:nvPr/>
        </p:nvSpPr>
        <p:spPr>
          <a:xfrm>
            <a:off x="868680" y="2596896"/>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Inline Edit</a:t>
            </a:r>
            <a:endParaRPr lang="en-US" sz="1400" dirty="0"/>
          </a:p>
        </p:txBody>
      </p:sp>
      <p:sp>
        <p:nvSpPr>
          <p:cNvPr id="9" name="text-182"/>
          <p:cNvSpPr txBox="1"/>
          <p:nvPr/>
        </p:nvSpPr>
        <p:spPr>
          <a:xfrm>
            <a:off x="3383280" y="2596896"/>
            <a:ext cx="7985455" cy="566928"/>
          </a:xfrm>
          <a:prstGeom prst="rect">
            <a:avLst/>
          </a:prstGeom>
          <a:noFill/>
          <a:ln/>
        </p:spPr>
        <p:txBody>
          <a:bodyPr wrap="square" lIns="0" tIns="0" rIns="0" bIns="0" rtlCol="0" anchor="ctr"/>
          <a:lstStyle/>
          <a:p>
            <a:pPr indent="0" marL="0">
              <a:buNone/>
            </a:pPr>
            <a:r>
              <a:rPr lang="en-US" sz="1400" dirty="0">
                <a:solidFill>
                  <a:schemeClr val="tx1"/>
                </a:solidFill>
              </a:rPr>
              <a:t>Select code, press Cmd/Ctrl+K and describe the change you want</a:t>
            </a:r>
            <a:endParaRPr lang="en-US" sz="1400" dirty="0"/>
          </a:p>
        </p:txBody>
      </p:sp>
      <p:sp>
        <p:nvSpPr>
          <p:cNvPr id="10" name="card-183"/>
          <p:cNvSpPr/>
          <p:nvPr/>
        </p:nvSpPr>
        <p:spPr>
          <a:xfrm>
            <a:off x="548640" y="3273552"/>
            <a:ext cx="11094415" cy="566928"/>
          </a:xfrm>
          <a:prstGeom prst="roundRect">
            <a:avLst>
              <a:gd name="adj" fmla="val 9677"/>
            </a:avLst>
          </a:prstGeom>
          <a:solidFill>
            <a:schemeClr val="bg2"/>
          </a:solidFill>
          <a:ln/>
        </p:spPr>
      </p:sp>
      <p:sp>
        <p:nvSpPr>
          <p:cNvPr id="11" name="text-184"/>
          <p:cNvSpPr txBox="1"/>
          <p:nvPr/>
        </p:nvSpPr>
        <p:spPr>
          <a:xfrm>
            <a:off x="868680" y="3273552"/>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Agent</a:t>
            </a:r>
            <a:endParaRPr lang="en-US" sz="1400" dirty="0"/>
          </a:p>
        </p:txBody>
      </p:sp>
      <p:sp>
        <p:nvSpPr>
          <p:cNvPr id="12" name="text-185"/>
          <p:cNvSpPr txBox="1"/>
          <p:nvPr/>
        </p:nvSpPr>
        <p:spPr>
          <a:xfrm>
            <a:off x="3383280" y="3273552"/>
            <a:ext cx="7985455" cy="566928"/>
          </a:xfrm>
          <a:prstGeom prst="rect">
            <a:avLst/>
          </a:prstGeom>
          <a:noFill/>
          <a:ln/>
        </p:spPr>
        <p:txBody>
          <a:bodyPr wrap="square" lIns="0" tIns="0" rIns="0" bIns="0" rtlCol="0" anchor="ctr"/>
          <a:lstStyle/>
          <a:p>
            <a:pPr indent="0" marL="0">
              <a:buNone/>
            </a:pPr>
            <a:r>
              <a:rPr lang="en-US" sz="1400" dirty="0">
                <a:solidFill>
                  <a:schemeClr val="tx1"/>
                </a:solidFill>
              </a:rPr>
              <a:t>The assistant that completes whole tasks by editing files and running commands</a:t>
            </a:r>
            <a:endParaRPr lang="en-US" sz="1400" dirty="0"/>
          </a:p>
        </p:txBody>
      </p:sp>
      <p:sp>
        <p:nvSpPr>
          <p:cNvPr id="13" name="card-186"/>
          <p:cNvSpPr/>
          <p:nvPr/>
        </p:nvSpPr>
        <p:spPr>
          <a:xfrm>
            <a:off x="548640" y="3950208"/>
            <a:ext cx="11094415" cy="566928"/>
          </a:xfrm>
          <a:prstGeom prst="roundRect">
            <a:avLst>
              <a:gd name="adj" fmla="val 9677"/>
            </a:avLst>
          </a:prstGeom>
          <a:solidFill>
            <a:schemeClr val="bg2"/>
          </a:solidFill>
          <a:ln/>
        </p:spPr>
      </p:sp>
      <p:sp>
        <p:nvSpPr>
          <p:cNvPr id="14" name="text-187"/>
          <p:cNvSpPr txBox="1"/>
          <p:nvPr/>
        </p:nvSpPr>
        <p:spPr>
          <a:xfrm>
            <a:off x="868680" y="3950208"/>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model</a:t>
            </a:r>
            <a:endParaRPr lang="en-US" sz="1400" dirty="0"/>
          </a:p>
        </p:txBody>
      </p:sp>
      <p:sp>
        <p:nvSpPr>
          <p:cNvPr id="15" name="text-188"/>
          <p:cNvSpPr txBox="1"/>
          <p:nvPr/>
        </p:nvSpPr>
        <p:spPr>
          <a:xfrm>
            <a:off x="3383280" y="3950208"/>
            <a:ext cx="7985455" cy="566928"/>
          </a:xfrm>
          <a:prstGeom prst="rect">
            <a:avLst/>
          </a:prstGeom>
          <a:noFill/>
          <a:ln/>
        </p:spPr>
        <p:txBody>
          <a:bodyPr wrap="square" lIns="0" tIns="0" rIns="0" bIns="0" rtlCol="0" anchor="ctr"/>
          <a:lstStyle/>
          <a:p>
            <a:pPr indent="0" marL="0">
              <a:buNone/>
            </a:pPr>
            <a:r>
              <a:rPr lang="en-US" sz="1400" dirty="0">
                <a:solidFill>
                  <a:schemeClr val="tx1"/>
                </a:solidFill>
              </a:rPr>
              <a:t>The AI system behind the answers; pick one yourself or let Cursor choose</a:t>
            </a:r>
            <a:endParaRPr lang="en-US" sz="1400" dirty="0"/>
          </a:p>
        </p:txBody>
      </p:sp>
      <p:sp>
        <p:nvSpPr>
          <p:cNvPr id="16" name="card-189"/>
          <p:cNvSpPr/>
          <p:nvPr/>
        </p:nvSpPr>
        <p:spPr>
          <a:xfrm>
            <a:off x="548640" y="4626864"/>
            <a:ext cx="11094415" cy="566928"/>
          </a:xfrm>
          <a:prstGeom prst="roundRect">
            <a:avLst>
              <a:gd name="adj" fmla="val 9677"/>
            </a:avLst>
          </a:prstGeom>
          <a:solidFill>
            <a:schemeClr val="bg2"/>
          </a:solidFill>
          <a:ln/>
        </p:spPr>
      </p:sp>
      <p:sp>
        <p:nvSpPr>
          <p:cNvPr id="17" name="text-190"/>
          <p:cNvSpPr txBox="1"/>
          <p:nvPr/>
        </p:nvSpPr>
        <p:spPr>
          <a:xfrm>
            <a:off x="868680" y="4626864"/>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context</a:t>
            </a:r>
            <a:endParaRPr lang="en-US" sz="1400" dirty="0"/>
          </a:p>
        </p:txBody>
      </p:sp>
      <p:sp>
        <p:nvSpPr>
          <p:cNvPr id="18" name="text-191"/>
          <p:cNvSpPr txBox="1"/>
          <p:nvPr/>
        </p:nvSpPr>
        <p:spPr>
          <a:xfrm>
            <a:off x="3383280" y="4626864"/>
            <a:ext cx="7985455" cy="566928"/>
          </a:xfrm>
          <a:prstGeom prst="rect">
            <a:avLst/>
          </a:prstGeom>
          <a:noFill/>
          <a:ln/>
        </p:spPr>
        <p:txBody>
          <a:bodyPr wrap="square" lIns="0" tIns="0" rIns="0" bIns="0" rtlCol="0" anchor="ctr"/>
          <a:lstStyle/>
          <a:p>
            <a:pPr indent="0" marL="0">
              <a:buNone/>
            </a:pPr>
            <a:r>
              <a:rPr lang="en-US" sz="1400" dirty="0">
                <a:solidFill>
                  <a:schemeClr val="tx1"/>
                </a:solidFill>
              </a:rPr>
              <a:t>What the AI can see for a request: your message, open files and anything you mention</a:t>
            </a:r>
            <a:endParaRPr lang="en-US" sz="1400" dirty="0"/>
          </a:p>
        </p:txBody>
      </p:sp>
      <p:sp>
        <p:nvSpPr>
          <p:cNvPr id="19" name="card-192"/>
          <p:cNvSpPr/>
          <p:nvPr/>
        </p:nvSpPr>
        <p:spPr>
          <a:xfrm>
            <a:off x="548640" y="5303520"/>
            <a:ext cx="11094415" cy="566928"/>
          </a:xfrm>
          <a:prstGeom prst="roundRect">
            <a:avLst>
              <a:gd name="adj" fmla="val 9677"/>
            </a:avLst>
          </a:prstGeom>
          <a:solidFill>
            <a:schemeClr val="bg2"/>
          </a:solidFill>
          <a:ln/>
        </p:spPr>
      </p:sp>
      <p:sp>
        <p:nvSpPr>
          <p:cNvPr id="20" name="text-193"/>
          <p:cNvSpPr txBox="1"/>
          <p:nvPr/>
        </p:nvSpPr>
        <p:spPr>
          <a:xfrm>
            <a:off x="868680" y="5303520"/>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diff</a:t>
            </a:r>
            <a:endParaRPr lang="en-US" sz="1400" dirty="0"/>
          </a:p>
        </p:txBody>
      </p:sp>
      <p:sp>
        <p:nvSpPr>
          <p:cNvPr id="21" name="text-194"/>
          <p:cNvSpPr txBox="1"/>
          <p:nvPr/>
        </p:nvSpPr>
        <p:spPr>
          <a:xfrm>
            <a:off x="3383280" y="5303520"/>
            <a:ext cx="7985455" cy="566928"/>
          </a:xfrm>
          <a:prstGeom prst="rect">
            <a:avLst/>
          </a:prstGeom>
          <a:noFill/>
          <a:ln/>
        </p:spPr>
        <p:txBody>
          <a:bodyPr wrap="square" lIns="0" tIns="0" rIns="0" bIns="0" rtlCol="0" anchor="ctr"/>
          <a:lstStyle/>
          <a:p>
            <a:pPr indent="0" marL="0">
              <a:buNone/>
            </a:pPr>
            <a:r>
              <a:rPr lang="en-US" sz="1400" dirty="0">
                <a:solidFill>
                  <a:schemeClr val="tx1"/>
                </a:solidFill>
              </a:rPr>
              <a:t>A before-and-after view of a change, which you accept or reject</a:t>
            </a:r>
            <a:endParaRPr lang="en-US" sz="1400" dirty="0"/>
          </a:p>
        </p:txBody>
      </p:sp>
      <p:sp>
        <p:nvSpPr>
          <p:cNvPr id="22" name="text-19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Four modes change how the agent behaves</a:t>
            </a:r>
            <a:endParaRPr lang="en-US" sz="3000" dirty="0"/>
          </a:p>
        </p:txBody>
      </p:sp>
      <p:sp>
        <p:nvSpPr>
          <p:cNvPr id="4" name="card-196"/>
          <p:cNvSpPr/>
          <p:nvPr/>
        </p:nvSpPr>
        <p:spPr>
          <a:xfrm>
            <a:off x="548640" y="1920240"/>
            <a:ext cx="2567864" cy="3063240"/>
          </a:xfrm>
          <a:prstGeom prst="roundRect">
            <a:avLst>
              <a:gd name="adj" fmla="val 2137"/>
            </a:avLst>
          </a:prstGeom>
          <a:solidFill>
            <a:schemeClr val="bg2"/>
          </a:solidFill>
          <a:ln/>
        </p:spPr>
      </p:sp>
      <p:sp>
        <p:nvSpPr>
          <p:cNvPr id="5" name="tile-197"/>
          <p:cNvSpPr/>
          <p:nvPr/>
        </p:nvSpPr>
        <p:spPr>
          <a:xfrm>
            <a:off x="804672" y="2194560"/>
            <a:ext cx="566928" cy="566928"/>
          </a:xfrm>
          <a:prstGeom prst="roundRect">
            <a:avLst>
              <a:gd name="adj" fmla="val 11290"/>
            </a:avLst>
          </a:prstGeom>
          <a:solidFill>
            <a:schemeClr val="tx1"/>
          </a:solidFill>
          <a:ln/>
        </p:spPr>
      </p:sp>
      <p:pic>
        <p:nvPicPr>
          <p:cNvPr id="6" name="icon-198" descr="preencoded.png">    </p:cNvPr>
          <p:cNvPicPr>
            <a:picLocks noChangeAspect="1"/>
          </p:cNvPicPr>
          <p:nvPr/>
        </p:nvPicPr>
        <p:blipFill>
          <a:blip r:embed="rId1"/>
          <a:stretch>
            <a:fillRect/>
          </a:stretch>
        </p:blipFill>
        <p:spPr>
          <a:xfrm>
            <a:off x="952073" y="2341961"/>
            <a:ext cx="272125" cy="272125"/>
          </a:xfrm>
          <a:prstGeom prst="rect">
            <a:avLst/>
          </a:prstGeom>
        </p:spPr>
      </p:pic>
      <p:sp>
        <p:nvSpPr>
          <p:cNvPr id="7" name="text-199"/>
          <p:cNvSpPr txBox="1"/>
          <p:nvPr/>
        </p:nvSpPr>
        <p:spPr>
          <a:xfrm>
            <a:off x="1536192" y="2194560"/>
            <a:ext cx="1379144" cy="566928"/>
          </a:xfrm>
          <a:prstGeom prst="rect">
            <a:avLst/>
          </a:prstGeom>
          <a:noFill/>
          <a:ln/>
        </p:spPr>
        <p:txBody>
          <a:bodyPr wrap="square" lIns="0" tIns="0" rIns="0" bIns="0" rtlCol="0" anchor="ctr"/>
          <a:lstStyle/>
          <a:p>
            <a:pPr indent="0" marL="0">
              <a:buNone/>
            </a:pPr>
            <a:r>
              <a:rPr lang="en-US" sz="2200" b="1" dirty="0">
                <a:solidFill>
                  <a:schemeClr val="tx1"/>
                </a:solidFill>
              </a:rPr>
              <a:t>Agent</a:t>
            </a:r>
            <a:endParaRPr lang="en-US" sz="2200" dirty="0"/>
          </a:p>
        </p:txBody>
      </p:sp>
      <p:sp>
        <p:nvSpPr>
          <p:cNvPr id="8" name="text-200"/>
          <p:cNvSpPr txBox="1"/>
          <p:nvPr/>
        </p:nvSpPr>
        <p:spPr>
          <a:xfrm>
            <a:off x="804672" y="3017520"/>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BEST FOR</a:t>
            </a:r>
            <a:endParaRPr lang="en-US" sz="1100" dirty="0"/>
          </a:p>
        </p:txBody>
      </p:sp>
      <p:sp>
        <p:nvSpPr>
          <p:cNvPr id="9" name="text-201"/>
          <p:cNvSpPr txBox="1"/>
          <p:nvPr/>
        </p:nvSpPr>
        <p:spPr>
          <a:xfrm>
            <a:off x="804672" y="3291840"/>
            <a:ext cx="2055800" cy="868680"/>
          </a:xfrm>
          <a:prstGeom prst="rect">
            <a:avLst/>
          </a:prstGeom>
          <a:noFill/>
          <a:ln/>
        </p:spPr>
        <p:txBody>
          <a:bodyPr wrap="square" lIns="0" tIns="0" rIns="0" bIns="0" rtlCol="0" anchor="t"/>
          <a:lstStyle/>
          <a:p>
            <a:pPr indent="0" marL="0">
              <a:buNone/>
            </a:pPr>
            <a:r>
              <a:rPr lang="en-US" sz="1400" dirty="0">
                <a:solidFill>
                  <a:schemeClr val="tx2"/>
                </a:solidFill>
              </a:rPr>
              <a:t>Building features, refactoring and fixing bugs</a:t>
            </a:r>
            <a:endParaRPr lang="en-US" sz="1400" dirty="0"/>
          </a:p>
        </p:txBody>
      </p:sp>
      <p:sp>
        <p:nvSpPr>
          <p:cNvPr id="10" name="pill-202"/>
          <p:cNvSpPr/>
          <p:nvPr/>
        </p:nvSpPr>
        <p:spPr>
          <a:xfrm>
            <a:off x="804672" y="4343400"/>
            <a:ext cx="2055800" cy="365760"/>
          </a:xfrm>
          <a:prstGeom prst="roundRect">
            <a:avLst>
              <a:gd name="adj" fmla="val 12500"/>
            </a:avLst>
          </a:prstGeom>
          <a:solidFill>
            <a:schemeClr val="tx1"/>
          </a:solidFill>
          <a:ln/>
        </p:spPr>
      </p:sp>
      <p:sp>
        <p:nvSpPr>
          <p:cNvPr id="11" name="text-203"/>
          <p:cNvSpPr txBox="1"/>
          <p:nvPr/>
        </p:nvSpPr>
        <p:spPr>
          <a:xfrm>
            <a:off x="804672" y="4343400"/>
            <a:ext cx="205580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EDITS FILES</a:t>
            </a:r>
            <a:endParaRPr lang="en-US" sz="1100" dirty="0"/>
          </a:p>
        </p:txBody>
      </p:sp>
      <p:sp>
        <p:nvSpPr>
          <p:cNvPr id="12" name="card-204"/>
          <p:cNvSpPr/>
          <p:nvPr/>
        </p:nvSpPr>
        <p:spPr>
          <a:xfrm>
            <a:off x="3390824" y="1920240"/>
            <a:ext cx="2567864" cy="3063240"/>
          </a:xfrm>
          <a:prstGeom prst="roundRect">
            <a:avLst>
              <a:gd name="adj" fmla="val 2137"/>
            </a:avLst>
          </a:prstGeom>
          <a:solidFill>
            <a:schemeClr val="bg2"/>
          </a:solidFill>
          <a:ln/>
        </p:spPr>
      </p:sp>
      <p:sp>
        <p:nvSpPr>
          <p:cNvPr id="13" name="tile-205"/>
          <p:cNvSpPr/>
          <p:nvPr/>
        </p:nvSpPr>
        <p:spPr>
          <a:xfrm>
            <a:off x="3646856" y="2194560"/>
            <a:ext cx="566928" cy="566928"/>
          </a:xfrm>
          <a:prstGeom prst="roundRect">
            <a:avLst>
              <a:gd name="adj" fmla="val 11290"/>
            </a:avLst>
          </a:prstGeom>
          <a:solidFill>
            <a:schemeClr val="tx1"/>
          </a:solidFill>
          <a:ln/>
        </p:spPr>
      </p:sp>
      <p:pic>
        <p:nvPicPr>
          <p:cNvPr id="14" name="icon-206" descr="preencoded.png">    </p:cNvPr>
          <p:cNvPicPr>
            <a:picLocks noChangeAspect="1"/>
          </p:cNvPicPr>
          <p:nvPr/>
        </p:nvPicPr>
        <p:blipFill>
          <a:blip r:embed="rId2"/>
          <a:stretch>
            <a:fillRect/>
          </a:stretch>
        </p:blipFill>
        <p:spPr>
          <a:xfrm>
            <a:off x="3794257" y="2341961"/>
            <a:ext cx="272125" cy="272125"/>
          </a:xfrm>
          <a:prstGeom prst="rect">
            <a:avLst/>
          </a:prstGeom>
        </p:spPr>
      </p:pic>
      <p:sp>
        <p:nvSpPr>
          <p:cNvPr id="15" name="text-207"/>
          <p:cNvSpPr txBox="1"/>
          <p:nvPr/>
        </p:nvSpPr>
        <p:spPr>
          <a:xfrm>
            <a:off x="4378376" y="2194560"/>
            <a:ext cx="1379144" cy="566928"/>
          </a:xfrm>
          <a:prstGeom prst="rect">
            <a:avLst/>
          </a:prstGeom>
          <a:noFill/>
          <a:ln/>
        </p:spPr>
        <p:txBody>
          <a:bodyPr wrap="square" lIns="0" tIns="0" rIns="0" bIns="0" rtlCol="0" anchor="ctr"/>
          <a:lstStyle/>
          <a:p>
            <a:pPr indent="0" marL="0">
              <a:buNone/>
            </a:pPr>
            <a:r>
              <a:rPr lang="en-US" sz="2200" b="1" dirty="0">
                <a:solidFill>
                  <a:schemeClr val="tx1"/>
                </a:solidFill>
              </a:rPr>
              <a:t>Ask</a:t>
            </a:r>
            <a:endParaRPr lang="en-US" sz="2200" dirty="0"/>
          </a:p>
        </p:txBody>
      </p:sp>
      <p:sp>
        <p:nvSpPr>
          <p:cNvPr id="16" name="text-208"/>
          <p:cNvSpPr txBox="1"/>
          <p:nvPr/>
        </p:nvSpPr>
        <p:spPr>
          <a:xfrm>
            <a:off x="3646856" y="3017520"/>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BEST FOR</a:t>
            </a:r>
            <a:endParaRPr lang="en-US" sz="1100" dirty="0"/>
          </a:p>
        </p:txBody>
      </p:sp>
      <p:sp>
        <p:nvSpPr>
          <p:cNvPr id="17" name="text-209"/>
          <p:cNvSpPr txBox="1"/>
          <p:nvPr/>
        </p:nvSpPr>
        <p:spPr>
          <a:xfrm>
            <a:off x="3646856" y="3291840"/>
            <a:ext cx="2055800" cy="868680"/>
          </a:xfrm>
          <a:prstGeom prst="rect">
            <a:avLst/>
          </a:prstGeom>
          <a:noFill/>
          <a:ln/>
        </p:spPr>
        <p:txBody>
          <a:bodyPr wrap="square" lIns="0" tIns="0" rIns="0" bIns="0" rtlCol="0" anchor="t"/>
          <a:lstStyle/>
          <a:p>
            <a:pPr indent="0" marL="0">
              <a:buNone/>
            </a:pPr>
            <a:r>
              <a:rPr lang="en-US" sz="1400" dirty="0">
                <a:solidFill>
                  <a:schemeClr val="tx2"/>
                </a:solidFill>
              </a:rPr>
              <a:t>Understanding code and exploring how it is built</a:t>
            </a:r>
            <a:endParaRPr lang="en-US" sz="1400" dirty="0"/>
          </a:p>
        </p:txBody>
      </p:sp>
      <p:sp>
        <p:nvSpPr>
          <p:cNvPr id="18" name="pill-210"/>
          <p:cNvSpPr/>
          <p:nvPr/>
        </p:nvSpPr>
        <p:spPr>
          <a:xfrm>
            <a:off x="3646856" y="4343400"/>
            <a:ext cx="2055800" cy="365760"/>
          </a:xfrm>
          <a:prstGeom prst="roundRect">
            <a:avLst>
              <a:gd name="adj" fmla="val 12500"/>
            </a:avLst>
          </a:prstGeom>
          <a:solidFill>
            <a:schemeClr val="accent2"/>
          </a:solidFill>
          <a:ln/>
        </p:spPr>
      </p:sp>
      <p:sp>
        <p:nvSpPr>
          <p:cNvPr id="19" name="text-211"/>
          <p:cNvSpPr txBox="1"/>
          <p:nvPr/>
        </p:nvSpPr>
        <p:spPr>
          <a:xfrm>
            <a:off x="3646856" y="4343400"/>
            <a:ext cx="205580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READ-ONLY</a:t>
            </a:r>
            <a:endParaRPr lang="en-US" sz="1100" dirty="0"/>
          </a:p>
        </p:txBody>
      </p:sp>
      <p:sp>
        <p:nvSpPr>
          <p:cNvPr id="20" name="card-212"/>
          <p:cNvSpPr/>
          <p:nvPr/>
        </p:nvSpPr>
        <p:spPr>
          <a:xfrm>
            <a:off x="6233008" y="1920240"/>
            <a:ext cx="2567864" cy="3063240"/>
          </a:xfrm>
          <a:prstGeom prst="roundRect">
            <a:avLst>
              <a:gd name="adj" fmla="val 2137"/>
            </a:avLst>
          </a:prstGeom>
          <a:solidFill>
            <a:schemeClr val="bg2"/>
          </a:solidFill>
          <a:ln/>
        </p:spPr>
      </p:sp>
      <p:sp>
        <p:nvSpPr>
          <p:cNvPr id="21" name="tile-213"/>
          <p:cNvSpPr/>
          <p:nvPr/>
        </p:nvSpPr>
        <p:spPr>
          <a:xfrm>
            <a:off x="6489040" y="2194560"/>
            <a:ext cx="566928" cy="566928"/>
          </a:xfrm>
          <a:prstGeom prst="roundRect">
            <a:avLst>
              <a:gd name="adj" fmla="val 11290"/>
            </a:avLst>
          </a:prstGeom>
          <a:solidFill>
            <a:schemeClr val="tx1"/>
          </a:solidFill>
          <a:ln/>
        </p:spPr>
      </p:sp>
      <p:pic>
        <p:nvPicPr>
          <p:cNvPr id="22" name="icon-214" descr="preencoded.png">    </p:cNvPr>
          <p:cNvPicPr>
            <a:picLocks noChangeAspect="1"/>
          </p:cNvPicPr>
          <p:nvPr/>
        </p:nvPicPr>
        <p:blipFill>
          <a:blip r:embed="rId3"/>
          <a:stretch>
            <a:fillRect/>
          </a:stretch>
        </p:blipFill>
        <p:spPr>
          <a:xfrm>
            <a:off x="6636441" y="2341961"/>
            <a:ext cx="272125" cy="272125"/>
          </a:xfrm>
          <a:prstGeom prst="rect">
            <a:avLst/>
          </a:prstGeom>
        </p:spPr>
      </p:pic>
      <p:sp>
        <p:nvSpPr>
          <p:cNvPr id="23" name="text-215"/>
          <p:cNvSpPr txBox="1"/>
          <p:nvPr/>
        </p:nvSpPr>
        <p:spPr>
          <a:xfrm>
            <a:off x="7220560" y="2194560"/>
            <a:ext cx="1379144" cy="566928"/>
          </a:xfrm>
          <a:prstGeom prst="rect">
            <a:avLst/>
          </a:prstGeom>
          <a:noFill/>
          <a:ln/>
        </p:spPr>
        <p:txBody>
          <a:bodyPr wrap="square" lIns="0" tIns="0" rIns="0" bIns="0" rtlCol="0" anchor="ctr"/>
          <a:lstStyle/>
          <a:p>
            <a:pPr indent="0" marL="0">
              <a:buNone/>
            </a:pPr>
            <a:r>
              <a:rPr lang="en-US" sz="2200" b="1" dirty="0">
                <a:solidFill>
                  <a:schemeClr val="tx1"/>
                </a:solidFill>
              </a:rPr>
              <a:t>Plan</a:t>
            </a:r>
            <a:endParaRPr lang="en-US" sz="2200" dirty="0"/>
          </a:p>
        </p:txBody>
      </p:sp>
      <p:sp>
        <p:nvSpPr>
          <p:cNvPr id="24" name="text-216"/>
          <p:cNvSpPr txBox="1"/>
          <p:nvPr/>
        </p:nvSpPr>
        <p:spPr>
          <a:xfrm>
            <a:off x="6489040" y="3017520"/>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BEST FOR</a:t>
            </a:r>
            <a:endParaRPr lang="en-US" sz="1100" dirty="0"/>
          </a:p>
        </p:txBody>
      </p:sp>
      <p:sp>
        <p:nvSpPr>
          <p:cNvPr id="25" name="text-217"/>
          <p:cNvSpPr txBox="1"/>
          <p:nvPr/>
        </p:nvSpPr>
        <p:spPr>
          <a:xfrm>
            <a:off x="6489040" y="3291840"/>
            <a:ext cx="2055800" cy="868680"/>
          </a:xfrm>
          <a:prstGeom prst="rect">
            <a:avLst/>
          </a:prstGeom>
          <a:noFill/>
          <a:ln/>
        </p:spPr>
        <p:txBody>
          <a:bodyPr wrap="square" lIns="0" tIns="0" rIns="0" bIns="0" rtlCol="0" anchor="t"/>
          <a:lstStyle/>
          <a:p>
            <a:pPr indent="0" marL="0">
              <a:buNone/>
            </a:pPr>
            <a:r>
              <a:rPr lang="en-US" sz="1400" dirty="0">
                <a:solidFill>
                  <a:schemeClr val="tx2"/>
                </a:solidFill>
              </a:rPr>
              <a:t>Bigger features where you review the approach first</a:t>
            </a:r>
            <a:endParaRPr lang="en-US" sz="1400" dirty="0"/>
          </a:p>
        </p:txBody>
      </p:sp>
      <p:sp>
        <p:nvSpPr>
          <p:cNvPr id="26" name="pill-218"/>
          <p:cNvSpPr/>
          <p:nvPr/>
        </p:nvSpPr>
        <p:spPr>
          <a:xfrm>
            <a:off x="6489040" y="4343400"/>
            <a:ext cx="2055800" cy="365760"/>
          </a:xfrm>
          <a:prstGeom prst="roundRect">
            <a:avLst>
              <a:gd name="adj" fmla="val 12500"/>
            </a:avLst>
          </a:prstGeom>
          <a:solidFill>
            <a:schemeClr val="accent2"/>
          </a:solidFill>
          <a:ln/>
        </p:spPr>
      </p:sp>
      <p:sp>
        <p:nvSpPr>
          <p:cNvPr id="27" name="text-219"/>
          <p:cNvSpPr txBox="1"/>
          <p:nvPr/>
        </p:nvSpPr>
        <p:spPr>
          <a:xfrm>
            <a:off x="6489040" y="4343400"/>
            <a:ext cx="2055800" cy="3657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EDITS AFTER APPROVAL</a:t>
            </a:r>
            <a:endParaRPr lang="en-US" sz="1100" dirty="0"/>
          </a:p>
        </p:txBody>
      </p:sp>
      <p:sp>
        <p:nvSpPr>
          <p:cNvPr id="28" name="card-220"/>
          <p:cNvSpPr/>
          <p:nvPr/>
        </p:nvSpPr>
        <p:spPr>
          <a:xfrm>
            <a:off x="9075191" y="1920240"/>
            <a:ext cx="2567864" cy="3063240"/>
          </a:xfrm>
          <a:prstGeom prst="roundRect">
            <a:avLst>
              <a:gd name="adj" fmla="val 2137"/>
            </a:avLst>
          </a:prstGeom>
          <a:solidFill>
            <a:schemeClr val="bg2"/>
          </a:solidFill>
          <a:ln/>
        </p:spPr>
      </p:sp>
      <p:sp>
        <p:nvSpPr>
          <p:cNvPr id="29" name="tile-221"/>
          <p:cNvSpPr/>
          <p:nvPr/>
        </p:nvSpPr>
        <p:spPr>
          <a:xfrm>
            <a:off x="9331223" y="2194560"/>
            <a:ext cx="566928" cy="566928"/>
          </a:xfrm>
          <a:prstGeom prst="roundRect">
            <a:avLst>
              <a:gd name="adj" fmla="val 11290"/>
            </a:avLst>
          </a:prstGeom>
          <a:solidFill>
            <a:schemeClr val="tx1"/>
          </a:solidFill>
          <a:ln/>
        </p:spPr>
      </p:sp>
      <p:pic>
        <p:nvPicPr>
          <p:cNvPr id="30" name="icon-222" descr="preencoded.png">    </p:cNvPr>
          <p:cNvPicPr>
            <a:picLocks noChangeAspect="1"/>
          </p:cNvPicPr>
          <p:nvPr/>
        </p:nvPicPr>
        <p:blipFill>
          <a:blip r:embed="rId4"/>
          <a:stretch>
            <a:fillRect/>
          </a:stretch>
        </p:blipFill>
        <p:spPr>
          <a:xfrm>
            <a:off x="9478625" y="2341961"/>
            <a:ext cx="272125" cy="272125"/>
          </a:xfrm>
          <a:prstGeom prst="rect">
            <a:avLst/>
          </a:prstGeom>
        </p:spPr>
      </p:pic>
      <p:sp>
        <p:nvSpPr>
          <p:cNvPr id="31" name="text-223"/>
          <p:cNvSpPr txBox="1"/>
          <p:nvPr/>
        </p:nvSpPr>
        <p:spPr>
          <a:xfrm>
            <a:off x="10062743" y="2194560"/>
            <a:ext cx="1379144" cy="566928"/>
          </a:xfrm>
          <a:prstGeom prst="rect">
            <a:avLst/>
          </a:prstGeom>
          <a:noFill/>
          <a:ln/>
        </p:spPr>
        <p:txBody>
          <a:bodyPr wrap="square" lIns="0" tIns="0" rIns="0" bIns="0" rtlCol="0" anchor="ctr"/>
          <a:lstStyle/>
          <a:p>
            <a:pPr indent="0" marL="0">
              <a:buNone/>
            </a:pPr>
            <a:r>
              <a:rPr lang="en-US" sz="2200" b="1" dirty="0">
                <a:solidFill>
                  <a:schemeClr val="tx1"/>
                </a:solidFill>
              </a:rPr>
              <a:t>Debug</a:t>
            </a:r>
            <a:endParaRPr lang="en-US" sz="2200" dirty="0"/>
          </a:p>
        </p:txBody>
      </p:sp>
      <p:sp>
        <p:nvSpPr>
          <p:cNvPr id="32" name="text-224"/>
          <p:cNvSpPr txBox="1"/>
          <p:nvPr/>
        </p:nvSpPr>
        <p:spPr>
          <a:xfrm>
            <a:off x="9331223" y="3017520"/>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BEST FOR</a:t>
            </a:r>
            <a:endParaRPr lang="en-US" sz="1100" dirty="0"/>
          </a:p>
        </p:txBody>
      </p:sp>
      <p:sp>
        <p:nvSpPr>
          <p:cNvPr id="33" name="text-225"/>
          <p:cNvSpPr txBox="1"/>
          <p:nvPr/>
        </p:nvSpPr>
        <p:spPr>
          <a:xfrm>
            <a:off x="9331223" y="3291840"/>
            <a:ext cx="2055800" cy="868680"/>
          </a:xfrm>
          <a:prstGeom prst="rect">
            <a:avLst/>
          </a:prstGeom>
          <a:noFill/>
          <a:ln/>
        </p:spPr>
        <p:txBody>
          <a:bodyPr wrap="square" lIns="0" tIns="0" rIns="0" bIns="0" rtlCol="0" anchor="t"/>
          <a:lstStyle/>
          <a:p>
            <a:pPr indent="0" marL="0">
              <a:buNone/>
            </a:pPr>
            <a:r>
              <a:rPr lang="en-US" sz="1400" dirty="0">
                <a:solidFill>
                  <a:schemeClr val="tx2"/>
                </a:solidFill>
              </a:rPr>
              <a:t>Tricky bugs that need evidence from running the code</a:t>
            </a:r>
            <a:endParaRPr lang="en-US" sz="1400" dirty="0"/>
          </a:p>
        </p:txBody>
      </p:sp>
      <p:sp>
        <p:nvSpPr>
          <p:cNvPr id="34" name="pill-226"/>
          <p:cNvSpPr/>
          <p:nvPr/>
        </p:nvSpPr>
        <p:spPr>
          <a:xfrm>
            <a:off x="9331223" y="4343400"/>
            <a:ext cx="2055800" cy="365760"/>
          </a:xfrm>
          <a:prstGeom prst="roundRect">
            <a:avLst>
              <a:gd name="adj" fmla="val 12500"/>
            </a:avLst>
          </a:prstGeom>
          <a:solidFill>
            <a:schemeClr val="tx1"/>
          </a:solidFill>
          <a:ln/>
        </p:spPr>
      </p:sp>
      <p:sp>
        <p:nvSpPr>
          <p:cNvPr id="35" name="text-227"/>
          <p:cNvSpPr txBox="1"/>
          <p:nvPr/>
        </p:nvSpPr>
        <p:spPr>
          <a:xfrm>
            <a:off x="9331223" y="4343400"/>
            <a:ext cx="2055800" cy="3657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EDITS FILES</a:t>
            </a:r>
            <a:endParaRPr lang="en-US" sz="1100" dirty="0"/>
          </a:p>
        </p:txBody>
      </p:sp>
      <p:sp>
        <p:nvSpPr>
          <p:cNvPr id="36" name="card-228"/>
          <p:cNvSpPr/>
          <p:nvPr/>
        </p:nvSpPr>
        <p:spPr>
          <a:xfrm>
            <a:off x="548640" y="5257800"/>
            <a:ext cx="11094415" cy="640080"/>
          </a:xfrm>
          <a:prstGeom prst="roundRect">
            <a:avLst>
              <a:gd name="adj" fmla="val 8571"/>
            </a:avLst>
          </a:prstGeom>
          <a:solidFill>
            <a:schemeClr val="accent5"/>
          </a:solidFill>
          <a:ln/>
        </p:spPr>
      </p:sp>
      <p:sp>
        <p:nvSpPr>
          <p:cNvPr id="37" name="tile-229"/>
          <p:cNvSpPr/>
          <p:nvPr/>
        </p:nvSpPr>
        <p:spPr>
          <a:xfrm>
            <a:off x="685800" y="5376672"/>
            <a:ext cx="402336" cy="402336"/>
          </a:xfrm>
          <a:prstGeom prst="roundRect">
            <a:avLst>
              <a:gd name="adj" fmla="val 15909"/>
            </a:avLst>
          </a:prstGeom>
          <a:solidFill>
            <a:schemeClr val="tx1"/>
          </a:solidFill>
          <a:ln/>
        </p:spPr>
      </p:sp>
      <p:pic>
        <p:nvPicPr>
          <p:cNvPr id="38" name="icon-230" descr="preencoded.png">    </p:cNvPr>
          <p:cNvPicPr>
            <a:picLocks noChangeAspect="1"/>
          </p:cNvPicPr>
          <p:nvPr/>
        </p:nvPicPr>
        <p:blipFill>
          <a:blip r:embed="rId5"/>
          <a:stretch>
            <a:fillRect/>
          </a:stretch>
        </p:blipFill>
        <p:spPr>
          <a:xfrm>
            <a:off x="790407" y="5481279"/>
            <a:ext cx="193121" cy="193121"/>
          </a:xfrm>
          <a:prstGeom prst="rect">
            <a:avLst/>
          </a:prstGeom>
        </p:spPr>
      </p:pic>
      <p:sp>
        <p:nvSpPr>
          <p:cNvPr id="39" name="text-231"/>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Use Agent for most tasks. Press Shift+Tab in the agent input to switch mode.</a:t>
            </a:r>
            <a:endParaRPr lang="en-US" sz="1400" dirty="0"/>
          </a:p>
        </p:txBody>
      </p:sp>
      <p:sp>
        <p:nvSpPr>
          <p:cNvPr id="40" name="text-23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help centre, Agent mode (cursor.com/help).</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terms describe how you stay in control</a:t>
            </a:r>
            <a:endParaRPr lang="en-US" sz="3000" dirty="0"/>
          </a:p>
        </p:txBody>
      </p:sp>
      <p:sp>
        <p:nvSpPr>
          <p:cNvPr id="4" name="card-233"/>
          <p:cNvSpPr/>
          <p:nvPr/>
        </p:nvSpPr>
        <p:spPr>
          <a:xfrm>
            <a:off x="548640" y="1920240"/>
            <a:ext cx="3515258" cy="1828800"/>
          </a:xfrm>
          <a:prstGeom prst="roundRect">
            <a:avLst>
              <a:gd name="adj" fmla="val 3000"/>
            </a:avLst>
          </a:prstGeom>
          <a:solidFill>
            <a:schemeClr val="bg2"/>
          </a:solidFill>
          <a:ln/>
        </p:spPr>
      </p:sp>
      <p:sp>
        <p:nvSpPr>
          <p:cNvPr id="5" name="tile-234"/>
          <p:cNvSpPr/>
          <p:nvPr/>
        </p:nvSpPr>
        <p:spPr>
          <a:xfrm>
            <a:off x="822960" y="2194560"/>
            <a:ext cx="530352" cy="530352"/>
          </a:xfrm>
          <a:prstGeom prst="roundRect">
            <a:avLst>
              <a:gd name="adj" fmla="val 12069"/>
            </a:avLst>
          </a:prstGeom>
          <a:solidFill>
            <a:schemeClr val="tx1"/>
          </a:solidFill>
          <a:ln/>
        </p:spPr>
      </p:sp>
      <p:pic>
        <p:nvPicPr>
          <p:cNvPr id="6" name="icon-235" descr="preencoded.png">    </p:cNvPr>
          <p:cNvPicPr>
            <a:picLocks noChangeAspect="1"/>
          </p:cNvPicPr>
          <p:nvPr/>
        </p:nvPicPr>
        <p:blipFill>
          <a:blip r:embed="rId1"/>
          <a:stretch>
            <a:fillRect/>
          </a:stretch>
        </p:blipFill>
        <p:spPr>
          <a:xfrm>
            <a:off x="960852" y="2332452"/>
            <a:ext cx="254569" cy="254569"/>
          </a:xfrm>
          <a:prstGeom prst="rect">
            <a:avLst/>
          </a:prstGeom>
        </p:spPr>
      </p:pic>
      <p:sp>
        <p:nvSpPr>
          <p:cNvPr id="7" name="text-236"/>
          <p:cNvSpPr txBox="1"/>
          <p:nvPr/>
        </p:nvSpPr>
        <p:spPr>
          <a:xfrm>
            <a:off x="1536192"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Checkpoint</a:t>
            </a:r>
            <a:endParaRPr lang="en-US" sz="1800" dirty="0"/>
          </a:p>
        </p:txBody>
      </p:sp>
      <p:sp>
        <p:nvSpPr>
          <p:cNvPr id="8" name="text-237"/>
          <p:cNvSpPr txBox="1"/>
          <p:nvPr/>
        </p:nvSpPr>
        <p:spPr>
          <a:xfrm>
            <a:off x="822960"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 snapshot Agent saves before big changes, so you can restore your files</a:t>
            </a:r>
            <a:endParaRPr lang="en-US" sz="1400" dirty="0"/>
          </a:p>
        </p:txBody>
      </p:sp>
      <p:sp>
        <p:nvSpPr>
          <p:cNvPr id="9" name="card-238"/>
          <p:cNvSpPr/>
          <p:nvPr/>
        </p:nvSpPr>
        <p:spPr>
          <a:xfrm>
            <a:off x="4338218" y="1920240"/>
            <a:ext cx="3515258" cy="1828800"/>
          </a:xfrm>
          <a:prstGeom prst="roundRect">
            <a:avLst>
              <a:gd name="adj" fmla="val 3000"/>
            </a:avLst>
          </a:prstGeom>
          <a:solidFill>
            <a:schemeClr val="bg2"/>
          </a:solidFill>
          <a:ln/>
        </p:spPr>
      </p:sp>
      <p:sp>
        <p:nvSpPr>
          <p:cNvPr id="10" name="tile-239"/>
          <p:cNvSpPr/>
          <p:nvPr/>
        </p:nvSpPr>
        <p:spPr>
          <a:xfrm>
            <a:off x="4612538" y="2194560"/>
            <a:ext cx="530352" cy="530352"/>
          </a:xfrm>
          <a:prstGeom prst="roundRect">
            <a:avLst>
              <a:gd name="adj" fmla="val 12069"/>
            </a:avLst>
          </a:prstGeom>
          <a:solidFill>
            <a:schemeClr val="tx1"/>
          </a:solidFill>
          <a:ln/>
        </p:spPr>
      </p:sp>
      <p:pic>
        <p:nvPicPr>
          <p:cNvPr id="11" name="icon-240" descr="preencoded.png">    </p:cNvPr>
          <p:cNvPicPr>
            <a:picLocks noChangeAspect="1"/>
          </p:cNvPicPr>
          <p:nvPr/>
        </p:nvPicPr>
        <p:blipFill>
          <a:blip r:embed="rId2"/>
          <a:stretch>
            <a:fillRect/>
          </a:stretch>
        </p:blipFill>
        <p:spPr>
          <a:xfrm>
            <a:off x="4750430" y="2332452"/>
            <a:ext cx="254569" cy="254569"/>
          </a:xfrm>
          <a:prstGeom prst="rect">
            <a:avLst/>
          </a:prstGeom>
        </p:spPr>
      </p:pic>
      <p:sp>
        <p:nvSpPr>
          <p:cNvPr id="12" name="text-241"/>
          <p:cNvSpPr txBox="1"/>
          <p:nvPr/>
        </p:nvSpPr>
        <p:spPr>
          <a:xfrm>
            <a:off x="5325770"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Diff view</a:t>
            </a:r>
            <a:endParaRPr lang="en-US" sz="1800" dirty="0"/>
          </a:p>
        </p:txBody>
      </p:sp>
      <p:sp>
        <p:nvSpPr>
          <p:cNvPr id="13" name="text-242"/>
          <p:cNvSpPr txBox="1"/>
          <p:nvPr/>
        </p:nvSpPr>
        <p:spPr>
          <a:xfrm>
            <a:off x="4612538"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 before-and-after display of each change for you to review</a:t>
            </a:r>
            <a:endParaRPr lang="en-US" sz="1400" dirty="0"/>
          </a:p>
        </p:txBody>
      </p:sp>
      <p:sp>
        <p:nvSpPr>
          <p:cNvPr id="14" name="card-243"/>
          <p:cNvSpPr/>
          <p:nvPr/>
        </p:nvSpPr>
        <p:spPr>
          <a:xfrm>
            <a:off x="8127797" y="1920240"/>
            <a:ext cx="3515258" cy="1828800"/>
          </a:xfrm>
          <a:prstGeom prst="roundRect">
            <a:avLst>
              <a:gd name="adj" fmla="val 3000"/>
            </a:avLst>
          </a:prstGeom>
          <a:solidFill>
            <a:schemeClr val="bg2"/>
          </a:solidFill>
          <a:ln/>
        </p:spPr>
      </p:sp>
      <p:sp>
        <p:nvSpPr>
          <p:cNvPr id="15" name="tile-244"/>
          <p:cNvSpPr/>
          <p:nvPr/>
        </p:nvSpPr>
        <p:spPr>
          <a:xfrm>
            <a:off x="8402117" y="2194560"/>
            <a:ext cx="530352" cy="530352"/>
          </a:xfrm>
          <a:prstGeom prst="roundRect">
            <a:avLst>
              <a:gd name="adj" fmla="val 12069"/>
            </a:avLst>
          </a:prstGeom>
          <a:solidFill>
            <a:schemeClr val="tx1"/>
          </a:solidFill>
          <a:ln/>
        </p:spPr>
      </p:sp>
      <p:pic>
        <p:nvPicPr>
          <p:cNvPr id="16" name="icon-245" descr="preencoded.png">    </p:cNvPr>
          <p:cNvPicPr>
            <a:picLocks noChangeAspect="1"/>
          </p:cNvPicPr>
          <p:nvPr/>
        </p:nvPicPr>
        <p:blipFill>
          <a:blip r:embed="rId3"/>
          <a:stretch>
            <a:fillRect/>
          </a:stretch>
        </p:blipFill>
        <p:spPr>
          <a:xfrm>
            <a:off x="8540008" y="2332452"/>
            <a:ext cx="254569" cy="254569"/>
          </a:xfrm>
          <a:prstGeom prst="rect">
            <a:avLst/>
          </a:prstGeom>
        </p:spPr>
      </p:pic>
      <p:sp>
        <p:nvSpPr>
          <p:cNvPr id="17" name="text-246"/>
          <p:cNvSpPr txBox="1"/>
          <p:nvPr/>
        </p:nvSpPr>
        <p:spPr>
          <a:xfrm>
            <a:off x="9115349"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Queued message</a:t>
            </a:r>
            <a:endParaRPr lang="en-US" sz="1800" dirty="0"/>
          </a:p>
        </p:txBody>
      </p:sp>
      <p:sp>
        <p:nvSpPr>
          <p:cNvPr id="18" name="text-247"/>
          <p:cNvSpPr txBox="1"/>
          <p:nvPr/>
        </p:nvSpPr>
        <p:spPr>
          <a:xfrm>
            <a:off x="8402117"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An instruction typed while Agent is busy; it runs when the task ends</a:t>
            </a:r>
            <a:endParaRPr lang="en-US" sz="1400" dirty="0"/>
          </a:p>
        </p:txBody>
      </p:sp>
      <p:sp>
        <p:nvSpPr>
          <p:cNvPr id="19" name="card-248"/>
          <p:cNvSpPr/>
          <p:nvPr/>
        </p:nvSpPr>
        <p:spPr>
          <a:xfrm>
            <a:off x="548640" y="4023360"/>
            <a:ext cx="3515258" cy="1828800"/>
          </a:xfrm>
          <a:prstGeom prst="roundRect">
            <a:avLst>
              <a:gd name="adj" fmla="val 3000"/>
            </a:avLst>
          </a:prstGeom>
          <a:solidFill>
            <a:schemeClr val="bg2"/>
          </a:solidFill>
          <a:ln/>
        </p:spPr>
      </p:sp>
      <p:sp>
        <p:nvSpPr>
          <p:cNvPr id="20" name="tile-249"/>
          <p:cNvSpPr/>
          <p:nvPr/>
        </p:nvSpPr>
        <p:spPr>
          <a:xfrm>
            <a:off x="822960" y="4297680"/>
            <a:ext cx="530352" cy="530352"/>
          </a:xfrm>
          <a:prstGeom prst="roundRect">
            <a:avLst>
              <a:gd name="adj" fmla="val 12069"/>
            </a:avLst>
          </a:prstGeom>
          <a:solidFill>
            <a:schemeClr val="tx1"/>
          </a:solidFill>
          <a:ln/>
        </p:spPr>
      </p:sp>
      <p:pic>
        <p:nvPicPr>
          <p:cNvPr id="21" name="icon-250" descr="preencoded.png">    </p:cNvPr>
          <p:cNvPicPr>
            <a:picLocks noChangeAspect="1"/>
          </p:cNvPicPr>
          <p:nvPr/>
        </p:nvPicPr>
        <p:blipFill>
          <a:blip r:embed="rId4"/>
          <a:stretch>
            <a:fillRect/>
          </a:stretch>
        </p:blipFill>
        <p:spPr>
          <a:xfrm>
            <a:off x="960852" y="4435572"/>
            <a:ext cx="254569" cy="254569"/>
          </a:xfrm>
          <a:prstGeom prst="rect">
            <a:avLst/>
          </a:prstGeom>
        </p:spPr>
      </p:pic>
      <p:sp>
        <p:nvSpPr>
          <p:cNvPr id="22" name="text-251"/>
          <p:cNvSpPr txBox="1"/>
          <p:nvPr/>
        </p:nvSpPr>
        <p:spPr>
          <a:xfrm>
            <a:off x="1536192"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Auto-run</a:t>
            </a:r>
            <a:endParaRPr lang="en-US" sz="1800" dirty="0"/>
          </a:p>
        </p:txBody>
      </p:sp>
      <p:sp>
        <p:nvSpPr>
          <p:cNvPr id="23" name="text-252"/>
          <p:cNvSpPr txBox="1"/>
          <p:nvPr/>
        </p:nvSpPr>
        <p:spPr>
          <a:xfrm>
            <a:off x="822960"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A setting that lets Agent run commands without asking each time</a:t>
            </a:r>
            <a:endParaRPr lang="en-US" sz="1400" dirty="0"/>
          </a:p>
        </p:txBody>
      </p:sp>
      <p:sp>
        <p:nvSpPr>
          <p:cNvPr id="24" name="card-253"/>
          <p:cNvSpPr/>
          <p:nvPr/>
        </p:nvSpPr>
        <p:spPr>
          <a:xfrm>
            <a:off x="4338218" y="4023360"/>
            <a:ext cx="3515258" cy="1828800"/>
          </a:xfrm>
          <a:prstGeom prst="roundRect">
            <a:avLst>
              <a:gd name="adj" fmla="val 3000"/>
            </a:avLst>
          </a:prstGeom>
          <a:solidFill>
            <a:schemeClr val="bg2"/>
          </a:solidFill>
          <a:ln/>
        </p:spPr>
      </p:sp>
      <p:sp>
        <p:nvSpPr>
          <p:cNvPr id="25" name="tile-254"/>
          <p:cNvSpPr/>
          <p:nvPr/>
        </p:nvSpPr>
        <p:spPr>
          <a:xfrm>
            <a:off x="4612538" y="4297680"/>
            <a:ext cx="530352" cy="530352"/>
          </a:xfrm>
          <a:prstGeom prst="roundRect">
            <a:avLst>
              <a:gd name="adj" fmla="val 12069"/>
            </a:avLst>
          </a:prstGeom>
          <a:solidFill>
            <a:schemeClr val="tx1"/>
          </a:solidFill>
          <a:ln/>
        </p:spPr>
      </p:sp>
      <p:pic>
        <p:nvPicPr>
          <p:cNvPr id="26" name="icon-255" descr="preencoded.png">    </p:cNvPr>
          <p:cNvPicPr>
            <a:picLocks noChangeAspect="1"/>
          </p:cNvPicPr>
          <p:nvPr/>
        </p:nvPicPr>
        <p:blipFill>
          <a:blip r:embed="rId5"/>
          <a:stretch>
            <a:fillRect/>
          </a:stretch>
        </p:blipFill>
        <p:spPr>
          <a:xfrm>
            <a:off x="4750430" y="4435572"/>
            <a:ext cx="254569" cy="254569"/>
          </a:xfrm>
          <a:prstGeom prst="rect">
            <a:avLst/>
          </a:prstGeom>
        </p:spPr>
      </p:pic>
      <p:sp>
        <p:nvSpPr>
          <p:cNvPr id="27" name="text-256"/>
          <p:cNvSpPr txBox="1"/>
          <p:nvPr/>
        </p:nvSpPr>
        <p:spPr>
          <a:xfrm>
            <a:off x="5325770"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Allowlist</a:t>
            </a:r>
            <a:endParaRPr lang="en-US" sz="1800" dirty="0"/>
          </a:p>
        </p:txBody>
      </p:sp>
      <p:sp>
        <p:nvSpPr>
          <p:cNvPr id="28" name="text-257"/>
          <p:cNvSpPr txBox="1"/>
          <p:nvPr/>
        </p:nvSpPr>
        <p:spPr>
          <a:xfrm>
            <a:off x="4612538"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commands and tools you have approved in advance</a:t>
            </a:r>
            <a:endParaRPr lang="en-US" sz="1400" dirty="0"/>
          </a:p>
        </p:txBody>
      </p:sp>
      <p:sp>
        <p:nvSpPr>
          <p:cNvPr id="29" name="card-258"/>
          <p:cNvSpPr/>
          <p:nvPr/>
        </p:nvSpPr>
        <p:spPr>
          <a:xfrm>
            <a:off x="8127797" y="4023360"/>
            <a:ext cx="3515258" cy="1828800"/>
          </a:xfrm>
          <a:prstGeom prst="roundRect">
            <a:avLst>
              <a:gd name="adj" fmla="val 3000"/>
            </a:avLst>
          </a:prstGeom>
          <a:solidFill>
            <a:schemeClr val="bg2"/>
          </a:solidFill>
          <a:ln/>
        </p:spPr>
      </p:sp>
      <p:sp>
        <p:nvSpPr>
          <p:cNvPr id="30" name="tile-259"/>
          <p:cNvSpPr/>
          <p:nvPr/>
        </p:nvSpPr>
        <p:spPr>
          <a:xfrm>
            <a:off x="8402117" y="4297680"/>
            <a:ext cx="530352" cy="530352"/>
          </a:xfrm>
          <a:prstGeom prst="roundRect">
            <a:avLst>
              <a:gd name="adj" fmla="val 12069"/>
            </a:avLst>
          </a:prstGeom>
          <a:solidFill>
            <a:schemeClr val="tx1"/>
          </a:solidFill>
          <a:ln/>
        </p:spPr>
      </p:sp>
      <p:pic>
        <p:nvPicPr>
          <p:cNvPr id="31" name="icon-260" descr="preencoded.png">    </p:cNvPr>
          <p:cNvPicPr>
            <a:picLocks noChangeAspect="1"/>
          </p:cNvPicPr>
          <p:nvPr/>
        </p:nvPicPr>
        <p:blipFill>
          <a:blip r:embed="rId6"/>
          <a:stretch>
            <a:fillRect/>
          </a:stretch>
        </p:blipFill>
        <p:spPr>
          <a:xfrm>
            <a:off x="8540008" y="4435572"/>
            <a:ext cx="254569" cy="254569"/>
          </a:xfrm>
          <a:prstGeom prst="rect">
            <a:avLst/>
          </a:prstGeom>
        </p:spPr>
      </p:pic>
      <p:sp>
        <p:nvSpPr>
          <p:cNvPr id="32" name="text-261"/>
          <p:cNvSpPr txBox="1"/>
          <p:nvPr/>
        </p:nvSpPr>
        <p:spPr>
          <a:xfrm>
            <a:off x="9115349"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Privacy Mode</a:t>
            </a:r>
            <a:endParaRPr lang="en-US" sz="1800" dirty="0"/>
          </a:p>
        </p:txBody>
      </p:sp>
      <p:sp>
        <p:nvSpPr>
          <p:cNvPr id="33" name="text-262"/>
          <p:cNvSpPr txBox="1"/>
          <p:nvPr/>
        </p:nvSpPr>
        <p:spPr>
          <a:xfrm>
            <a:off x="8402117"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A setting that limits how your code is stored and used</a:t>
            </a:r>
            <a:endParaRPr lang="en-US" sz="1400" dirty="0"/>
          </a:p>
        </p:txBody>
      </p:sp>
      <p:sp>
        <p:nvSpPr>
          <p:cNvPr id="34" name="text-26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documentation and help centre (2026). Setting names can change between versions.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Rules give the agent standing instructions</a:t>
            </a:r>
            <a:endParaRPr lang="en-US" sz="3000" dirty="0"/>
          </a:p>
        </p:txBody>
      </p:sp>
      <p:sp>
        <p:nvSpPr>
          <p:cNvPr id="4" name="tile-264"/>
          <p:cNvSpPr/>
          <p:nvPr/>
        </p:nvSpPr>
        <p:spPr>
          <a:xfrm>
            <a:off x="548640" y="1956816"/>
            <a:ext cx="548640" cy="548640"/>
          </a:xfrm>
          <a:prstGeom prst="roundRect">
            <a:avLst>
              <a:gd name="adj" fmla="val 11667"/>
            </a:avLst>
          </a:prstGeom>
          <a:solidFill>
            <a:schemeClr val="tx1"/>
          </a:solidFill>
          <a:ln/>
        </p:spPr>
      </p:sp>
      <p:pic>
        <p:nvPicPr>
          <p:cNvPr id="5" name="icon-265" descr="preencoded.png">    </p:cNvPr>
          <p:cNvPicPr>
            <a:picLocks noChangeAspect="1"/>
          </p:cNvPicPr>
          <p:nvPr/>
        </p:nvPicPr>
        <p:blipFill>
          <a:blip r:embed="rId1"/>
          <a:stretch>
            <a:fillRect/>
          </a:stretch>
        </p:blipFill>
        <p:spPr>
          <a:xfrm>
            <a:off x="691286" y="2099462"/>
            <a:ext cx="263347" cy="263347"/>
          </a:xfrm>
          <a:prstGeom prst="rect">
            <a:avLst/>
          </a:prstGeom>
        </p:spPr>
      </p:pic>
      <p:sp>
        <p:nvSpPr>
          <p:cNvPr id="6" name="text-266"/>
          <p:cNvSpPr txBox="1"/>
          <p:nvPr/>
        </p:nvSpPr>
        <p:spPr>
          <a:xfrm>
            <a:off x="1325880" y="1920240"/>
            <a:ext cx="5394960" cy="292608"/>
          </a:xfrm>
          <a:prstGeom prst="rect">
            <a:avLst/>
          </a:prstGeom>
          <a:noFill/>
          <a:ln/>
        </p:spPr>
        <p:txBody>
          <a:bodyPr wrap="square" lIns="0" tIns="0" rIns="0" bIns="0" rtlCol="0" anchor="t"/>
          <a:lstStyle/>
          <a:p>
            <a:pPr indent="0" marL="0">
              <a:buNone/>
            </a:pPr>
            <a:r>
              <a:rPr lang="en-US" sz="1600" b="1" dirty="0">
                <a:solidFill>
                  <a:schemeClr val="tx1"/>
                </a:solidFill>
              </a:rPr>
              <a:t>Project Rules</a:t>
            </a:r>
            <a:endParaRPr lang="en-US" sz="1600" dirty="0"/>
          </a:p>
        </p:txBody>
      </p:sp>
      <p:sp>
        <p:nvSpPr>
          <p:cNvPr id="7" name="text-267"/>
          <p:cNvSpPr txBox="1"/>
          <p:nvPr/>
        </p:nvSpPr>
        <p:spPr>
          <a:xfrm>
            <a:off x="1325880" y="2258568"/>
            <a:ext cx="5394960" cy="548640"/>
          </a:xfrm>
          <a:prstGeom prst="rect">
            <a:avLst/>
          </a:prstGeom>
          <a:noFill/>
          <a:ln/>
        </p:spPr>
        <p:txBody>
          <a:bodyPr wrap="square" lIns="0" tIns="0" rIns="0" bIns="0" rtlCol="0" anchor="t"/>
          <a:lstStyle/>
          <a:p>
            <a:pPr indent="0" marL="0">
              <a:buNone/>
            </a:pPr>
            <a:r>
              <a:rPr lang="en-US" sz="1400" dirty="0">
                <a:solidFill>
                  <a:schemeClr val="tx2"/>
                </a:solidFill>
              </a:rPr>
              <a:t>Files in .cursor/rules, saved with your code and shared with the team</a:t>
            </a:r>
            <a:endParaRPr lang="en-US" sz="1400" dirty="0"/>
          </a:p>
        </p:txBody>
      </p:sp>
      <p:sp>
        <p:nvSpPr>
          <p:cNvPr id="8" name="tile-268"/>
          <p:cNvSpPr/>
          <p:nvPr/>
        </p:nvSpPr>
        <p:spPr>
          <a:xfrm>
            <a:off x="548640" y="2962656"/>
            <a:ext cx="548640" cy="548640"/>
          </a:xfrm>
          <a:prstGeom prst="roundRect">
            <a:avLst>
              <a:gd name="adj" fmla="val 11667"/>
            </a:avLst>
          </a:prstGeom>
          <a:solidFill>
            <a:schemeClr val="tx1"/>
          </a:solidFill>
          <a:ln/>
        </p:spPr>
      </p:sp>
      <p:pic>
        <p:nvPicPr>
          <p:cNvPr id="9" name="icon-269" descr="preencoded.png">    </p:cNvPr>
          <p:cNvPicPr>
            <a:picLocks noChangeAspect="1"/>
          </p:cNvPicPr>
          <p:nvPr/>
        </p:nvPicPr>
        <p:blipFill>
          <a:blip r:embed="rId2"/>
          <a:stretch>
            <a:fillRect/>
          </a:stretch>
        </p:blipFill>
        <p:spPr>
          <a:xfrm>
            <a:off x="691286" y="3105302"/>
            <a:ext cx="263347" cy="263347"/>
          </a:xfrm>
          <a:prstGeom prst="rect">
            <a:avLst/>
          </a:prstGeom>
        </p:spPr>
      </p:pic>
      <p:sp>
        <p:nvSpPr>
          <p:cNvPr id="10" name="text-270"/>
          <p:cNvSpPr txBox="1"/>
          <p:nvPr/>
        </p:nvSpPr>
        <p:spPr>
          <a:xfrm>
            <a:off x="1325880" y="2926080"/>
            <a:ext cx="5394960" cy="292608"/>
          </a:xfrm>
          <a:prstGeom prst="rect">
            <a:avLst/>
          </a:prstGeom>
          <a:noFill/>
          <a:ln/>
        </p:spPr>
        <p:txBody>
          <a:bodyPr wrap="square" lIns="0" tIns="0" rIns="0" bIns="0" rtlCol="0" anchor="t"/>
          <a:lstStyle/>
          <a:p>
            <a:pPr indent="0" marL="0">
              <a:buNone/>
            </a:pPr>
            <a:r>
              <a:rPr lang="en-US" sz="1600" b="1" dirty="0">
                <a:solidFill>
                  <a:schemeClr val="tx1"/>
                </a:solidFill>
              </a:rPr>
              <a:t>User Rules</a:t>
            </a:r>
            <a:endParaRPr lang="en-US" sz="1600" dirty="0"/>
          </a:p>
        </p:txBody>
      </p:sp>
      <p:sp>
        <p:nvSpPr>
          <p:cNvPr id="11" name="text-271"/>
          <p:cNvSpPr txBox="1"/>
          <p:nvPr/>
        </p:nvSpPr>
        <p:spPr>
          <a:xfrm>
            <a:off x="1325880" y="3264408"/>
            <a:ext cx="5394960" cy="548640"/>
          </a:xfrm>
          <a:prstGeom prst="rect">
            <a:avLst/>
          </a:prstGeom>
          <a:noFill/>
          <a:ln/>
        </p:spPr>
        <p:txBody>
          <a:bodyPr wrap="square" lIns="0" tIns="0" rIns="0" bIns="0" rtlCol="0" anchor="t"/>
          <a:lstStyle/>
          <a:p>
            <a:pPr indent="0" marL="0">
              <a:buNone/>
            </a:pPr>
            <a:r>
              <a:rPr lang="en-US" sz="1400" dirty="0">
                <a:solidFill>
                  <a:schemeClr val="tx2"/>
                </a:solidFill>
              </a:rPr>
              <a:t>Your personal preferences, applied in every project</a:t>
            </a:r>
            <a:endParaRPr lang="en-US" sz="1400" dirty="0"/>
          </a:p>
        </p:txBody>
      </p:sp>
      <p:sp>
        <p:nvSpPr>
          <p:cNvPr id="12" name="tile-272"/>
          <p:cNvSpPr/>
          <p:nvPr/>
        </p:nvSpPr>
        <p:spPr>
          <a:xfrm>
            <a:off x="548640" y="3968496"/>
            <a:ext cx="548640" cy="548640"/>
          </a:xfrm>
          <a:prstGeom prst="roundRect">
            <a:avLst>
              <a:gd name="adj" fmla="val 11667"/>
            </a:avLst>
          </a:prstGeom>
          <a:solidFill>
            <a:schemeClr val="tx1"/>
          </a:solidFill>
          <a:ln/>
        </p:spPr>
      </p:sp>
      <p:pic>
        <p:nvPicPr>
          <p:cNvPr id="13" name="icon-273" descr="preencoded.png">    </p:cNvPr>
          <p:cNvPicPr>
            <a:picLocks noChangeAspect="1"/>
          </p:cNvPicPr>
          <p:nvPr/>
        </p:nvPicPr>
        <p:blipFill>
          <a:blip r:embed="rId3"/>
          <a:stretch>
            <a:fillRect/>
          </a:stretch>
        </p:blipFill>
        <p:spPr>
          <a:xfrm>
            <a:off x="691286" y="4111142"/>
            <a:ext cx="263347" cy="263347"/>
          </a:xfrm>
          <a:prstGeom prst="rect">
            <a:avLst/>
          </a:prstGeom>
        </p:spPr>
      </p:pic>
      <p:sp>
        <p:nvSpPr>
          <p:cNvPr id="14" name="text-274"/>
          <p:cNvSpPr txBox="1"/>
          <p:nvPr/>
        </p:nvSpPr>
        <p:spPr>
          <a:xfrm>
            <a:off x="1325880" y="3931920"/>
            <a:ext cx="5394960" cy="292608"/>
          </a:xfrm>
          <a:prstGeom prst="rect">
            <a:avLst/>
          </a:prstGeom>
          <a:noFill/>
          <a:ln/>
        </p:spPr>
        <p:txBody>
          <a:bodyPr wrap="square" lIns="0" tIns="0" rIns="0" bIns="0" rtlCol="0" anchor="t"/>
          <a:lstStyle/>
          <a:p>
            <a:pPr indent="0" marL="0">
              <a:buNone/>
            </a:pPr>
            <a:r>
              <a:rPr lang="en-US" sz="1600" b="1" dirty="0">
                <a:solidFill>
                  <a:schemeClr val="tx1"/>
                </a:solidFill>
              </a:rPr>
              <a:t>Team Rules</a:t>
            </a:r>
            <a:endParaRPr lang="en-US" sz="1600" dirty="0"/>
          </a:p>
        </p:txBody>
      </p:sp>
      <p:sp>
        <p:nvSpPr>
          <p:cNvPr id="15" name="text-275"/>
          <p:cNvSpPr txBox="1"/>
          <p:nvPr/>
        </p:nvSpPr>
        <p:spPr>
          <a:xfrm>
            <a:off x="1325880" y="4270248"/>
            <a:ext cx="5394960" cy="548640"/>
          </a:xfrm>
          <a:prstGeom prst="rect">
            <a:avLst/>
          </a:prstGeom>
          <a:noFill/>
          <a:ln/>
        </p:spPr>
        <p:txBody>
          <a:bodyPr wrap="square" lIns="0" tIns="0" rIns="0" bIns="0" rtlCol="0" anchor="t"/>
          <a:lstStyle/>
          <a:p>
            <a:pPr indent="0" marL="0">
              <a:buNone/>
            </a:pPr>
            <a:r>
              <a:rPr lang="en-US" sz="1400" dirty="0">
                <a:solidFill>
                  <a:schemeClr val="tx2"/>
                </a:solidFill>
              </a:rPr>
              <a:t>Set by an admin for everyone; on Teams and Enterprise plans</a:t>
            </a:r>
            <a:endParaRPr lang="en-US" sz="1400" dirty="0"/>
          </a:p>
        </p:txBody>
      </p:sp>
      <p:sp>
        <p:nvSpPr>
          <p:cNvPr id="16" name="tile-276"/>
          <p:cNvSpPr/>
          <p:nvPr/>
        </p:nvSpPr>
        <p:spPr>
          <a:xfrm>
            <a:off x="548640" y="4974336"/>
            <a:ext cx="548640" cy="548640"/>
          </a:xfrm>
          <a:prstGeom prst="roundRect">
            <a:avLst>
              <a:gd name="adj" fmla="val 11667"/>
            </a:avLst>
          </a:prstGeom>
          <a:solidFill>
            <a:schemeClr val="tx1"/>
          </a:solidFill>
          <a:ln/>
        </p:spPr>
      </p:sp>
      <p:pic>
        <p:nvPicPr>
          <p:cNvPr id="17" name="icon-277" descr="preencoded.png">    </p:cNvPr>
          <p:cNvPicPr>
            <a:picLocks noChangeAspect="1"/>
          </p:cNvPicPr>
          <p:nvPr/>
        </p:nvPicPr>
        <p:blipFill>
          <a:blip r:embed="rId4"/>
          <a:stretch>
            <a:fillRect/>
          </a:stretch>
        </p:blipFill>
        <p:spPr>
          <a:xfrm>
            <a:off x="691286" y="5116982"/>
            <a:ext cx="263347" cy="263347"/>
          </a:xfrm>
          <a:prstGeom prst="rect">
            <a:avLst/>
          </a:prstGeom>
        </p:spPr>
      </p:pic>
      <p:sp>
        <p:nvSpPr>
          <p:cNvPr id="18" name="text-278"/>
          <p:cNvSpPr txBox="1"/>
          <p:nvPr/>
        </p:nvSpPr>
        <p:spPr>
          <a:xfrm>
            <a:off x="1325880" y="4937760"/>
            <a:ext cx="5394960" cy="292608"/>
          </a:xfrm>
          <a:prstGeom prst="rect">
            <a:avLst/>
          </a:prstGeom>
          <a:noFill/>
          <a:ln/>
        </p:spPr>
        <p:txBody>
          <a:bodyPr wrap="square" lIns="0" tIns="0" rIns="0" bIns="0" rtlCol="0" anchor="t"/>
          <a:lstStyle/>
          <a:p>
            <a:pPr indent="0" marL="0">
              <a:buNone/>
            </a:pPr>
            <a:r>
              <a:rPr lang="en-US" sz="1600" b="1" dirty="0">
                <a:solidFill>
                  <a:schemeClr val="tx1"/>
                </a:solidFill>
              </a:rPr>
              <a:t>AGENTS.md</a:t>
            </a:r>
            <a:endParaRPr lang="en-US" sz="1600" dirty="0"/>
          </a:p>
        </p:txBody>
      </p:sp>
      <p:sp>
        <p:nvSpPr>
          <p:cNvPr id="19" name="text-279"/>
          <p:cNvSpPr txBox="1"/>
          <p:nvPr/>
        </p:nvSpPr>
        <p:spPr>
          <a:xfrm>
            <a:off x="1325880" y="5276088"/>
            <a:ext cx="5394960" cy="548640"/>
          </a:xfrm>
          <a:prstGeom prst="rect">
            <a:avLst/>
          </a:prstGeom>
          <a:noFill/>
          <a:ln/>
        </p:spPr>
        <p:txBody>
          <a:bodyPr wrap="square" lIns="0" tIns="0" rIns="0" bIns="0" rtlCol="0" anchor="t"/>
          <a:lstStyle/>
          <a:p>
            <a:pPr indent="0" marL="0">
              <a:buNone/>
            </a:pPr>
            <a:r>
              <a:rPr lang="en-US" sz="1400" dirty="0">
                <a:solidFill>
                  <a:schemeClr val="tx2"/>
                </a:solidFill>
              </a:rPr>
              <a:t>One plain file in the project root; the simple alternative</a:t>
            </a:r>
            <a:endParaRPr lang="en-US" sz="1400" dirty="0"/>
          </a:p>
        </p:txBody>
      </p:sp>
      <p:sp>
        <p:nvSpPr>
          <p:cNvPr id="20" name="card-280"/>
          <p:cNvSpPr/>
          <p:nvPr/>
        </p:nvSpPr>
        <p:spPr>
          <a:xfrm>
            <a:off x="7086600" y="1920240"/>
            <a:ext cx="4556455" cy="3931920"/>
          </a:xfrm>
          <a:prstGeom prst="roundRect">
            <a:avLst>
              <a:gd name="adj" fmla="val 1395"/>
            </a:avLst>
          </a:prstGeom>
          <a:solidFill>
            <a:schemeClr val="tx1"/>
          </a:solidFill>
          <a:ln/>
        </p:spPr>
      </p:sp>
      <p:sp>
        <p:nvSpPr>
          <p:cNvPr id="21" name="pill-281"/>
          <p:cNvSpPr/>
          <p:nvPr/>
        </p:nvSpPr>
        <p:spPr>
          <a:xfrm>
            <a:off x="7360920" y="2148840"/>
            <a:ext cx="3017520" cy="329184"/>
          </a:xfrm>
          <a:prstGeom prst="roundRect">
            <a:avLst>
              <a:gd name="adj" fmla="val 13889"/>
            </a:avLst>
          </a:prstGeom>
          <a:solidFill>
            <a:schemeClr val="tx2"/>
          </a:solidFill>
          <a:ln/>
        </p:spPr>
      </p:sp>
      <p:sp>
        <p:nvSpPr>
          <p:cNvPr id="22" name="text-282"/>
          <p:cNvSpPr txBox="1"/>
          <p:nvPr/>
        </p:nvSpPr>
        <p:spPr>
          <a:xfrm>
            <a:off x="7360920" y="2148840"/>
            <a:ext cx="3017520" cy="329184"/>
          </a:xfrm>
          <a:prstGeom prst="rect">
            <a:avLst/>
          </a:prstGeom>
          <a:noFill/>
          <a:ln/>
        </p:spPr>
        <p:txBody>
          <a:bodyPr wrap="square" lIns="0" tIns="0" rIns="0" bIns="0"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.cursor/rules/frontend.mdc</a:t>
            </a:r>
            <a:endParaRPr lang="en-US" sz="1200" dirty="0"/>
          </a:p>
        </p:txBody>
      </p:sp>
      <p:sp>
        <p:nvSpPr>
          <p:cNvPr id="23" name="text-283"/>
          <p:cNvSpPr txBox="1"/>
          <p:nvPr/>
        </p:nvSpPr>
        <p:spPr>
          <a:xfrm>
            <a:off x="7360920" y="2743200"/>
            <a:ext cx="4099255" cy="2926080"/>
          </a:xfrm>
          <a:prstGeom prst="rect">
            <a:avLst/>
          </a:prstGeom>
          <a:noFill/>
          <a:ln/>
        </p:spPr>
        <p:txBody>
          <a:bodyPr wrap="square" lIns="0" tIns="0" rIns="0" bIns="0" rtlCol="0" anchor="t"/>
          <a:lstStyle/>
          <a:p>
            <a:pPr indent="0" marL="0">
              <a:buNone/>
            </a:pPr>
            <a:r>
              <a:rPr lang="en-US" sz="1400" dirty="0">
                <a:solidFill>
                  <a:schemeClr val="accent5"/>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description: Frontend conventions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globs: src/components/**/*.tsx</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alwaysApply: false</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Use named exports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Keep components under 200 lines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Put styles next to the component</a:t>
            </a:r>
            <a:endParaRPr lang="en-US" sz="1400" dirty="0"/>
          </a:p>
        </p:txBody>
      </p:sp>
      <p:sp>
        <p:nvSpPr>
          <p:cNvPr id="24" name="text-28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Rules guide Agent only; they do not affect Tab. The file on the right is an illustrative example. Source: Cursor documentation, Rules.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more terms cover how Cursor is extended</a:t>
            </a:r>
            <a:endParaRPr lang="en-US" sz="3000" dirty="0"/>
          </a:p>
        </p:txBody>
      </p:sp>
      <p:sp>
        <p:nvSpPr>
          <p:cNvPr id="4" name="card-285"/>
          <p:cNvSpPr/>
          <p:nvPr/>
        </p:nvSpPr>
        <p:spPr>
          <a:xfrm>
            <a:off x="548640" y="1920240"/>
            <a:ext cx="5396332" cy="1143000"/>
          </a:xfrm>
          <a:prstGeom prst="roundRect">
            <a:avLst>
              <a:gd name="adj" fmla="val 4800"/>
            </a:avLst>
          </a:prstGeom>
          <a:solidFill>
            <a:schemeClr val="bg2"/>
          </a:solidFill>
          <a:ln/>
        </p:spPr>
      </p:sp>
      <p:sp>
        <p:nvSpPr>
          <p:cNvPr id="5" name="tile-286"/>
          <p:cNvSpPr/>
          <p:nvPr/>
        </p:nvSpPr>
        <p:spPr>
          <a:xfrm>
            <a:off x="822960" y="2212848"/>
            <a:ext cx="548640" cy="548640"/>
          </a:xfrm>
          <a:prstGeom prst="roundRect">
            <a:avLst>
              <a:gd name="adj" fmla="val 11667"/>
            </a:avLst>
          </a:prstGeom>
          <a:solidFill>
            <a:schemeClr val="tx1"/>
          </a:solidFill>
          <a:ln/>
        </p:spPr>
      </p:sp>
      <p:pic>
        <p:nvPicPr>
          <p:cNvPr id="6" name="icon-287" descr="preencoded.png">    </p:cNvPr>
          <p:cNvPicPr>
            <a:picLocks noChangeAspect="1"/>
          </p:cNvPicPr>
          <p:nvPr/>
        </p:nvPicPr>
        <p:blipFill>
          <a:blip r:embed="rId1"/>
          <a:stretch>
            <a:fillRect/>
          </a:stretch>
        </p:blipFill>
        <p:spPr>
          <a:xfrm>
            <a:off x="965606" y="2355494"/>
            <a:ext cx="263347" cy="263347"/>
          </a:xfrm>
          <a:prstGeom prst="rect">
            <a:avLst/>
          </a:prstGeom>
        </p:spPr>
      </p:pic>
      <p:sp>
        <p:nvSpPr>
          <p:cNvPr id="7" name="text-288"/>
          <p:cNvSpPr txBox="1"/>
          <p:nvPr/>
        </p:nvSpPr>
        <p:spPr>
          <a:xfrm>
            <a:off x="1600200"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Skill</a:t>
            </a:r>
            <a:endParaRPr lang="en-US" sz="1800" dirty="0"/>
          </a:p>
        </p:txBody>
      </p:sp>
      <p:sp>
        <p:nvSpPr>
          <p:cNvPr id="8" name="text-289"/>
          <p:cNvSpPr txBox="1"/>
          <p:nvPr/>
        </p:nvSpPr>
        <p:spPr>
          <a:xfrm>
            <a:off x="1600200"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 reusable package of instructions the agent loads when a task needs it</a:t>
            </a:r>
            <a:endParaRPr lang="en-US" sz="1400" dirty="0"/>
          </a:p>
        </p:txBody>
      </p:sp>
      <p:sp>
        <p:nvSpPr>
          <p:cNvPr id="9" name="card-290"/>
          <p:cNvSpPr/>
          <p:nvPr/>
        </p:nvSpPr>
        <p:spPr>
          <a:xfrm>
            <a:off x="548640" y="3200400"/>
            <a:ext cx="5396332" cy="1143000"/>
          </a:xfrm>
          <a:prstGeom prst="roundRect">
            <a:avLst>
              <a:gd name="adj" fmla="val 4800"/>
            </a:avLst>
          </a:prstGeom>
          <a:solidFill>
            <a:schemeClr val="bg2"/>
          </a:solidFill>
          <a:ln/>
        </p:spPr>
      </p:sp>
      <p:sp>
        <p:nvSpPr>
          <p:cNvPr id="10" name="tile-291"/>
          <p:cNvSpPr/>
          <p:nvPr/>
        </p:nvSpPr>
        <p:spPr>
          <a:xfrm>
            <a:off x="822960" y="3493008"/>
            <a:ext cx="548640" cy="548640"/>
          </a:xfrm>
          <a:prstGeom prst="roundRect">
            <a:avLst>
              <a:gd name="adj" fmla="val 11667"/>
            </a:avLst>
          </a:prstGeom>
          <a:solidFill>
            <a:schemeClr val="tx1"/>
          </a:solidFill>
          <a:ln/>
        </p:spPr>
      </p:sp>
      <p:pic>
        <p:nvPicPr>
          <p:cNvPr id="11" name="icon-292" descr="preencoded.png">    </p:cNvPr>
          <p:cNvPicPr>
            <a:picLocks noChangeAspect="1"/>
          </p:cNvPicPr>
          <p:nvPr/>
        </p:nvPicPr>
        <p:blipFill>
          <a:blip r:embed="rId2"/>
          <a:stretch>
            <a:fillRect/>
          </a:stretch>
        </p:blipFill>
        <p:spPr>
          <a:xfrm>
            <a:off x="965606" y="3635654"/>
            <a:ext cx="263347" cy="263347"/>
          </a:xfrm>
          <a:prstGeom prst="rect">
            <a:avLst/>
          </a:prstGeom>
        </p:spPr>
      </p:pic>
      <p:sp>
        <p:nvSpPr>
          <p:cNvPr id="12" name="text-293"/>
          <p:cNvSpPr txBox="1"/>
          <p:nvPr/>
        </p:nvSpPr>
        <p:spPr>
          <a:xfrm>
            <a:off x="1600200"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Subagent</a:t>
            </a:r>
            <a:endParaRPr lang="en-US" sz="1800" dirty="0"/>
          </a:p>
        </p:txBody>
      </p:sp>
      <p:sp>
        <p:nvSpPr>
          <p:cNvPr id="13" name="text-294"/>
          <p:cNvSpPr txBox="1"/>
          <p:nvPr/>
        </p:nvSpPr>
        <p:spPr>
          <a:xfrm>
            <a:off x="1600200"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 helper agent that takes on part of a task for the main agent</a:t>
            </a:r>
            <a:endParaRPr lang="en-US" sz="1400" dirty="0"/>
          </a:p>
        </p:txBody>
      </p:sp>
      <p:sp>
        <p:nvSpPr>
          <p:cNvPr id="14" name="card-295"/>
          <p:cNvSpPr/>
          <p:nvPr/>
        </p:nvSpPr>
        <p:spPr>
          <a:xfrm>
            <a:off x="548640" y="4480560"/>
            <a:ext cx="5396332" cy="1143000"/>
          </a:xfrm>
          <a:prstGeom prst="roundRect">
            <a:avLst>
              <a:gd name="adj" fmla="val 4800"/>
            </a:avLst>
          </a:prstGeom>
          <a:solidFill>
            <a:schemeClr val="bg2"/>
          </a:solidFill>
          <a:ln/>
        </p:spPr>
      </p:sp>
      <p:sp>
        <p:nvSpPr>
          <p:cNvPr id="15" name="tile-296"/>
          <p:cNvSpPr/>
          <p:nvPr/>
        </p:nvSpPr>
        <p:spPr>
          <a:xfrm>
            <a:off x="822960" y="4773168"/>
            <a:ext cx="548640" cy="548640"/>
          </a:xfrm>
          <a:prstGeom prst="roundRect">
            <a:avLst>
              <a:gd name="adj" fmla="val 11667"/>
            </a:avLst>
          </a:prstGeom>
          <a:solidFill>
            <a:schemeClr val="tx1"/>
          </a:solidFill>
          <a:ln/>
        </p:spPr>
      </p:sp>
      <p:pic>
        <p:nvPicPr>
          <p:cNvPr id="16" name="icon-297" descr="preencoded.png">    </p:cNvPr>
          <p:cNvPicPr>
            <a:picLocks noChangeAspect="1"/>
          </p:cNvPicPr>
          <p:nvPr/>
        </p:nvPicPr>
        <p:blipFill>
          <a:blip r:embed="rId3"/>
          <a:stretch>
            <a:fillRect/>
          </a:stretch>
        </p:blipFill>
        <p:spPr>
          <a:xfrm>
            <a:off x="965606" y="4915814"/>
            <a:ext cx="263347" cy="263347"/>
          </a:xfrm>
          <a:prstGeom prst="rect">
            <a:avLst/>
          </a:prstGeom>
        </p:spPr>
      </p:pic>
      <p:sp>
        <p:nvSpPr>
          <p:cNvPr id="17" name="text-298"/>
          <p:cNvSpPr txBox="1"/>
          <p:nvPr/>
        </p:nvSpPr>
        <p:spPr>
          <a:xfrm>
            <a:off x="1600200"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Hook</a:t>
            </a:r>
            <a:endParaRPr lang="en-US" sz="1800" dirty="0"/>
          </a:p>
        </p:txBody>
      </p:sp>
      <p:sp>
        <p:nvSpPr>
          <p:cNvPr id="18" name="text-299"/>
          <p:cNvSpPr txBox="1"/>
          <p:nvPr/>
        </p:nvSpPr>
        <p:spPr>
          <a:xfrm>
            <a:off x="1600200"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script that runs automatically at set points in the agent's work</a:t>
            </a:r>
            <a:endParaRPr lang="en-US" sz="1400" dirty="0"/>
          </a:p>
        </p:txBody>
      </p:sp>
      <p:sp>
        <p:nvSpPr>
          <p:cNvPr id="19" name="card-300"/>
          <p:cNvSpPr/>
          <p:nvPr/>
        </p:nvSpPr>
        <p:spPr>
          <a:xfrm>
            <a:off x="6246724" y="1920240"/>
            <a:ext cx="5396332" cy="1143000"/>
          </a:xfrm>
          <a:prstGeom prst="roundRect">
            <a:avLst>
              <a:gd name="adj" fmla="val 4800"/>
            </a:avLst>
          </a:prstGeom>
          <a:solidFill>
            <a:schemeClr val="bg2"/>
          </a:solidFill>
          <a:ln/>
        </p:spPr>
      </p:sp>
      <p:sp>
        <p:nvSpPr>
          <p:cNvPr id="20" name="tile-301"/>
          <p:cNvSpPr/>
          <p:nvPr/>
        </p:nvSpPr>
        <p:spPr>
          <a:xfrm>
            <a:off x="6521044" y="2212848"/>
            <a:ext cx="548640" cy="548640"/>
          </a:xfrm>
          <a:prstGeom prst="roundRect">
            <a:avLst>
              <a:gd name="adj" fmla="val 11667"/>
            </a:avLst>
          </a:prstGeom>
          <a:solidFill>
            <a:schemeClr val="tx1"/>
          </a:solidFill>
          <a:ln/>
        </p:spPr>
      </p:sp>
      <p:pic>
        <p:nvPicPr>
          <p:cNvPr id="21" name="icon-302" descr="preencoded.png">    </p:cNvPr>
          <p:cNvPicPr>
            <a:picLocks noChangeAspect="1"/>
          </p:cNvPicPr>
          <p:nvPr/>
        </p:nvPicPr>
        <p:blipFill>
          <a:blip r:embed="rId4"/>
          <a:stretch>
            <a:fillRect/>
          </a:stretch>
        </p:blipFill>
        <p:spPr>
          <a:xfrm>
            <a:off x="6663690" y="2355494"/>
            <a:ext cx="263347" cy="263347"/>
          </a:xfrm>
          <a:prstGeom prst="rect">
            <a:avLst/>
          </a:prstGeom>
        </p:spPr>
      </p:pic>
      <p:sp>
        <p:nvSpPr>
          <p:cNvPr id="22" name="text-303"/>
          <p:cNvSpPr txBox="1"/>
          <p:nvPr/>
        </p:nvSpPr>
        <p:spPr>
          <a:xfrm>
            <a:off x="7298284"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MCP</a:t>
            </a:r>
            <a:endParaRPr lang="en-US" sz="1800" dirty="0"/>
          </a:p>
        </p:txBody>
      </p:sp>
      <p:sp>
        <p:nvSpPr>
          <p:cNvPr id="23" name="text-304"/>
          <p:cNvSpPr txBox="1"/>
          <p:nvPr/>
        </p:nvSpPr>
        <p:spPr>
          <a:xfrm>
            <a:off x="7298284"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An open standard that connects the agent to outside tools and data</a:t>
            </a:r>
            <a:endParaRPr lang="en-US" sz="1400" dirty="0"/>
          </a:p>
        </p:txBody>
      </p:sp>
      <p:sp>
        <p:nvSpPr>
          <p:cNvPr id="24" name="card-305"/>
          <p:cNvSpPr/>
          <p:nvPr/>
        </p:nvSpPr>
        <p:spPr>
          <a:xfrm>
            <a:off x="6246724" y="3200400"/>
            <a:ext cx="5396332" cy="1143000"/>
          </a:xfrm>
          <a:prstGeom prst="roundRect">
            <a:avLst>
              <a:gd name="adj" fmla="val 4800"/>
            </a:avLst>
          </a:prstGeom>
          <a:solidFill>
            <a:schemeClr val="bg2"/>
          </a:solidFill>
          <a:ln/>
        </p:spPr>
      </p:sp>
      <p:sp>
        <p:nvSpPr>
          <p:cNvPr id="25" name="tile-306"/>
          <p:cNvSpPr/>
          <p:nvPr/>
        </p:nvSpPr>
        <p:spPr>
          <a:xfrm>
            <a:off x="6521044" y="3493008"/>
            <a:ext cx="548640" cy="548640"/>
          </a:xfrm>
          <a:prstGeom prst="roundRect">
            <a:avLst>
              <a:gd name="adj" fmla="val 11667"/>
            </a:avLst>
          </a:prstGeom>
          <a:solidFill>
            <a:schemeClr val="tx1"/>
          </a:solidFill>
          <a:ln/>
        </p:spPr>
      </p:sp>
      <p:pic>
        <p:nvPicPr>
          <p:cNvPr id="26" name="icon-307" descr="preencoded.png">    </p:cNvPr>
          <p:cNvPicPr>
            <a:picLocks noChangeAspect="1"/>
          </p:cNvPicPr>
          <p:nvPr/>
        </p:nvPicPr>
        <p:blipFill>
          <a:blip r:embed="rId5"/>
          <a:stretch>
            <a:fillRect/>
          </a:stretch>
        </p:blipFill>
        <p:spPr>
          <a:xfrm>
            <a:off x="6663690" y="3635654"/>
            <a:ext cx="263347" cy="263347"/>
          </a:xfrm>
          <a:prstGeom prst="rect">
            <a:avLst/>
          </a:prstGeom>
        </p:spPr>
      </p:pic>
      <p:sp>
        <p:nvSpPr>
          <p:cNvPr id="27" name="text-308"/>
          <p:cNvSpPr txBox="1"/>
          <p:nvPr/>
        </p:nvSpPr>
        <p:spPr>
          <a:xfrm>
            <a:off x="7298284"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Plugin</a:t>
            </a:r>
            <a:endParaRPr lang="en-US" sz="1800" dirty="0"/>
          </a:p>
        </p:txBody>
      </p:sp>
      <p:sp>
        <p:nvSpPr>
          <p:cNvPr id="28" name="text-309"/>
          <p:cNvSpPr txBox="1"/>
          <p:nvPr/>
        </p:nvSpPr>
        <p:spPr>
          <a:xfrm>
            <a:off x="7298284"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 bundle of rules, skills and other add-ons from a marketplace</a:t>
            </a:r>
            <a:endParaRPr lang="en-US" sz="1400" dirty="0"/>
          </a:p>
        </p:txBody>
      </p:sp>
      <p:sp>
        <p:nvSpPr>
          <p:cNvPr id="29" name="card-310"/>
          <p:cNvSpPr/>
          <p:nvPr/>
        </p:nvSpPr>
        <p:spPr>
          <a:xfrm>
            <a:off x="6246724" y="4480560"/>
            <a:ext cx="5396332" cy="1143000"/>
          </a:xfrm>
          <a:prstGeom prst="roundRect">
            <a:avLst>
              <a:gd name="adj" fmla="val 4800"/>
            </a:avLst>
          </a:prstGeom>
          <a:solidFill>
            <a:schemeClr val="bg2"/>
          </a:solidFill>
          <a:ln/>
        </p:spPr>
      </p:sp>
      <p:sp>
        <p:nvSpPr>
          <p:cNvPr id="30" name="tile-311"/>
          <p:cNvSpPr/>
          <p:nvPr/>
        </p:nvSpPr>
        <p:spPr>
          <a:xfrm>
            <a:off x="6521044" y="4773168"/>
            <a:ext cx="548640" cy="548640"/>
          </a:xfrm>
          <a:prstGeom prst="roundRect">
            <a:avLst>
              <a:gd name="adj" fmla="val 11667"/>
            </a:avLst>
          </a:prstGeom>
          <a:solidFill>
            <a:schemeClr val="tx1"/>
          </a:solidFill>
          <a:ln/>
        </p:spPr>
      </p:sp>
      <p:pic>
        <p:nvPicPr>
          <p:cNvPr id="31" name="icon-312" descr="preencoded.png">    </p:cNvPr>
          <p:cNvPicPr>
            <a:picLocks noChangeAspect="1"/>
          </p:cNvPicPr>
          <p:nvPr/>
        </p:nvPicPr>
        <p:blipFill>
          <a:blip r:embed="rId6"/>
          <a:stretch>
            <a:fillRect/>
          </a:stretch>
        </p:blipFill>
        <p:spPr>
          <a:xfrm>
            <a:off x="6663690" y="4915814"/>
            <a:ext cx="263347" cy="263347"/>
          </a:xfrm>
          <a:prstGeom prst="rect">
            <a:avLst/>
          </a:prstGeom>
        </p:spPr>
      </p:pic>
      <p:sp>
        <p:nvSpPr>
          <p:cNvPr id="32" name="text-313"/>
          <p:cNvSpPr txBox="1"/>
          <p:nvPr/>
        </p:nvSpPr>
        <p:spPr>
          <a:xfrm>
            <a:off x="7298284"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Automation</a:t>
            </a:r>
            <a:endParaRPr lang="en-US" sz="1800" dirty="0"/>
          </a:p>
        </p:txBody>
      </p:sp>
      <p:sp>
        <p:nvSpPr>
          <p:cNvPr id="33" name="text-314"/>
          <p:cNvSpPr txBox="1"/>
          <p:nvPr/>
        </p:nvSpPr>
        <p:spPr>
          <a:xfrm>
            <a:off x="7298284"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cloud agent that starts by itself on a schedule or an event</a:t>
            </a:r>
            <a:endParaRPr lang="en-US" sz="1400" dirty="0"/>
          </a:p>
        </p:txBody>
      </p:sp>
      <p:sp>
        <p:nvSpPr>
          <p:cNvPr id="34" name="text-315"/>
          <p:cNvSpPr txBox="1"/>
          <p:nvPr/>
        </p:nvSpPr>
        <p:spPr>
          <a:xfrm>
            <a:off x="548640" y="5870448"/>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You do not need any of these on day one. Learn them when a task calls for them.</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product names you will hear</a:t>
            </a:r>
            <a:endParaRPr lang="en-US" sz="3000" dirty="0"/>
          </a:p>
        </p:txBody>
      </p:sp>
      <p:sp>
        <p:nvSpPr>
          <p:cNvPr id="4" name="card-316"/>
          <p:cNvSpPr/>
          <p:nvPr/>
        </p:nvSpPr>
        <p:spPr>
          <a:xfrm>
            <a:off x="548640" y="1920240"/>
            <a:ext cx="11094415" cy="566928"/>
          </a:xfrm>
          <a:prstGeom prst="roundRect">
            <a:avLst>
              <a:gd name="adj" fmla="val 9677"/>
            </a:avLst>
          </a:prstGeom>
          <a:solidFill>
            <a:schemeClr val="bg2"/>
          </a:solidFill>
          <a:ln/>
        </p:spPr>
      </p:sp>
      <p:sp>
        <p:nvSpPr>
          <p:cNvPr id="5" name="text-317"/>
          <p:cNvSpPr txBox="1"/>
          <p:nvPr/>
        </p:nvSpPr>
        <p:spPr>
          <a:xfrm>
            <a:off x="868680" y="1920240"/>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Composer</a:t>
            </a:r>
            <a:endParaRPr lang="en-US" sz="1600" dirty="0"/>
          </a:p>
        </p:txBody>
      </p:sp>
      <p:sp>
        <p:nvSpPr>
          <p:cNvPr id="6" name="text-318"/>
          <p:cNvSpPr txBox="1"/>
          <p:nvPr/>
        </p:nvSpPr>
        <p:spPr>
          <a:xfrm>
            <a:off x="3383280" y="1920240"/>
            <a:ext cx="7985455" cy="566928"/>
          </a:xfrm>
          <a:prstGeom prst="rect">
            <a:avLst/>
          </a:prstGeom>
          <a:noFill/>
          <a:ln/>
        </p:spPr>
        <p:txBody>
          <a:bodyPr wrap="square" lIns="0" tIns="0" rIns="0" bIns="0" rtlCol="0" anchor="ctr"/>
          <a:lstStyle/>
          <a:p>
            <a:pPr indent="0" marL="0">
              <a:buNone/>
            </a:pPr>
            <a:r>
              <a:rPr lang="en-US" sz="1400" dirty="0">
                <a:solidFill>
                  <a:schemeClr val="tx1"/>
                </a:solidFill>
              </a:rPr>
              <a:t>Cursor's own family of coding models</a:t>
            </a:r>
            <a:endParaRPr lang="en-US" sz="1400" dirty="0"/>
          </a:p>
        </p:txBody>
      </p:sp>
      <p:sp>
        <p:nvSpPr>
          <p:cNvPr id="7" name="card-319"/>
          <p:cNvSpPr/>
          <p:nvPr/>
        </p:nvSpPr>
        <p:spPr>
          <a:xfrm>
            <a:off x="548640" y="2596896"/>
            <a:ext cx="11094415" cy="566928"/>
          </a:xfrm>
          <a:prstGeom prst="roundRect">
            <a:avLst>
              <a:gd name="adj" fmla="val 9677"/>
            </a:avLst>
          </a:prstGeom>
          <a:solidFill>
            <a:schemeClr val="bg2"/>
          </a:solidFill>
          <a:ln/>
        </p:spPr>
      </p:sp>
      <p:sp>
        <p:nvSpPr>
          <p:cNvPr id="8" name="text-320"/>
          <p:cNvSpPr txBox="1"/>
          <p:nvPr/>
        </p:nvSpPr>
        <p:spPr>
          <a:xfrm>
            <a:off x="868680" y="2596896"/>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Auto</a:t>
            </a:r>
            <a:endParaRPr lang="en-US" sz="1600" dirty="0"/>
          </a:p>
        </p:txBody>
      </p:sp>
      <p:sp>
        <p:nvSpPr>
          <p:cNvPr id="9" name="text-321"/>
          <p:cNvSpPr txBox="1"/>
          <p:nvPr/>
        </p:nvSpPr>
        <p:spPr>
          <a:xfrm>
            <a:off x="3383280" y="2596896"/>
            <a:ext cx="7985455" cy="566928"/>
          </a:xfrm>
          <a:prstGeom prst="rect">
            <a:avLst/>
          </a:prstGeom>
          <a:noFill/>
          <a:ln/>
        </p:spPr>
        <p:txBody>
          <a:bodyPr wrap="square" lIns="0" tIns="0" rIns="0" bIns="0" rtlCol="0" anchor="ctr"/>
          <a:lstStyle/>
          <a:p>
            <a:pPr indent="0" marL="0">
              <a:buNone/>
            </a:pPr>
            <a:r>
              <a:rPr lang="en-US" sz="1400" dirty="0">
                <a:solidFill>
                  <a:schemeClr val="tx1"/>
                </a:solidFill>
              </a:rPr>
              <a:t>A model setting where Cursor picks a suitable model for you</a:t>
            </a:r>
            <a:endParaRPr lang="en-US" sz="1400" dirty="0"/>
          </a:p>
        </p:txBody>
      </p:sp>
      <p:sp>
        <p:nvSpPr>
          <p:cNvPr id="10" name="card-322"/>
          <p:cNvSpPr/>
          <p:nvPr/>
        </p:nvSpPr>
        <p:spPr>
          <a:xfrm>
            <a:off x="548640" y="3273552"/>
            <a:ext cx="11094415" cy="566928"/>
          </a:xfrm>
          <a:prstGeom prst="roundRect">
            <a:avLst>
              <a:gd name="adj" fmla="val 9677"/>
            </a:avLst>
          </a:prstGeom>
          <a:solidFill>
            <a:schemeClr val="bg2"/>
          </a:solidFill>
          <a:ln/>
        </p:spPr>
      </p:sp>
      <p:sp>
        <p:nvSpPr>
          <p:cNvPr id="11" name="text-323"/>
          <p:cNvSpPr txBox="1"/>
          <p:nvPr/>
        </p:nvSpPr>
        <p:spPr>
          <a:xfrm>
            <a:off x="868680" y="3273552"/>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Agents Window</a:t>
            </a:r>
            <a:endParaRPr lang="en-US" sz="1600" dirty="0"/>
          </a:p>
        </p:txBody>
      </p:sp>
      <p:sp>
        <p:nvSpPr>
          <p:cNvPr id="12" name="text-324"/>
          <p:cNvSpPr txBox="1"/>
          <p:nvPr/>
        </p:nvSpPr>
        <p:spPr>
          <a:xfrm>
            <a:off x="3383280" y="3273552"/>
            <a:ext cx="7985455" cy="566928"/>
          </a:xfrm>
          <a:prstGeom prst="rect">
            <a:avLst/>
          </a:prstGeom>
          <a:noFill/>
          <a:ln/>
        </p:spPr>
        <p:txBody>
          <a:bodyPr wrap="square" lIns="0" tIns="0" rIns="0" bIns="0" rtlCol="0" anchor="ctr"/>
          <a:lstStyle/>
          <a:p>
            <a:pPr indent="0" marL="0">
              <a:buNone/>
            </a:pPr>
            <a:r>
              <a:rPr lang="en-US" sz="1400" dirty="0">
                <a:solidFill>
                  <a:schemeClr val="tx1"/>
                </a:solidFill>
              </a:rPr>
              <a:t>A workspace for running several agents side by side</a:t>
            </a:r>
            <a:endParaRPr lang="en-US" sz="1400" dirty="0"/>
          </a:p>
        </p:txBody>
      </p:sp>
      <p:sp>
        <p:nvSpPr>
          <p:cNvPr id="13" name="card-325"/>
          <p:cNvSpPr/>
          <p:nvPr/>
        </p:nvSpPr>
        <p:spPr>
          <a:xfrm>
            <a:off x="548640" y="3950208"/>
            <a:ext cx="11094415" cy="566928"/>
          </a:xfrm>
          <a:prstGeom prst="roundRect">
            <a:avLst>
              <a:gd name="adj" fmla="val 9677"/>
            </a:avLst>
          </a:prstGeom>
          <a:solidFill>
            <a:schemeClr val="bg2"/>
          </a:solidFill>
          <a:ln/>
        </p:spPr>
      </p:sp>
      <p:sp>
        <p:nvSpPr>
          <p:cNvPr id="14" name="text-326"/>
          <p:cNvSpPr txBox="1"/>
          <p:nvPr/>
        </p:nvSpPr>
        <p:spPr>
          <a:xfrm>
            <a:off x="868680" y="3950208"/>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Cloud Agent</a:t>
            </a:r>
            <a:endParaRPr lang="en-US" sz="1600" dirty="0"/>
          </a:p>
        </p:txBody>
      </p:sp>
      <p:sp>
        <p:nvSpPr>
          <p:cNvPr id="15" name="text-327"/>
          <p:cNvSpPr txBox="1"/>
          <p:nvPr/>
        </p:nvSpPr>
        <p:spPr>
          <a:xfrm>
            <a:off x="3383280" y="3950208"/>
            <a:ext cx="7985455" cy="566928"/>
          </a:xfrm>
          <a:prstGeom prst="rect">
            <a:avLst/>
          </a:prstGeom>
          <a:noFill/>
          <a:ln/>
        </p:spPr>
        <p:txBody>
          <a:bodyPr wrap="square" lIns="0" tIns="0" rIns="0" bIns="0" rtlCol="0" anchor="ctr"/>
          <a:lstStyle/>
          <a:p>
            <a:pPr indent="0" marL="0">
              <a:buNone/>
            </a:pPr>
            <a:r>
              <a:rPr lang="en-US" sz="1400" dirty="0">
                <a:solidFill>
                  <a:schemeClr val="tx1"/>
                </a:solidFill>
              </a:rPr>
              <a:t>An agent that runs on remote machines and keeps working while you are away</a:t>
            </a:r>
            <a:endParaRPr lang="en-US" sz="1400" dirty="0"/>
          </a:p>
        </p:txBody>
      </p:sp>
      <p:sp>
        <p:nvSpPr>
          <p:cNvPr id="16" name="card-328"/>
          <p:cNvSpPr/>
          <p:nvPr/>
        </p:nvSpPr>
        <p:spPr>
          <a:xfrm>
            <a:off x="548640" y="4626864"/>
            <a:ext cx="11094415" cy="566928"/>
          </a:xfrm>
          <a:prstGeom prst="roundRect">
            <a:avLst>
              <a:gd name="adj" fmla="val 9677"/>
            </a:avLst>
          </a:prstGeom>
          <a:solidFill>
            <a:schemeClr val="bg2"/>
          </a:solidFill>
          <a:ln/>
        </p:spPr>
      </p:sp>
      <p:sp>
        <p:nvSpPr>
          <p:cNvPr id="17" name="text-329"/>
          <p:cNvSpPr txBox="1"/>
          <p:nvPr/>
        </p:nvSpPr>
        <p:spPr>
          <a:xfrm>
            <a:off x="868680" y="4626864"/>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Bugbot</a:t>
            </a:r>
            <a:endParaRPr lang="en-US" sz="1600" dirty="0"/>
          </a:p>
        </p:txBody>
      </p:sp>
      <p:sp>
        <p:nvSpPr>
          <p:cNvPr id="18" name="text-330"/>
          <p:cNvSpPr txBox="1"/>
          <p:nvPr/>
        </p:nvSpPr>
        <p:spPr>
          <a:xfrm>
            <a:off x="3383280" y="4626864"/>
            <a:ext cx="7985455" cy="566928"/>
          </a:xfrm>
          <a:prstGeom prst="rect">
            <a:avLst/>
          </a:prstGeom>
          <a:noFill/>
          <a:ln/>
        </p:spPr>
        <p:txBody>
          <a:bodyPr wrap="square" lIns="0" tIns="0" rIns="0" bIns="0" rtlCol="0" anchor="ctr"/>
          <a:lstStyle/>
          <a:p>
            <a:pPr indent="0" marL="0">
              <a:buNone/>
            </a:pPr>
            <a:r>
              <a:rPr lang="en-US" sz="1400" dirty="0">
                <a:solidFill>
                  <a:schemeClr val="tx1"/>
                </a:solidFill>
              </a:rPr>
              <a:t>A reviewer that checks pull requests for bugs</a:t>
            </a:r>
            <a:endParaRPr lang="en-US" sz="1400" dirty="0"/>
          </a:p>
        </p:txBody>
      </p:sp>
      <p:sp>
        <p:nvSpPr>
          <p:cNvPr id="19" name="card-331"/>
          <p:cNvSpPr/>
          <p:nvPr/>
        </p:nvSpPr>
        <p:spPr>
          <a:xfrm>
            <a:off x="548640" y="5303520"/>
            <a:ext cx="11094415" cy="566928"/>
          </a:xfrm>
          <a:prstGeom prst="roundRect">
            <a:avLst>
              <a:gd name="adj" fmla="val 9677"/>
            </a:avLst>
          </a:prstGeom>
          <a:solidFill>
            <a:schemeClr val="bg2"/>
          </a:solidFill>
          <a:ln/>
        </p:spPr>
      </p:sp>
      <p:sp>
        <p:nvSpPr>
          <p:cNvPr id="20" name="text-332"/>
          <p:cNvSpPr txBox="1"/>
          <p:nvPr/>
        </p:nvSpPr>
        <p:spPr>
          <a:xfrm>
            <a:off x="868680" y="5303520"/>
            <a:ext cx="2377440" cy="566928"/>
          </a:xfrm>
          <a:prstGeom prst="rect">
            <a:avLst/>
          </a:prstGeom>
          <a:noFill/>
          <a:ln/>
        </p:spPr>
        <p:txBody>
          <a:bodyPr wrap="square" lIns="0" tIns="0" rIns="0" bIns="0" rtlCol="0" anchor="ctr"/>
          <a:lstStyle/>
          <a:p>
            <a:pPr indent="0" marL="0">
              <a:buNone/>
            </a:pPr>
            <a:r>
              <a:rPr lang="en-US" sz="1600" b="1" dirty="0">
                <a:solidFill>
                  <a:schemeClr val="tx1"/>
                </a:solidFill>
              </a:rPr>
              <a:t>Projects</a:t>
            </a:r>
            <a:endParaRPr lang="en-US" sz="1600" dirty="0"/>
          </a:p>
        </p:txBody>
      </p:sp>
      <p:sp>
        <p:nvSpPr>
          <p:cNvPr id="21" name="text-333"/>
          <p:cNvSpPr txBox="1"/>
          <p:nvPr/>
        </p:nvSpPr>
        <p:spPr>
          <a:xfrm>
            <a:off x="3383280" y="5303520"/>
            <a:ext cx="7985455" cy="566928"/>
          </a:xfrm>
          <a:prstGeom prst="rect">
            <a:avLst/>
          </a:prstGeom>
          <a:noFill/>
          <a:ln/>
        </p:spPr>
        <p:txBody>
          <a:bodyPr wrap="square" lIns="0" tIns="0" rIns="0" bIns="0" rtlCol="0" anchor="ctr"/>
          <a:lstStyle/>
          <a:p>
            <a:pPr indent="0" marL="0">
              <a:buNone/>
            </a:pPr>
            <a:r>
              <a:rPr lang="en-US" sz="1400" dirty="0">
                <a:solidFill>
                  <a:schemeClr val="tx1"/>
                </a:solidFill>
              </a:rPr>
              <a:t>A coordinator agent plans a larger job and delegates it to other agents</a:t>
            </a:r>
            <a:endParaRPr lang="en-US" sz="1400" dirty="0"/>
          </a:p>
        </p:txBody>
      </p:sp>
      <p:sp>
        <p:nvSpPr>
          <p:cNvPr id="22" name="text-33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documentation (2026); Wikipedia, Cursor (company).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one-page cheat sheet for everyday commands</a:t>
            </a:r>
            <a:endParaRPr lang="en-US" sz="3000" dirty="0"/>
          </a:p>
        </p:txBody>
      </p:sp>
      <p:sp>
        <p:nvSpPr>
          <p:cNvPr id="4" name="card-335"/>
          <p:cNvSpPr/>
          <p:nvPr/>
        </p:nvSpPr>
        <p:spPr>
          <a:xfrm>
            <a:off x="548640" y="1920240"/>
            <a:ext cx="3515258" cy="3977640"/>
          </a:xfrm>
          <a:prstGeom prst="roundRect">
            <a:avLst>
              <a:gd name="adj" fmla="val 1561"/>
            </a:avLst>
          </a:prstGeom>
          <a:solidFill>
            <a:schemeClr val="bg2"/>
          </a:solidFill>
          <a:ln/>
        </p:spPr>
      </p:sp>
      <p:sp>
        <p:nvSpPr>
          <p:cNvPr id="5" name="text-336"/>
          <p:cNvSpPr txBox="1"/>
          <p:nvPr/>
        </p:nvSpPr>
        <p:spPr>
          <a:xfrm>
            <a:off x="822960"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the editor</a:t>
            </a:r>
            <a:endParaRPr lang="en-US" sz="1800" dirty="0"/>
          </a:p>
        </p:txBody>
      </p:sp>
      <p:sp>
        <p:nvSpPr>
          <p:cNvPr id="6" name="text-337"/>
          <p:cNvSpPr txBox="1"/>
          <p:nvPr/>
        </p:nvSpPr>
        <p:spPr>
          <a:xfrm>
            <a:off x="822960"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Tab</a:t>
            </a:r>
            <a:endParaRPr lang="en-US" sz="1400" dirty="0"/>
          </a:p>
        </p:txBody>
      </p:sp>
      <p:sp>
        <p:nvSpPr>
          <p:cNvPr id="7" name="text-338"/>
          <p:cNvSpPr txBox="1"/>
          <p:nvPr/>
        </p:nvSpPr>
        <p:spPr>
          <a:xfrm>
            <a:off x="822960"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Accept the suggested edit</a:t>
            </a:r>
            <a:endParaRPr lang="en-US" sz="1400" dirty="0"/>
          </a:p>
        </p:txBody>
      </p:sp>
      <p:sp>
        <p:nvSpPr>
          <p:cNvPr id="8" name="text-339"/>
          <p:cNvSpPr txBox="1"/>
          <p:nvPr/>
        </p:nvSpPr>
        <p:spPr>
          <a:xfrm>
            <a:off x="822960"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Cmd/Ctrl + K</a:t>
            </a:r>
            <a:endParaRPr lang="en-US" sz="1400" dirty="0"/>
          </a:p>
        </p:txBody>
      </p:sp>
      <p:sp>
        <p:nvSpPr>
          <p:cNvPr id="9" name="text-340"/>
          <p:cNvSpPr txBox="1"/>
          <p:nvPr/>
        </p:nvSpPr>
        <p:spPr>
          <a:xfrm>
            <a:off x="822960"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Edit the selected code</a:t>
            </a:r>
            <a:endParaRPr lang="en-US" sz="1400" dirty="0"/>
          </a:p>
        </p:txBody>
      </p:sp>
      <p:sp>
        <p:nvSpPr>
          <p:cNvPr id="10" name="text-341"/>
          <p:cNvSpPr txBox="1"/>
          <p:nvPr/>
        </p:nvSpPr>
        <p:spPr>
          <a:xfrm>
            <a:off x="822960"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Cmd/Ctrl + I</a:t>
            </a:r>
            <a:endParaRPr lang="en-US" sz="1400" dirty="0"/>
          </a:p>
        </p:txBody>
      </p:sp>
      <p:sp>
        <p:nvSpPr>
          <p:cNvPr id="11" name="text-342"/>
          <p:cNvSpPr txBox="1"/>
          <p:nvPr/>
        </p:nvSpPr>
        <p:spPr>
          <a:xfrm>
            <a:off x="822960"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Open the Agent panel</a:t>
            </a:r>
            <a:endParaRPr lang="en-US" sz="1400" dirty="0"/>
          </a:p>
        </p:txBody>
      </p:sp>
      <p:sp>
        <p:nvSpPr>
          <p:cNvPr id="12" name="text-343"/>
          <p:cNvSpPr txBox="1"/>
          <p:nvPr/>
        </p:nvSpPr>
        <p:spPr>
          <a:xfrm>
            <a:off x="822960"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Shift + Tab</a:t>
            </a:r>
            <a:endParaRPr lang="en-US" sz="1400" dirty="0"/>
          </a:p>
        </p:txBody>
      </p:sp>
      <p:sp>
        <p:nvSpPr>
          <p:cNvPr id="13" name="text-344"/>
          <p:cNvSpPr txBox="1"/>
          <p:nvPr/>
        </p:nvSpPr>
        <p:spPr>
          <a:xfrm>
            <a:off x="822960"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Switch mode, such as to Plan</a:t>
            </a:r>
            <a:endParaRPr lang="en-US" sz="1400" dirty="0"/>
          </a:p>
        </p:txBody>
      </p:sp>
      <p:sp>
        <p:nvSpPr>
          <p:cNvPr id="14" name="text-345"/>
          <p:cNvSpPr txBox="1"/>
          <p:nvPr/>
        </p:nvSpPr>
        <p:spPr>
          <a:xfrm>
            <a:off x="822960"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t>
            </a:r>
            <a:endParaRPr lang="en-US" sz="1400" dirty="0"/>
          </a:p>
        </p:txBody>
      </p:sp>
      <p:sp>
        <p:nvSpPr>
          <p:cNvPr id="15" name="text-346"/>
          <p:cNvSpPr txBox="1"/>
          <p:nvPr/>
        </p:nvSpPr>
        <p:spPr>
          <a:xfrm>
            <a:off x="822960"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Point to a file or rule</a:t>
            </a:r>
            <a:endParaRPr lang="en-US" sz="1400" dirty="0"/>
          </a:p>
        </p:txBody>
      </p:sp>
      <p:sp>
        <p:nvSpPr>
          <p:cNvPr id="16" name="card-347"/>
          <p:cNvSpPr/>
          <p:nvPr/>
        </p:nvSpPr>
        <p:spPr>
          <a:xfrm>
            <a:off x="4338218" y="1920240"/>
            <a:ext cx="3515258" cy="3977640"/>
          </a:xfrm>
          <a:prstGeom prst="roundRect">
            <a:avLst>
              <a:gd name="adj" fmla="val 1561"/>
            </a:avLst>
          </a:prstGeom>
          <a:solidFill>
            <a:schemeClr val="bg2"/>
          </a:solidFill>
          <a:ln/>
        </p:spPr>
      </p:sp>
      <p:sp>
        <p:nvSpPr>
          <p:cNvPr id="17" name="text-348"/>
          <p:cNvSpPr txBox="1"/>
          <p:nvPr/>
        </p:nvSpPr>
        <p:spPr>
          <a:xfrm>
            <a:off x="4612538"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the agent chat</a:t>
            </a:r>
            <a:endParaRPr lang="en-US" sz="1800" dirty="0"/>
          </a:p>
        </p:txBody>
      </p:sp>
      <p:sp>
        <p:nvSpPr>
          <p:cNvPr id="18" name="text-349"/>
          <p:cNvSpPr txBox="1"/>
          <p:nvPr/>
        </p:nvSpPr>
        <p:spPr>
          <a:xfrm>
            <a:off x="4612538"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/create-rule</a:t>
            </a:r>
            <a:endParaRPr lang="en-US" sz="1400" dirty="0"/>
          </a:p>
        </p:txBody>
      </p:sp>
      <p:sp>
        <p:nvSpPr>
          <p:cNvPr id="19" name="text-350"/>
          <p:cNvSpPr txBox="1"/>
          <p:nvPr/>
        </p:nvSpPr>
        <p:spPr>
          <a:xfrm>
            <a:off x="4612538"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Write a rule from a description</a:t>
            </a:r>
            <a:endParaRPr lang="en-US" sz="1400" dirty="0"/>
          </a:p>
        </p:txBody>
      </p:sp>
      <p:sp>
        <p:nvSpPr>
          <p:cNvPr id="20" name="text-351"/>
          <p:cNvSpPr txBox="1"/>
          <p:nvPr/>
        </p:nvSpPr>
        <p:spPr>
          <a:xfrm>
            <a:off x="4612538"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/goal</a:t>
            </a:r>
            <a:endParaRPr lang="en-US" sz="1400" dirty="0"/>
          </a:p>
        </p:txBody>
      </p:sp>
      <p:sp>
        <p:nvSpPr>
          <p:cNvPr id="21" name="text-352"/>
          <p:cNvSpPr txBox="1"/>
          <p:nvPr/>
        </p:nvSpPr>
        <p:spPr>
          <a:xfrm>
            <a:off x="4612538"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Set a long-running objective</a:t>
            </a:r>
            <a:endParaRPr lang="en-US" sz="1400" dirty="0"/>
          </a:p>
        </p:txBody>
      </p:sp>
      <p:sp>
        <p:nvSpPr>
          <p:cNvPr id="22" name="text-353"/>
          <p:cNvSpPr txBox="1"/>
          <p:nvPr/>
        </p:nvSpPr>
        <p:spPr>
          <a:xfrm>
            <a:off x="4612538"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/side</a:t>
            </a:r>
            <a:endParaRPr lang="en-US" sz="1400" dirty="0"/>
          </a:p>
        </p:txBody>
      </p:sp>
      <p:sp>
        <p:nvSpPr>
          <p:cNvPr id="23" name="text-354"/>
          <p:cNvSpPr txBox="1"/>
          <p:nvPr/>
        </p:nvSpPr>
        <p:spPr>
          <a:xfrm>
            <a:off x="4612538"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Ask a side question</a:t>
            </a:r>
            <a:endParaRPr lang="en-US" sz="1400" dirty="0"/>
          </a:p>
        </p:txBody>
      </p:sp>
      <p:sp>
        <p:nvSpPr>
          <p:cNvPr id="24" name="text-355"/>
          <p:cNvSpPr txBox="1"/>
          <p:nvPr/>
        </p:nvSpPr>
        <p:spPr>
          <a:xfrm>
            <a:off x="4612538"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Enter</a:t>
            </a:r>
            <a:endParaRPr lang="en-US" sz="1400" dirty="0"/>
          </a:p>
        </p:txBody>
      </p:sp>
      <p:sp>
        <p:nvSpPr>
          <p:cNvPr id="25" name="text-356"/>
          <p:cNvSpPr txBox="1"/>
          <p:nvPr/>
        </p:nvSpPr>
        <p:spPr>
          <a:xfrm>
            <a:off x="4612538"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Queue a message while it works</a:t>
            </a:r>
            <a:endParaRPr lang="en-US" sz="1400" dirty="0"/>
          </a:p>
        </p:txBody>
      </p:sp>
      <p:sp>
        <p:nvSpPr>
          <p:cNvPr id="26" name="text-357"/>
          <p:cNvSpPr txBox="1"/>
          <p:nvPr/>
        </p:nvSpPr>
        <p:spPr>
          <a:xfrm>
            <a:off x="4612538"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Restore Checkpoint</a:t>
            </a:r>
            <a:endParaRPr lang="en-US" sz="1400" dirty="0"/>
          </a:p>
        </p:txBody>
      </p:sp>
      <p:sp>
        <p:nvSpPr>
          <p:cNvPr id="27" name="text-358"/>
          <p:cNvSpPr txBox="1"/>
          <p:nvPr/>
        </p:nvSpPr>
        <p:spPr>
          <a:xfrm>
            <a:off x="4612538"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Undo Agent's file changes</a:t>
            </a:r>
            <a:endParaRPr lang="en-US" sz="1400" dirty="0"/>
          </a:p>
        </p:txBody>
      </p:sp>
      <p:sp>
        <p:nvSpPr>
          <p:cNvPr id="28" name="card-359"/>
          <p:cNvSpPr/>
          <p:nvPr/>
        </p:nvSpPr>
        <p:spPr>
          <a:xfrm>
            <a:off x="8127797" y="1920240"/>
            <a:ext cx="3515258" cy="3977640"/>
          </a:xfrm>
          <a:prstGeom prst="roundRect">
            <a:avLst>
              <a:gd name="adj" fmla="val 1561"/>
            </a:avLst>
          </a:prstGeom>
          <a:solidFill>
            <a:schemeClr val="bg2"/>
          </a:solidFill>
          <a:ln/>
        </p:spPr>
      </p:sp>
      <p:sp>
        <p:nvSpPr>
          <p:cNvPr id="29" name="text-360"/>
          <p:cNvSpPr txBox="1"/>
          <p:nvPr/>
        </p:nvSpPr>
        <p:spPr>
          <a:xfrm>
            <a:off x="8402117"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the terminal</a:t>
            </a:r>
            <a:endParaRPr lang="en-US" sz="1800" dirty="0"/>
          </a:p>
        </p:txBody>
      </p:sp>
      <p:sp>
        <p:nvSpPr>
          <p:cNvPr id="30" name="text-361"/>
          <p:cNvSpPr txBox="1"/>
          <p:nvPr/>
        </p:nvSpPr>
        <p:spPr>
          <a:xfrm>
            <a:off x="8402117"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agent</a:t>
            </a:r>
            <a:endParaRPr lang="en-US" sz="1400" dirty="0"/>
          </a:p>
        </p:txBody>
      </p:sp>
      <p:sp>
        <p:nvSpPr>
          <p:cNvPr id="31" name="text-362"/>
          <p:cNvSpPr txBox="1"/>
          <p:nvPr/>
        </p:nvSpPr>
        <p:spPr>
          <a:xfrm>
            <a:off x="8402117"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an interactive session</a:t>
            </a:r>
            <a:endParaRPr lang="en-US" sz="1400" dirty="0"/>
          </a:p>
        </p:txBody>
      </p:sp>
      <p:sp>
        <p:nvSpPr>
          <p:cNvPr id="32" name="text-363"/>
          <p:cNvSpPr txBox="1"/>
          <p:nvPr/>
        </p:nvSpPr>
        <p:spPr>
          <a:xfrm>
            <a:off x="8402117"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/plan</a:t>
            </a:r>
            <a:endParaRPr lang="en-US" sz="1400" dirty="0"/>
          </a:p>
        </p:txBody>
      </p:sp>
      <p:sp>
        <p:nvSpPr>
          <p:cNvPr id="33" name="text-364"/>
          <p:cNvSpPr txBox="1"/>
          <p:nvPr/>
        </p:nvSpPr>
        <p:spPr>
          <a:xfrm>
            <a:off x="8402117"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Switch to Plan mode</a:t>
            </a:r>
            <a:endParaRPr lang="en-US" sz="1400" dirty="0"/>
          </a:p>
        </p:txBody>
      </p:sp>
      <p:sp>
        <p:nvSpPr>
          <p:cNvPr id="34" name="text-365"/>
          <p:cNvSpPr txBox="1"/>
          <p:nvPr/>
        </p:nvSpPr>
        <p:spPr>
          <a:xfrm>
            <a:off x="8402117"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/ask</a:t>
            </a:r>
            <a:endParaRPr lang="en-US" sz="1400" dirty="0"/>
          </a:p>
        </p:txBody>
      </p:sp>
      <p:sp>
        <p:nvSpPr>
          <p:cNvPr id="35" name="text-366"/>
          <p:cNvSpPr txBox="1"/>
          <p:nvPr/>
        </p:nvSpPr>
        <p:spPr>
          <a:xfrm>
            <a:off x="8402117"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Switch to Ask mode</a:t>
            </a:r>
            <a:endParaRPr lang="en-US" sz="1400" dirty="0"/>
          </a:p>
        </p:txBody>
      </p:sp>
      <p:sp>
        <p:nvSpPr>
          <p:cNvPr id="36" name="text-367"/>
          <p:cNvSpPr txBox="1"/>
          <p:nvPr/>
        </p:nvSpPr>
        <p:spPr>
          <a:xfrm>
            <a:off x="8402117"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--mode=ask</a:t>
            </a:r>
            <a:endParaRPr lang="en-US" sz="1400" dirty="0"/>
          </a:p>
        </p:txBody>
      </p:sp>
      <p:sp>
        <p:nvSpPr>
          <p:cNvPr id="37" name="text-368"/>
          <p:cNvSpPr txBox="1"/>
          <p:nvPr/>
        </p:nvSpPr>
        <p:spPr>
          <a:xfrm>
            <a:off x="8402117"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in a chosen mode</a:t>
            </a:r>
            <a:endParaRPr lang="en-US" sz="1400" dirty="0"/>
          </a:p>
        </p:txBody>
      </p:sp>
      <p:sp>
        <p:nvSpPr>
          <p:cNvPr id="38" name="text-369"/>
          <p:cNvSpPr txBox="1"/>
          <p:nvPr/>
        </p:nvSpPr>
        <p:spPr>
          <a:xfrm>
            <a:off x="8402117"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&amp; your task</a:t>
            </a:r>
            <a:endParaRPr lang="en-US" sz="1400" dirty="0"/>
          </a:p>
        </p:txBody>
      </p:sp>
      <p:sp>
        <p:nvSpPr>
          <p:cNvPr id="39" name="text-370"/>
          <p:cNvSpPr txBox="1"/>
          <p:nvPr/>
        </p:nvSpPr>
        <p:spPr>
          <a:xfrm>
            <a:off x="8402117"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Hand it to a Cloud Agent</a:t>
            </a:r>
            <a:endParaRPr lang="en-US" sz="1400" dirty="0"/>
          </a:p>
        </p:txBody>
      </p:sp>
      <p:sp>
        <p:nvSpPr>
          <p:cNvPr id="40" name="text-37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Cmd is the Mac key; use Ctrl on Windows and Linux. 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Four prompts make a good first session</a:t>
            </a:r>
            <a:endParaRPr lang="en-US" sz="3000" dirty="0"/>
          </a:p>
        </p:txBody>
      </p:sp>
      <p:sp>
        <p:nvSpPr>
          <p:cNvPr id="4" name="step-372"/>
          <p:cNvSpPr/>
          <p:nvPr/>
        </p:nvSpPr>
        <p:spPr>
          <a:xfrm>
            <a:off x="548640" y="1975104"/>
            <a:ext cx="548640" cy="548640"/>
          </a:xfrm>
          <a:prstGeom prst="roundRect">
            <a:avLst>
              <a:gd name="adj" fmla="val 11667"/>
            </a:avLst>
          </a:prstGeom>
          <a:solidFill>
            <a:schemeClr val="accent2"/>
          </a:solidFill>
          <a:ln/>
        </p:spPr>
      </p:sp>
      <p:sp>
        <p:nvSpPr>
          <p:cNvPr id="5" name="text-373"/>
          <p:cNvSpPr txBox="1"/>
          <p:nvPr/>
        </p:nvSpPr>
        <p:spPr>
          <a:xfrm>
            <a:off x="548640" y="1975104"/>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1</a:t>
            </a:r>
            <a:endParaRPr lang="en-US" sz="1800" dirty="0"/>
          </a:p>
        </p:txBody>
      </p:sp>
      <p:sp>
        <p:nvSpPr>
          <p:cNvPr id="6" name="card-374"/>
          <p:cNvSpPr/>
          <p:nvPr/>
        </p:nvSpPr>
        <p:spPr>
          <a:xfrm>
            <a:off x="1325880" y="1920240"/>
            <a:ext cx="5760720" cy="658368"/>
          </a:xfrm>
          <a:prstGeom prst="roundRect">
            <a:avLst>
              <a:gd name="adj" fmla="val 8333"/>
            </a:avLst>
          </a:prstGeom>
          <a:solidFill>
            <a:schemeClr val="tx1"/>
          </a:solidFill>
          <a:ln/>
        </p:spPr>
      </p:sp>
      <p:sp>
        <p:nvSpPr>
          <p:cNvPr id="7" name="text-375"/>
          <p:cNvSpPr txBox="1"/>
          <p:nvPr/>
        </p:nvSpPr>
        <p:spPr>
          <a:xfrm>
            <a:off x="1554480" y="1920240"/>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explain this codebase and where to start</a:t>
            </a:r>
            <a:endParaRPr lang="en-US" sz="1400" dirty="0"/>
          </a:p>
        </p:txBody>
      </p:sp>
      <p:pic>
        <p:nvPicPr>
          <p:cNvPr id="8" name="arrow-376" descr="preencoded.png">    </p:cNvPr>
          <p:cNvPicPr>
            <a:picLocks noChangeAspect="1"/>
          </p:cNvPicPr>
          <p:nvPr/>
        </p:nvPicPr>
        <p:blipFill>
          <a:blip r:embed="rId1"/>
          <a:stretch>
            <a:fillRect/>
          </a:stretch>
        </p:blipFill>
        <p:spPr>
          <a:xfrm>
            <a:off x="7269480" y="2112264"/>
            <a:ext cx="274320" cy="274320"/>
          </a:xfrm>
          <a:prstGeom prst="rect">
            <a:avLst/>
          </a:prstGeom>
        </p:spPr>
      </p:pic>
      <p:sp>
        <p:nvSpPr>
          <p:cNvPr id="9" name="text-377"/>
          <p:cNvSpPr txBox="1"/>
          <p:nvPr/>
        </p:nvSpPr>
        <p:spPr>
          <a:xfrm>
            <a:off x="7772400" y="1920240"/>
            <a:ext cx="3870655" cy="658368"/>
          </a:xfrm>
          <a:prstGeom prst="rect">
            <a:avLst/>
          </a:prstGeom>
          <a:noFill/>
          <a:ln/>
        </p:spPr>
        <p:txBody>
          <a:bodyPr wrap="square" lIns="0" tIns="0" rIns="0" bIns="0" rtlCol="0" anchor="ctr"/>
          <a:lstStyle/>
          <a:p>
            <a:pPr indent="0" marL="0">
              <a:buNone/>
            </a:pPr>
            <a:r>
              <a:rPr lang="en-US" sz="1400" dirty="0">
                <a:solidFill>
                  <a:schemeClr val="tx2"/>
                </a:solidFill>
              </a:rPr>
              <a:t>Agent searches the project and summarises it</a:t>
            </a:r>
            <a:endParaRPr lang="en-US" sz="1400" dirty="0"/>
          </a:p>
        </p:txBody>
      </p:sp>
      <p:sp>
        <p:nvSpPr>
          <p:cNvPr id="10" name="step-378"/>
          <p:cNvSpPr/>
          <p:nvPr/>
        </p:nvSpPr>
        <p:spPr>
          <a:xfrm>
            <a:off x="548640" y="2779776"/>
            <a:ext cx="548640" cy="548640"/>
          </a:xfrm>
          <a:prstGeom prst="roundRect">
            <a:avLst>
              <a:gd name="adj" fmla="val 11667"/>
            </a:avLst>
          </a:prstGeom>
          <a:solidFill>
            <a:schemeClr val="accent2"/>
          </a:solidFill>
          <a:ln/>
        </p:spPr>
      </p:sp>
      <p:sp>
        <p:nvSpPr>
          <p:cNvPr id="11" name="text-379"/>
          <p:cNvSpPr txBox="1"/>
          <p:nvPr/>
        </p:nvSpPr>
        <p:spPr>
          <a:xfrm>
            <a:off x="548640" y="2779776"/>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a:t>
            </a:r>
            <a:endParaRPr lang="en-US" sz="1800" dirty="0"/>
          </a:p>
        </p:txBody>
      </p:sp>
      <p:sp>
        <p:nvSpPr>
          <p:cNvPr id="12" name="card-380"/>
          <p:cNvSpPr/>
          <p:nvPr/>
        </p:nvSpPr>
        <p:spPr>
          <a:xfrm>
            <a:off x="1325880" y="2724912"/>
            <a:ext cx="5760720" cy="658368"/>
          </a:xfrm>
          <a:prstGeom prst="roundRect">
            <a:avLst>
              <a:gd name="adj" fmla="val 8333"/>
            </a:avLst>
          </a:prstGeom>
          <a:solidFill>
            <a:schemeClr val="tx1"/>
          </a:solidFill>
          <a:ln/>
        </p:spPr>
      </p:sp>
      <p:sp>
        <p:nvSpPr>
          <p:cNvPr id="13" name="text-381"/>
          <p:cNvSpPr txBox="1"/>
          <p:nvPr/>
        </p:nvSpPr>
        <p:spPr>
          <a:xfrm>
            <a:off x="1554480" y="2724912"/>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suggest three small, safe improvements</a:t>
            </a:r>
            <a:endParaRPr lang="en-US" sz="1400" dirty="0"/>
          </a:p>
        </p:txBody>
      </p:sp>
      <p:pic>
        <p:nvPicPr>
          <p:cNvPr id="14" name="arrow-382" descr="preencoded.png">    </p:cNvPr>
          <p:cNvPicPr>
            <a:picLocks noChangeAspect="1"/>
          </p:cNvPicPr>
          <p:nvPr/>
        </p:nvPicPr>
        <p:blipFill>
          <a:blip r:embed="rId2"/>
          <a:stretch>
            <a:fillRect/>
          </a:stretch>
        </p:blipFill>
        <p:spPr>
          <a:xfrm>
            <a:off x="7269480" y="2916936"/>
            <a:ext cx="274320" cy="274320"/>
          </a:xfrm>
          <a:prstGeom prst="rect">
            <a:avLst/>
          </a:prstGeom>
        </p:spPr>
      </p:pic>
      <p:sp>
        <p:nvSpPr>
          <p:cNvPr id="15" name="text-383"/>
          <p:cNvSpPr txBox="1"/>
          <p:nvPr/>
        </p:nvSpPr>
        <p:spPr>
          <a:xfrm>
            <a:off x="7772400" y="2724912"/>
            <a:ext cx="3870655" cy="658368"/>
          </a:xfrm>
          <a:prstGeom prst="rect">
            <a:avLst/>
          </a:prstGeom>
          <a:noFill/>
          <a:ln/>
        </p:spPr>
        <p:txBody>
          <a:bodyPr wrap="square" lIns="0" tIns="0" rIns="0" bIns="0" rtlCol="0" anchor="ctr"/>
          <a:lstStyle/>
          <a:p>
            <a:pPr indent="0" marL="0">
              <a:buNone/>
            </a:pPr>
            <a:r>
              <a:rPr lang="en-US" sz="1400" dirty="0">
                <a:solidFill>
                  <a:schemeClr val="tx2"/>
                </a:solidFill>
              </a:rPr>
              <a:t>You choose one before anything changes</a:t>
            </a:r>
            <a:endParaRPr lang="en-US" sz="1400" dirty="0"/>
          </a:p>
        </p:txBody>
      </p:sp>
      <p:sp>
        <p:nvSpPr>
          <p:cNvPr id="16" name="step-384"/>
          <p:cNvSpPr/>
          <p:nvPr/>
        </p:nvSpPr>
        <p:spPr>
          <a:xfrm>
            <a:off x="548640" y="3584448"/>
            <a:ext cx="548640" cy="548640"/>
          </a:xfrm>
          <a:prstGeom prst="roundRect">
            <a:avLst>
              <a:gd name="adj" fmla="val 11667"/>
            </a:avLst>
          </a:prstGeom>
          <a:solidFill>
            <a:schemeClr val="accent2"/>
          </a:solidFill>
          <a:ln/>
        </p:spPr>
      </p:sp>
      <p:sp>
        <p:nvSpPr>
          <p:cNvPr id="17" name="text-385"/>
          <p:cNvSpPr txBox="1"/>
          <p:nvPr/>
        </p:nvSpPr>
        <p:spPr>
          <a:xfrm>
            <a:off x="548640" y="358444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3</a:t>
            </a:r>
            <a:endParaRPr lang="en-US" sz="1800" dirty="0"/>
          </a:p>
        </p:txBody>
      </p:sp>
      <p:sp>
        <p:nvSpPr>
          <p:cNvPr id="18" name="card-386"/>
          <p:cNvSpPr/>
          <p:nvPr/>
        </p:nvSpPr>
        <p:spPr>
          <a:xfrm>
            <a:off x="1325880" y="3529584"/>
            <a:ext cx="5760720" cy="658368"/>
          </a:xfrm>
          <a:prstGeom prst="roundRect">
            <a:avLst>
              <a:gd name="adj" fmla="val 8333"/>
            </a:avLst>
          </a:prstGeom>
          <a:solidFill>
            <a:schemeClr val="tx1"/>
          </a:solidFill>
          <a:ln/>
        </p:spPr>
      </p:sp>
      <p:sp>
        <p:nvSpPr>
          <p:cNvPr id="19" name="text-387"/>
          <p:cNvSpPr txBox="1"/>
          <p:nvPr/>
        </p:nvSpPr>
        <p:spPr>
          <a:xfrm>
            <a:off x="1554480" y="3529584"/>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make the second change you suggested</a:t>
            </a:r>
            <a:endParaRPr lang="en-US" sz="1400" dirty="0"/>
          </a:p>
        </p:txBody>
      </p:sp>
      <p:pic>
        <p:nvPicPr>
          <p:cNvPr id="20" name="arrow-388" descr="preencoded.png">    </p:cNvPr>
          <p:cNvPicPr>
            <a:picLocks noChangeAspect="1"/>
          </p:cNvPicPr>
          <p:nvPr/>
        </p:nvPicPr>
        <p:blipFill>
          <a:blip r:embed="rId3"/>
          <a:stretch>
            <a:fillRect/>
          </a:stretch>
        </p:blipFill>
        <p:spPr>
          <a:xfrm>
            <a:off x="7269480" y="3721608"/>
            <a:ext cx="274320" cy="274320"/>
          </a:xfrm>
          <a:prstGeom prst="rect">
            <a:avLst/>
          </a:prstGeom>
        </p:spPr>
      </p:pic>
      <p:sp>
        <p:nvSpPr>
          <p:cNvPr id="21" name="text-389"/>
          <p:cNvSpPr txBox="1"/>
          <p:nvPr/>
        </p:nvSpPr>
        <p:spPr>
          <a:xfrm>
            <a:off x="7772400" y="3529584"/>
            <a:ext cx="3870655" cy="658368"/>
          </a:xfrm>
          <a:prstGeom prst="rect">
            <a:avLst/>
          </a:prstGeom>
          <a:noFill/>
          <a:ln/>
        </p:spPr>
        <p:txBody>
          <a:bodyPr wrap="square" lIns="0" tIns="0" rIns="0" bIns="0" rtlCol="0" anchor="ctr"/>
          <a:lstStyle/>
          <a:p>
            <a:pPr indent="0" marL="0">
              <a:buNone/>
            </a:pPr>
            <a:r>
              <a:rPr lang="en-US" sz="1400" dirty="0">
                <a:solidFill>
                  <a:schemeClr val="tx2"/>
                </a:solidFill>
              </a:rPr>
              <a:t>Edits appear in the diff view for you to review</a:t>
            </a:r>
            <a:endParaRPr lang="en-US" sz="1400" dirty="0"/>
          </a:p>
        </p:txBody>
      </p:sp>
      <p:sp>
        <p:nvSpPr>
          <p:cNvPr id="22" name="step-390"/>
          <p:cNvSpPr/>
          <p:nvPr/>
        </p:nvSpPr>
        <p:spPr>
          <a:xfrm>
            <a:off x="548640" y="4389120"/>
            <a:ext cx="548640" cy="548640"/>
          </a:xfrm>
          <a:prstGeom prst="roundRect">
            <a:avLst>
              <a:gd name="adj" fmla="val 11667"/>
            </a:avLst>
          </a:prstGeom>
          <a:solidFill>
            <a:schemeClr val="accent2"/>
          </a:solidFill>
          <a:ln/>
        </p:spPr>
      </p:sp>
      <p:sp>
        <p:nvSpPr>
          <p:cNvPr id="23" name="text-391"/>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4</a:t>
            </a:r>
            <a:endParaRPr lang="en-US" sz="1800" dirty="0"/>
          </a:p>
        </p:txBody>
      </p:sp>
      <p:sp>
        <p:nvSpPr>
          <p:cNvPr id="24" name="card-392"/>
          <p:cNvSpPr/>
          <p:nvPr/>
        </p:nvSpPr>
        <p:spPr>
          <a:xfrm>
            <a:off x="1325880" y="4334256"/>
            <a:ext cx="5760720" cy="658368"/>
          </a:xfrm>
          <a:prstGeom prst="roundRect">
            <a:avLst>
              <a:gd name="adj" fmla="val 8333"/>
            </a:avLst>
          </a:prstGeom>
          <a:solidFill>
            <a:schemeClr val="tx1"/>
          </a:solidFill>
          <a:ln/>
        </p:spPr>
      </p:sp>
      <p:sp>
        <p:nvSpPr>
          <p:cNvPr id="25" name="text-393"/>
          <p:cNvSpPr txBox="1"/>
          <p:nvPr/>
        </p:nvSpPr>
        <p:spPr>
          <a:xfrm>
            <a:off x="1554480" y="4334256"/>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run the tests and tell me the result</a:t>
            </a:r>
            <a:endParaRPr lang="en-US" sz="1400" dirty="0"/>
          </a:p>
        </p:txBody>
      </p:sp>
      <p:pic>
        <p:nvPicPr>
          <p:cNvPr id="26" name="arrow-394" descr="preencoded.png">    </p:cNvPr>
          <p:cNvPicPr>
            <a:picLocks noChangeAspect="1"/>
          </p:cNvPicPr>
          <p:nvPr/>
        </p:nvPicPr>
        <p:blipFill>
          <a:blip r:embed="rId4"/>
          <a:stretch>
            <a:fillRect/>
          </a:stretch>
        </p:blipFill>
        <p:spPr>
          <a:xfrm>
            <a:off x="7269480" y="4526280"/>
            <a:ext cx="274320" cy="274320"/>
          </a:xfrm>
          <a:prstGeom prst="rect">
            <a:avLst/>
          </a:prstGeom>
        </p:spPr>
      </p:pic>
      <p:sp>
        <p:nvSpPr>
          <p:cNvPr id="27" name="text-395"/>
          <p:cNvSpPr txBox="1"/>
          <p:nvPr/>
        </p:nvSpPr>
        <p:spPr>
          <a:xfrm>
            <a:off x="7772400" y="4334256"/>
            <a:ext cx="3870655" cy="658368"/>
          </a:xfrm>
          <a:prstGeom prst="rect">
            <a:avLst/>
          </a:prstGeom>
          <a:noFill/>
          <a:ln/>
        </p:spPr>
        <p:txBody>
          <a:bodyPr wrap="square" lIns="0" tIns="0" rIns="0" bIns="0" rtlCol="0" anchor="ctr"/>
          <a:lstStyle/>
          <a:p>
            <a:pPr indent="0" marL="0">
              <a:buNone/>
            </a:pPr>
            <a:r>
              <a:rPr lang="en-US" sz="1400" dirty="0">
                <a:solidFill>
                  <a:schemeClr val="tx2"/>
                </a:solidFill>
              </a:rPr>
              <a:t>Agent runs your project's checks in the terminal</a:t>
            </a:r>
            <a:endParaRPr lang="en-US" sz="1400" dirty="0"/>
          </a:p>
        </p:txBody>
      </p:sp>
      <p:sp>
        <p:nvSpPr>
          <p:cNvPr id="28" name="card-396"/>
          <p:cNvSpPr/>
          <p:nvPr/>
        </p:nvSpPr>
        <p:spPr>
          <a:xfrm>
            <a:off x="548640" y="5303520"/>
            <a:ext cx="11094415" cy="594360"/>
          </a:xfrm>
          <a:prstGeom prst="roundRect">
            <a:avLst>
              <a:gd name="adj" fmla="val 9231"/>
            </a:avLst>
          </a:prstGeom>
          <a:solidFill>
            <a:schemeClr val="accent5"/>
          </a:solidFill>
          <a:ln/>
        </p:spPr>
      </p:sp>
      <p:sp>
        <p:nvSpPr>
          <p:cNvPr id="29" name="tile-397"/>
          <p:cNvSpPr/>
          <p:nvPr/>
        </p:nvSpPr>
        <p:spPr>
          <a:xfrm>
            <a:off x="685800" y="5399532"/>
            <a:ext cx="402336" cy="402336"/>
          </a:xfrm>
          <a:prstGeom prst="roundRect">
            <a:avLst>
              <a:gd name="adj" fmla="val 15909"/>
            </a:avLst>
          </a:prstGeom>
          <a:solidFill>
            <a:schemeClr val="tx1"/>
          </a:solidFill>
          <a:ln/>
        </p:spPr>
      </p:sp>
      <p:pic>
        <p:nvPicPr>
          <p:cNvPr id="30" name="icon-398" descr="preencoded.png">    </p:cNvPr>
          <p:cNvPicPr>
            <a:picLocks noChangeAspect="1"/>
          </p:cNvPicPr>
          <p:nvPr/>
        </p:nvPicPr>
        <p:blipFill>
          <a:blip r:embed="rId5"/>
          <a:stretch>
            <a:fillRect/>
          </a:stretch>
        </p:blipFill>
        <p:spPr>
          <a:xfrm>
            <a:off x="790407" y="5504139"/>
            <a:ext cx="193121" cy="193121"/>
          </a:xfrm>
          <a:prstGeom prst="rect">
            <a:avLst/>
          </a:prstGeom>
        </p:spPr>
      </p:pic>
      <p:sp>
        <p:nvSpPr>
          <p:cNvPr id="31" name="text-399"/>
          <p:cNvSpPr txBox="1"/>
          <p:nvPr/>
        </p:nvSpPr>
        <p:spPr>
          <a:xfrm>
            <a:off x="1261872" y="5303520"/>
            <a:ext cx="10198303" cy="594360"/>
          </a:xfrm>
          <a:prstGeom prst="rect">
            <a:avLst/>
          </a:prstGeom>
          <a:noFill/>
          <a:ln/>
        </p:spPr>
        <p:txBody>
          <a:bodyPr wrap="square" lIns="0" tIns="0" rIns="0" bIns="0" rtlCol="0" anchor="ctr"/>
          <a:lstStyle/>
          <a:p>
            <a:pPr indent="0" marL="0">
              <a:buNone/>
            </a:pPr>
            <a:r>
              <a:rPr lang="en-US" sz="1400" dirty="0">
                <a:solidFill>
                  <a:schemeClr val="tx1"/>
                </a:solidFill>
              </a:rPr>
              <a:t>For bigger changes, press Shift+Tab to switch to Plan Mode first.</a:t>
            </a:r>
            <a:endParaRPr lang="en-US" sz="1400" dirty="0"/>
          </a:p>
        </p:txBody>
      </p:sp>
      <p:sp>
        <p:nvSpPr>
          <p:cNvPr id="32" name="text-40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Adapted from the Cursor quickstart. 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everyday jobs you can hand over</a:t>
            </a:r>
            <a:endParaRPr lang="en-US" sz="3000" dirty="0"/>
          </a:p>
        </p:txBody>
      </p:sp>
      <p:sp>
        <p:nvSpPr>
          <p:cNvPr id="4" name="card-401"/>
          <p:cNvSpPr/>
          <p:nvPr/>
        </p:nvSpPr>
        <p:spPr>
          <a:xfrm>
            <a:off x="548640" y="1920240"/>
            <a:ext cx="3515258" cy="1828800"/>
          </a:xfrm>
          <a:prstGeom prst="roundRect">
            <a:avLst>
              <a:gd name="adj" fmla="val 3000"/>
            </a:avLst>
          </a:prstGeom>
          <a:solidFill>
            <a:schemeClr val="bg2"/>
          </a:solidFill>
          <a:ln/>
        </p:spPr>
      </p:sp>
      <p:sp>
        <p:nvSpPr>
          <p:cNvPr id="5" name="tile-402"/>
          <p:cNvSpPr/>
          <p:nvPr/>
        </p:nvSpPr>
        <p:spPr>
          <a:xfrm>
            <a:off x="777240" y="2121408"/>
            <a:ext cx="530352" cy="530352"/>
          </a:xfrm>
          <a:prstGeom prst="roundRect">
            <a:avLst>
              <a:gd name="adj" fmla="val 12069"/>
            </a:avLst>
          </a:prstGeom>
          <a:solidFill>
            <a:schemeClr val="tx1"/>
          </a:solidFill>
          <a:ln/>
        </p:spPr>
      </p:sp>
      <p:pic>
        <p:nvPicPr>
          <p:cNvPr id="6" name="icon-403" descr="preencoded.png">    </p:cNvPr>
          <p:cNvPicPr>
            <a:picLocks noChangeAspect="1"/>
          </p:cNvPicPr>
          <p:nvPr/>
        </p:nvPicPr>
        <p:blipFill>
          <a:blip r:embed="rId1"/>
          <a:stretch>
            <a:fillRect/>
          </a:stretch>
        </p:blipFill>
        <p:spPr>
          <a:xfrm>
            <a:off x="915132" y="2259300"/>
            <a:ext cx="254569" cy="254569"/>
          </a:xfrm>
          <a:prstGeom prst="rect">
            <a:avLst/>
          </a:prstGeom>
        </p:spPr>
      </p:pic>
      <p:sp>
        <p:nvSpPr>
          <p:cNvPr id="7" name="text-404"/>
          <p:cNvSpPr txBox="1"/>
          <p:nvPr/>
        </p:nvSpPr>
        <p:spPr>
          <a:xfrm>
            <a:off x="1490472"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Understand code</a:t>
            </a:r>
            <a:endParaRPr lang="en-US" sz="1800" dirty="0"/>
          </a:p>
        </p:txBody>
      </p:sp>
      <p:sp>
        <p:nvSpPr>
          <p:cNvPr id="8" name="card-405"/>
          <p:cNvSpPr/>
          <p:nvPr/>
        </p:nvSpPr>
        <p:spPr>
          <a:xfrm>
            <a:off x="777240" y="2834640"/>
            <a:ext cx="3058058" cy="713232"/>
          </a:xfrm>
          <a:prstGeom prst="roundRect">
            <a:avLst>
              <a:gd name="adj" fmla="val 7692"/>
            </a:avLst>
          </a:prstGeom>
          <a:solidFill>
            <a:schemeClr val="tx1"/>
          </a:solidFill>
          <a:ln/>
        </p:spPr>
      </p:sp>
      <p:sp>
        <p:nvSpPr>
          <p:cNvPr id="9" name="text-406"/>
          <p:cNvSpPr txBox="1"/>
          <p:nvPr/>
        </p:nvSpPr>
        <p:spPr>
          <a:xfrm>
            <a:off x="932688"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where is the login logic handled?</a:t>
            </a:r>
            <a:endParaRPr lang="en-US" sz="1400" dirty="0"/>
          </a:p>
        </p:txBody>
      </p:sp>
      <p:sp>
        <p:nvSpPr>
          <p:cNvPr id="10" name="card-407"/>
          <p:cNvSpPr/>
          <p:nvPr/>
        </p:nvSpPr>
        <p:spPr>
          <a:xfrm>
            <a:off x="4338218" y="1920240"/>
            <a:ext cx="3515258" cy="1828800"/>
          </a:xfrm>
          <a:prstGeom prst="roundRect">
            <a:avLst>
              <a:gd name="adj" fmla="val 3000"/>
            </a:avLst>
          </a:prstGeom>
          <a:solidFill>
            <a:schemeClr val="bg2"/>
          </a:solidFill>
          <a:ln/>
        </p:spPr>
      </p:sp>
      <p:sp>
        <p:nvSpPr>
          <p:cNvPr id="11" name="tile-408"/>
          <p:cNvSpPr/>
          <p:nvPr/>
        </p:nvSpPr>
        <p:spPr>
          <a:xfrm>
            <a:off x="4566818" y="2121408"/>
            <a:ext cx="530352" cy="530352"/>
          </a:xfrm>
          <a:prstGeom prst="roundRect">
            <a:avLst>
              <a:gd name="adj" fmla="val 12069"/>
            </a:avLst>
          </a:prstGeom>
          <a:solidFill>
            <a:schemeClr val="tx1"/>
          </a:solidFill>
          <a:ln/>
        </p:spPr>
      </p:sp>
      <p:pic>
        <p:nvPicPr>
          <p:cNvPr id="12" name="icon-409" descr="preencoded.png">    </p:cNvPr>
          <p:cNvPicPr>
            <a:picLocks noChangeAspect="1"/>
          </p:cNvPicPr>
          <p:nvPr/>
        </p:nvPicPr>
        <p:blipFill>
          <a:blip r:embed="rId2"/>
          <a:stretch>
            <a:fillRect/>
          </a:stretch>
        </p:blipFill>
        <p:spPr>
          <a:xfrm>
            <a:off x="4704710" y="2259300"/>
            <a:ext cx="254569" cy="254569"/>
          </a:xfrm>
          <a:prstGeom prst="rect">
            <a:avLst/>
          </a:prstGeom>
        </p:spPr>
      </p:pic>
      <p:sp>
        <p:nvSpPr>
          <p:cNvPr id="13" name="text-410"/>
          <p:cNvSpPr txBox="1"/>
          <p:nvPr/>
        </p:nvSpPr>
        <p:spPr>
          <a:xfrm>
            <a:off x="5280050"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Build a feature</a:t>
            </a:r>
            <a:endParaRPr lang="en-US" sz="1800" dirty="0"/>
          </a:p>
        </p:txBody>
      </p:sp>
      <p:sp>
        <p:nvSpPr>
          <p:cNvPr id="14" name="card-411"/>
          <p:cNvSpPr/>
          <p:nvPr/>
        </p:nvSpPr>
        <p:spPr>
          <a:xfrm>
            <a:off x="4566818" y="2834640"/>
            <a:ext cx="3058058" cy="713232"/>
          </a:xfrm>
          <a:prstGeom prst="roundRect">
            <a:avLst>
              <a:gd name="adj" fmla="val 7692"/>
            </a:avLst>
          </a:prstGeom>
          <a:solidFill>
            <a:schemeClr val="tx1"/>
          </a:solidFill>
          <a:ln/>
        </p:spPr>
      </p:sp>
      <p:sp>
        <p:nvSpPr>
          <p:cNvPr id="15" name="text-412"/>
          <p:cNvSpPr txBox="1"/>
          <p:nvPr/>
        </p:nvSpPr>
        <p:spPr>
          <a:xfrm>
            <a:off x="4722266"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add a search box to the product list</a:t>
            </a:r>
            <a:endParaRPr lang="en-US" sz="1400" dirty="0"/>
          </a:p>
        </p:txBody>
      </p:sp>
      <p:sp>
        <p:nvSpPr>
          <p:cNvPr id="16" name="card-413"/>
          <p:cNvSpPr/>
          <p:nvPr/>
        </p:nvSpPr>
        <p:spPr>
          <a:xfrm>
            <a:off x="8127797" y="1920240"/>
            <a:ext cx="3515258" cy="1828800"/>
          </a:xfrm>
          <a:prstGeom prst="roundRect">
            <a:avLst>
              <a:gd name="adj" fmla="val 3000"/>
            </a:avLst>
          </a:prstGeom>
          <a:solidFill>
            <a:schemeClr val="bg2"/>
          </a:solidFill>
          <a:ln/>
        </p:spPr>
      </p:sp>
      <p:sp>
        <p:nvSpPr>
          <p:cNvPr id="17" name="tile-414"/>
          <p:cNvSpPr/>
          <p:nvPr/>
        </p:nvSpPr>
        <p:spPr>
          <a:xfrm>
            <a:off x="8356397" y="2121408"/>
            <a:ext cx="530352" cy="530352"/>
          </a:xfrm>
          <a:prstGeom prst="roundRect">
            <a:avLst>
              <a:gd name="adj" fmla="val 12069"/>
            </a:avLst>
          </a:prstGeom>
          <a:solidFill>
            <a:schemeClr val="tx1"/>
          </a:solidFill>
          <a:ln/>
        </p:spPr>
      </p:sp>
      <p:pic>
        <p:nvPicPr>
          <p:cNvPr id="18" name="icon-415" descr="preencoded.png">    </p:cNvPr>
          <p:cNvPicPr>
            <a:picLocks noChangeAspect="1"/>
          </p:cNvPicPr>
          <p:nvPr/>
        </p:nvPicPr>
        <p:blipFill>
          <a:blip r:embed="rId3"/>
          <a:stretch>
            <a:fillRect/>
          </a:stretch>
        </p:blipFill>
        <p:spPr>
          <a:xfrm>
            <a:off x="8494288" y="2259300"/>
            <a:ext cx="254569" cy="254569"/>
          </a:xfrm>
          <a:prstGeom prst="rect">
            <a:avLst/>
          </a:prstGeom>
        </p:spPr>
      </p:pic>
      <p:sp>
        <p:nvSpPr>
          <p:cNvPr id="19" name="text-416"/>
          <p:cNvSpPr txBox="1"/>
          <p:nvPr/>
        </p:nvSpPr>
        <p:spPr>
          <a:xfrm>
            <a:off x="9069629"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Fix a bug</a:t>
            </a:r>
            <a:endParaRPr lang="en-US" sz="1800" dirty="0"/>
          </a:p>
        </p:txBody>
      </p:sp>
      <p:sp>
        <p:nvSpPr>
          <p:cNvPr id="20" name="card-417"/>
          <p:cNvSpPr/>
          <p:nvPr/>
        </p:nvSpPr>
        <p:spPr>
          <a:xfrm>
            <a:off x="8356397" y="2834640"/>
            <a:ext cx="3058058" cy="713232"/>
          </a:xfrm>
          <a:prstGeom prst="roundRect">
            <a:avLst>
              <a:gd name="adj" fmla="val 7692"/>
            </a:avLst>
          </a:prstGeom>
          <a:solidFill>
            <a:schemeClr val="tx1"/>
          </a:solidFill>
          <a:ln/>
        </p:spPr>
      </p:sp>
      <p:sp>
        <p:nvSpPr>
          <p:cNvPr id="21" name="text-418"/>
          <p:cNvSpPr txBox="1"/>
          <p:nvPr/>
        </p:nvSpPr>
        <p:spPr>
          <a:xfrm>
            <a:off x="8511845"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the cart total is wrong, find out why</a:t>
            </a:r>
            <a:endParaRPr lang="en-US" sz="1400" dirty="0"/>
          </a:p>
        </p:txBody>
      </p:sp>
      <p:sp>
        <p:nvSpPr>
          <p:cNvPr id="22" name="card-419"/>
          <p:cNvSpPr/>
          <p:nvPr/>
        </p:nvSpPr>
        <p:spPr>
          <a:xfrm>
            <a:off x="548640" y="4023360"/>
            <a:ext cx="3515258" cy="1828800"/>
          </a:xfrm>
          <a:prstGeom prst="roundRect">
            <a:avLst>
              <a:gd name="adj" fmla="val 3000"/>
            </a:avLst>
          </a:prstGeom>
          <a:solidFill>
            <a:schemeClr val="bg2"/>
          </a:solidFill>
          <a:ln/>
        </p:spPr>
      </p:sp>
      <p:sp>
        <p:nvSpPr>
          <p:cNvPr id="23" name="tile-420"/>
          <p:cNvSpPr/>
          <p:nvPr/>
        </p:nvSpPr>
        <p:spPr>
          <a:xfrm>
            <a:off x="777240" y="4224528"/>
            <a:ext cx="530352" cy="530352"/>
          </a:xfrm>
          <a:prstGeom prst="roundRect">
            <a:avLst>
              <a:gd name="adj" fmla="val 12069"/>
            </a:avLst>
          </a:prstGeom>
          <a:solidFill>
            <a:schemeClr val="tx1"/>
          </a:solidFill>
          <a:ln/>
        </p:spPr>
      </p:sp>
      <p:pic>
        <p:nvPicPr>
          <p:cNvPr id="24" name="icon-421" descr="preencoded.png">    </p:cNvPr>
          <p:cNvPicPr>
            <a:picLocks noChangeAspect="1"/>
          </p:cNvPicPr>
          <p:nvPr/>
        </p:nvPicPr>
        <p:blipFill>
          <a:blip r:embed="rId4"/>
          <a:stretch>
            <a:fillRect/>
          </a:stretch>
        </p:blipFill>
        <p:spPr>
          <a:xfrm>
            <a:off x="915132" y="4362420"/>
            <a:ext cx="254569" cy="254569"/>
          </a:xfrm>
          <a:prstGeom prst="rect">
            <a:avLst/>
          </a:prstGeom>
        </p:spPr>
      </p:pic>
      <p:sp>
        <p:nvSpPr>
          <p:cNvPr id="25" name="text-422"/>
          <p:cNvSpPr txBox="1"/>
          <p:nvPr/>
        </p:nvSpPr>
        <p:spPr>
          <a:xfrm>
            <a:off x="1490472"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Refactor</a:t>
            </a:r>
            <a:endParaRPr lang="en-US" sz="1800" dirty="0"/>
          </a:p>
        </p:txBody>
      </p:sp>
      <p:sp>
        <p:nvSpPr>
          <p:cNvPr id="26" name="card-423"/>
          <p:cNvSpPr/>
          <p:nvPr/>
        </p:nvSpPr>
        <p:spPr>
          <a:xfrm>
            <a:off x="777240" y="4937760"/>
            <a:ext cx="3058058" cy="713232"/>
          </a:xfrm>
          <a:prstGeom prst="roundRect">
            <a:avLst>
              <a:gd name="adj" fmla="val 7692"/>
            </a:avLst>
          </a:prstGeom>
          <a:solidFill>
            <a:schemeClr val="tx1"/>
          </a:solidFill>
          <a:ln/>
        </p:spPr>
      </p:sp>
      <p:sp>
        <p:nvSpPr>
          <p:cNvPr id="27" name="text-424"/>
          <p:cNvSpPr txBox="1"/>
          <p:nvPr/>
        </p:nvSpPr>
        <p:spPr>
          <a:xfrm>
            <a:off x="932688"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split this large file into modules</a:t>
            </a:r>
            <a:endParaRPr lang="en-US" sz="1400" dirty="0"/>
          </a:p>
        </p:txBody>
      </p:sp>
      <p:sp>
        <p:nvSpPr>
          <p:cNvPr id="28" name="card-425"/>
          <p:cNvSpPr/>
          <p:nvPr/>
        </p:nvSpPr>
        <p:spPr>
          <a:xfrm>
            <a:off x="4338218" y="4023360"/>
            <a:ext cx="3515258" cy="1828800"/>
          </a:xfrm>
          <a:prstGeom prst="roundRect">
            <a:avLst>
              <a:gd name="adj" fmla="val 3000"/>
            </a:avLst>
          </a:prstGeom>
          <a:solidFill>
            <a:schemeClr val="bg2"/>
          </a:solidFill>
          <a:ln/>
        </p:spPr>
      </p:sp>
      <p:sp>
        <p:nvSpPr>
          <p:cNvPr id="29" name="tile-426"/>
          <p:cNvSpPr/>
          <p:nvPr/>
        </p:nvSpPr>
        <p:spPr>
          <a:xfrm>
            <a:off x="4566818" y="4224528"/>
            <a:ext cx="530352" cy="530352"/>
          </a:xfrm>
          <a:prstGeom prst="roundRect">
            <a:avLst>
              <a:gd name="adj" fmla="val 12069"/>
            </a:avLst>
          </a:prstGeom>
          <a:solidFill>
            <a:schemeClr val="tx1"/>
          </a:solidFill>
          <a:ln/>
        </p:spPr>
      </p:sp>
      <p:pic>
        <p:nvPicPr>
          <p:cNvPr id="30" name="icon-427" descr="preencoded.png">    </p:cNvPr>
          <p:cNvPicPr>
            <a:picLocks noChangeAspect="1"/>
          </p:cNvPicPr>
          <p:nvPr/>
        </p:nvPicPr>
        <p:blipFill>
          <a:blip r:embed="rId5"/>
          <a:stretch>
            <a:fillRect/>
          </a:stretch>
        </p:blipFill>
        <p:spPr>
          <a:xfrm>
            <a:off x="4704710" y="4362420"/>
            <a:ext cx="254569" cy="254569"/>
          </a:xfrm>
          <a:prstGeom prst="rect">
            <a:avLst/>
          </a:prstGeom>
        </p:spPr>
      </p:pic>
      <p:sp>
        <p:nvSpPr>
          <p:cNvPr id="31" name="text-428"/>
          <p:cNvSpPr txBox="1"/>
          <p:nvPr/>
        </p:nvSpPr>
        <p:spPr>
          <a:xfrm>
            <a:off x="5280050"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Write tests</a:t>
            </a:r>
            <a:endParaRPr lang="en-US" sz="1800" dirty="0"/>
          </a:p>
        </p:txBody>
      </p:sp>
      <p:sp>
        <p:nvSpPr>
          <p:cNvPr id="32" name="card-429"/>
          <p:cNvSpPr/>
          <p:nvPr/>
        </p:nvSpPr>
        <p:spPr>
          <a:xfrm>
            <a:off x="4566818" y="4937760"/>
            <a:ext cx="3058058" cy="713232"/>
          </a:xfrm>
          <a:prstGeom prst="roundRect">
            <a:avLst>
              <a:gd name="adj" fmla="val 7692"/>
            </a:avLst>
          </a:prstGeom>
          <a:solidFill>
            <a:schemeClr val="tx1"/>
          </a:solidFill>
          <a:ln/>
        </p:spPr>
      </p:sp>
      <p:sp>
        <p:nvSpPr>
          <p:cNvPr id="33" name="text-430"/>
          <p:cNvSpPr txBox="1"/>
          <p:nvPr/>
        </p:nvSpPr>
        <p:spPr>
          <a:xfrm>
            <a:off x="4722266"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write tests for the checkout function</a:t>
            </a:r>
            <a:endParaRPr lang="en-US" sz="1400" dirty="0"/>
          </a:p>
        </p:txBody>
      </p:sp>
      <p:sp>
        <p:nvSpPr>
          <p:cNvPr id="34" name="card-431"/>
          <p:cNvSpPr/>
          <p:nvPr/>
        </p:nvSpPr>
        <p:spPr>
          <a:xfrm>
            <a:off x="8127797" y="4023360"/>
            <a:ext cx="3515258" cy="1828800"/>
          </a:xfrm>
          <a:prstGeom prst="roundRect">
            <a:avLst>
              <a:gd name="adj" fmla="val 3000"/>
            </a:avLst>
          </a:prstGeom>
          <a:solidFill>
            <a:schemeClr val="bg2"/>
          </a:solidFill>
          <a:ln/>
        </p:spPr>
      </p:sp>
      <p:sp>
        <p:nvSpPr>
          <p:cNvPr id="35" name="tile-432"/>
          <p:cNvSpPr/>
          <p:nvPr/>
        </p:nvSpPr>
        <p:spPr>
          <a:xfrm>
            <a:off x="8356397" y="4224528"/>
            <a:ext cx="530352" cy="530352"/>
          </a:xfrm>
          <a:prstGeom prst="roundRect">
            <a:avLst>
              <a:gd name="adj" fmla="val 12069"/>
            </a:avLst>
          </a:prstGeom>
          <a:solidFill>
            <a:schemeClr val="tx1"/>
          </a:solidFill>
          <a:ln/>
        </p:spPr>
      </p:sp>
      <p:pic>
        <p:nvPicPr>
          <p:cNvPr id="36" name="icon-433" descr="preencoded.png">    </p:cNvPr>
          <p:cNvPicPr>
            <a:picLocks noChangeAspect="1"/>
          </p:cNvPicPr>
          <p:nvPr/>
        </p:nvPicPr>
        <p:blipFill>
          <a:blip r:embed="rId6"/>
          <a:stretch>
            <a:fillRect/>
          </a:stretch>
        </p:blipFill>
        <p:spPr>
          <a:xfrm>
            <a:off x="8494288" y="4362420"/>
            <a:ext cx="254569" cy="254569"/>
          </a:xfrm>
          <a:prstGeom prst="rect">
            <a:avLst/>
          </a:prstGeom>
        </p:spPr>
      </p:pic>
      <p:sp>
        <p:nvSpPr>
          <p:cNvPr id="37" name="text-434"/>
          <p:cNvSpPr txBox="1"/>
          <p:nvPr/>
        </p:nvSpPr>
        <p:spPr>
          <a:xfrm>
            <a:off x="9069629"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Review changes</a:t>
            </a:r>
            <a:endParaRPr lang="en-US" sz="1800" dirty="0"/>
          </a:p>
        </p:txBody>
      </p:sp>
      <p:sp>
        <p:nvSpPr>
          <p:cNvPr id="38" name="card-435"/>
          <p:cNvSpPr/>
          <p:nvPr/>
        </p:nvSpPr>
        <p:spPr>
          <a:xfrm>
            <a:off x="8356397" y="4937760"/>
            <a:ext cx="3058058" cy="713232"/>
          </a:xfrm>
          <a:prstGeom prst="roundRect">
            <a:avLst>
              <a:gd name="adj" fmla="val 7692"/>
            </a:avLst>
          </a:prstGeom>
          <a:solidFill>
            <a:schemeClr val="tx1"/>
          </a:solidFill>
          <a:ln/>
        </p:spPr>
      </p:sp>
      <p:sp>
        <p:nvSpPr>
          <p:cNvPr id="39" name="text-436"/>
          <p:cNvSpPr txBox="1"/>
          <p:nvPr/>
        </p:nvSpPr>
        <p:spPr>
          <a:xfrm>
            <a:off x="8511845"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review my changes for mistakes</a:t>
            </a:r>
            <a:endParaRPr lang="en-US" sz="1400" dirty="0"/>
          </a:p>
        </p:txBody>
      </p:sp>
      <p:sp>
        <p:nvSpPr>
          <p:cNvPr id="40" name="text-437"/>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The dark boxes show example prompts. 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Specific requests beat vague ones</a:t>
            </a:r>
            <a:endParaRPr lang="en-US" sz="3000" dirty="0"/>
          </a:p>
        </p:txBody>
      </p:sp>
      <p:sp>
        <p:nvSpPr>
          <p:cNvPr id="4" name="card-438"/>
          <p:cNvSpPr/>
          <p:nvPr/>
        </p:nvSpPr>
        <p:spPr>
          <a:xfrm>
            <a:off x="548640" y="1920240"/>
            <a:ext cx="5396332" cy="1600200"/>
          </a:xfrm>
          <a:prstGeom prst="roundRect">
            <a:avLst>
              <a:gd name="adj" fmla="val 3429"/>
            </a:avLst>
          </a:prstGeom>
          <a:solidFill>
            <a:schemeClr val="bg2"/>
          </a:solidFill>
          <a:ln/>
        </p:spPr>
      </p:sp>
      <p:sp>
        <p:nvSpPr>
          <p:cNvPr id="5" name="pill-439"/>
          <p:cNvSpPr/>
          <p:nvPr/>
        </p:nvSpPr>
        <p:spPr>
          <a:xfrm>
            <a:off x="822960" y="2148840"/>
            <a:ext cx="1188720" cy="310896"/>
          </a:xfrm>
          <a:prstGeom prst="roundRect">
            <a:avLst>
              <a:gd name="adj" fmla="val 14706"/>
            </a:avLst>
          </a:prstGeom>
          <a:solidFill>
            <a:schemeClr val="accent4"/>
          </a:solidFill>
          <a:ln/>
        </p:spPr>
      </p:sp>
      <p:sp>
        <p:nvSpPr>
          <p:cNvPr id="6" name="text-440"/>
          <p:cNvSpPr txBox="1"/>
          <p:nvPr/>
        </p:nvSpPr>
        <p:spPr>
          <a:xfrm>
            <a:off x="822960"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VAGUE</a:t>
            </a:r>
            <a:endParaRPr lang="en-US" sz="1100" dirty="0"/>
          </a:p>
        </p:txBody>
      </p:sp>
      <p:sp>
        <p:nvSpPr>
          <p:cNvPr id="7" name="text-441"/>
          <p:cNvSpPr txBox="1"/>
          <p:nvPr/>
        </p:nvSpPr>
        <p:spPr>
          <a:xfrm>
            <a:off x="822960"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add login</a:t>
            </a:r>
            <a:endParaRPr lang="en-US" sz="1400" dirty="0"/>
          </a:p>
        </p:txBody>
      </p:sp>
      <p:sp>
        <p:nvSpPr>
          <p:cNvPr id="8" name="card-442"/>
          <p:cNvSpPr/>
          <p:nvPr/>
        </p:nvSpPr>
        <p:spPr>
          <a:xfrm>
            <a:off x="6246724" y="1920240"/>
            <a:ext cx="5396332" cy="1600200"/>
          </a:xfrm>
          <a:prstGeom prst="roundRect">
            <a:avLst>
              <a:gd name="adj" fmla="val 3429"/>
            </a:avLst>
          </a:prstGeom>
          <a:solidFill>
            <a:schemeClr val="bg2"/>
          </a:solidFill>
          <a:ln/>
        </p:spPr>
      </p:sp>
      <p:sp>
        <p:nvSpPr>
          <p:cNvPr id="9" name="pill-443"/>
          <p:cNvSpPr/>
          <p:nvPr/>
        </p:nvSpPr>
        <p:spPr>
          <a:xfrm>
            <a:off x="6521044" y="2148840"/>
            <a:ext cx="1188720" cy="310896"/>
          </a:xfrm>
          <a:prstGeom prst="roundRect">
            <a:avLst>
              <a:gd name="adj" fmla="val 14706"/>
            </a:avLst>
          </a:prstGeom>
          <a:solidFill>
            <a:schemeClr val="accent2"/>
          </a:solidFill>
          <a:ln/>
        </p:spPr>
      </p:sp>
      <p:sp>
        <p:nvSpPr>
          <p:cNvPr id="10" name="text-444"/>
          <p:cNvSpPr txBox="1"/>
          <p:nvPr/>
        </p:nvSpPr>
        <p:spPr>
          <a:xfrm>
            <a:off x="6521044" y="2148840"/>
            <a:ext cx="1188720"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SPECIFIC</a:t>
            </a:r>
            <a:endParaRPr lang="en-US" sz="1100" dirty="0"/>
          </a:p>
        </p:txBody>
      </p:sp>
      <p:sp>
        <p:nvSpPr>
          <p:cNvPr id="11" name="text-445"/>
          <p:cNvSpPr txBox="1"/>
          <p:nvPr/>
        </p:nvSpPr>
        <p:spPr>
          <a:xfrm>
            <a:off x="6521044"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add a sign-in form to the home page with email and password, and show errors</a:t>
            </a:r>
            <a:endParaRPr lang="en-US" sz="1400" dirty="0"/>
          </a:p>
        </p:txBody>
      </p:sp>
      <p:sp>
        <p:nvSpPr>
          <p:cNvPr id="12" name="card-446"/>
          <p:cNvSpPr/>
          <p:nvPr/>
        </p:nvSpPr>
        <p:spPr>
          <a:xfrm>
            <a:off x="548640" y="3794760"/>
            <a:ext cx="3515258" cy="2057400"/>
          </a:xfrm>
          <a:prstGeom prst="roundRect">
            <a:avLst>
              <a:gd name="adj" fmla="val 2667"/>
            </a:avLst>
          </a:prstGeom>
          <a:solidFill>
            <a:schemeClr val="bg2"/>
          </a:solidFill>
          <a:ln/>
        </p:spPr>
      </p:sp>
      <p:sp>
        <p:nvSpPr>
          <p:cNvPr id="13" name="tile-447"/>
          <p:cNvSpPr/>
          <p:nvPr/>
        </p:nvSpPr>
        <p:spPr>
          <a:xfrm>
            <a:off x="822960" y="4069080"/>
            <a:ext cx="530352" cy="530352"/>
          </a:xfrm>
          <a:prstGeom prst="roundRect">
            <a:avLst>
              <a:gd name="adj" fmla="val 12069"/>
            </a:avLst>
          </a:prstGeom>
          <a:solidFill>
            <a:schemeClr val="tx1"/>
          </a:solidFill>
          <a:ln/>
        </p:spPr>
      </p:sp>
      <p:pic>
        <p:nvPicPr>
          <p:cNvPr id="14" name="icon-448" descr="preencoded.png">    </p:cNvPr>
          <p:cNvPicPr>
            <a:picLocks noChangeAspect="1"/>
          </p:cNvPicPr>
          <p:nvPr/>
        </p:nvPicPr>
        <p:blipFill>
          <a:blip r:embed="rId1"/>
          <a:stretch>
            <a:fillRect/>
          </a:stretch>
        </p:blipFill>
        <p:spPr>
          <a:xfrm>
            <a:off x="960852" y="4206972"/>
            <a:ext cx="254569" cy="254569"/>
          </a:xfrm>
          <a:prstGeom prst="rect">
            <a:avLst/>
          </a:prstGeom>
        </p:spPr>
      </p:pic>
      <p:sp>
        <p:nvSpPr>
          <p:cNvPr id="15" name="text-449"/>
          <p:cNvSpPr txBox="1"/>
          <p:nvPr/>
        </p:nvSpPr>
        <p:spPr>
          <a:xfrm>
            <a:off x="1536192"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Plan bigger changes</a:t>
            </a:r>
            <a:endParaRPr lang="en-US" sz="1800" dirty="0"/>
          </a:p>
        </p:txBody>
      </p:sp>
      <p:sp>
        <p:nvSpPr>
          <p:cNvPr id="16" name="text-450"/>
          <p:cNvSpPr txBox="1"/>
          <p:nvPr/>
        </p:nvSpPr>
        <p:spPr>
          <a:xfrm>
            <a:off x="822960"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Plan Mode researches your code, asks questions and waits for your approval</a:t>
            </a:r>
            <a:endParaRPr lang="en-US" sz="1400" dirty="0"/>
          </a:p>
        </p:txBody>
      </p:sp>
      <p:sp>
        <p:nvSpPr>
          <p:cNvPr id="17" name="card-451"/>
          <p:cNvSpPr/>
          <p:nvPr/>
        </p:nvSpPr>
        <p:spPr>
          <a:xfrm>
            <a:off x="4338218" y="3794760"/>
            <a:ext cx="3515258" cy="2057400"/>
          </a:xfrm>
          <a:prstGeom prst="roundRect">
            <a:avLst>
              <a:gd name="adj" fmla="val 2667"/>
            </a:avLst>
          </a:prstGeom>
          <a:solidFill>
            <a:schemeClr val="bg2"/>
          </a:solidFill>
          <a:ln/>
        </p:spPr>
      </p:sp>
      <p:sp>
        <p:nvSpPr>
          <p:cNvPr id="18" name="tile-452"/>
          <p:cNvSpPr/>
          <p:nvPr/>
        </p:nvSpPr>
        <p:spPr>
          <a:xfrm>
            <a:off x="4612538" y="4069080"/>
            <a:ext cx="530352" cy="530352"/>
          </a:xfrm>
          <a:prstGeom prst="roundRect">
            <a:avLst>
              <a:gd name="adj" fmla="val 12069"/>
            </a:avLst>
          </a:prstGeom>
          <a:solidFill>
            <a:schemeClr val="tx1"/>
          </a:solidFill>
          <a:ln/>
        </p:spPr>
      </p:sp>
      <p:pic>
        <p:nvPicPr>
          <p:cNvPr id="19" name="icon-453" descr="preencoded.png">    </p:cNvPr>
          <p:cNvPicPr>
            <a:picLocks noChangeAspect="1"/>
          </p:cNvPicPr>
          <p:nvPr/>
        </p:nvPicPr>
        <p:blipFill>
          <a:blip r:embed="rId2"/>
          <a:stretch>
            <a:fillRect/>
          </a:stretch>
        </p:blipFill>
        <p:spPr>
          <a:xfrm>
            <a:off x="4750430" y="4206972"/>
            <a:ext cx="254569" cy="254569"/>
          </a:xfrm>
          <a:prstGeom prst="rect">
            <a:avLst/>
          </a:prstGeom>
        </p:spPr>
      </p:pic>
      <p:sp>
        <p:nvSpPr>
          <p:cNvPr id="20" name="text-454"/>
          <p:cNvSpPr txBox="1"/>
          <p:nvPr/>
        </p:nvSpPr>
        <p:spPr>
          <a:xfrm>
            <a:off x="5325770"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Point with @</a:t>
            </a:r>
            <a:endParaRPr lang="en-US" sz="1800" dirty="0"/>
          </a:p>
        </p:txBody>
      </p:sp>
      <p:sp>
        <p:nvSpPr>
          <p:cNvPr id="21" name="text-455"/>
          <p:cNvSpPr txBox="1"/>
          <p:nvPr/>
        </p:nvSpPr>
        <p:spPr>
          <a:xfrm>
            <a:off x="4612538"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Mention the exact files so the agent reads the right code</a:t>
            </a:r>
            <a:endParaRPr lang="en-US" sz="1400" dirty="0"/>
          </a:p>
        </p:txBody>
      </p:sp>
      <p:sp>
        <p:nvSpPr>
          <p:cNvPr id="22" name="card-456"/>
          <p:cNvSpPr/>
          <p:nvPr/>
        </p:nvSpPr>
        <p:spPr>
          <a:xfrm>
            <a:off x="8127797" y="3794760"/>
            <a:ext cx="3515258" cy="2057400"/>
          </a:xfrm>
          <a:prstGeom prst="roundRect">
            <a:avLst>
              <a:gd name="adj" fmla="val 2667"/>
            </a:avLst>
          </a:prstGeom>
          <a:solidFill>
            <a:schemeClr val="bg2"/>
          </a:solidFill>
          <a:ln/>
        </p:spPr>
      </p:sp>
      <p:sp>
        <p:nvSpPr>
          <p:cNvPr id="23" name="tile-457"/>
          <p:cNvSpPr/>
          <p:nvPr/>
        </p:nvSpPr>
        <p:spPr>
          <a:xfrm>
            <a:off x="8402117" y="4069080"/>
            <a:ext cx="530352" cy="530352"/>
          </a:xfrm>
          <a:prstGeom prst="roundRect">
            <a:avLst>
              <a:gd name="adj" fmla="val 12069"/>
            </a:avLst>
          </a:prstGeom>
          <a:solidFill>
            <a:schemeClr val="tx1"/>
          </a:solidFill>
          <a:ln/>
        </p:spPr>
      </p:sp>
      <p:pic>
        <p:nvPicPr>
          <p:cNvPr id="24" name="icon-458" descr="preencoded.png">    </p:cNvPr>
          <p:cNvPicPr>
            <a:picLocks noChangeAspect="1"/>
          </p:cNvPicPr>
          <p:nvPr/>
        </p:nvPicPr>
        <p:blipFill>
          <a:blip r:embed="rId3"/>
          <a:stretch>
            <a:fillRect/>
          </a:stretch>
        </p:blipFill>
        <p:spPr>
          <a:xfrm>
            <a:off x="8540008" y="4206972"/>
            <a:ext cx="254569" cy="254569"/>
          </a:xfrm>
          <a:prstGeom prst="rect">
            <a:avLst/>
          </a:prstGeom>
        </p:spPr>
      </p:pic>
      <p:sp>
        <p:nvSpPr>
          <p:cNvPr id="25" name="text-459"/>
          <p:cNvSpPr txBox="1"/>
          <p:nvPr/>
        </p:nvSpPr>
        <p:spPr>
          <a:xfrm>
            <a:off x="9115349"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Turn repeats into rules</a:t>
            </a:r>
            <a:endParaRPr lang="en-US" sz="1800" dirty="0"/>
          </a:p>
        </p:txBody>
      </p:sp>
      <p:sp>
        <p:nvSpPr>
          <p:cNvPr id="26" name="text-460"/>
          <p:cNvSpPr txBox="1"/>
          <p:nvPr/>
        </p:nvSpPr>
        <p:spPr>
          <a:xfrm>
            <a:off x="8402117"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When the agent repeats a mistake, add a rule to correct it</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Five habits keep a beginner safe</a:t>
            </a:r>
            <a:endParaRPr lang="en-US" sz="3000" dirty="0"/>
          </a:p>
        </p:txBody>
      </p:sp>
      <p:sp>
        <p:nvSpPr>
          <p:cNvPr id="4" name="card-461"/>
          <p:cNvSpPr/>
          <p:nvPr/>
        </p:nvSpPr>
        <p:spPr>
          <a:xfrm>
            <a:off x="548640" y="1920240"/>
            <a:ext cx="6492240" cy="658368"/>
          </a:xfrm>
          <a:prstGeom prst="roundRect">
            <a:avLst>
              <a:gd name="adj" fmla="val 8333"/>
            </a:avLst>
          </a:prstGeom>
          <a:solidFill>
            <a:schemeClr val="bg2"/>
          </a:solidFill>
          <a:ln/>
        </p:spPr>
      </p:sp>
      <p:sp>
        <p:nvSpPr>
          <p:cNvPr id="5" name="step-462"/>
          <p:cNvSpPr/>
          <p:nvPr/>
        </p:nvSpPr>
        <p:spPr>
          <a:xfrm>
            <a:off x="685800" y="2020824"/>
            <a:ext cx="457200" cy="457200"/>
          </a:xfrm>
          <a:prstGeom prst="roundRect">
            <a:avLst>
              <a:gd name="adj" fmla="val 14000"/>
            </a:avLst>
          </a:prstGeom>
          <a:solidFill>
            <a:schemeClr val="accent2"/>
          </a:solidFill>
          <a:ln/>
        </p:spPr>
      </p:sp>
      <p:sp>
        <p:nvSpPr>
          <p:cNvPr id="6" name="text-463"/>
          <p:cNvSpPr txBox="1"/>
          <p:nvPr/>
        </p:nvSpPr>
        <p:spPr>
          <a:xfrm>
            <a:off x="685800" y="20208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7" name="text-464"/>
          <p:cNvSpPr txBox="1"/>
          <p:nvPr/>
        </p:nvSpPr>
        <p:spPr>
          <a:xfrm>
            <a:off x="1325880" y="1920240"/>
            <a:ext cx="5577840" cy="658368"/>
          </a:xfrm>
          <a:prstGeom prst="rect">
            <a:avLst/>
          </a:prstGeom>
          <a:noFill/>
          <a:ln/>
        </p:spPr>
        <p:txBody>
          <a:bodyPr wrap="square" lIns="0" tIns="0" rIns="0" bIns="0" rtlCol="0" anchor="ctr"/>
          <a:lstStyle/>
          <a:p>
            <a:pPr indent="0" marL="0">
              <a:buNone/>
            </a:pPr>
            <a:r>
              <a:rPr lang="en-US" sz="1600" dirty="0">
                <a:solidFill>
                  <a:schemeClr val="tx1"/>
                </a:solidFill>
              </a:rPr>
              <a:t>Start in Ask mode when the code is unfamiliar</a:t>
            </a:r>
            <a:endParaRPr lang="en-US" sz="1600" dirty="0"/>
          </a:p>
        </p:txBody>
      </p:sp>
      <p:sp>
        <p:nvSpPr>
          <p:cNvPr id="8" name="card-465"/>
          <p:cNvSpPr/>
          <p:nvPr/>
        </p:nvSpPr>
        <p:spPr>
          <a:xfrm>
            <a:off x="548640" y="2706624"/>
            <a:ext cx="6492240" cy="658368"/>
          </a:xfrm>
          <a:prstGeom prst="roundRect">
            <a:avLst>
              <a:gd name="adj" fmla="val 8333"/>
            </a:avLst>
          </a:prstGeom>
          <a:solidFill>
            <a:schemeClr val="bg2"/>
          </a:solidFill>
          <a:ln/>
        </p:spPr>
      </p:sp>
      <p:sp>
        <p:nvSpPr>
          <p:cNvPr id="9" name="step-466"/>
          <p:cNvSpPr/>
          <p:nvPr/>
        </p:nvSpPr>
        <p:spPr>
          <a:xfrm>
            <a:off x="685800" y="2807208"/>
            <a:ext cx="457200" cy="457200"/>
          </a:xfrm>
          <a:prstGeom prst="roundRect">
            <a:avLst>
              <a:gd name="adj" fmla="val 14000"/>
            </a:avLst>
          </a:prstGeom>
          <a:solidFill>
            <a:schemeClr val="accent2"/>
          </a:solidFill>
          <a:ln/>
        </p:spPr>
      </p:sp>
      <p:sp>
        <p:nvSpPr>
          <p:cNvPr id="10" name="text-467"/>
          <p:cNvSpPr txBox="1"/>
          <p:nvPr/>
        </p:nvSpPr>
        <p:spPr>
          <a:xfrm>
            <a:off x="685800" y="280720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11" name="text-468"/>
          <p:cNvSpPr txBox="1"/>
          <p:nvPr/>
        </p:nvSpPr>
        <p:spPr>
          <a:xfrm>
            <a:off x="1325880" y="2706624"/>
            <a:ext cx="5577840" cy="658368"/>
          </a:xfrm>
          <a:prstGeom prst="rect">
            <a:avLst/>
          </a:prstGeom>
          <a:noFill/>
          <a:ln/>
        </p:spPr>
        <p:txBody>
          <a:bodyPr wrap="square" lIns="0" tIns="0" rIns="0" bIns="0" rtlCol="0" anchor="ctr"/>
          <a:lstStyle/>
          <a:p>
            <a:pPr indent="0" marL="0">
              <a:buNone/>
            </a:pPr>
            <a:r>
              <a:rPr lang="en-US" sz="1600" dirty="0">
                <a:solidFill>
                  <a:schemeClr val="tx1"/>
                </a:solidFill>
              </a:rPr>
              <a:t>Review the diff before you accept a change</a:t>
            </a:r>
            <a:endParaRPr lang="en-US" sz="1600" dirty="0"/>
          </a:p>
        </p:txBody>
      </p:sp>
      <p:sp>
        <p:nvSpPr>
          <p:cNvPr id="12" name="card-469"/>
          <p:cNvSpPr/>
          <p:nvPr/>
        </p:nvSpPr>
        <p:spPr>
          <a:xfrm>
            <a:off x="548640" y="3493008"/>
            <a:ext cx="6492240" cy="658368"/>
          </a:xfrm>
          <a:prstGeom prst="roundRect">
            <a:avLst>
              <a:gd name="adj" fmla="val 8333"/>
            </a:avLst>
          </a:prstGeom>
          <a:solidFill>
            <a:schemeClr val="bg2"/>
          </a:solidFill>
          <a:ln/>
        </p:spPr>
      </p:sp>
      <p:sp>
        <p:nvSpPr>
          <p:cNvPr id="13" name="step-470"/>
          <p:cNvSpPr/>
          <p:nvPr/>
        </p:nvSpPr>
        <p:spPr>
          <a:xfrm>
            <a:off x="685800" y="3593592"/>
            <a:ext cx="457200" cy="457200"/>
          </a:xfrm>
          <a:prstGeom prst="roundRect">
            <a:avLst>
              <a:gd name="adj" fmla="val 14000"/>
            </a:avLst>
          </a:prstGeom>
          <a:solidFill>
            <a:schemeClr val="accent2"/>
          </a:solidFill>
          <a:ln/>
        </p:spPr>
      </p:sp>
      <p:sp>
        <p:nvSpPr>
          <p:cNvPr id="14" name="text-471"/>
          <p:cNvSpPr txBox="1"/>
          <p:nvPr/>
        </p:nvSpPr>
        <p:spPr>
          <a:xfrm>
            <a:off x="685800" y="359359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3</a:t>
            </a:r>
            <a:endParaRPr lang="en-US" sz="1600" dirty="0"/>
          </a:p>
        </p:txBody>
      </p:sp>
      <p:sp>
        <p:nvSpPr>
          <p:cNvPr id="15" name="text-472"/>
          <p:cNvSpPr txBox="1"/>
          <p:nvPr/>
        </p:nvSpPr>
        <p:spPr>
          <a:xfrm>
            <a:off x="1325880" y="3493008"/>
            <a:ext cx="5577840" cy="658368"/>
          </a:xfrm>
          <a:prstGeom prst="rect">
            <a:avLst/>
          </a:prstGeom>
          <a:noFill/>
          <a:ln/>
        </p:spPr>
        <p:txBody>
          <a:bodyPr wrap="square" lIns="0" tIns="0" rIns="0" bIns="0" rtlCol="0" anchor="ctr"/>
          <a:lstStyle/>
          <a:p>
            <a:pPr indent="0" marL="0">
              <a:buNone/>
            </a:pPr>
            <a:r>
              <a:rPr lang="en-US" sz="1600" dirty="0">
                <a:solidFill>
                  <a:schemeClr val="tx1"/>
                </a:solidFill>
              </a:rPr>
              <a:t>Keep your project in Git for a permanent history</a:t>
            </a:r>
            <a:endParaRPr lang="en-US" sz="1600" dirty="0"/>
          </a:p>
        </p:txBody>
      </p:sp>
      <p:sp>
        <p:nvSpPr>
          <p:cNvPr id="16" name="card-473"/>
          <p:cNvSpPr/>
          <p:nvPr/>
        </p:nvSpPr>
        <p:spPr>
          <a:xfrm>
            <a:off x="548640" y="4279392"/>
            <a:ext cx="6492240" cy="658368"/>
          </a:xfrm>
          <a:prstGeom prst="roundRect">
            <a:avLst>
              <a:gd name="adj" fmla="val 8333"/>
            </a:avLst>
          </a:prstGeom>
          <a:solidFill>
            <a:schemeClr val="bg2"/>
          </a:solidFill>
          <a:ln/>
        </p:spPr>
      </p:sp>
      <p:sp>
        <p:nvSpPr>
          <p:cNvPr id="17" name="step-474"/>
          <p:cNvSpPr/>
          <p:nvPr/>
        </p:nvSpPr>
        <p:spPr>
          <a:xfrm>
            <a:off x="685800" y="4379976"/>
            <a:ext cx="457200" cy="457200"/>
          </a:xfrm>
          <a:prstGeom prst="roundRect">
            <a:avLst>
              <a:gd name="adj" fmla="val 14000"/>
            </a:avLst>
          </a:prstGeom>
          <a:solidFill>
            <a:schemeClr val="accent2"/>
          </a:solidFill>
          <a:ln/>
        </p:spPr>
      </p:sp>
      <p:sp>
        <p:nvSpPr>
          <p:cNvPr id="18" name="text-475"/>
          <p:cNvSpPr txBox="1"/>
          <p:nvPr/>
        </p:nvSpPr>
        <p:spPr>
          <a:xfrm>
            <a:off x="685800" y="437997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4</a:t>
            </a:r>
            <a:endParaRPr lang="en-US" sz="1600" dirty="0"/>
          </a:p>
        </p:txBody>
      </p:sp>
      <p:sp>
        <p:nvSpPr>
          <p:cNvPr id="19" name="text-476"/>
          <p:cNvSpPr txBox="1"/>
          <p:nvPr/>
        </p:nvSpPr>
        <p:spPr>
          <a:xfrm>
            <a:off x="1325880" y="4279392"/>
            <a:ext cx="5577840" cy="658368"/>
          </a:xfrm>
          <a:prstGeom prst="rect">
            <a:avLst/>
          </a:prstGeom>
          <a:noFill/>
          <a:ln/>
        </p:spPr>
        <p:txBody>
          <a:bodyPr wrap="square" lIns="0" tIns="0" rIns="0" bIns="0" rtlCol="0" anchor="ctr"/>
          <a:lstStyle/>
          <a:p>
            <a:pPr indent="0" marL="0">
              <a:buNone/>
            </a:pPr>
            <a:r>
              <a:rPr lang="en-US" sz="1600" dirty="0">
                <a:solidFill>
                  <a:schemeClr val="tx1"/>
                </a:solidFill>
              </a:rPr>
              <a:t>Leave Auto-run off until you trust the task</a:t>
            </a:r>
            <a:endParaRPr lang="en-US" sz="1600" dirty="0"/>
          </a:p>
        </p:txBody>
      </p:sp>
      <p:sp>
        <p:nvSpPr>
          <p:cNvPr id="20" name="card-477"/>
          <p:cNvSpPr/>
          <p:nvPr/>
        </p:nvSpPr>
        <p:spPr>
          <a:xfrm>
            <a:off x="548640" y="5065776"/>
            <a:ext cx="6492240" cy="658368"/>
          </a:xfrm>
          <a:prstGeom prst="roundRect">
            <a:avLst>
              <a:gd name="adj" fmla="val 8333"/>
            </a:avLst>
          </a:prstGeom>
          <a:solidFill>
            <a:schemeClr val="bg2"/>
          </a:solidFill>
          <a:ln/>
        </p:spPr>
      </p:sp>
      <p:sp>
        <p:nvSpPr>
          <p:cNvPr id="21" name="step-478"/>
          <p:cNvSpPr/>
          <p:nvPr/>
        </p:nvSpPr>
        <p:spPr>
          <a:xfrm>
            <a:off x="685800" y="5166360"/>
            <a:ext cx="457200" cy="457200"/>
          </a:xfrm>
          <a:prstGeom prst="roundRect">
            <a:avLst>
              <a:gd name="adj" fmla="val 14000"/>
            </a:avLst>
          </a:prstGeom>
          <a:solidFill>
            <a:schemeClr val="accent2"/>
          </a:solidFill>
          <a:ln/>
        </p:spPr>
      </p:sp>
      <p:sp>
        <p:nvSpPr>
          <p:cNvPr id="22" name="text-479"/>
          <p:cNvSpPr txBox="1"/>
          <p:nvPr/>
        </p:nvSpPr>
        <p:spPr>
          <a:xfrm>
            <a:off x="685800" y="5166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5</a:t>
            </a:r>
            <a:endParaRPr lang="en-US" sz="1600" dirty="0"/>
          </a:p>
        </p:txBody>
      </p:sp>
      <p:sp>
        <p:nvSpPr>
          <p:cNvPr id="23" name="text-480"/>
          <p:cNvSpPr txBox="1"/>
          <p:nvPr/>
        </p:nvSpPr>
        <p:spPr>
          <a:xfrm>
            <a:off x="1325880" y="5065776"/>
            <a:ext cx="5577840" cy="658368"/>
          </a:xfrm>
          <a:prstGeom prst="rect">
            <a:avLst/>
          </a:prstGeom>
          <a:noFill/>
          <a:ln/>
        </p:spPr>
        <p:txBody>
          <a:bodyPr wrap="square" lIns="0" tIns="0" rIns="0" bIns="0" rtlCol="0" anchor="ctr"/>
          <a:lstStyle/>
          <a:p>
            <a:pPr indent="0" marL="0">
              <a:buNone/>
            </a:pPr>
            <a:r>
              <a:rPr lang="en-US" sz="1600" dirty="0">
                <a:solidFill>
                  <a:schemeClr val="tx1"/>
                </a:solidFill>
              </a:rPr>
              <a:t>Check Privacy Mode before opening private code</a:t>
            </a:r>
            <a:endParaRPr lang="en-US" sz="1600" dirty="0"/>
          </a:p>
        </p:txBody>
      </p:sp>
      <p:sp>
        <p:nvSpPr>
          <p:cNvPr id="24" name="card-481"/>
          <p:cNvSpPr/>
          <p:nvPr/>
        </p:nvSpPr>
        <p:spPr>
          <a:xfrm>
            <a:off x="7360920" y="1920240"/>
            <a:ext cx="4282135" cy="3803904"/>
          </a:xfrm>
          <a:prstGeom prst="roundRect">
            <a:avLst>
              <a:gd name="adj" fmla="val 1442"/>
            </a:avLst>
          </a:prstGeom>
          <a:solidFill>
            <a:schemeClr val="tx1"/>
          </a:solidFill>
          <a:ln/>
        </p:spPr>
      </p:sp>
      <p:sp>
        <p:nvSpPr>
          <p:cNvPr id="25" name="tile-482"/>
          <p:cNvSpPr/>
          <p:nvPr/>
        </p:nvSpPr>
        <p:spPr>
          <a:xfrm>
            <a:off x="7680960" y="2240280"/>
            <a:ext cx="566928" cy="566928"/>
          </a:xfrm>
          <a:prstGeom prst="roundRect">
            <a:avLst>
              <a:gd name="adj" fmla="val 11290"/>
            </a:avLst>
          </a:prstGeom>
          <a:solidFill>
            <a:schemeClr val="accent2"/>
          </a:solidFill>
          <a:ln/>
        </p:spPr>
      </p:sp>
      <p:pic>
        <p:nvPicPr>
          <p:cNvPr id="26" name="icon-483" descr="preencoded.png">    </p:cNvPr>
          <p:cNvPicPr>
            <a:picLocks noChangeAspect="1"/>
          </p:cNvPicPr>
          <p:nvPr/>
        </p:nvPicPr>
        <p:blipFill>
          <a:blip r:embed="rId1"/>
          <a:stretch>
            <a:fillRect/>
          </a:stretch>
        </p:blipFill>
        <p:spPr>
          <a:xfrm>
            <a:off x="7828361" y="2387681"/>
            <a:ext cx="272125" cy="272125"/>
          </a:xfrm>
          <a:prstGeom prst="rect">
            <a:avLst/>
          </a:prstGeom>
        </p:spPr>
      </p:pic>
      <p:sp>
        <p:nvSpPr>
          <p:cNvPr id="27" name="text-484"/>
          <p:cNvSpPr txBox="1"/>
          <p:nvPr/>
        </p:nvSpPr>
        <p:spPr>
          <a:xfrm>
            <a:off x="7680960" y="3017520"/>
            <a:ext cx="3642055" cy="822960"/>
          </a:xfrm>
          <a:prstGeom prst="rect">
            <a:avLst/>
          </a:prstGeom>
          <a:noFill/>
          <a:ln/>
        </p:spPr>
        <p:txBody>
          <a:bodyPr wrap="square" lIns="0" tIns="0" rIns="0" bIns="0" rtlCol="0" anchor="t"/>
          <a:lstStyle/>
          <a:p>
            <a:pPr indent="0" marL="0">
              <a:buNone/>
            </a:pPr>
            <a:r>
              <a:rPr lang="en-US" sz="2200" b="1" dirty="0">
                <a:solidFill>
                  <a:schemeClr val="bg1"/>
                </a:solidFill>
              </a:rPr>
              <a:t>Checkpoints are not version control</a:t>
            </a:r>
            <a:endParaRPr lang="en-US" sz="2200" dirty="0"/>
          </a:p>
        </p:txBody>
      </p:sp>
      <p:sp>
        <p:nvSpPr>
          <p:cNvPr id="28" name="text-485"/>
          <p:cNvSpPr txBox="1"/>
          <p:nvPr/>
        </p:nvSpPr>
        <p:spPr>
          <a:xfrm>
            <a:off x="7680960" y="3977640"/>
            <a:ext cx="3642055" cy="1554480"/>
          </a:xfrm>
          <a:prstGeom prst="rect">
            <a:avLst/>
          </a:prstGeom>
          <a:noFill/>
          <a:ln/>
        </p:spPr>
        <p:txBody>
          <a:bodyPr wrap="square" lIns="0" tIns="0" rIns="0" bIns="0" rtlCol="0" anchor="t"/>
          <a:lstStyle/>
          <a:p>
            <a:pPr indent="0" marL="0">
              <a:buNone/>
            </a:pPr>
            <a:r>
              <a:rPr lang="en-US" sz="1400" dirty="0">
                <a:solidFill>
                  <a:schemeClr val="accent5"/>
                </a:solidFill>
              </a:rPr>
              <a:t>They are stored on your computer, separate from Git, and only undo the agent's own changes. Use Git for anything you need to keep.</a:t>
            </a:r>
            <a:endParaRPr lang="en-US" sz="1400" dirty="0"/>
          </a:p>
        </p:txBody>
      </p:sp>
      <p:sp>
        <p:nvSpPr>
          <p:cNvPr id="29" name="text-48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Cursor documentation, cursor.com/docs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Cursor sits beside three tools you may know</a:t>
            </a:r>
            <a:endParaRPr lang="en-US" sz="3000" dirty="0"/>
          </a:p>
        </p:txBody>
      </p:sp>
      <p:graphicFrame>
        <p:nvGraphicFramePr>
          <p:cNvPr id="21" name="table-487"/>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103120"/>
                <a:gridCol w="2247824"/>
                <a:gridCol w="2247824"/>
                <a:gridCol w="2247824"/>
                <a:gridCol w="2247824"/>
              </a:tblGrid>
              <a:tr h="457200">
                <a:tc>
                  <a:txBody>
                    <a:bodyPr/>
                    <a:lstStyle/>
                    <a:p>
                      <a:pPr indent="0" marL="0">
                        <a:buNone/>
                      </a:pP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Cursor</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Antigravity</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Claude Code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Codex</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r>
              <a:tr h="603504">
                <a:tc>
                  <a:txBody>
                    <a:bodyPr/>
                    <a:lstStyle/>
                    <a:p>
                      <a:pPr indent="0" marL="0">
                        <a:buNone/>
                      </a:pPr>
                      <a:r>
                        <a:rPr lang="en-US" sz="1400" b="1" dirty="0">
                          <a:solidFill>
                            <a:schemeClr val="tx1"/>
                          </a:solidFill>
                        </a:rPr>
                        <a:t>Made by</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Anysphere, part of SpaceX</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Google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Anthropic</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OpenAI</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1"/>
                          </a:solidFill>
                        </a:rPr>
                        <a:t>Main form</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code editor</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A desktop app and editor</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terminal tool and apps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terminal tool and apps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1"/>
                          </a:solidFill>
                        </a:rPr>
                        <a:t>Main models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Many, plus its own Composer</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Gemini</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GPT</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Terminal command</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agent</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agy</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claude</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codex</a:t>
                      </a:r>
                      <a:endParaRPr lang="en-US" sz="1400" dirty="0">
                        <a:latin typeface="Courier New" charset="0"/>
                        <a:ea typeface="Courier New" charset="0"/>
                        <a:cs typeface="Courier New" charset="0"/>
                      </a:endParaRPr>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1"/>
                          </a:solidFill>
                        </a:rPr>
                        <a:t>Project instructions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Rules or AGENTS.md</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AGENTS.md or GEMINI.md</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CLAUDE.md</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AGENTS.md</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bl>
          </a:graphicData>
        </a:graphic>
      </p:graphicFrame>
      <p:sp>
        <p:nvSpPr>
          <p:cNvPr id="5" name="text-488"/>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400" dirty="0">
                <a:solidFill>
                  <a:schemeClr val="tx2"/>
                </a:solidFill>
              </a:rPr>
              <a:t>All four are agentic coding tools: you describe a task, an agent does it and you review. Cursor's difference is that it starts from the editor.</a:t>
            </a:r>
            <a:endParaRPr lang="en-US" sz="1400" dirty="0"/>
          </a:p>
        </p:txBody>
      </p:sp>
      <p:sp>
        <p:nvSpPr>
          <p:cNvPr id="6" name="text-48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Google, Anthropic and OpenAI documentation (2026). A neutral orientation, not a ranking.</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learning path from day one to confident user</a:t>
            </a:r>
            <a:endParaRPr lang="en-US" sz="3000" dirty="0"/>
          </a:p>
        </p:txBody>
      </p:sp>
      <p:sp>
        <p:nvSpPr>
          <p:cNvPr id="4" name="rail-490"/>
          <p:cNvSpPr/>
          <p:nvPr/>
        </p:nvSpPr>
        <p:spPr>
          <a:xfrm>
            <a:off x="822960" y="2194560"/>
            <a:ext cx="8526551" cy="0"/>
          </a:xfrm>
          <a:prstGeom prst="line">
            <a:avLst/>
          </a:prstGeom>
          <a:noFill/>
          <a:ln w="38100">
            <a:solidFill>
              <a:schemeClr val="accent2"/>
            </a:solidFill>
            <a:prstDash val="solid"/>
          </a:ln>
        </p:spPr>
      </p:sp>
      <p:sp>
        <p:nvSpPr>
          <p:cNvPr id="5" name="step-491"/>
          <p:cNvSpPr/>
          <p:nvPr/>
        </p:nvSpPr>
        <p:spPr>
          <a:xfrm>
            <a:off x="548640" y="1920240"/>
            <a:ext cx="548640" cy="548640"/>
          </a:xfrm>
          <a:prstGeom prst="roundRect">
            <a:avLst>
              <a:gd name="adj" fmla="val 11667"/>
            </a:avLst>
          </a:prstGeom>
          <a:solidFill>
            <a:schemeClr val="accent2"/>
          </a:solidFill>
          <a:ln/>
        </p:spPr>
      </p:sp>
      <p:sp>
        <p:nvSpPr>
          <p:cNvPr id="6" name="text-492"/>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1</a:t>
            </a:r>
            <a:endParaRPr lang="en-US" sz="1800" dirty="0"/>
          </a:p>
        </p:txBody>
      </p:sp>
      <p:sp>
        <p:nvSpPr>
          <p:cNvPr id="7" name="text-493"/>
          <p:cNvSpPr txBox="1"/>
          <p:nvPr/>
        </p:nvSpPr>
        <p:spPr>
          <a:xfrm>
            <a:off x="548640"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Day one</a:t>
            </a:r>
            <a:endParaRPr lang="en-US" sz="2000" dirty="0"/>
          </a:p>
        </p:txBody>
      </p:sp>
      <p:sp>
        <p:nvSpPr>
          <p:cNvPr id="8" name="text-494"/>
          <p:cNvSpPr txBox="1"/>
          <p:nvPr/>
        </p:nvSpPr>
        <p:spPr>
          <a:xfrm>
            <a:off x="548640"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Install Cursor, open a project, try Tab and ask questions in Ask mode</a:t>
            </a:r>
            <a:endParaRPr lang="en-US" sz="1400" dirty="0"/>
          </a:p>
        </p:txBody>
      </p:sp>
      <p:sp>
        <p:nvSpPr>
          <p:cNvPr id="9" name="card-495"/>
          <p:cNvSpPr/>
          <p:nvPr/>
        </p:nvSpPr>
        <p:spPr>
          <a:xfrm>
            <a:off x="548640" y="4434840"/>
            <a:ext cx="2567864" cy="1051560"/>
          </a:xfrm>
          <a:prstGeom prst="roundRect">
            <a:avLst>
              <a:gd name="adj" fmla="val 5217"/>
            </a:avLst>
          </a:prstGeom>
          <a:solidFill>
            <a:schemeClr val="bg2"/>
          </a:solidFill>
          <a:ln/>
        </p:spPr>
      </p:sp>
      <p:sp>
        <p:nvSpPr>
          <p:cNvPr id="10" name="text-496"/>
          <p:cNvSpPr txBox="1"/>
          <p:nvPr/>
        </p:nvSpPr>
        <p:spPr>
          <a:xfrm>
            <a:off x="777240"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1" name="text-497"/>
          <p:cNvSpPr txBox="1"/>
          <p:nvPr/>
        </p:nvSpPr>
        <p:spPr>
          <a:xfrm>
            <a:off x="777240"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Explore code safely</a:t>
            </a:r>
            <a:endParaRPr lang="en-US" sz="1400" dirty="0"/>
          </a:p>
        </p:txBody>
      </p:sp>
      <p:sp>
        <p:nvSpPr>
          <p:cNvPr id="12" name="step-498"/>
          <p:cNvSpPr/>
          <p:nvPr/>
        </p:nvSpPr>
        <p:spPr>
          <a:xfrm>
            <a:off x="3390824" y="1920240"/>
            <a:ext cx="548640" cy="548640"/>
          </a:xfrm>
          <a:prstGeom prst="roundRect">
            <a:avLst>
              <a:gd name="adj" fmla="val 11667"/>
            </a:avLst>
          </a:prstGeom>
          <a:solidFill>
            <a:schemeClr val="accent2"/>
          </a:solidFill>
          <a:ln/>
        </p:spPr>
      </p:sp>
      <p:sp>
        <p:nvSpPr>
          <p:cNvPr id="13" name="text-499"/>
          <p:cNvSpPr txBox="1"/>
          <p:nvPr/>
        </p:nvSpPr>
        <p:spPr>
          <a:xfrm>
            <a:off x="3390824" y="1920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a:t>
            </a:r>
            <a:endParaRPr lang="en-US" sz="1800" dirty="0"/>
          </a:p>
        </p:txBody>
      </p:sp>
      <p:sp>
        <p:nvSpPr>
          <p:cNvPr id="14" name="text-500"/>
          <p:cNvSpPr txBox="1"/>
          <p:nvPr/>
        </p:nvSpPr>
        <p:spPr>
          <a:xfrm>
            <a:off x="3390824"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week</a:t>
            </a:r>
            <a:endParaRPr lang="en-US" sz="2000" dirty="0"/>
          </a:p>
        </p:txBody>
      </p:sp>
      <p:sp>
        <p:nvSpPr>
          <p:cNvPr id="15" name="text-501"/>
          <p:cNvSpPr txBox="1"/>
          <p:nvPr/>
        </p:nvSpPr>
        <p:spPr>
          <a:xfrm>
            <a:off x="3390824"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Use Agent for small changes, review every diff and try Plan Mode</a:t>
            </a:r>
            <a:endParaRPr lang="en-US" sz="1400" dirty="0"/>
          </a:p>
        </p:txBody>
      </p:sp>
      <p:sp>
        <p:nvSpPr>
          <p:cNvPr id="16" name="card-502"/>
          <p:cNvSpPr/>
          <p:nvPr/>
        </p:nvSpPr>
        <p:spPr>
          <a:xfrm>
            <a:off x="3390824" y="4434840"/>
            <a:ext cx="2567864" cy="1051560"/>
          </a:xfrm>
          <a:prstGeom prst="roundRect">
            <a:avLst>
              <a:gd name="adj" fmla="val 5217"/>
            </a:avLst>
          </a:prstGeom>
          <a:solidFill>
            <a:schemeClr val="bg2"/>
          </a:solidFill>
          <a:ln/>
        </p:spPr>
      </p:sp>
      <p:sp>
        <p:nvSpPr>
          <p:cNvPr id="17" name="text-503"/>
          <p:cNvSpPr txBox="1"/>
          <p:nvPr/>
        </p:nvSpPr>
        <p:spPr>
          <a:xfrm>
            <a:off x="3619424"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8" name="text-504"/>
          <p:cNvSpPr txBox="1"/>
          <p:nvPr/>
        </p:nvSpPr>
        <p:spPr>
          <a:xfrm>
            <a:off x="3619424"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Make reviewed changes</a:t>
            </a:r>
            <a:endParaRPr lang="en-US" sz="1400" dirty="0"/>
          </a:p>
        </p:txBody>
      </p:sp>
      <p:sp>
        <p:nvSpPr>
          <p:cNvPr id="19" name="step-505"/>
          <p:cNvSpPr/>
          <p:nvPr/>
        </p:nvSpPr>
        <p:spPr>
          <a:xfrm>
            <a:off x="6233008" y="1920240"/>
            <a:ext cx="548640" cy="548640"/>
          </a:xfrm>
          <a:prstGeom prst="roundRect">
            <a:avLst>
              <a:gd name="adj" fmla="val 11667"/>
            </a:avLst>
          </a:prstGeom>
          <a:solidFill>
            <a:schemeClr val="accent2"/>
          </a:solidFill>
          <a:ln/>
        </p:spPr>
      </p:sp>
      <p:sp>
        <p:nvSpPr>
          <p:cNvPr id="20" name="text-506"/>
          <p:cNvSpPr txBox="1"/>
          <p:nvPr/>
        </p:nvSpPr>
        <p:spPr>
          <a:xfrm>
            <a:off x="6233008" y="1920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3</a:t>
            </a:r>
            <a:endParaRPr lang="en-US" sz="1800" dirty="0"/>
          </a:p>
        </p:txBody>
      </p:sp>
      <p:sp>
        <p:nvSpPr>
          <p:cNvPr id="21" name="text-507"/>
          <p:cNvSpPr txBox="1"/>
          <p:nvPr/>
        </p:nvSpPr>
        <p:spPr>
          <a:xfrm>
            <a:off x="6233008"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month</a:t>
            </a:r>
            <a:endParaRPr lang="en-US" sz="2000" dirty="0"/>
          </a:p>
        </p:txBody>
      </p:sp>
      <p:sp>
        <p:nvSpPr>
          <p:cNvPr id="22" name="text-508"/>
          <p:cNvSpPr txBox="1"/>
          <p:nvPr/>
        </p:nvSpPr>
        <p:spPr>
          <a:xfrm>
            <a:off x="6233008"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Write your first rules and connect one tool through MCP</a:t>
            </a:r>
            <a:endParaRPr lang="en-US" sz="1400" dirty="0"/>
          </a:p>
        </p:txBody>
      </p:sp>
      <p:sp>
        <p:nvSpPr>
          <p:cNvPr id="23" name="card-509"/>
          <p:cNvSpPr/>
          <p:nvPr/>
        </p:nvSpPr>
        <p:spPr>
          <a:xfrm>
            <a:off x="6233008" y="4434840"/>
            <a:ext cx="2567864" cy="1051560"/>
          </a:xfrm>
          <a:prstGeom prst="roundRect">
            <a:avLst>
              <a:gd name="adj" fmla="val 5217"/>
            </a:avLst>
          </a:prstGeom>
          <a:solidFill>
            <a:schemeClr val="bg2"/>
          </a:solidFill>
          <a:ln/>
        </p:spPr>
      </p:sp>
      <p:sp>
        <p:nvSpPr>
          <p:cNvPr id="24" name="text-510"/>
          <p:cNvSpPr txBox="1"/>
          <p:nvPr/>
        </p:nvSpPr>
        <p:spPr>
          <a:xfrm>
            <a:off x="6461608"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25" name="text-511"/>
          <p:cNvSpPr txBox="1"/>
          <p:nvPr/>
        </p:nvSpPr>
        <p:spPr>
          <a:xfrm>
            <a:off x="6461608"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Shape how the agent works</a:t>
            </a:r>
            <a:endParaRPr lang="en-US" sz="1400" dirty="0"/>
          </a:p>
        </p:txBody>
      </p:sp>
      <p:sp>
        <p:nvSpPr>
          <p:cNvPr id="26" name="step-512"/>
          <p:cNvSpPr/>
          <p:nvPr/>
        </p:nvSpPr>
        <p:spPr>
          <a:xfrm>
            <a:off x="9075191" y="1920240"/>
            <a:ext cx="548640" cy="548640"/>
          </a:xfrm>
          <a:prstGeom prst="roundRect">
            <a:avLst>
              <a:gd name="adj" fmla="val 11667"/>
            </a:avLst>
          </a:prstGeom>
          <a:solidFill>
            <a:schemeClr val="accent2"/>
          </a:solidFill>
          <a:ln/>
        </p:spPr>
      </p:sp>
      <p:sp>
        <p:nvSpPr>
          <p:cNvPr id="27" name="text-513"/>
          <p:cNvSpPr txBox="1"/>
          <p:nvPr/>
        </p:nvSpPr>
        <p:spPr>
          <a:xfrm>
            <a:off x="9075191" y="19202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4</a:t>
            </a:r>
            <a:endParaRPr lang="en-US" sz="1800" dirty="0"/>
          </a:p>
        </p:txBody>
      </p:sp>
      <p:sp>
        <p:nvSpPr>
          <p:cNvPr id="28" name="text-514"/>
          <p:cNvSpPr txBox="1"/>
          <p:nvPr/>
        </p:nvSpPr>
        <p:spPr>
          <a:xfrm>
            <a:off x="9075191"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Later</a:t>
            </a:r>
            <a:endParaRPr lang="en-US" sz="2000" dirty="0"/>
          </a:p>
        </p:txBody>
      </p:sp>
      <p:sp>
        <p:nvSpPr>
          <p:cNvPr id="29" name="text-515"/>
          <p:cNvSpPr txBox="1"/>
          <p:nvPr/>
        </p:nvSpPr>
        <p:spPr>
          <a:xfrm>
            <a:off x="9075191"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Try Cloud Agents, the Agents Window and the CLI</a:t>
            </a:r>
            <a:endParaRPr lang="en-US" sz="1400" dirty="0"/>
          </a:p>
        </p:txBody>
      </p:sp>
      <p:sp>
        <p:nvSpPr>
          <p:cNvPr id="30" name="card-516"/>
          <p:cNvSpPr/>
          <p:nvPr/>
        </p:nvSpPr>
        <p:spPr>
          <a:xfrm>
            <a:off x="9075191" y="4434840"/>
            <a:ext cx="2567864" cy="1051560"/>
          </a:xfrm>
          <a:prstGeom prst="roundRect">
            <a:avLst>
              <a:gd name="adj" fmla="val 5217"/>
            </a:avLst>
          </a:prstGeom>
          <a:solidFill>
            <a:schemeClr val="bg2"/>
          </a:solidFill>
          <a:ln/>
        </p:spPr>
      </p:sp>
      <p:sp>
        <p:nvSpPr>
          <p:cNvPr id="31" name="text-517"/>
          <p:cNvSpPr txBox="1"/>
          <p:nvPr/>
        </p:nvSpPr>
        <p:spPr>
          <a:xfrm>
            <a:off x="9303791"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32" name="text-518"/>
          <p:cNvSpPr txBox="1"/>
          <p:nvPr/>
        </p:nvSpPr>
        <p:spPr>
          <a:xfrm>
            <a:off x="9303791"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Run work in parallel</a:t>
            </a:r>
            <a:endParaRPr lang="en-US" sz="1400" dirty="0"/>
          </a:p>
        </p:txBody>
      </p:sp>
      <p:sp>
        <p:nvSpPr>
          <p:cNvPr id="33" name="text-519"/>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A suggested path only; go at your own pace.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Where to learn more, and names that changed</a:t>
            </a:r>
            <a:endParaRPr lang="en-US" sz="3000" dirty="0"/>
          </a:p>
        </p:txBody>
      </p:sp>
      <p:sp>
        <p:nvSpPr>
          <p:cNvPr id="4" name="text-520"/>
          <p:cNvSpPr txBox="1"/>
          <p:nvPr/>
        </p:nvSpPr>
        <p:spPr>
          <a:xfrm>
            <a:off x="548640" y="1920240"/>
            <a:ext cx="4846320" cy="365760"/>
          </a:xfrm>
          <a:prstGeom prst="rect">
            <a:avLst/>
          </a:prstGeom>
          <a:noFill/>
          <a:ln/>
        </p:spPr>
        <p:txBody>
          <a:bodyPr wrap="square" lIns="0" tIns="0" rIns="0" bIns="0" rtlCol="0" anchor="t"/>
          <a:lstStyle/>
          <a:p>
            <a:pPr indent="0" marL="0">
              <a:buNone/>
            </a:pPr>
            <a:r>
              <a:rPr lang="en-US" sz="1800" b="1" dirty="0">
                <a:solidFill>
                  <a:schemeClr val="tx1"/>
                </a:solidFill>
              </a:rPr>
              <a:t>Good places to learn</a:t>
            </a:r>
            <a:endParaRPr lang="en-US" sz="1800" dirty="0"/>
          </a:p>
        </p:txBody>
      </p:sp>
      <p:sp>
        <p:nvSpPr>
          <p:cNvPr id="5" name="tile-521"/>
          <p:cNvSpPr/>
          <p:nvPr/>
        </p:nvSpPr>
        <p:spPr>
          <a:xfrm>
            <a:off x="548640" y="2551176"/>
            <a:ext cx="548640" cy="548640"/>
          </a:xfrm>
          <a:prstGeom prst="roundRect">
            <a:avLst>
              <a:gd name="adj" fmla="val 11667"/>
            </a:avLst>
          </a:prstGeom>
          <a:solidFill>
            <a:schemeClr val="tx1"/>
          </a:solidFill>
          <a:ln/>
        </p:spPr>
      </p:sp>
      <p:pic>
        <p:nvPicPr>
          <p:cNvPr id="6" name="icon-522" descr="preencoded.png">    </p:cNvPr>
          <p:cNvPicPr>
            <a:picLocks noChangeAspect="1"/>
          </p:cNvPicPr>
          <p:nvPr/>
        </p:nvPicPr>
        <p:blipFill>
          <a:blip r:embed="rId1"/>
          <a:stretch>
            <a:fillRect/>
          </a:stretch>
        </p:blipFill>
        <p:spPr>
          <a:xfrm>
            <a:off x="691286" y="2693822"/>
            <a:ext cx="263347" cy="263347"/>
          </a:xfrm>
          <a:prstGeom prst="rect">
            <a:avLst/>
          </a:prstGeom>
        </p:spPr>
      </p:pic>
      <p:sp>
        <p:nvSpPr>
          <p:cNvPr id="7" name="text-523"/>
          <p:cNvSpPr txBox="1"/>
          <p:nvPr/>
        </p:nvSpPr>
        <p:spPr>
          <a:xfrm>
            <a:off x="1325880" y="2514600"/>
            <a:ext cx="4069080" cy="292608"/>
          </a:xfrm>
          <a:prstGeom prst="rect">
            <a:avLst/>
          </a:prstGeom>
          <a:noFill/>
          <a:ln/>
        </p:spPr>
        <p:txBody>
          <a:bodyPr wrap="square" lIns="0" tIns="0" rIns="0" bIns="0" rtlCol="0" anchor="t"/>
          <a:lstStyle/>
          <a:p>
            <a:pPr indent="0" marL="0">
              <a:buNone/>
            </a:pPr>
            <a:r>
              <a:rPr lang="en-US" sz="1600" b="1" dirty="0">
                <a:solidFill>
                  <a:schemeClr val="tx1"/>
                </a:solidFill>
              </a:rPr>
              <a:t>Documentation</a:t>
            </a:r>
            <a:endParaRPr lang="en-US" sz="1600" dirty="0"/>
          </a:p>
        </p:txBody>
      </p:sp>
      <p:sp>
        <p:nvSpPr>
          <p:cNvPr id="8" name="text-524"/>
          <p:cNvSpPr txBox="1"/>
          <p:nvPr/>
        </p:nvSpPr>
        <p:spPr>
          <a:xfrm>
            <a:off x="1325880" y="2852928"/>
            <a:ext cx="4069080" cy="457200"/>
          </a:xfrm>
          <a:prstGeom prst="rect">
            <a:avLst/>
          </a:prstGeom>
          <a:noFill/>
          <a:ln/>
        </p:spPr>
        <p:txBody>
          <a:bodyPr wrap="square" lIns="0" tIns="0" rIns="0" bIns="0" rtlCol="0" anchor="t"/>
          <a:lstStyle/>
          <a:p>
            <a:pPr indent="0" marL="0">
              <a:buNone/>
            </a:pPr>
            <a:r>
              <a:rPr lang="en-US" sz="1400" dirty="0">
                <a:solidFill>
                  <a:schemeClr val="tx2"/>
                </a:solidFill>
              </a:rPr>
              <a:t>cursor.com/docs</a:t>
            </a:r>
            <a:endParaRPr lang="en-US" sz="1400" dirty="0"/>
          </a:p>
        </p:txBody>
      </p:sp>
      <p:sp>
        <p:nvSpPr>
          <p:cNvPr id="9" name="tile-525"/>
          <p:cNvSpPr/>
          <p:nvPr/>
        </p:nvSpPr>
        <p:spPr>
          <a:xfrm>
            <a:off x="548640" y="3557016"/>
            <a:ext cx="548640" cy="548640"/>
          </a:xfrm>
          <a:prstGeom prst="roundRect">
            <a:avLst>
              <a:gd name="adj" fmla="val 11667"/>
            </a:avLst>
          </a:prstGeom>
          <a:solidFill>
            <a:schemeClr val="tx1"/>
          </a:solidFill>
          <a:ln/>
        </p:spPr>
      </p:sp>
      <p:pic>
        <p:nvPicPr>
          <p:cNvPr id="10" name="icon-526" descr="preencoded.png">    </p:cNvPr>
          <p:cNvPicPr>
            <a:picLocks noChangeAspect="1"/>
          </p:cNvPicPr>
          <p:nvPr/>
        </p:nvPicPr>
        <p:blipFill>
          <a:blip r:embed="rId2"/>
          <a:stretch>
            <a:fillRect/>
          </a:stretch>
        </p:blipFill>
        <p:spPr>
          <a:xfrm>
            <a:off x="691286" y="3699662"/>
            <a:ext cx="263347" cy="263347"/>
          </a:xfrm>
          <a:prstGeom prst="rect">
            <a:avLst/>
          </a:prstGeom>
        </p:spPr>
      </p:pic>
      <p:sp>
        <p:nvSpPr>
          <p:cNvPr id="11" name="text-527"/>
          <p:cNvSpPr txBox="1"/>
          <p:nvPr/>
        </p:nvSpPr>
        <p:spPr>
          <a:xfrm>
            <a:off x="1325880" y="3520440"/>
            <a:ext cx="4069080" cy="292608"/>
          </a:xfrm>
          <a:prstGeom prst="rect">
            <a:avLst/>
          </a:prstGeom>
          <a:noFill/>
          <a:ln/>
        </p:spPr>
        <p:txBody>
          <a:bodyPr wrap="square" lIns="0" tIns="0" rIns="0" bIns="0" rtlCol="0" anchor="t"/>
          <a:lstStyle/>
          <a:p>
            <a:pPr indent="0" marL="0">
              <a:buNone/>
            </a:pPr>
            <a:r>
              <a:rPr lang="en-US" sz="1600" b="1" dirty="0">
                <a:solidFill>
                  <a:schemeClr val="tx1"/>
                </a:solidFill>
              </a:rPr>
              <a:t>Cursor Learn</a:t>
            </a:r>
            <a:endParaRPr lang="en-US" sz="1600" dirty="0"/>
          </a:p>
        </p:txBody>
      </p:sp>
      <p:sp>
        <p:nvSpPr>
          <p:cNvPr id="12" name="text-528"/>
          <p:cNvSpPr txBox="1"/>
          <p:nvPr/>
        </p:nvSpPr>
        <p:spPr>
          <a:xfrm>
            <a:off x="1325880" y="3858768"/>
            <a:ext cx="4069080" cy="457200"/>
          </a:xfrm>
          <a:prstGeom prst="rect">
            <a:avLst/>
          </a:prstGeom>
          <a:noFill/>
          <a:ln/>
        </p:spPr>
        <p:txBody>
          <a:bodyPr wrap="square" lIns="0" tIns="0" rIns="0" bIns="0" rtlCol="0" anchor="t"/>
          <a:lstStyle/>
          <a:p>
            <a:pPr indent="0" marL="0">
              <a:buNone/>
            </a:pPr>
            <a:r>
              <a:rPr lang="en-US" sz="1400" dirty="0">
                <a:solidFill>
                  <a:schemeClr val="tx2"/>
                </a:solidFill>
              </a:rPr>
              <a:t>Guided lessons at cursor.com/learn</a:t>
            </a:r>
            <a:endParaRPr lang="en-US" sz="1400" dirty="0"/>
          </a:p>
        </p:txBody>
      </p:sp>
      <p:sp>
        <p:nvSpPr>
          <p:cNvPr id="13" name="tile-529"/>
          <p:cNvSpPr/>
          <p:nvPr/>
        </p:nvSpPr>
        <p:spPr>
          <a:xfrm>
            <a:off x="548640" y="4562856"/>
            <a:ext cx="548640" cy="548640"/>
          </a:xfrm>
          <a:prstGeom prst="roundRect">
            <a:avLst>
              <a:gd name="adj" fmla="val 11667"/>
            </a:avLst>
          </a:prstGeom>
          <a:solidFill>
            <a:schemeClr val="tx1"/>
          </a:solidFill>
          <a:ln/>
        </p:spPr>
      </p:sp>
      <p:pic>
        <p:nvPicPr>
          <p:cNvPr id="14" name="icon-530" descr="preencoded.png">    </p:cNvPr>
          <p:cNvPicPr>
            <a:picLocks noChangeAspect="1"/>
          </p:cNvPicPr>
          <p:nvPr/>
        </p:nvPicPr>
        <p:blipFill>
          <a:blip r:embed="rId3"/>
          <a:stretch>
            <a:fillRect/>
          </a:stretch>
        </p:blipFill>
        <p:spPr>
          <a:xfrm>
            <a:off x="691286" y="4705502"/>
            <a:ext cx="263347" cy="263347"/>
          </a:xfrm>
          <a:prstGeom prst="rect">
            <a:avLst/>
          </a:prstGeom>
        </p:spPr>
      </p:pic>
      <p:sp>
        <p:nvSpPr>
          <p:cNvPr id="15" name="text-531"/>
          <p:cNvSpPr txBox="1"/>
          <p:nvPr/>
        </p:nvSpPr>
        <p:spPr>
          <a:xfrm>
            <a:off x="1325880" y="4526280"/>
            <a:ext cx="4069080" cy="292608"/>
          </a:xfrm>
          <a:prstGeom prst="rect">
            <a:avLst/>
          </a:prstGeom>
          <a:noFill/>
          <a:ln/>
        </p:spPr>
        <p:txBody>
          <a:bodyPr wrap="square" lIns="0" tIns="0" rIns="0" bIns="0" rtlCol="0" anchor="t"/>
          <a:lstStyle/>
          <a:p>
            <a:pPr indent="0" marL="0">
              <a:buNone/>
            </a:pPr>
            <a:r>
              <a:rPr lang="en-US" sz="1600" b="1" dirty="0">
                <a:solidFill>
                  <a:schemeClr val="tx1"/>
                </a:solidFill>
              </a:rPr>
              <a:t>Help centre</a:t>
            </a:r>
            <a:endParaRPr lang="en-US" sz="1600" dirty="0"/>
          </a:p>
        </p:txBody>
      </p:sp>
      <p:sp>
        <p:nvSpPr>
          <p:cNvPr id="16" name="text-532"/>
          <p:cNvSpPr txBox="1"/>
          <p:nvPr/>
        </p:nvSpPr>
        <p:spPr>
          <a:xfrm>
            <a:off x="1325880" y="4864608"/>
            <a:ext cx="4069080" cy="457200"/>
          </a:xfrm>
          <a:prstGeom prst="rect">
            <a:avLst/>
          </a:prstGeom>
          <a:noFill/>
          <a:ln/>
        </p:spPr>
        <p:txBody>
          <a:bodyPr wrap="square" lIns="0" tIns="0" rIns="0" bIns="0" rtlCol="0" anchor="t"/>
          <a:lstStyle/>
          <a:p>
            <a:pPr indent="0" marL="0">
              <a:buNone/>
            </a:pPr>
            <a:r>
              <a:rPr lang="en-US" sz="1400" dirty="0">
                <a:solidFill>
                  <a:schemeClr val="tx2"/>
                </a:solidFill>
              </a:rPr>
              <a:t>Short answers at cursor.com/help</a:t>
            </a:r>
            <a:endParaRPr lang="en-US" sz="1400" dirty="0"/>
          </a:p>
        </p:txBody>
      </p:sp>
      <p:sp>
        <p:nvSpPr>
          <p:cNvPr id="17" name="text-533"/>
          <p:cNvSpPr txBox="1"/>
          <p:nvPr/>
        </p:nvSpPr>
        <p:spPr>
          <a:xfrm>
            <a:off x="5696712" y="1920240"/>
            <a:ext cx="5946343" cy="365760"/>
          </a:xfrm>
          <a:prstGeom prst="rect">
            <a:avLst/>
          </a:prstGeom>
          <a:noFill/>
          <a:ln/>
        </p:spPr>
        <p:txBody>
          <a:bodyPr wrap="square" lIns="0" tIns="0" rIns="0" bIns="0" rtlCol="0" anchor="t"/>
          <a:lstStyle/>
          <a:p>
            <a:pPr indent="0" marL="0">
              <a:buNone/>
            </a:pPr>
            <a:r>
              <a:rPr lang="en-US" sz="1800" b="1" dirty="0">
                <a:solidFill>
                  <a:schemeClr val="tx1"/>
                </a:solidFill>
              </a:rPr>
              <a:t>Older names you may still see</a:t>
            </a:r>
            <a:endParaRPr lang="en-US" sz="1800" dirty="0"/>
          </a:p>
        </p:txBody>
      </p:sp>
      <p:graphicFrame>
        <p:nvGraphicFramePr>
          <p:cNvPr id="23" name="table-534"/>
          <p:cNvGraphicFramePr>
            <a:graphicFrameLocks noGrp="1"/>
          </p:cNvGraphicFramePr>
          <p:nvPr>
            <p:extLst>
              <p:ext uri="{D42A27DB-BD31-4B8C-83A1-F6EECF244321}">
                <p14:modId xmlns:p14="http://schemas.microsoft.com/office/powerpoint/2010/main" val="1579011935"/>
              </p:ext>
            </p:extLst>
          </p:nvPr>
        </p:nvGraphicFramePr>
        <p:xfrm>
          <a:off x="5696712" y="2514600"/>
          <a:ext cx="5946343" cy="914400"/>
        </p:xfrm>
        <a:graphic>
          <a:graphicData uri="http://schemas.openxmlformats.org/drawingml/2006/table">
            <a:tbl>
              <a:tblPr/>
              <a:tblGrid>
                <a:gridCol w="2973172"/>
                <a:gridCol w="2973172"/>
              </a:tblGrid>
              <a:tr h="502920">
                <a:tc>
                  <a:txBody>
                    <a:bodyPr/>
                    <a:lstStyle/>
                    <a:p>
                      <a:pPr indent="0" marL="0">
                        <a:buNone/>
                      </a:pPr>
                      <a:r>
                        <a:rPr lang="en-US" sz="1400" b="1" dirty="0">
                          <a:solidFill>
                            <a:schemeClr val="bg1"/>
                          </a:solidFill>
                        </a:rPr>
                        <a:t>Older name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Now</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tx1"/>
                    </a:solidFill>
                  </a:tcPr>
                </a:tc>
              </a:tr>
              <a:tr h="502920">
                <a:tc>
                  <a:txBody>
                    <a:bodyPr/>
                    <a:lstStyle/>
                    <a:p>
                      <a:pPr indent="0" marL="0">
                        <a:buNone/>
                      </a:pPr>
                      <a:r>
                        <a:rPr lang="en-US" sz="1400" dirty="0">
                          <a:solidFill>
                            <a:schemeClr val="tx1"/>
                          </a:solidFill>
                        </a:rPr>
                        <a:t>Composer, the multi-file panel</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Agent</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Chat</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Ask mode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.cursorrules file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Project Rules in .cursor/rules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Background Agents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Cloud Agents</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YOLO mode</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Auto-run</a:t>
                      </a:r>
                      <a:endParaRPr lang="en-US" sz="1400" dirty="0"/>
                    </a:p>
                  </a:txBody>
                  <a:tcPr marL="109728" marR="73152" marT="36576" marB="36576" anchor="ctr">
                    <a:lnL w="9525" cap="flat" cmpd="sng" algn="ctr">
                      <a:solidFill>
                        <a:srgbClr val="FBE9B7"/>
                      </a:solidFill>
                      <a:prstDash val="solid"/>
                      <a:round/>
                      <a:headEnd type="none" w="med" len="med"/>
                      <a:tailEnd type="none" w="med" len="med"/>
                    </a:lnL>
                    <a:lnR w="9525" cap="flat" cmpd="sng" algn="ctr">
                      <a:solidFill>
                        <a:srgbClr val="FBE9B7"/>
                      </a:solidFill>
                      <a:prstDash val="solid"/>
                      <a:round/>
                      <a:headEnd type="none" w="med" len="med"/>
                      <a:tailEnd type="none" w="med" len="med"/>
                    </a:lnR>
                    <a:lnT w="9525" cap="flat" cmpd="sng" algn="ctr">
                      <a:solidFill>
                        <a:srgbClr val="FBE9B7"/>
                      </a:solidFill>
                      <a:prstDash val="solid"/>
                      <a:round/>
                      <a:headEnd type="none" w="med" len="med"/>
                      <a:tailEnd type="none" w="med" len="med"/>
                    </a:lnT>
                    <a:lnB w="9525" cap="flat" cmpd="sng" algn="ctr">
                      <a:solidFill>
                        <a:srgbClr val="FBE9B7"/>
                      </a:solidFill>
                      <a:prstDash val="solid"/>
                      <a:round/>
                      <a:headEnd type="none" w="med" len="med"/>
                      <a:tailEnd type="none" w="med" len="med"/>
                    </a:lnB>
                    <a:solidFill>
                      <a:schemeClr val="bg1"/>
                    </a:solidFill>
                  </a:tcPr>
                </a:tc>
              </a:tr>
            </a:tbl>
          </a:graphicData>
        </a:graphic>
      </p:graphicFrame>
      <p:sp>
        <p:nvSpPr>
          <p:cNvPr id="19" name="text-53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Cursor documentation and changelog; third-party guides on Cursor's naming history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749808" y="457200"/>
            <a:ext cx="10893247"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SUMMARY</a:t>
            </a:r>
            <a:endParaRPr lang="en-US" sz="1200" dirty="0"/>
          </a:p>
        </p:txBody>
      </p:sp>
      <p:sp>
        <p:nvSpPr>
          <p:cNvPr id="3" name="Text 2"/>
          <p:cNvSpPr/>
          <p:nvPr>
            <p:ph idx="103"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bg1"/>
                </a:solidFill>
              </a:rPr>
              <a:t>Three things to remember about Cursor</a:t>
            </a:r>
            <a:endParaRPr lang="en-US" sz="3000" dirty="0"/>
          </a:p>
        </p:txBody>
      </p:sp>
      <p:sp>
        <p:nvSpPr>
          <p:cNvPr id="4" name="card-536"/>
          <p:cNvSpPr/>
          <p:nvPr/>
        </p:nvSpPr>
        <p:spPr>
          <a:xfrm>
            <a:off x="548640" y="2057400"/>
            <a:ext cx="3454298" cy="2788920"/>
          </a:xfrm>
          <a:prstGeom prst="roundRect">
            <a:avLst>
              <a:gd name="adj" fmla="val 1967"/>
            </a:avLst>
          </a:prstGeom>
          <a:solidFill>
            <a:schemeClr val="tx2"/>
          </a:solidFill>
          <a:ln/>
        </p:spPr>
      </p:sp>
      <p:sp>
        <p:nvSpPr>
          <p:cNvPr id="5" name="text-537"/>
          <p:cNvSpPr txBox="1"/>
          <p:nvPr/>
        </p:nvSpPr>
        <p:spPr>
          <a:xfrm>
            <a:off x="822960" y="2286000"/>
            <a:ext cx="2905658"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01</a:t>
            </a:r>
            <a:endParaRPr lang="en-US" sz="2800" dirty="0"/>
          </a:p>
        </p:txBody>
      </p:sp>
      <p:sp>
        <p:nvSpPr>
          <p:cNvPr id="6" name="text-538"/>
          <p:cNvSpPr txBox="1"/>
          <p:nvPr/>
        </p:nvSpPr>
        <p:spPr>
          <a:xfrm>
            <a:off x="822960"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Three levels of help</a:t>
            </a:r>
            <a:endParaRPr lang="en-US" sz="2000" dirty="0"/>
          </a:p>
        </p:txBody>
      </p:sp>
      <p:sp>
        <p:nvSpPr>
          <p:cNvPr id="7" name="text-539"/>
          <p:cNvSpPr txBox="1"/>
          <p:nvPr/>
        </p:nvSpPr>
        <p:spPr>
          <a:xfrm>
            <a:off x="822960"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Tab, Inline Edit and Agent: use as much AI as the job needs.</a:t>
            </a:r>
            <a:endParaRPr lang="en-US" sz="1600" dirty="0"/>
          </a:p>
        </p:txBody>
      </p:sp>
      <p:sp>
        <p:nvSpPr>
          <p:cNvPr id="8" name="card-540"/>
          <p:cNvSpPr/>
          <p:nvPr/>
        </p:nvSpPr>
        <p:spPr>
          <a:xfrm>
            <a:off x="4368698" y="2057400"/>
            <a:ext cx="3454298" cy="2788920"/>
          </a:xfrm>
          <a:prstGeom prst="roundRect">
            <a:avLst>
              <a:gd name="adj" fmla="val 1967"/>
            </a:avLst>
          </a:prstGeom>
          <a:solidFill>
            <a:schemeClr val="tx2"/>
          </a:solidFill>
          <a:ln/>
        </p:spPr>
      </p:sp>
      <p:sp>
        <p:nvSpPr>
          <p:cNvPr id="9" name="text-541"/>
          <p:cNvSpPr txBox="1"/>
          <p:nvPr/>
        </p:nvSpPr>
        <p:spPr>
          <a:xfrm>
            <a:off x="4643018" y="2286000"/>
            <a:ext cx="2905658"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02</a:t>
            </a:r>
            <a:endParaRPr lang="en-US" sz="2800" dirty="0"/>
          </a:p>
        </p:txBody>
      </p:sp>
      <p:sp>
        <p:nvSpPr>
          <p:cNvPr id="10" name="text-542"/>
          <p:cNvSpPr txBox="1"/>
          <p:nvPr/>
        </p:nvSpPr>
        <p:spPr>
          <a:xfrm>
            <a:off x="4643018"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You review everything</a:t>
            </a:r>
            <a:endParaRPr lang="en-US" sz="2000" dirty="0"/>
          </a:p>
        </p:txBody>
      </p:sp>
      <p:sp>
        <p:nvSpPr>
          <p:cNvPr id="11" name="text-543"/>
          <p:cNvSpPr txBox="1"/>
          <p:nvPr/>
        </p:nvSpPr>
        <p:spPr>
          <a:xfrm>
            <a:off x="4643018"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Diffs, checkpoints and Plan Mode keep you in charge of the code.</a:t>
            </a:r>
            <a:endParaRPr lang="en-US" sz="1600" dirty="0"/>
          </a:p>
        </p:txBody>
      </p:sp>
      <p:sp>
        <p:nvSpPr>
          <p:cNvPr id="12" name="card-544"/>
          <p:cNvSpPr/>
          <p:nvPr/>
        </p:nvSpPr>
        <p:spPr>
          <a:xfrm>
            <a:off x="8188757" y="2057400"/>
            <a:ext cx="3454298" cy="2788920"/>
          </a:xfrm>
          <a:prstGeom prst="roundRect">
            <a:avLst>
              <a:gd name="adj" fmla="val 1967"/>
            </a:avLst>
          </a:prstGeom>
          <a:solidFill>
            <a:schemeClr val="tx2"/>
          </a:solidFill>
          <a:ln/>
        </p:spPr>
      </p:sp>
      <p:sp>
        <p:nvSpPr>
          <p:cNvPr id="13" name="text-545"/>
          <p:cNvSpPr txBox="1"/>
          <p:nvPr/>
        </p:nvSpPr>
        <p:spPr>
          <a:xfrm>
            <a:off x="8463077" y="2286000"/>
            <a:ext cx="2905658"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03</a:t>
            </a:r>
            <a:endParaRPr lang="en-US" sz="2800" dirty="0"/>
          </a:p>
        </p:txBody>
      </p:sp>
      <p:sp>
        <p:nvSpPr>
          <p:cNvPr id="14" name="text-546"/>
          <p:cNvSpPr txBox="1"/>
          <p:nvPr/>
        </p:nvSpPr>
        <p:spPr>
          <a:xfrm>
            <a:off x="8463077"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Start small</a:t>
            </a:r>
            <a:endParaRPr lang="en-US" sz="2000" dirty="0"/>
          </a:p>
        </p:txBody>
      </p:sp>
      <p:sp>
        <p:nvSpPr>
          <p:cNvPr id="15" name="text-547"/>
          <p:cNvSpPr txBox="1"/>
          <p:nvPr/>
        </p:nvSpPr>
        <p:spPr>
          <a:xfrm>
            <a:off x="8463077"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Ask first, make one small change, then build up from there.</a:t>
            </a:r>
            <a:endParaRPr lang="en-US" sz="1600" dirty="0"/>
          </a:p>
        </p:txBody>
      </p:sp>
      <p:sp>
        <p:nvSpPr>
          <p:cNvPr id="16" name="text-548"/>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2000" dirty="0">
                <a:solidFill>
                  <a:schemeClr val="accent5"/>
                </a:solidFill>
              </a:rPr>
              <a:t>Your next step: download it from  </a:t>
            </a:r>
            <a:pPr indent="0" marL="0">
              <a:buNone/>
            </a:pPr>
            <a:r>
              <a:rPr lang="en-US" sz="2000" b="1" dirty="0">
                <a:solidFill>
                  <a:schemeClr val="accent2"/>
                </a:solidFill>
                <a:latin typeface="Courier New" pitchFamily="34" charset="0"/>
                <a:ea typeface="Courier New" pitchFamily="34" charset="-122"/>
                <a:cs typeface="Courier New" pitchFamily="34" charset="-120"/>
              </a:rPr>
              <a:t>cursor.com/downloads</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ursor Beginner">
  <a:themeElements>
    <a:clrScheme name="Cursor Beginner">
      <a:dk1>
        <a:srgbClr val="14120B"/>
      </a:dk1>
      <a:lt1>
        <a:srgbClr val="FFFFFF"/>
      </a:lt1>
      <a:dk2>
        <a:srgbClr val="2B2820"/>
      </a:dk2>
      <a:lt2>
        <a:srgbClr val="F3F2EE"/>
      </a:lt2>
      <a:accent1>
        <a:srgbClr val="8A5A00"/>
      </a:accent1>
      <a:accent2>
        <a:srgbClr val="F2B01E"/>
      </a:accent2>
      <a:accent3>
        <a:srgbClr val="3D3A30"/>
      </a:accent3>
      <a:accent4>
        <a:srgbClr val="6B685F"/>
      </a:accent4>
      <a:accent5>
        <a:srgbClr val="FBE9B7"/>
      </a:accent5>
      <a:accent6>
        <a:srgbClr val="B3402E"/>
      </a:accent6>
      <a:hlink>
        <a:srgbClr val="8A5A00"/>
      </a:hlink>
      <a:folHlink>
        <a:srgbClr val="6B685F"/>
      </a:folHlink>
    </a:clrScheme>
    <a:fontScheme name="Cursor Beginner">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from zero: a beginner's guide</dc:title>
  <dc:subject>PptxGenJS Presentation</dc:subject>
  <dc:creator>PptxGenJS</dc:creator>
  <cp:lastModifiedBy>PptxGenJS</cp:lastModifiedBy>
  <cp:revision>1</cp:revision>
  <dcterms:created xsi:type="dcterms:W3CDTF">2026-10-05T14:37:14Z</dcterms:created>
  <dcterms:modified xsi:type="dcterms:W3CDTF">2026-10-05T14:37:14Z</dcterms:modified>
</cp:coreProperties>
</file>